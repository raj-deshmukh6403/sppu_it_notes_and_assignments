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8"/>
  </p:notesMasterIdLst>
  <p:sldIdLst>
    <p:sldId id="256" r:id="rId2"/>
    <p:sldId id="359" r:id="rId3"/>
    <p:sldId id="323" r:id="rId4"/>
    <p:sldId id="387" r:id="rId5"/>
    <p:sldId id="371" r:id="rId6"/>
    <p:sldId id="257" r:id="rId7"/>
    <p:sldId id="388" r:id="rId8"/>
    <p:sldId id="389" r:id="rId9"/>
    <p:sldId id="390" r:id="rId10"/>
    <p:sldId id="391" r:id="rId11"/>
    <p:sldId id="386" r:id="rId12"/>
    <p:sldId id="368" r:id="rId13"/>
    <p:sldId id="369" r:id="rId14"/>
    <p:sldId id="385" r:id="rId15"/>
    <p:sldId id="383" r:id="rId16"/>
    <p:sldId id="384" r:id="rId17"/>
    <p:sldId id="355" r:id="rId18"/>
    <p:sldId id="340" r:id="rId19"/>
    <p:sldId id="372" r:id="rId20"/>
    <p:sldId id="374" r:id="rId21"/>
    <p:sldId id="373" r:id="rId22"/>
    <p:sldId id="375" r:id="rId23"/>
    <p:sldId id="336" r:id="rId24"/>
    <p:sldId id="376" r:id="rId25"/>
    <p:sldId id="377" r:id="rId26"/>
    <p:sldId id="381" r:id="rId2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9" d="100"/>
          <a:sy n="49" d="100"/>
        </p:scale>
        <p:origin x="-1277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2C75C5D7-542D-4981-B6F3-BE84D95FD918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pPr>
              <a:defRPr/>
            </a:pPr>
            <a:fld id="{71F48E31-4CBA-485E-8C57-7FF889822F6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8212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E1557-B4E2-40AB-9226-C21AD49E7D03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80CFF5-112C-4312-B13F-D1BFCA04CC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FFF13-A013-4754-B14D-CF7300EE0A9A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F011C6-5417-4A9F-ABA2-3290839612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465D93-D8DA-4D17-B73A-6466F403735D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EACAB9-539A-4DB4-9DE1-22060BC4D4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C72780-0A2B-4A50-8347-498F2022CF29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1AEA1B-7BED-480A-BA20-711BDE5CDA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912B37-107E-4934-9404-DA7E1FEED1F8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2FE26-8AE3-4259-8FE7-B7FFFCF107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4D4F6-572D-49CD-AF40-98C58E3ABD5C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818DF-04DD-4F52-9F97-CE4D3E86F7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95965-8F26-4D7C-9FAD-09413BF6BB9C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5BDCAA-5B87-44F6-A526-E8803414CA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99234-17E4-4D6F-860C-E159F7EA0E3A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46D8A9-DA8A-45A7-B447-CBCCAE96D8A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021F8C-EB5A-4687-A892-4CA104868331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ECCF9E-612D-4EC8-916C-7A596C14AB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2BD7BA-3DDA-477B-A2D0-A906B498B896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FC5540-7136-4706-83F9-364B29A9EB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B67827-32E1-4D6A-88A5-BB2ABBC5283C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4900DB-E653-489D-821E-FCC6B65FD3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0E9B6E9-4212-4CF3-970F-DC09B003DD3B}" type="datetime1">
              <a:rPr lang="en-US"/>
              <a:pPr>
                <a:defRPr/>
              </a:pPr>
              <a:t>2/1/2019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8D706F13-C9F4-4C42-8A54-6E193A435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loudsecurityalliance.org/star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_Transfer_Protocol" TargetMode="External"/><Relationship Id="rId2" Type="http://schemas.openxmlformats.org/officeDocument/2006/relationships/hyperlink" Target="https://en.wikipedia.org/wiki/GridFTP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mtf.org/standards/published_documents/DSP0243_1.0.0.pdf" TargetMode="External"/><Relationship Id="rId2" Type="http://schemas.openxmlformats.org/officeDocument/2006/relationships/hyperlink" Target="http://www.snia.org/cloud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ogf.org/Public_Comment_Docs/Documents/2010-01/occi-core.pdf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cirrus.org/" TargetMode="External"/><Relationship Id="rId2" Type="http://schemas.openxmlformats.org/officeDocument/2006/relationships/hyperlink" Target="http://opencloudconsortium.org/testbed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opencloudconsortium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mtf.org/standards/cloud" TargetMode="External"/><Relationship Id="rId2" Type="http://schemas.openxmlformats.org/officeDocument/2006/relationships/hyperlink" Target="http://www.dmtf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dmtf.org/standards/wip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5400" smtClean="0">
                <a:ea typeface="ＭＳ Ｐゴシック" pitchFamily="34" charset="-128"/>
              </a:rPr>
              <a:t>Cloud Standards Overview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chemeClr val="tx1"/>
                </a:solidFill>
                <a:ea typeface="ＭＳ Ｐゴシック" pitchFamily="34" charset="-128"/>
              </a:rPr>
              <a:t>Cloud-Standards.org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2"/>
          <p:cNvSpPr>
            <a:spLocks noGrp="1"/>
          </p:cNvSpPr>
          <p:nvPr>
            <p:ph type="title"/>
          </p:nvPr>
        </p:nvSpPr>
        <p:spPr>
          <a:xfrm>
            <a:off x="2362200" y="1524000"/>
            <a:ext cx="47244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800" dirty="0" smtClean="0">
                <a:ea typeface="+mj-ea"/>
                <a:cs typeface="+mj-cs"/>
              </a:rPr>
              <a:t>  Open </a:t>
            </a:r>
            <a:r>
              <a:rPr lang="en-US" dirty="0" smtClean="0">
                <a:ea typeface="+mj-ea"/>
                <a:cs typeface="+mj-cs"/>
              </a:rPr>
              <a:t>Standards</a:t>
            </a:r>
          </a:p>
        </p:txBody>
      </p:sp>
      <p:sp>
        <p:nvSpPr>
          <p:cNvPr id="3075" name="Content Placeholder 3"/>
          <p:cNvSpPr>
            <a:spLocks noGrp="1"/>
          </p:cNvSpPr>
          <p:nvPr>
            <p:ph idx="1"/>
          </p:nvPr>
        </p:nvSpPr>
        <p:spPr>
          <a:xfrm>
            <a:off x="304800" y="2971800"/>
            <a:ext cx="8610600" cy="1676400"/>
          </a:xfrm>
        </p:spPr>
        <p:txBody>
          <a:bodyPr/>
          <a:lstStyle/>
          <a:p>
            <a:pPr algn="just"/>
            <a:r>
              <a:rPr lang="en-US" sz="2400" smtClean="0">
                <a:ea typeface="ＭＳ Ｐゴシック" pitchFamily="34" charset="-128"/>
              </a:rPr>
              <a:t>Open Standard: A standard developed with a process open to all interested parties and where implementations are free to use the standard.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59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Some Possible Standards</a:t>
            </a: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686800" cy="5334000"/>
          </a:xfrm>
        </p:spPr>
        <p:txBody>
          <a:bodyPr/>
          <a:lstStyle/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Federated security (e.g. identity) across Clouds  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Metadata and data exchanges among Clouds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Standards for moving applications between Cloud platforms 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Standards for describing resource/performance capabilities and requirements 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Standardized outputs for monitoring, auditing, billing, reports and notification for Cloud applications and services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Common  representations (abstract, APIs, protocols) for interfacing to Cloud  resources  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Cloud-independent representation for policies and governance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Portable tools for developing, deploying, and managing Cloud applications and services</a:t>
            </a:r>
          </a:p>
          <a:p>
            <a:pPr algn="just" eaLnBrk="1" hangingPunct="1"/>
            <a:r>
              <a:rPr lang="en-US" sz="2200" b="1" dirty="0" smtClean="0">
                <a:ea typeface="ＭＳ Ｐゴシック" pitchFamily="34" charset="-128"/>
              </a:rPr>
              <a:t>Orchestration and middleware tools for creating composite applications across Clouds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Federated Cloud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b="1" dirty="0"/>
              <a:t>federated cloud</a:t>
            </a:r>
            <a:r>
              <a:rPr lang="en-US" dirty="0"/>
              <a:t> (also </a:t>
            </a:r>
            <a:r>
              <a:rPr lang="en-US" dirty="0" smtClean="0"/>
              <a:t>called</a:t>
            </a:r>
            <a:r>
              <a:rPr lang="en-US" dirty="0"/>
              <a:t> </a:t>
            </a:r>
            <a:r>
              <a:rPr lang="en-US" b="1" dirty="0"/>
              <a:t>cloud</a:t>
            </a:r>
            <a:r>
              <a:rPr lang="en-US" dirty="0"/>
              <a:t> federation) is the deployment and management of multiple external and internal </a:t>
            </a:r>
            <a:r>
              <a:rPr lang="en-US" b="1" dirty="0"/>
              <a:t>cloud</a:t>
            </a:r>
            <a:r>
              <a:rPr lang="en-US" dirty="0"/>
              <a:t> computing services to match business needs. A federation is the union of several smaller parts that perform a common action</a:t>
            </a:r>
            <a:r>
              <a:rPr lang="en-US" dirty="0" smtClean="0"/>
              <a:t>. Identity : SSO (Single Sign on)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004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Standards Groups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304800" y="990600"/>
            <a:ext cx="8610600" cy="5410200"/>
          </a:xfrm>
        </p:spPr>
        <p:txBody>
          <a:bodyPr/>
          <a:lstStyle/>
          <a:p>
            <a:pPr algn="just"/>
            <a:r>
              <a:rPr lang="en-US" sz="2600" smtClean="0">
                <a:ea typeface="ＭＳ Ｐゴシック" pitchFamily="34" charset="-128"/>
              </a:rPr>
              <a:t>In Internet circles, everything eventually gets driven by a working group of one sort or another. </a:t>
            </a:r>
          </a:p>
          <a:p>
            <a:pPr algn="just"/>
            <a:r>
              <a:rPr lang="en-US" sz="2600" smtClean="0">
                <a:ea typeface="ＭＳ Ｐゴシック" pitchFamily="34" charset="-128"/>
              </a:rPr>
              <a:t>A working group is an assembled, cooperative collaboration of researchers working on new research activities that would be difficult for any one member to develop alone.</a:t>
            </a:r>
          </a:p>
          <a:p>
            <a:pPr algn="just"/>
            <a:r>
              <a:rPr lang="en-US" sz="2600" smtClean="0">
                <a:ea typeface="ＭＳ Ｐゴシック" pitchFamily="34" charset="-128"/>
              </a:rPr>
              <a:t> exist for anywhere between a few months and many years. </a:t>
            </a:r>
          </a:p>
          <a:p>
            <a:pPr algn="just"/>
            <a:r>
              <a:rPr lang="en-US" sz="2600" smtClean="0">
                <a:ea typeface="ＭＳ Ｐゴシック" pitchFamily="34" charset="-128"/>
              </a:rPr>
              <a:t>strive to create an informational document a standard, or find some resolution for problems related to a system or network. </a:t>
            </a:r>
          </a:p>
          <a:p>
            <a:pPr algn="just"/>
            <a:r>
              <a:rPr lang="en-US" sz="2600" smtClean="0">
                <a:ea typeface="ＭＳ Ｐゴシック" pitchFamily="34" charset="-128"/>
              </a:rPr>
              <a:t>attempts to assemble experts on a topic. </a:t>
            </a:r>
          </a:p>
          <a:p>
            <a:pPr algn="just"/>
            <a:r>
              <a:rPr lang="en-US" sz="2600" smtClean="0">
                <a:ea typeface="ＭＳ Ｐゴシック" pitchFamily="34" charset="-128"/>
              </a:rPr>
              <a:t>Task groups or technical advisory groups.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563563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Standards and Test Bed Groups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534400" cy="4983163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Cloud Security Alliance (CSA)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Distributed Management Task Force (DMTF)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Storage Networking Industry Association (SNIA)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Open Grid Forum (OGF)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Open Cloud Consortium (OCC)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Organization for the Advancement of Structured Information Standards (OASIS)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TM Forum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Internet Engineering Task Force (IETF)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International Telecommunications Union (ITU)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European Telecommunications Standards Institute (ETSI)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 smtClean="0">
                <a:ea typeface="ＭＳ Ｐゴシック" pitchFamily="34" charset="-128"/>
              </a:rPr>
              <a:t>Object Management Group (OMG)</a:t>
            </a:r>
          </a:p>
          <a:p>
            <a:pPr eaLnBrk="1" hangingPunct="1">
              <a:lnSpc>
                <a:spcPct val="90000"/>
              </a:lnSpc>
            </a:pPr>
            <a:endParaRPr lang="en-US" sz="2800" dirty="0" smtClean="0">
              <a:ea typeface="ＭＳ Ｐゴシック" pitchFamily="34" charset="-128"/>
            </a:endParaRPr>
          </a:p>
          <a:p>
            <a:pPr eaLnBrk="1" hangingPunct="1">
              <a:lnSpc>
                <a:spcPct val="90000"/>
              </a:lnSpc>
              <a:buFont typeface="Arial" charset="0"/>
              <a:buNone/>
            </a:pPr>
            <a:endParaRPr 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Cloud Security Alliance (CSA)</a:t>
            </a:r>
            <a:br>
              <a:rPr lang="en-US" dirty="0">
                <a:ea typeface="ＭＳ Ｐゴシック" pitchFamily="34" charset="-128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dirty="0"/>
              <a:t>The Cloud Security Alliance (CSA) is the world’s leading organization dedicated to defining and raising awareness of best practices to help ensure a secure cloud computing environment</a:t>
            </a:r>
            <a:r>
              <a:rPr lang="en-US" sz="2800" dirty="0" smtClean="0"/>
              <a:t>.</a:t>
            </a:r>
          </a:p>
          <a:p>
            <a:pPr algn="just"/>
            <a:r>
              <a:rPr lang="en-US" sz="2800" dirty="0"/>
              <a:t>CSA harnesses the subject matter expertise of industry practitioners, associations, governments, and its corporate and individual members to offer cloud security-specific research, education, certification, events and products.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83389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itchFamily="34" charset="-128"/>
              </a:rPr>
              <a:t>Cloud Security Alliance (CSA)</a:t>
            </a:r>
            <a:br>
              <a:rPr lang="en-US" dirty="0">
                <a:ea typeface="ＭＳ Ｐゴシック" pitchFamily="34" charset="-128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CSA operates the most popular cloud security provider certification program, the </a:t>
            </a:r>
            <a:endParaRPr lang="en-US" dirty="0" smtClean="0"/>
          </a:p>
          <a:p>
            <a:r>
              <a:rPr lang="en-US" dirty="0" smtClean="0">
                <a:hlinkClick r:id="rId2" tooltip="CSA STAR"/>
              </a:rPr>
              <a:t>CSA </a:t>
            </a:r>
            <a:r>
              <a:rPr lang="en-US" dirty="0">
                <a:hlinkClick r:id="rId2" tooltip="CSA STAR"/>
              </a:rPr>
              <a:t>Security, Trust &amp; Assurance Registry (STAR</a:t>
            </a:r>
            <a:r>
              <a:rPr lang="en-US" dirty="0" smtClean="0">
                <a:hlinkClick r:id="rId2" tooltip="CSA STAR"/>
              </a:rPr>
              <a:t>)</a:t>
            </a:r>
            <a:r>
              <a:rPr lang="en-US" dirty="0" smtClean="0"/>
              <a:t>, </a:t>
            </a:r>
            <a:r>
              <a:rPr lang="en-US" dirty="0"/>
              <a:t>program of </a:t>
            </a:r>
            <a:r>
              <a:rPr lang="en-US" dirty="0" smtClean="0"/>
              <a:t>self-assessment</a:t>
            </a:r>
          </a:p>
          <a:p>
            <a:r>
              <a:rPr lang="en-US" dirty="0" smtClean="0"/>
              <a:t>More info on</a:t>
            </a:r>
          </a:p>
          <a:p>
            <a:r>
              <a:rPr lang="en-US" dirty="0"/>
              <a:t>https://</a:t>
            </a:r>
            <a:r>
              <a:rPr lang="en-US" dirty="0" smtClean="0"/>
              <a:t>cloudsecurityalliance.org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101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>
                <a:ea typeface="ＭＳ Ｐゴシック" pitchFamily="34" charset="-128"/>
              </a:rPr>
              <a:t/>
            </a:r>
            <a:br>
              <a:rPr lang="en-US" sz="3600" dirty="0" smtClean="0">
                <a:ea typeface="ＭＳ Ｐゴシック" pitchFamily="34" charset="-128"/>
              </a:rPr>
            </a:br>
            <a:r>
              <a:rPr lang="en-US" sz="3600" dirty="0" smtClean="0">
                <a:ea typeface="ＭＳ Ｐゴシック" pitchFamily="34" charset="-128"/>
              </a:rPr>
              <a:t>Storage </a:t>
            </a:r>
            <a:r>
              <a:rPr lang="en-US" sz="3600" dirty="0">
                <a:ea typeface="ＭＳ Ｐゴシック" pitchFamily="34" charset="-128"/>
              </a:rPr>
              <a:t>Networking Industry Association (SNIA)</a:t>
            </a:r>
            <a:br>
              <a:rPr lang="en-US" sz="3600" dirty="0">
                <a:ea typeface="ＭＳ Ｐゴシック" pitchFamily="34" charset="-128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Mission : Lead </a:t>
            </a:r>
            <a:r>
              <a:rPr lang="en-US" dirty="0"/>
              <a:t>the storage industry worldwide in developing and promoting vendor-neutral architectures, standards, and educational services that facilitate the efficient management, movement, and security of information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014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 </a:t>
            </a:r>
            <a:r>
              <a:rPr lang="en-US" b="1" dirty="0"/>
              <a:t>Open Grid Forum</a:t>
            </a:r>
            <a:r>
              <a:rPr lang="en-US" dirty="0"/>
              <a:t> (</a:t>
            </a:r>
            <a:r>
              <a:rPr lang="en-US" b="1" dirty="0"/>
              <a:t>OGF</a:t>
            </a:r>
            <a:r>
              <a:rPr lang="en-US" dirty="0"/>
              <a:t>) is a community of users, developers, and vendors for </a:t>
            </a:r>
            <a:r>
              <a:rPr lang="en-US" dirty="0" smtClean="0"/>
              <a:t>standardization of</a:t>
            </a:r>
            <a:r>
              <a:rPr lang="en-US" dirty="0"/>
              <a:t> </a:t>
            </a:r>
            <a:r>
              <a:rPr lang="en-US" dirty="0" smtClean="0"/>
              <a:t> grid computing.</a:t>
            </a:r>
          </a:p>
          <a:p>
            <a:r>
              <a:rPr lang="en-US" dirty="0"/>
              <a:t>Some technologies specified by OGF include:</a:t>
            </a:r>
          </a:p>
          <a:p>
            <a:r>
              <a:rPr lang="en-US" dirty="0" err="1">
                <a:hlinkClick r:id="rId2" tooltip="GridFTP"/>
              </a:rPr>
              <a:t>GridFTP</a:t>
            </a:r>
            <a:r>
              <a:rPr lang="en-US" dirty="0"/>
              <a:t>: Extensions to the </a:t>
            </a:r>
            <a:r>
              <a:rPr lang="en-US" dirty="0">
                <a:hlinkClick r:id="rId3" tooltip="File Transfer Protocol"/>
              </a:rPr>
              <a:t>File Transfer Protocol</a:t>
            </a:r>
            <a:r>
              <a:rPr lang="en-US" dirty="0"/>
              <a:t> for high-speed, secure, and reliable data transfer.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28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OCC mission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t"/>
            <a:r>
              <a:rPr lang="en-US" dirty="0" smtClean="0"/>
              <a:t>Mission Statement</a:t>
            </a:r>
          </a:p>
          <a:p>
            <a:r>
              <a:rPr lang="en-US" dirty="0" smtClean="0"/>
              <a:t>To promote the use of best practices for providing security assurance within Cloud Computing, and provide education on the uses of Cloud Computing to help secure all other forms of computing.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Which Organizations doing What?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286000"/>
          <a:ext cx="6096000" cy="3406140"/>
        </p:xfrm>
        <a:graphic>
          <a:graphicData uri="http://schemas.openxmlformats.org/drawingml/2006/table">
            <a:tbl>
              <a:tblPr/>
              <a:tblGrid>
                <a:gridCol w="1447800"/>
                <a:gridCol w="990600"/>
                <a:gridCol w="1219200"/>
                <a:gridCol w="1219200"/>
                <a:gridCol w="1219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IaaS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Provisioning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OGF/DMTF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SNIA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Metering and Billing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SNIA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Security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OGF/DMTF/CSA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SNIA (IETF)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Privacy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Quality of Service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DMTF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SNIA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Identity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OASIS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7221" name="TextBox 4"/>
          <p:cNvSpPr txBox="1">
            <a:spLocks noChangeArrowheads="1"/>
          </p:cNvSpPr>
          <p:nvPr/>
        </p:nvSpPr>
        <p:spPr bwMode="auto">
          <a:xfrm>
            <a:off x="2133600" y="6172200"/>
            <a:ext cx="54419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Standardization of Cloud Management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Which Organizations doing What?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0" y="2286000"/>
          <a:ext cx="6096000" cy="3480435"/>
        </p:xfrm>
        <a:graphic>
          <a:graphicData uri="http://schemas.openxmlformats.org/drawingml/2006/table">
            <a:tbl>
              <a:tblPr/>
              <a:tblGrid>
                <a:gridCol w="1447800"/>
                <a:gridCol w="990600"/>
                <a:gridCol w="1219200"/>
                <a:gridCol w="1219200"/>
                <a:gridCol w="1219200"/>
              </a:tblGrid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PaaS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IaaS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DaaS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Client Application Interface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Development Platform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Virtual Machine Interface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DMTF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Data Storage Interface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Calibri" charset="0"/>
                          <a:cs typeface="Arial" charset="0"/>
                        </a:rPr>
                        <a:t>SNIA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8233" name="TextBox 4"/>
          <p:cNvSpPr txBox="1">
            <a:spLocks noChangeArrowheads="1"/>
          </p:cNvSpPr>
          <p:nvPr/>
        </p:nvSpPr>
        <p:spPr bwMode="auto">
          <a:xfrm>
            <a:off x="1905000" y="6172200"/>
            <a:ext cx="560863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/>
              <a:t>Standardization of Functional Interfaces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838200" y="228600"/>
            <a:ext cx="7772400" cy="6172200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Existing Specifications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/>
            <a:r>
              <a:rPr lang="en-US" sz="2400" smtClean="0">
                <a:ea typeface="ＭＳ Ｐゴシック" pitchFamily="34" charset="-128"/>
              </a:rPr>
              <a:t>SNIA Cloud Data Management Interface (CDMI) </a:t>
            </a:r>
            <a:r>
              <a:rPr lang="en-US" sz="2000" smtClean="0">
                <a:ea typeface="ＭＳ Ｐゴシック" pitchFamily="34" charset="-128"/>
                <a:hlinkClick r:id="rId2"/>
              </a:rPr>
              <a:t>http://www.snia.org/cloud</a:t>
            </a:r>
            <a:endParaRPr lang="en-US" sz="2000" smtClean="0">
              <a:ea typeface="ＭＳ Ｐゴシック" pitchFamily="34" charset="-128"/>
            </a:endParaRPr>
          </a:p>
          <a:p>
            <a:pPr eaLnBrk="1" hangingPunct="1">
              <a:buFont typeface="Arial" charset="0"/>
              <a:buNone/>
            </a:pPr>
            <a:endParaRPr lang="en-US" sz="2000" smtClean="0">
              <a:ea typeface="ＭＳ Ｐゴシック" pitchFamily="34" charset="-128"/>
            </a:endParaRP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DMTF Open Virtualization Format (OVF) </a:t>
            </a:r>
            <a:r>
              <a:rPr lang="en-US" sz="2000" smtClean="0">
                <a:ea typeface="ＭＳ Ｐゴシック" pitchFamily="34" charset="-128"/>
                <a:hlinkClick r:id="rId3"/>
              </a:rPr>
              <a:t>http://www.dmtf.org/standards/published_documents/DSP0243_1.0.0.pdf</a:t>
            </a:r>
            <a:endParaRPr lang="en-US" sz="2000" smtClean="0">
              <a:ea typeface="ＭＳ Ｐゴシック" pitchFamily="34" charset="-128"/>
            </a:endParaRPr>
          </a:p>
          <a:p>
            <a:pPr eaLnBrk="1" hangingPunct="1"/>
            <a:endParaRPr lang="en-US" sz="2000" smtClean="0">
              <a:ea typeface="ＭＳ Ｐゴシック" pitchFamily="34" charset="-128"/>
            </a:endParaRP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OGF Open Cloud Computing Interface (OCCI) </a:t>
            </a:r>
            <a:r>
              <a:rPr lang="en-US" sz="1800" smtClean="0">
                <a:ea typeface="ＭＳ Ｐゴシック" pitchFamily="34" charset="-128"/>
                <a:hlinkClick r:id="rId4"/>
              </a:rPr>
              <a:t>http://www.ogf.org/Public_Comment_Docs/Documents/2010-01/occi-core.pdf</a:t>
            </a:r>
            <a:r>
              <a:rPr lang="en-US" sz="1800" smtClean="0">
                <a:ea typeface="ＭＳ Ｐゴシック" pitchFamily="34" charset="-128"/>
              </a:rPr>
              <a:t> </a:t>
            </a:r>
          </a:p>
          <a:p>
            <a:pPr eaLnBrk="1" hangingPunct="1"/>
            <a:endParaRPr lang="en-US" sz="1800" smtClean="0">
              <a:ea typeface="ＭＳ Ｐゴシック" pitchFamily="34" charset="-128"/>
            </a:endParaRPr>
          </a:p>
          <a:p>
            <a:pPr eaLnBrk="1" hangingPunct="1">
              <a:buFont typeface="Arial" charset="0"/>
              <a:buNone/>
            </a:pPr>
            <a:r>
              <a:rPr lang="en-US" sz="2000" smtClean="0">
                <a:ea typeface="ＭＳ Ｐゴシック" pitchFamily="34" charset="-128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8686800" cy="792162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Testbeds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smtClean="0">
                <a:ea typeface="ＭＳ Ｐゴシック" pitchFamily="34" charset="-128"/>
              </a:rPr>
              <a:t>Open Cloud Consortium Testbed </a:t>
            </a:r>
            <a:r>
              <a:rPr lang="en-US" sz="2000" smtClean="0">
                <a:ea typeface="ＭＳ Ｐゴシック" pitchFamily="34" charset="-128"/>
                <a:hlinkClick r:id="rId2"/>
              </a:rPr>
              <a:t>http://opencloudconsortium.org/testbed/</a:t>
            </a:r>
            <a:endParaRPr lang="en-US" sz="2000" smtClean="0">
              <a:ea typeface="ＭＳ Ｐゴシック" pitchFamily="34" charset="-128"/>
            </a:endParaRPr>
          </a:p>
          <a:p>
            <a:pPr eaLnBrk="1" hangingPunct="1"/>
            <a:endParaRPr lang="en-US" sz="2000" smtClean="0">
              <a:ea typeface="ＭＳ Ｐゴシック" pitchFamily="34" charset="-128"/>
            </a:endParaRPr>
          </a:p>
          <a:p>
            <a:pPr eaLnBrk="1" hangingPunct="1"/>
            <a:r>
              <a:rPr lang="en-US" sz="2400" smtClean="0">
                <a:ea typeface="ＭＳ Ｐゴシック" pitchFamily="34" charset="-128"/>
              </a:rPr>
              <a:t>Open Cirrus Testbed                                                    </a:t>
            </a:r>
            <a:r>
              <a:rPr lang="en-US" sz="2000" smtClean="0">
                <a:ea typeface="ＭＳ Ｐゴシック" pitchFamily="34" charset="-128"/>
                <a:hlinkClick r:id="rId3"/>
              </a:rPr>
              <a:t>https://opencirrus.org/</a:t>
            </a:r>
            <a:r>
              <a:rPr lang="en-US" sz="2000" smtClean="0">
                <a:ea typeface="ＭＳ Ｐゴシック" pitchFamily="34" charset="-128"/>
              </a:rPr>
              <a:t>  </a:t>
            </a:r>
          </a:p>
          <a:p>
            <a:pPr eaLnBrk="1" hangingPunct="1"/>
            <a:endParaRPr lang="en-US" sz="2000" smtClean="0">
              <a:ea typeface="ＭＳ Ｐゴシック" pitchFamily="34" charset="-128"/>
            </a:endParaRPr>
          </a:p>
          <a:p>
            <a:pPr eaLnBrk="1" hangingPunct="1">
              <a:buFont typeface="Arial" charset="0"/>
              <a:buNone/>
            </a:pPr>
            <a:endParaRPr lang="en-US" sz="2000" smtClean="0">
              <a:ea typeface="ＭＳ Ｐゴシック" pitchFamily="34" charset="-128"/>
            </a:endParaRPr>
          </a:p>
          <a:p>
            <a:pPr eaLnBrk="1" hangingPunct="1"/>
            <a:endParaRPr lang="en-US" sz="2000" smtClean="0">
              <a:ea typeface="ＭＳ Ｐゴシック" pitchFamily="34" charset="-128"/>
            </a:endParaRPr>
          </a:p>
          <a:p>
            <a:pPr eaLnBrk="1" hangingPunct="1"/>
            <a:endParaRPr lang="en-US" sz="200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2"/>
          <p:cNvSpPr>
            <a:spLocks noGrp="1"/>
          </p:cNvSpPr>
          <p:nvPr>
            <p:ph type="title"/>
          </p:nvPr>
        </p:nvSpPr>
        <p:spPr>
          <a:xfrm>
            <a:off x="457200" y="2895600"/>
            <a:ext cx="8229600" cy="792163"/>
          </a:xfrm>
        </p:spPr>
        <p:txBody>
          <a:bodyPr rtlCol="0">
            <a:normAutofit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      Individual Standards Groups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/>
          <a:lstStyle/>
          <a:p>
            <a:pPr eaLnBrk="1" hangingPunct="1"/>
            <a:r>
              <a:rPr lang="en-US" smtClean="0">
                <a:ea typeface="ＭＳ Ｐゴシック" pitchFamily="34" charset="-128"/>
              </a:rPr>
              <a:t>Open Cloud Consortium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304800" y="1066800"/>
            <a:ext cx="8686800" cy="5181600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The Open Cloud Consortium (OCC) </a:t>
            </a:r>
            <a:r>
              <a:rPr lang="en-US" sz="2000" dirty="0" smtClean="0">
                <a:ea typeface="ＭＳ Ｐゴシック" pitchFamily="34" charset="-128"/>
                <a:hlinkClick r:id="rId2"/>
              </a:rPr>
              <a:t>http://www.opencloudconsortium.org/</a:t>
            </a:r>
            <a:r>
              <a:rPr lang="en-US" sz="2000" dirty="0" smtClean="0">
                <a:ea typeface="ＭＳ Ｐゴシック" pitchFamily="34" charset="-128"/>
              </a:rPr>
              <a:t> </a:t>
            </a:r>
          </a:p>
          <a:p>
            <a:pPr eaLnBrk="1" hangingPunct="1">
              <a:buFont typeface="Arial" charset="0"/>
              <a:buNone/>
            </a:pPr>
            <a:endParaRPr lang="en-US" sz="2000" dirty="0" smtClean="0">
              <a:ea typeface="ＭＳ Ｐゴシック" pitchFamily="34" charset="-128"/>
            </a:endParaRP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Supports the development of standards for cloud computing and frameworks for interoperating between clouds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supports the development of benchmarks for cloud computing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Supports reference implementations for cloud computing, preferably open source reference implementations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it manages testing platform and a test-bed for cloud computing called the Open Cloud Test-bed. 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Sponsors  workshops and other events.</a:t>
            </a:r>
          </a:p>
          <a:p>
            <a:pPr lvl="1" eaLnBrk="1" hangingPunct="1"/>
            <a:r>
              <a:rPr lang="en-US" sz="2400" dirty="0" smtClean="0">
                <a:ea typeface="ＭＳ Ｐゴシック" pitchFamily="34" charset="-128"/>
              </a:rPr>
              <a:t>Organized into several different working groups. </a:t>
            </a:r>
          </a:p>
          <a:p>
            <a:pPr eaLnBrk="1" hangingPunct="1"/>
            <a:endParaRPr lang="en-US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Standards and Interoperability for Clouds - On-Demand Computing Capacity</a:t>
            </a:r>
          </a:p>
          <a:p>
            <a:pPr>
              <a:defRPr/>
            </a:pPr>
            <a:r>
              <a:rPr lang="en-US" sz="2400" i="1" dirty="0" err="1" smtClean="0"/>
              <a:t>Hadoop</a:t>
            </a:r>
            <a:r>
              <a:rPr lang="en-US" sz="2400" i="1" dirty="0" smtClean="0"/>
              <a:t> architecture</a:t>
            </a:r>
          </a:p>
          <a:p>
            <a:pPr lvl="1">
              <a:defRPr/>
            </a:pPr>
            <a:r>
              <a:rPr lang="en-US" sz="2400" i="1" dirty="0" smtClean="0"/>
              <a:t>storage cloud -</a:t>
            </a:r>
            <a:r>
              <a:rPr lang="en-US" sz="2400" dirty="0" smtClean="0"/>
              <a:t> a distributed file system</a:t>
            </a:r>
          </a:p>
          <a:p>
            <a:pPr lvl="1">
              <a:defRPr/>
            </a:pPr>
            <a:r>
              <a:rPr lang="en-US" sz="2400" i="1" dirty="0" smtClean="0"/>
              <a:t>compute cloud -</a:t>
            </a:r>
            <a:r>
              <a:rPr lang="en-US" sz="2400" dirty="0" smtClean="0"/>
              <a:t> </a:t>
            </a:r>
            <a:r>
              <a:rPr lang="en-US" sz="2400" dirty="0" err="1" smtClean="0"/>
              <a:t>MapReduce</a:t>
            </a:r>
            <a:endParaRPr lang="en-US" sz="2400" dirty="0" smtClean="0"/>
          </a:p>
          <a:p>
            <a:pPr lvl="1">
              <a:defRPr/>
            </a:pPr>
            <a:r>
              <a:rPr lang="en-US" sz="2400" i="1" dirty="0" smtClean="0"/>
              <a:t>data cloud - </a:t>
            </a:r>
            <a:r>
              <a:rPr lang="en-US" sz="2400" dirty="0" smtClean="0"/>
              <a:t>table services. </a:t>
            </a:r>
          </a:p>
          <a:p>
            <a:pPr marL="747713" lvl="1" indent="-290513">
              <a:defRPr/>
            </a:pPr>
            <a:r>
              <a:rPr lang="en-US" sz="2400" i="1" dirty="0" smtClean="0"/>
              <a:t>support the concept of on-demand </a:t>
            </a:r>
            <a:r>
              <a:rPr lang="en-US" sz="2400" dirty="0" smtClean="0"/>
              <a:t>computing capacity.</a:t>
            </a:r>
          </a:p>
          <a:p>
            <a:pPr>
              <a:defRPr/>
            </a:pPr>
            <a:r>
              <a:rPr lang="en-US" sz="2400" dirty="0" smtClean="0"/>
              <a:t>Group on Wide Area Clouds and the Impact of Network Protocols on Clouds – developing technology for wide area clouds, including creation of methodologies and benchmarks to be used for evaluating wide area clouds. </a:t>
            </a:r>
          </a:p>
          <a:p>
            <a:pPr lvl="1">
              <a:defRPr/>
            </a:pPr>
            <a:r>
              <a:rPr lang="en-US" sz="2400" i="1" dirty="0" smtClean="0"/>
              <a:t>it is tasked to study the applicability of variants of TCP and the use of other network protocols for clouds.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Groups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r>
              <a:rPr lang="en-US" sz="2400" smtClean="0">
                <a:ea typeface="ＭＳ Ｐゴシック" pitchFamily="34" charset="-128"/>
              </a:rPr>
              <a:t>Open Cloud Test-bed uses Cisco C-Wave and the UIC Teraflow Network for its network connections. </a:t>
            </a:r>
          </a:p>
          <a:p>
            <a:r>
              <a:rPr lang="en-US" sz="2400" smtClean="0">
                <a:ea typeface="ＭＳ Ｐゴシック" pitchFamily="34" charset="-128"/>
              </a:rPr>
              <a:t>C-Wave makes  free network resources available to researchers to conduct networking and applications research. </a:t>
            </a:r>
          </a:p>
          <a:p>
            <a:r>
              <a:rPr lang="en-US" sz="2400" smtClean="0">
                <a:ea typeface="ＭＳ Ｐゴシック" pitchFamily="34" charset="-128"/>
              </a:rPr>
              <a:t>Allows to access 10G Waves (Layer-1 p2p) on a per-project allocation. </a:t>
            </a:r>
          </a:p>
          <a:p>
            <a:r>
              <a:rPr lang="en-US" sz="2400" smtClean="0">
                <a:ea typeface="ＭＳ Ｐゴシック" pitchFamily="34" charset="-128"/>
              </a:rPr>
              <a:t>It provides links to a 10GE (gigabit Ethernet) switched network backbone. </a:t>
            </a:r>
          </a:p>
          <a:p>
            <a:r>
              <a:rPr lang="en-US" sz="2400" smtClean="0">
                <a:ea typeface="ＭＳ Ｐゴシック" pitchFamily="34" charset="-128"/>
              </a:rPr>
              <a:t>The Teraflow Test-bed (TFT) is an international application network for exploring, integrating, analyzing, and detecting changes in massive and distributed data over wide-area high performance networks. </a:t>
            </a:r>
          </a:p>
          <a:p>
            <a:r>
              <a:rPr lang="en-US" sz="2400" smtClean="0">
                <a:ea typeface="ＭＳ Ｐゴシック" pitchFamily="34" charset="-128"/>
              </a:rPr>
              <a:t>It analyzes streaming data with the goal of developing innovative technology for data streams at very high speeds.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Groups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r>
              <a:rPr lang="en-US" sz="2400" dirty="0" smtClean="0">
                <a:ea typeface="ＭＳ Ｐゴシック" pitchFamily="34" charset="-128"/>
              </a:rPr>
              <a:t>Hope - prototype technology can be deployed over the next decade to analyze 100-gigabit-per-second (</a:t>
            </a:r>
            <a:r>
              <a:rPr lang="en-US" sz="2400" dirty="0" err="1" smtClean="0">
                <a:ea typeface="ＭＳ Ｐゴシック" pitchFamily="34" charset="-128"/>
              </a:rPr>
              <a:t>Gbps</a:t>
            </a:r>
            <a:r>
              <a:rPr lang="en-US" sz="2400" dirty="0" smtClean="0">
                <a:ea typeface="ＭＳ Ｐゴシック" pitchFamily="34" charset="-128"/>
              </a:rPr>
              <a:t>) and 1,000-Gbps streams.</a:t>
            </a:r>
          </a:p>
          <a:p>
            <a:r>
              <a:rPr lang="en-US" sz="2400" dirty="0" smtClean="0">
                <a:ea typeface="ＭＳ Ｐゴシック" pitchFamily="34" charset="-128"/>
              </a:rPr>
              <a:t>Both C wave and </a:t>
            </a:r>
            <a:r>
              <a:rPr lang="en-US" sz="2400" dirty="0" err="1" smtClean="0">
                <a:ea typeface="ＭＳ Ｐゴシック" pitchFamily="34" charset="-128"/>
              </a:rPr>
              <a:t>Teraflow</a:t>
            </a:r>
            <a:r>
              <a:rPr lang="en-US" sz="2400" dirty="0" smtClean="0">
                <a:ea typeface="ＭＳ Ｐゴシック" pitchFamily="34" charset="-128"/>
              </a:rPr>
              <a:t> Testbed  (TFT)  uses wavelengths provided by the National Lambda Rail (NLR). </a:t>
            </a:r>
          </a:p>
          <a:p>
            <a:r>
              <a:rPr lang="en-US" sz="2400" dirty="0" smtClean="0">
                <a:ea typeface="ＭＳ Ｐゴシック" pitchFamily="34" charset="-128"/>
              </a:rPr>
              <a:t>NLR support many distinct networks for the U.S. researchers using the same core infrastructure.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Production and Experimental networks exist side by side but are physically and operationally separate. </a:t>
            </a:r>
          </a:p>
          <a:p>
            <a:r>
              <a:rPr lang="en-US" sz="2400" dirty="0" smtClean="0">
                <a:ea typeface="ＭＳ Ｐゴシック" pitchFamily="34" charset="-128"/>
              </a:rPr>
              <a:t>Production networks support cutting-edge applications by providing users guaranteed levels of reliability, availability, and performance.</a:t>
            </a:r>
          </a:p>
          <a:p>
            <a:r>
              <a:rPr lang="en-US" sz="2400" dirty="0" smtClean="0">
                <a:ea typeface="ＭＳ Ｐゴシック" pitchFamily="34" charset="-128"/>
              </a:rPr>
              <a:t>experimental networks enable the deployment and testing of new networking technologies, providing researchers national-scale testbeds</a:t>
            </a:r>
          </a:p>
          <a:p>
            <a:endParaRPr lang="en-US" sz="2400" i="1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dirty="0" smtClean="0">
                <a:ea typeface="ＭＳ Ｐゴシック" pitchFamily="34" charset="-128"/>
              </a:rPr>
              <a:t>Groups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r>
              <a:rPr lang="en-US" sz="2800" dirty="0" smtClean="0">
                <a:ea typeface="ＭＳ Ｐゴシック" pitchFamily="34" charset="-128"/>
              </a:rPr>
              <a:t>The Working Group on Information Sharing, Security, and Clouds - standards has primary focus on  standards-based architectures for sharing information between clouds. 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security architectures for clouds. </a:t>
            </a:r>
          </a:p>
          <a:p>
            <a:r>
              <a:rPr lang="en-US" sz="2800" dirty="0" smtClean="0">
                <a:ea typeface="ＭＳ Ｐゴシック" pitchFamily="34" charset="-128"/>
              </a:rPr>
              <a:t>Open Cloud Test-bed Working Group - manages and operates the Open Cloud Test-bed.</a:t>
            </a:r>
          </a:p>
          <a:p>
            <a:pPr lvl="1"/>
            <a:r>
              <a:rPr lang="en-US" dirty="0" smtClean="0">
                <a:ea typeface="ＭＳ Ｐゴシック" pitchFamily="34" charset="-128"/>
              </a:rPr>
              <a:t>membership in this working group is limited to those who contribute computing, networking, or other resources to the Open Cloud Test-bed. </a:t>
            </a:r>
          </a:p>
          <a:p>
            <a:endParaRPr lang="en-US" sz="2400" i="1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639762"/>
          </a:xfrm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ea typeface="+mj-ea"/>
                <a:cs typeface="+mj-cs"/>
              </a:rPr>
              <a:t>Distributed Management Task Force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4582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i="1" dirty="0" smtClean="0">
                <a:ea typeface="ＭＳ Ｐゴシック" pitchFamily="34" charset="-128"/>
              </a:rPr>
              <a:t>“DMTF’s Open Cloud Standards Incubator  focuses on standardizing interactions between cloud environments by developing cloud resource management protocols, packaging formats and security mechanisms to facilitate interoperability.”</a:t>
            </a:r>
          </a:p>
          <a:p>
            <a:pPr algn="just"/>
            <a:r>
              <a:rPr lang="en-US" dirty="0">
                <a:ea typeface="ＭＳ Ｐゴシック" pitchFamily="34" charset="-128"/>
              </a:rPr>
              <a:t>E</a:t>
            </a:r>
            <a:r>
              <a:rPr lang="en-US" dirty="0" smtClean="0">
                <a:ea typeface="ＭＳ Ｐゴシック" pitchFamily="34" charset="-128"/>
              </a:rPr>
              <a:t>nables more effective management of millions of IT systems worldwide by bringing the IT industry together to collaborate on the development, validation and promotion of systems management standards. </a:t>
            </a:r>
          </a:p>
          <a:p>
            <a:pPr algn="just"/>
            <a:r>
              <a:rPr lang="en-US" dirty="0" smtClean="0">
                <a:ea typeface="ＭＳ Ｐゴシック" pitchFamily="34" charset="-128"/>
              </a:rPr>
              <a:t>160 member companies and organizations, and more than 4,000 active participants crossing 43 countries. </a:t>
            </a:r>
          </a:p>
          <a:p>
            <a:pPr eaLnBrk="1" hangingPunct="1">
              <a:lnSpc>
                <a:spcPct val="80000"/>
              </a:lnSpc>
            </a:pPr>
            <a:endParaRPr lang="en-US" sz="2400" i="1" dirty="0" smtClean="0">
              <a:ea typeface="ＭＳ Ｐゴシック" pitchFamily="34" charset="-128"/>
            </a:endParaRPr>
          </a:p>
          <a:p>
            <a:pPr eaLnBrk="1" hangingPunct="1">
              <a:lnSpc>
                <a:spcPct val="80000"/>
              </a:lnSpc>
              <a:buFont typeface="Arial" charset="0"/>
              <a:buNone/>
            </a:pPr>
            <a:endParaRPr lang="en-US" sz="3000" i="1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Contd…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pPr>
              <a:defRPr/>
            </a:pPr>
            <a:r>
              <a:rPr lang="en-US" sz="2400" dirty="0" smtClean="0"/>
              <a:t>The DMTF board of directors is led by 16 companies AMD, Broadcom Corporation, CA </a:t>
            </a:r>
            <a:r>
              <a:rPr lang="en-US" sz="2400" dirty="0" err="1" smtClean="0"/>
              <a:t>Inc.,Dell</a:t>
            </a:r>
            <a:r>
              <a:rPr lang="en-US" sz="2400" dirty="0" smtClean="0"/>
              <a:t>, EMC, Fujitsu, HP, Hitachi Ltd., IBM, Intel Corporation, Microsoft Corporation, Novell, Oracle, Sun Microsystems Inc., Symantec Corporation and VMware Inc.</a:t>
            </a:r>
          </a:p>
          <a:p>
            <a:pPr>
              <a:defRPr/>
            </a:pPr>
            <a:r>
              <a:rPr lang="en-US" sz="2400" dirty="0" smtClean="0"/>
              <a:t>DMTF creates standards that enable interoperable IT management. </a:t>
            </a:r>
          </a:p>
          <a:p>
            <a:pPr>
              <a:defRPr/>
            </a:pPr>
            <a:r>
              <a:rPr lang="en-US" sz="2400" dirty="0" smtClean="0"/>
              <a:t>DMTF management standards are critical to enabling management interoperability among multi-vendor systems, tools and solutions within the enterprise</a:t>
            </a:r>
            <a:endParaRPr lang="en-US" sz="2400" dirty="0" smtClean="0">
              <a:hlinkClick r:id="rId2"/>
            </a:endParaRPr>
          </a:p>
          <a:p>
            <a:pPr marL="2628900" lvl="6" indent="0">
              <a:spcBef>
                <a:spcPts val="600"/>
              </a:spcBef>
              <a:buFont typeface="Arial"/>
              <a:buNone/>
              <a:defRPr/>
            </a:pPr>
            <a:r>
              <a:rPr lang="en-US" sz="3200" dirty="0" smtClean="0">
                <a:hlinkClick r:id="rId2"/>
              </a:rPr>
              <a:t>www.dmtf.org</a:t>
            </a:r>
            <a:endParaRPr lang="en-US" sz="3200" dirty="0" smtClean="0"/>
          </a:p>
          <a:p>
            <a:pPr>
              <a:defRPr/>
            </a:pPr>
            <a:r>
              <a:rPr lang="en-US" altLang="en-US" dirty="0" smtClean="0"/>
              <a:t>Cloud work at DMTF</a:t>
            </a:r>
          </a:p>
          <a:p>
            <a:pPr lvl="1">
              <a:defRPr/>
            </a:pPr>
            <a:r>
              <a:rPr lang="en-US" altLang="en-US" dirty="0" smtClean="0">
                <a:hlinkClick r:id="rId3"/>
              </a:rPr>
              <a:t>http://www.dmtf.org/standards/cloud</a:t>
            </a:r>
            <a:r>
              <a:rPr lang="en-US" altLang="en-US" dirty="0" smtClean="0"/>
              <a:t> </a:t>
            </a:r>
          </a:p>
          <a:p>
            <a:pPr>
              <a:defRPr/>
            </a:pPr>
            <a:r>
              <a:rPr lang="en-US" altLang="en-US" dirty="0" smtClean="0"/>
              <a:t>Work in Progress documents available at:</a:t>
            </a:r>
          </a:p>
          <a:p>
            <a:pPr lvl="1">
              <a:defRPr/>
            </a:pPr>
            <a:r>
              <a:rPr lang="en-US" altLang="en-US" dirty="0" smtClean="0">
                <a:hlinkClick r:id="rId4"/>
              </a:rPr>
              <a:t>http://www.dmtf.org/standards/wip</a:t>
            </a:r>
            <a:r>
              <a:rPr lang="en-US" altLang="en-US" dirty="0" smtClean="0"/>
              <a:t> </a:t>
            </a:r>
          </a:p>
          <a:p>
            <a:pPr>
              <a:defRPr/>
            </a:pPr>
            <a:endParaRPr lang="en-US" sz="24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487363"/>
          </a:xfrm>
        </p:spPr>
        <p:txBody>
          <a:bodyPr/>
          <a:lstStyle/>
          <a:p>
            <a:r>
              <a:rPr lang="en-US" dirty="0" err="1" smtClean="0">
                <a:ea typeface="ＭＳ Ｐゴシック" pitchFamily="34" charset="-128"/>
              </a:rPr>
              <a:t>Contd</a:t>
            </a:r>
            <a:r>
              <a:rPr lang="en-US" dirty="0" smtClean="0">
                <a:ea typeface="ＭＳ Ｐゴシック" pitchFamily="34" charset="-128"/>
              </a:rPr>
              <a:t>…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152400" y="762000"/>
            <a:ext cx="8839200" cy="5791200"/>
          </a:xfrm>
        </p:spPr>
        <p:txBody>
          <a:bodyPr/>
          <a:lstStyle/>
          <a:p>
            <a:r>
              <a:rPr lang="en-US" sz="2800" dirty="0" smtClean="0">
                <a:ea typeface="ＭＳ Ｐゴシック" pitchFamily="34" charset="-128"/>
              </a:rPr>
              <a:t>Virtualization Management Initiative (DMTF’s VMAN). </a:t>
            </a:r>
          </a:p>
          <a:p>
            <a:r>
              <a:rPr lang="en-US" sz="2800" dirty="0" smtClean="0">
                <a:ea typeface="ＭＳ Ｐゴシック" pitchFamily="34" charset="-128"/>
              </a:rPr>
              <a:t> Delivers broadly supported interoperability and portability standards to virtual computing environments.</a:t>
            </a:r>
          </a:p>
          <a:p>
            <a:r>
              <a:rPr lang="en-US" sz="2800" dirty="0" smtClean="0">
                <a:ea typeface="ＭＳ Ｐゴシック" pitchFamily="34" charset="-128"/>
              </a:rPr>
              <a:t>VMAN enables IT managers to deploy preinstalled,</a:t>
            </a:r>
            <a:r>
              <a:rPr lang="en-US" sz="2400" dirty="0" smtClean="0">
                <a:ea typeface="ＭＳ Ｐゴシック" pitchFamily="34" charset="-128"/>
              </a:rPr>
              <a:t> </a:t>
            </a:r>
            <a:r>
              <a:rPr lang="en-US" sz="2800" dirty="0">
                <a:ea typeface="ＭＳ Ｐゴシック" pitchFamily="34" charset="-128"/>
              </a:rPr>
              <a:t>preconfigured solutions across heterogeneous computing networks and to manage those applications through their entire life cycle. </a:t>
            </a:r>
          </a:p>
          <a:p>
            <a:r>
              <a:rPr lang="en-US" sz="2800" dirty="0" smtClean="0">
                <a:ea typeface="ＭＳ Ｐゴシック" pitchFamily="34" charset="-128"/>
              </a:rPr>
              <a:t>Provides </a:t>
            </a:r>
            <a:r>
              <a:rPr lang="en-US" sz="2800" dirty="0">
                <a:ea typeface="ＭＳ Ｐゴシック" pitchFamily="34" charset="-128"/>
              </a:rPr>
              <a:t>management capabilities to enable IT managers to manage their virtual environments in the context of the underlying hardware.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29600" cy="838200"/>
          </a:xfrm>
        </p:spPr>
        <p:txBody>
          <a:bodyPr/>
          <a:lstStyle/>
          <a:p>
            <a:r>
              <a:rPr lang="en-US" smtClean="0">
                <a:ea typeface="ＭＳ Ｐゴシック" pitchFamily="34" charset="-128"/>
              </a:rPr>
              <a:t>Open Virtualization Format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>
          <a:xfrm>
            <a:off x="304800" y="1143000"/>
            <a:ext cx="8839200" cy="5562600"/>
          </a:xfrm>
        </p:spPr>
        <p:txBody>
          <a:bodyPr/>
          <a:lstStyle/>
          <a:p>
            <a:pPr eaLnBrk="1" hangingPunct="1"/>
            <a:r>
              <a:rPr lang="en-US" sz="2400" dirty="0" smtClean="0">
                <a:ea typeface="ＭＳ Ｐゴシック" pitchFamily="34" charset="-128"/>
              </a:rPr>
              <a:t>OVF Specification from DMTF describes an open, secure, portable, efficient and extensible format for the packaging and distribution of software in (collections of) virtual machines</a:t>
            </a:r>
          </a:p>
          <a:p>
            <a:pPr eaLnBrk="1" hangingPunct="1">
              <a:buFontTx/>
              <a:buChar char="•"/>
            </a:pPr>
            <a:r>
              <a:rPr lang="en-US" sz="2400" dirty="0" smtClean="0">
                <a:ea typeface="ＭＳ Ｐゴシック" pitchFamily="34" charset="-128"/>
              </a:rPr>
              <a:t>Optimized for distribution</a:t>
            </a:r>
          </a:p>
          <a:p>
            <a:pPr eaLnBrk="1" hangingPunct="1">
              <a:buFontTx/>
              <a:buChar char="•"/>
            </a:pPr>
            <a:r>
              <a:rPr lang="en-US" sz="2400" dirty="0" smtClean="0">
                <a:ea typeface="ＭＳ Ｐゴシック" pitchFamily="34" charset="-128"/>
              </a:rPr>
              <a:t>Optimized for a simple, automated user experience</a:t>
            </a:r>
          </a:p>
          <a:p>
            <a:pPr eaLnBrk="1" hangingPunct="1">
              <a:buFontTx/>
              <a:buChar char="•"/>
            </a:pPr>
            <a:r>
              <a:rPr lang="en-US" sz="2400" dirty="0" smtClean="0">
                <a:ea typeface="ＭＳ Ｐゴシック" pitchFamily="34" charset="-128"/>
              </a:rPr>
              <a:t>It is a packaging standard not a runtime standard.</a:t>
            </a:r>
          </a:p>
          <a:p>
            <a:pPr eaLnBrk="1" hangingPunct="1">
              <a:buFontTx/>
              <a:buChar char="•"/>
            </a:pPr>
            <a:r>
              <a:rPr lang="en-US" sz="2400" dirty="0" smtClean="0">
                <a:ea typeface="ＭＳ Ｐゴシック" pitchFamily="34" charset="-128"/>
              </a:rPr>
              <a:t>Supports both single VM and multiple-VM configurations</a:t>
            </a:r>
          </a:p>
          <a:p>
            <a:pPr eaLnBrk="1" hangingPunct="1">
              <a:buFontTx/>
              <a:buChar char="•"/>
            </a:pPr>
            <a:r>
              <a:rPr lang="en-US" sz="2400" dirty="0" smtClean="0">
                <a:ea typeface="ＭＳ Ｐゴシック" pitchFamily="34" charset="-128"/>
              </a:rPr>
              <a:t>Vendor and platform independent</a:t>
            </a:r>
          </a:p>
          <a:p>
            <a:pPr eaLnBrk="1" hangingPunct="1">
              <a:buFontTx/>
              <a:buChar char="•"/>
            </a:pPr>
            <a:endParaRPr lang="en-US" sz="2400" i="1" dirty="0" smtClean="0">
              <a:ea typeface="ＭＳ Ｐゴシック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4771</TotalTime>
  <Words>1297</Words>
  <Application>Microsoft Office PowerPoint</Application>
  <PresentationFormat>On-screen Show (4:3)</PresentationFormat>
  <Paragraphs>160</Paragraphs>
  <Slides>26</Slides>
  <Notes>0</Notes>
  <HiddenSlides>3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Cloud Standards Overview</vt:lpstr>
      <vt:lpstr>  Open Standards</vt:lpstr>
      <vt:lpstr>Some Possible Standards</vt:lpstr>
      <vt:lpstr>Federated Cloud</vt:lpstr>
      <vt:lpstr>Standards Groups</vt:lpstr>
      <vt:lpstr>Standards and Test Bed Groups</vt:lpstr>
      <vt:lpstr>Cloud Security Alliance (CSA) </vt:lpstr>
      <vt:lpstr>Cloud Security Alliance (CSA) </vt:lpstr>
      <vt:lpstr> Storage Networking Industry Association (SNIA) </vt:lpstr>
      <vt:lpstr>PowerPoint Presentation</vt:lpstr>
      <vt:lpstr>OCC mission</vt:lpstr>
      <vt:lpstr>Which Organizations doing What?</vt:lpstr>
      <vt:lpstr>Which Organizations doing What?</vt:lpstr>
      <vt:lpstr>PowerPoint Presentation</vt:lpstr>
      <vt:lpstr>Existing Specifications</vt:lpstr>
      <vt:lpstr>Testbeds</vt:lpstr>
      <vt:lpstr>      Individual Standards Groups</vt:lpstr>
      <vt:lpstr>Open Cloud Consortium</vt:lpstr>
      <vt:lpstr>Groups</vt:lpstr>
      <vt:lpstr>Groups</vt:lpstr>
      <vt:lpstr>Groups</vt:lpstr>
      <vt:lpstr>Groups</vt:lpstr>
      <vt:lpstr>Distributed Management Task Force</vt:lpstr>
      <vt:lpstr>Contd…</vt:lpstr>
      <vt:lpstr>Contd…</vt:lpstr>
      <vt:lpstr>Open Virtualization Format</vt:lpstr>
    </vt:vector>
  </TitlesOfParts>
  <Company>cloud-standards.org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Cloud Standards Overview</dc:title>
  <dc:creator>bobmarcus, krishna, mark</dc:creator>
  <cp:lastModifiedBy>D.D.Londhe</cp:lastModifiedBy>
  <cp:revision>149</cp:revision>
  <dcterms:created xsi:type="dcterms:W3CDTF">2010-05-10T12:56:29Z</dcterms:created>
  <dcterms:modified xsi:type="dcterms:W3CDTF">2019-02-01T03:00:31Z</dcterms:modified>
</cp:coreProperties>
</file>