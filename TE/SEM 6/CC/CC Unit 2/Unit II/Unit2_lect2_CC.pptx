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3" r:id="rId3"/>
    <p:sldId id="276" r:id="rId4"/>
    <p:sldId id="257" r:id="rId5"/>
    <p:sldId id="263" r:id="rId6"/>
    <p:sldId id="265" r:id="rId7"/>
    <p:sldId id="264" r:id="rId8"/>
    <p:sldId id="260" r:id="rId9"/>
    <p:sldId id="266" r:id="rId10"/>
    <p:sldId id="267" r:id="rId11"/>
    <p:sldId id="270" r:id="rId12"/>
    <p:sldId id="269" r:id="rId13"/>
    <p:sldId id="272" r:id="rId14"/>
    <p:sldId id="271" r:id="rId15"/>
    <p:sldId id="268" r:id="rId16"/>
    <p:sldId id="277" r:id="rId17"/>
    <p:sldId id="278" r:id="rId18"/>
    <p:sldId id="274" r:id="rId19"/>
    <p:sldId id="279" r:id="rId20"/>
    <p:sldId id="280" r:id="rId21"/>
    <p:sldId id="281" r:id="rId22"/>
    <p:sldId id="275"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570"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6D89C8C-1EE1-4C56-B360-FC8B75CB3D28}" type="datetimeFigureOut">
              <a:rPr lang="en-US" smtClean="0"/>
              <a:pPr/>
              <a:t>1/18/2019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16721A-49E1-450A-B86C-B1AED55B2DF5}"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6D89C8C-1EE1-4C56-B360-FC8B75CB3D28}" type="datetimeFigureOut">
              <a:rPr lang="en-US" smtClean="0"/>
              <a:pPr/>
              <a:t>1/18/2019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16721A-49E1-450A-B86C-B1AED55B2DF5}"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6D89C8C-1EE1-4C56-B360-FC8B75CB3D28}" type="datetimeFigureOut">
              <a:rPr lang="en-US" smtClean="0"/>
              <a:pPr/>
              <a:t>1/18/2019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16721A-49E1-450A-B86C-B1AED55B2DF5}"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6D89C8C-1EE1-4C56-B360-FC8B75CB3D28}" type="datetimeFigureOut">
              <a:rPr lang="en-US" smtClean="0"/>
              <a:pPr/>
              <a:t>1/18/2019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16721A-49E1-450A-B86C-B1AED55B2DF5}"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6D89C8C-1EE1-4C56-B360-FC8B75CB3D28}" type="datetimeFigureOut">
              <a:rPr lang="en-US" smtClean="0"/>
              <a:pPr/>
              <a:t>1/18/2019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316721A-49E1-450A-B86C-B1AED55B2DF5}"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6D89C8C-1EE1-4C56-B360-FC8B75CB3D28}" type="datetimeFigureOut">
              <a:rPr lang="en-US" smtClean="0"/>
              <a:pPr/>
              <a:t>1/18/2019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316721A-49E1-450A-B86C-B1AED55B2DF5}"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6D89C8C-1EE1-4C56-B360-FC8B75CB3D28}" type="datetimeFigureOut">
              <a:rPr lang="en-US" smtClean="0"/>
              <a:pPr/>
              <a:t>1/18/2019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316721A-49E1-450A-B86C-B1AED55B2DF5}"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6D89C8C-1EE1-4C56-B360-FC8B75CB3D28}" type="datetimeFigureOut">
              <a:rPr lang="en-US" smtClean="0"/>
              <a:pPr/>
              <a:t>1/18/2019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16721A-49E1-450A-B86C-B1AED55B2DF5}"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6D89C8C-1EE1-4C56-B360-FC8B75CB3D28}" type="datetimeFigureOut">
              <a:rPr lang="en-US" smtClean="0"/>
              <a:pPr/>
              <a:t>1/18/2019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16721A-49E1-450A-B86C-B1AED55B2DF5}"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6D89C8C-1EE1-4C56-B360-FC8B75CB3D28}" type="datetimeFigureOut">
              <a:rPr lang="en-US" smtClean="0"/>
              <a:pPr/>
              <a:t>1/18/2019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16721A-49E1-450A-B86C-B1AED55B2DF5}"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6D89C8C-1EE1-4C56-B360-FC8B75CB3D28}" type="datetimeFigureOut">
              <a:rPr lang="en-US" smtClean="0"/>
              <a:pPr/>
              <a:t>1/18/2019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16721A-49E1-450A-B86C-B1AED55B2DF5}"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D89C8C-1EE1-4C56-B360-FC8B75CB3D28}" type="datetimeFigureOut">
              <a:rPr lang="en-US" smtClean="0"/>
              <a:pPr/>
              <a:t>1/18/2019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316721A-49E1-450A-B86C-B1AED55B2DF5}"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searchservervirtualization.techtarget.com/definition/virtual-machine" TargetMode="External"/><Relationship Id="rId2" Type="http://schemas.openxmlformats.org/officeDocument/2006/relationships/hyperlink" Target="https://searchenterprisedesktop.techtarget.com/definition/client" TargetMode="External"/><Relationship Id="rId1" Type="http://schemas.openxmlformats.org/officeDocument/2006/relationships/slideLayout" Target="../slideLayouts/slideLayout2.xml"/><Relationship Id="rId4" Type="http://schemas.openxmlformats.org/officeDocument/2006/relationships/hyperlink" Target="https://searchwindowsserver.techtarget.com/definition/Terminal-Server-product-or-Microsoft-Windows-Terminal-Server-WTS"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6626" name="Picture 2" descr="Image result for host based virtualization architecture"/>
          <p:cNvPicPr>
            <a:picLocks noChangeAspect="1" noChangeArrowheads="1"/>
          </p:cNvPicPr>
          <p:nvPr/>
        </p:nvPicPr>
        <p:blipFill>
          <a:blip r:embed="rId2"/>
          <a:srcRect/>
          <a:stretch>
            <a:fillRect/>
          </a:stretch>
        </p:blipFill>
        <p:spPr bwMode="auto">
          <a:xfrm>
            <a:off x="914400" y="1752600"/>
            <a:ext cx="6477000" cy="3753409"/>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4" descr="Image result for host based virtualization architecture"/>
          <p:cNvPicPr>
            <a:picLocks noChangeAspect="1" noChangeArrowheads="1"/>
          </p:cNvPicPr>
          <p:nvPr/>
        </p:nvPicPr>
        <p:blipFill>
          <a:blip r:embed="rId2"/>
          <a:srcRect/>
          <a:stretch>
            <a:fillRect/>
          </a:stretch>
        </p:blipFill>
        <p:spPr bwMode="auto">
          <a:xfrm>
            <a:off x="1600200" y="1905001"/>
            <a:ext cx="6172200" cy="3857760"/>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Virtualization Structures/Tools and Mechanisms</a:t>
            </a:r>
          </a:p>
        </p:txBody>
      </p:sp>
      <p:sp>
        <p:nvSpPr>
          <p:cNvPr id="3" name="Content Placeholder 2"/>
          <p:cNvSpPr>
            <a:spLocks noGrp="1"/>
          </p:cNvSpPr>
          <p:nvPr>
            <p:ph idx="1"/>
          </p:nvPr>
        </p:nvSpPr>
        <p:spPr/>
        <p:txBody>
          <a:bodyPr>
            <a:normAutofit/>
          </a:bodyPr>
          <a:lstStyle/>
          <a:p>
            <a:r>
              <a:rPr lang="en-US" dirty="0" smtClean="0"/>
              <a:t>In general, there are three typical classes of VM architecture.</a:t>
            </a:r>
          </a:p>
          <a:p>
            <a:pPr>
              <a:buNone/>
            </a:pPr>
            <a:r>
              <a:rPr lang="en-US" dirty="0" smtClean="0"/>
              <a:t>   1. hypervisor architecture</a:t>
            </a:r>
            <a:r>
              <a:rPr lang="en-US" dirty="0"/>
              <a:t>,</a:t>
            </a:r>
          </a:p>
          <a:p>
            <a:pPr>
              <a:buNone/>
            </a:pPr>
            <a:r>
              <a:rPr lang="en-US" dirty="0" smtClean="0"/>
              <a:t>   2. Para-virtualization</a:t>
            </a:r>
            <a:endParaRPr lang="en-US" dirty="0"/>
          </a:p>
          <a:p>
            <a:pPr>
              <a:buNone/>
            </a:pPr>
            <a:r>
              <a:rPr lang="en-US" dirty="0" smtClean="0"/>
              <a:t>   3. host-based </a:t>
            </a:r>
            <a:r>
              <a:rPr lang="en-US" dirty="0"/>
              <a:t>virtualization</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 Hypervisor and </a:t>
            </a:r>
            <a:r>
              <a:rPr lang="en-US" dirty="0" err="1" smtClean="0"/>
              <a:t>Xen</a:t>
            </a:r>
            <a:r>
              <a:rPr lang="en-US" dirty="0" smtClean="0"/>
              <a:t> Architecture</a:t>
            </a:r>
            <a:endParaRPr lang="en-US" dirty="0"/>
          </a:p>
        </p:txBody>
      </p:sp>
      <p:sp>
        <p:nvSpPr>
          <p:cNvPr id="3" name="Content Placeholder 2"/>
          <p:cNvSpPr>
            <a:spLocks noGrp="1"/>
          </p:cNvSpPr>
          <p:nvPr>
            <p:ph idx="1"/>
          </p:nvPr>
        </p:nvSpPr>
        <p:spPr/>
        <p:txBody>
          <a:bodyPr>
            <a:normAutofit lnSpcReduction="10000"/>
          </a:bodyPr>
          <a:lstStyle/>
          <a:p>
            <a:pPr>
              <a:buNone/>
            </a:pPr>
            <a:r>
              <a:rPr lang="en-US" sz="2000" dirty="0"/>
              <a:t>The hypervisor supports </a:t>
            </a:r>
            <a:r>
              <a:rPr lang="en-US" sz="2000" dirty="0" smtClean="0"/>
              <a:t>hardware-level virtualization.  </a:t>
            </a:r>
          </a:p>
          <a:p>
            <a:pPr>
              <a:buNone/>
            </a:pPr>
            <a:r>
              <a:rPr lang="en-US" sz="2000" dirty="0" smtClean="0"/>
              <a:t>The </a:t>
            </a:r>
            <a:r>
              <a:rPr lang="en-US" sz="2000" dirty="0"/>
              <a:t>hypervisor software sits directly between the </a:t>
            </a:r>
            <a:r>
              <a:rPr lang="en-US" sz="2000" dirty="0" smtClean="0"/>
              <a:t>physical </a:t>
            </a:r>
            <a:r>
              <a:rPr lang="en-US" sz="2000" dirty="0"/>
              <a:t>hardware and its OS</a:t>
            </a:r>
            <a:r>
              <a:rPr lang="en-US" sz="2000" dirty="0" smtClean="0"/>
              <a:t>.</a:t>
            </a:r>
          </a:p>
          <a:p>
            <a:pPr>
              <a:buNone/>
            </a:pPr>
            <a:r>
              <a:rPr lang="en-US" sz="2000" dirty="0" smtClean="0"/>
              <a:t> </a:t>
            </a:r>
            <a:r>
              <a:rPr lang="en-US" sz="2000" dirty="0"/>
              <a:t>The hypervisor </a:t>
            </a:r>
            <a:r>
              <a:rPr lang="en-US" sz="2000" dirty="0" smtClean="0"/>
              <a:t>provides hyper calls for </a:t>
            </a:r>
            <a:r>
              <a:rPr lang="en-US" sz="2000" dirty="0"/>
              <a:t>the guest </a:t>
            </a:r>
            <a:r>
              <a:rPr lang="en-US" sz="2000" dirty="0" err="1"/>
              <a:t>OSes</a:t>
            </a:r>
            <a:r>
              <a:rPr lang="en-US" sz="2000" dirty="0"/>
              <a:t> and applications</a:t>
            </a:r>
            <a:r>
              <a:rPr lang="en-US" sz="2000" dirty="0" smtClean="0"/>
              <a:t>. </a:t>
            </a:r>
          </a:p>
          <a:p>
            <a:pPr>
              <a:buNone/>
            </a:pPr>
            <a:r>
              <a:rPr lang="en-US" sz="2000" dirty="0" smtClean="0"/>
              <a:t>Depending </a:t>
            </a:r>
            <a:r>
              <a:rPr lang="en-US" sz="2000" dirty="0"/>
              <a:t>on the </a:t>
            </a:r>
            <a:r>
              <a:rPr lang="en-US" sz="2000" dirty="0" smtClean="0"/>
              <a:t>functionality</a:t>
            </a:r>
            <a:r>
              <a:rPr lang="en-US" sz="2000" dirty="0"/>
              <a:t>, a hypervisor can assume </a:t>
            </a:r>
            <a:r>
              <a:rPr lang="en-US" sz="2000" dirty="0" smtClean="0"/>
              <a:t>a microkernel architecture like </a:t>
            </a:r>
            <a:r>
              <a:rPr lang="en-US" sz="2000" dirty="0"/>
              <a:t>the Microsoft Hyper-V. </a:t>
            </a:r>
            <a:endParaRPr lang="en-US" sz="2000" dirty="0" smtClean="0"/>
          </a:p>
          <a:p>
            <a:pPr>
              <a:buNone/>
            </a:pPr>
            <a:r>
              <a:rPr lang="en-US" sz="2000" dirty="0" smtClean="0"/>
              <a:t>Or </a:t>
            </a:r>
            <a:r>
              <a:rPr lang="en-US" sz="2000" dirty="0"/>
              <a:t>it </a:t>
            </a:r>
            <a:r>
              <a:rPr lang="en-US" sz="2000" dirty="0" smtClean="0"/>
              <a:t>can assume a monolithic </a:t>
            </a:r>
            <a:r>
              <a:rPr lang="en-US" sz="2000" dirty="0"/>
              <a:t>hypervisor </a:t>
            </a:r>
            <a:r>
              <a:rPr lang="en-US" sz="2000" dirty="0" smtClean="0"/>
              <a:t>architecture like </a:t>
            </a:r>
            <a:r>
              <a:rPr lang="en-US" sz="2000" dirty="0"/>
              <a:t>the VMware ESX for server </a:t>
            </a:r>
            <a:r>
              <a:rPr lang="en-US" sz="2000" dirty="0" smtClean="0"/>
              <a:t>virtualization.</a:t>
            </a:r>
          </a:p>
          <a:p>
            <a:pPr>
              <a:buNone/>
            </a:pPr>
            <a:r>
              <a:rPr lang="en-US" sz="2000" dirty="0" smtClean="0"/>
              <a:t>A </a:t>
            </a:r>
            <a:r>
              <a:rPr lang="en-US" sz="2000" dirty="0"/>
              <a:t>micro-kernel hypervisor includes only the basic and unchanging functions (such as </a:t>
            </a:r>
            <a:r>
              <a:rPr lang="en-US" sz="2000" dirty="0" smtClean="0"/>
              <a:t>physical memory </a:t>
            </a:r>
            <a:r>
              <a:rPr lang="en-US" sz="2000" dirty="0"/>
              <a:t>management and processor scheduling</a:t>
            </a:r>
            <a:r>
              <a:rPr lang="en-US" sz="2000" dirty="0" smtClean="0"/>
              <a:t>).</a:t>
            </a:r>
          </a:p>
          <a:p>
            <a:pPr>
              <a:buNone/>
            </a:pPr>
            <a:r>
              <a:rPr lang="en-US" sz="2000" dirty="0" smtClean="0"/>
              <a:t>The </a:t>
            </a:r>
            <a:r>
              <a:rPr lang="en-US" sz="2000" dirty="0"/>
              <a:t>device drivers and other changeable </a:t>
            </a:r>
            <a:r>
              <a:rPr lang="en-US" sz="2000" dirty="0" smtClean="0"/>
              <a:t>components are </a:t>
            </a:r>
            <a:r>
              <a:rPr lang="en-US" sz="2000" dirty="0"/>
              <a:t>outside the hypervisor</a:t>
            </a:r>
            <a:r>
              <a:rPr lang="en-US" sz="2000" dirty="0" smtClean="0"/>
              <a:t>.</a:t>
            </a:r>
          </a:p>
          <a:p>
            <a:pPr>
              <a:buNone/>
            </a:pPr>
            <a:r>
              <a:rPr lang="en-US" sz="2000" dirty="0"/>
              <a:t>A monolithic hypervisor implements all the aforementioned </a:t>
            </a:r>
            <a:r>
              <a:rPr lang="en-US" sz="2000" dirty="0" smtClean="0"/>
              <a:t>functions, including </a:t>
            </a:r>
            <a:r>
              <a:rPr lang="en-US" sz="2000" dirty="0"/>
              <a:t>those of the device drivers. </a:t>
            </a:r>
          </a:p>
          <a:p>
            <a:pPr>
              <a:buNone/>
            </a:pPr>
            <a:endParaRPr lang="en-US" sz="2000" dirty="0"/>
          </a:p>
          <a:p>
            <a:pPr>
              <a:buNone/>
            </a:pPr>
            <a:endParaRPr lang="en-US" sz="2200" dirty="0"/>
          </a:p>
          <a:p>
            <a:endParaRPr lang="en-US" dirty="0"/>
          </a:p>
          <a:p>
            <a:endParaRPr lang="en-US" dirty="0"/>
          </a:p>
          <a:p>
            <a:endParaRPr lang="en-US" dirty="0"/>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t>
            </a:r>
            <a:r>
              <a:rPr lang="en-US" dirty="0" err="1" smtClean="0"/>
              <a:t>Xen</a:t>
            </a:r>
            <a:r>
              <a:rPr lang="en-US" dirty="0" smtClean="0"/>
              <a:t> Architecture</a:t>
            </a:r>
            <a:endParaRPr lang="en-US" dirty="0"/>
          </a:p>
        </p:txBody>
      </p:sp>
      <p:pic>
        <p:nvPicPr>
          <p:cNvPr id="4" name="Content Placeholder 3" descr="What Xen is&#10;Xen is a virtualization system supporting both paravirtualization&#10;and hardware-assistant full virtualization&#10;N..."/>
          <p:cNvPicPr>
            <a:picLocks noGrp="1"/>
          </p:cNvPicPr>
          <p:nvPr>
            <p:ph idx="1"/>
          </p:nvPr>
        </p:nvPicPr>
        <p:blipFill>
          <a:blip r:embed="rId2"/>
          <a:srcRect/>
          <a:stretch>
            <a:fillRect/>
          </a:stretch>
        </p:blipFill>
        <p:spPr bwMode="auto">
          <a:xfrm>
            <a:off x="609600" y="1676400"/>
            <a:ext cx="7620000" cy="457200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t>
            </a:r>
            <a:r>
              <a:rPr lang="en-US" dirty="0" err="1" smtClean="0"/>
              <a:t>Xen</a:t>
            </a:r>
            <a:r>
              <a:rPr lang="en-US" dirty="0" smtClean="0"/>
              <a:t> Architecture</a:t>
            </a:r>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762000" y="1447800"/>
            <a:ext cx="7765507" cy="4038600"/>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r>
              <a:rPr lang="en-US" smtClean="0"/>
              <a:t>Xen Architecture</a:t>
            </a:r>
          </a:p>
        </p:txBody>
      </p:sp>
      <p:sp>
        <p:nvSpPr>
          <p:cNvPr id="48131" name="Content Placeholder 2"/>
          <p:cNvSpPr>
            <a:spLocks noGrp="1"/>
          </p:cNvSpPr>
          <p:nvPr>
            <p:ph idx="1"/>
          </p:nvPr>
        </p:nvSpPr>
        <p:spPr/>
        <p:txBody>
          <a:bodyPr/>
          <a:lstStyle/>
          <a:p>
            <a:r>
              <a:rPr lang="en-US" sz="2000" dirty="0" err="1" smtClean="0"/>
              <a:t>Xen</a:t>
            </a:r>
            <a:r>
              <a:rPr lang="en-US" sz="2000" dirty="0" smtClean="0"/>
              <a:t> is a </a:t>
            </a:r>
            <a:r>
              <a:rPr lang="en-US" sz="2000" dirty="0" smtClean="0">
                <a:solidFill>
                  <a:srgbClr val="FF0000"/>
                </a:solidFill>
              </a:rPr>
              <a:t>microkernel</a:t>
            </a:r>
            <a:r>
              <a:rPr lang="en-US" sz="2000" dirty="0" smtClean="0"/>
              <a:t> hypervisor, which separates the policy from the mechanism.</a:t>
            </a:r>
          </a:p>
          <a:p>
            <a:r>
              <a:rPr lang="en-US" sz="2000" dirty="0" smtClean="0"/>
              <a:t>It implements all the mechanisms, leaving the policy to be handled by Domain 0, as shown in Figure.</a:t>
            </a:r>
          </a:p>
          <a:p>
            <a:r>
              <a:rPr lang="en-US" sz="2000" dirty="0" err="1" smtClean="0"/>
              <a:t>Xen</a:t>
            </a:r>
            <a:r>
              <a:rPr lang="en-US" sz="2000" dirty="0" smtClean="0"/>
              <a:t> does not include any device drivers natively. It just provides a mechanism by which a guest OS can have direct access to the physical devices. </a:t>
            </a:r>
          </a:p>
          <a:p>
            <a:endParaRPr lang="en-US" dirty="0" smtClean="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2" descr="Xen Terminology&#10;&#10; "/>
          <p:cNvPicPr>
            <a:picLocks noGrp="1" noChangeAspect="1" noChangeArrowheads="1"/>
          </p:cNvPicPr>
          <p:nvPr>
            <p:ph idx="1"/>
          </p:nvPr>
        </p:nvPicPr>
        <p:blipFill>
          <a:blip r:embed="rId2"/>
          <a:srcRect/>
          <a:stretch>
            <a:fillRect/>
          </a:stretch>
        </p:blipFill>
        <p:spPr bwMode="auto">
          <a:xfrm>
            <a:off x="609600" y="1447800"/>
            <a:ext cx="6671759" cy="5009048"/>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2.Para-virtualization</a:t>
            </a:r>
            <a:endParaRPr lang="en-US" dirty="0"/>
          </a:p>
        </p:txBody>
      </p:sp>
      <p:sp>
        <p:nvSpPr>
          <p:cNvPr id="3" name="Content Placeholder 2"/>
          <p:cNvSpPr>
            <a:spLocks noGrp="1"/>
          </p:cNvSpPr>
          <p:nvPr>
            <p:ph idx="1"/>
          </p:nvPr>
        </p:nvSpPr>
        <p:spPr/>
        <p:txBody>
          <a:bodyPr>
            <a:normAutofit/>
          </a:bodyPr>
          <a:lstStyle/>
          <a:p>
            <a:pPr algn="just"/>
            <a:r>
              <a:rPr lang="en-US" sz="2000" dirty="0" err="1" smtClean="0"/>
              <a:t>Paravirtualization</a:t>
            </a:r>
            <a:r>
              <a:rPr lang="en-US" sz="2000" dirty="0" smtClean="0"/>
              <a:t> enables several different operating systems to run on one set of hardware by effectively using resources such as processors and memory. </a:t>
            </a:r>
          </a:p>
          <a:p>
            <a:pPr algn="just"/>
            <a:r>
              <a:rPr lang="en-US" sz="2000" dirty="0" smtClean="0"/>
              <a:t>In </a:t>
            </a:r>
            <a:r>
              <a:rPr lang="en-US" sz="2000" dirty="0" err="1" smtClean="0"/>
              <a:t>paravirtualization</a:t>
            </a:r>
            <a:r>
              <a:rPr lang="en-US" sz="2000" dirty="0" smtClean="0"/>
              <a:t>, the operating system is modified to work with a virtual machine. </a:t>
            </a:r>
          </a:p>
          <a:p>
            <a:pPr algn="just"/>
            <a:r>
              <a:rPr lang="en-US" sz="2000" dirty="0" smtClean="0"/>
              <a:t>The intention behind the modification of the operating system is to minimize the execution time required in performing the operations that are otherwise difficult to run in a virtual environment.</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2.Para-virtualization</a:t>
            </a:r>
            <a:endParaRPr lang="en-US" dirty="0"/>
          </a:p>
        </p:txBody>
      </p:sp>
      <p:pic>
        <p:nvPicPr>
          <p:cNvPr id="1026" name="Picture 2"/>
          <p:cNvPicPr>
            <a:picLocks noChangeAspect="1" noChangeArrowheads="1"/>
          </p:cNvPicPr>
          <p:nvPr/>
        </p:nvPicPr>
        <p:blipFill>
          <a:blip r:embed="rId2"/>
          <a:srcRect/>
          <a:stretch>
            <a:fillRect/>
          </a:stretch>
        </p:blipFill>
        <p:spPr bwMode="auto">
          <a:xfrm>
            <a:off x="228600" y="1905000"/>
            <a:ext cx="7848600" cy="4126584"/>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2.Para-virtualization</a:t>
            </a:r>
            <a:endParaRPr lang="en-US" dirty="0"/>
          </a:p>
        </p:txBody>
      </p:sp>
      <p:sp>
        <p:nvSpPr>
          <p:cNvPr id="3" name="Content Placeholder 2"/>
          <p:cNvSpPr>
            <a:spLocks noGrp="1"/>
          </p:cNvSpPr>
          <p:nvPr>
            <p:ph idx="1"/>
          </p:nvPr>
        </p:nvSpPr>
        <p:spPr/>
        <p:txBody>
          <a:bodyPr>
            <a:normAutofit/>
          </a:bodyPr>
          <a:lstStyle/>
          <a:p>
            <a:pPr algn="just"/>
            <a:r>
              <a:rPr lang="en-US" sz="2000" dirty="0" smtClean="0"/>
              <a:t>Figure 3.7 illustrates the concept of a </a:t>
            </a:r>
            <a:r>
              <a:rPr lang="en-US" sz="2000" dirty="0" err="1" smtClean="0"/>
              <a:t>para</a:t>
            </a:r>
            <a:r>
              <a:rPr lang="en-US" sz="2000" dirty="0" smtClean="0"/>
              <a:t>-virtualized VM architecture. The guest operating </a:t>
            </a:r>
            <a:r>
              <a:rPr lang="en-US" sz="2000" dirty="0" smtClean="0"/>
              <a:t>systems are </a:t>
            </a:r>
            <a:r>
              <a:rPr lang="en-US" sz="2000" dirty="0" err="1" smtClean="0"/>
              <a:t>para</a:t>
            </a:r>
            <a:r>
              <a:rPr lang="en-US" sz="2000" dirty="0" smtClean="0"/>
              <a:t>-virtualized. They are assisted by an intelligent compiler to replace the </a:t>
            </a:r>
            <a:r>
              <a:rPr lang="en-US" sz="2000" dirty="0" err="1" smtClean="0"/>
              <a:t>nonvirtualizable</a:t>
            </a:r>
            <a:r>
              <a:rPr lang="en-US" sz="2000" dirty="0" smtClean="0"/>
              <a:t> OS </a:t>
            </a:r>
            <a:r>
              <a:rPr lang="en-US" sz="2000" dirty="0" smtClean="0"/>
              <a:t>instructions by </a:t>
            </a:r>
            <a:r>
              <a:rPr lang="en-US" sz="2000" dirty="0" err="1" smtClean="0"/>
              <a:t>hypercalls</a:t>
            </a:r>
            <a:r>
              <a:rPr lang="en-US" sz="2000" dirty="0" smtClean="0"/>
              <a:t> as illustrated in Figure 3.8. </a:t>
            </a:r>
            <a:endParaRPr lang="en-US" sz="2000" dirty="0" smtClean="0"/>
          </a:p>
          <a:p>
            <a:pPr algn="just"/>
            <a:endParaRPr lang="en-US" sz="2000" dirty="0" smtClean="0"/>
          </a:p>
          <a:p>
            <a:pPr algn="just"/>
            <a:r>
              <a:rPr lang="en-US" sz="2000" dirty="0" smtClean="0"/>
              <a:t>The </a:t>
            </a:r>
            <a:r>
              <a:rPr lang="en-US" sz="2000" dirty="0" smtClean="0"/>
              <a:t>traditional x86 processor offers </a:t>
            </a:r>
            <a:r>
              <a:rPr lang="en-US" sz="2000" dirty="0" smtClean="0"/>
              <a:t>four instruction </a:t>
            </a:r>
            <a:r>
              <a:rPr lang="en-US" sz="2000" dirty="0" smtClean="0"/>
              <a:t>execution rings: Rings 0, 1, 2, and 3. The lower the ring number, the higher the </a:t>
            </a:r>
            <a:r>
              <a:rPr lang="en-US" sz="2000" dirty="0" smtClean="0"/>
              <a:t>privilege of </a:t>
            </a:r>
            <a:r>
              <a:rPr lang="en-US" sz="2000" dirty="0" smtClean="0"/>
              <a:t>instruction being executed. The OS is responsible for managing the hardware and the </a:t>
            </a:r>
            <a:r>
              <a:rPr lang="en-US" sz="2000" dirty="0" smtClean="0"/>
              <a:t>privileged instructions </a:t>
            </a:r>
            <a:r>
              <a:rPr lang="en-US" sz="2000" dirty="0" smtClean="0"/>
              <a:t>to execute at Ring 0, while user-level applications run at Ring 3. The </a:t>
            </a:r>
            <a:r>
              <a:rPr lang="en-US" sz="2000" dirty="0" smtClean="0"/>
              <a:t>best example </a:t>
            </a:r>
            <a:r>
              <a:rPr lang="en-US" sz="2000" dirty="0" smtClean="0"/>
              <a:t>of </a:t>
            </a:r>
            <a:r>
              <a:rPr lang="en-US" sz="2000" dirty="0" err="1" smtClean="0"/>
              <a:t>para</a:t>
            </a:r>
            <a:r>
              <a:rPr lang="en-US" sz="2000" dirty="0" smtClean="0"/>
              <a:t>-virtualization is the KVM</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2.Para-virtualization</a:t>
            </a:r>
            <a:endParaRPr lang="en-US" dirty="0"/>
          </a:p>
        </p:txBody>
      </p:sp>
      <p:pic>
        <p:nvPicPr>
          <p:cNvPr id="25602" name="Picture 2" descr="Related image"/>
          <p:cNvPicPr>
            <a:picLocks noChangeAspect="1" noChangeArrowheads="1"/>
          </p:cNvPicPr>
          <p:nvPr/>
        </p:nvPicPr>
        <p:blipFill>
          <a:blip r:embed="rId2"/>
          <a:srcRect/>
          <a:stretch>
            <a:fillRect/>
          </a:stretch>
        </p:blipFill>
        <p:spPr bwMode="auto">
          <a:xfrm>
            <a:off x="228600" y="1828800"/>
            <a:ext cx="7817416" cy="3962400"/>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3. host-based virtualization</a:t>
            </a:r>
            <a:endParaRPr lang="en-US" dirty="0"/>
          </a:p>
        </p:txBody>
      </p:sp>
      <p:sp>
        <p:nvSpPr>
          <p:cNvPr id="3" name="Content Placeholder 2"/>
          <p:cNvSpPr>
            <a:spLocks noGrp="1"/>
          </p:cNvSpPr>
          <p:nvPr>
            <p:ph idx="1"/>
          </p:nvPr>
        </p:nvSpPr>
        <p:spPr/>
        <p:txBody>
          <a:bodyPr>
            <a:normAutofit lnSpcReduction="10000"/>
          </a:bodyPr>
          <a:lstStyle/>
          <a:p>
            <a:pPr algn="just"/>
            <a:r>
              <a:rPr lang="en-US" sz="2000" dirty="0" smtClean="0"/>
              <a:t>A host-based virtual machine is an instance of a desktop operating system that runs on a centralized server. Access and control is provided to the user by a </a:t>
            </a:r>
            <a:r>
              <a:rPr lang="en-US" sz="2000" dirty="0" smtClean="0">
                <a:hlinkClick r:id="rId2"/>
              </a:rPr>
              <a:t>client device</a:t>
            </a:r>
            <a:r>
              <a:rPr lang="en-US" sz="2000" dirty="0" smtClean="0"/>
              <a:t> connected over a network. Multiple host-based virtual machines can run on a single server</a:t>
            </a:r>
            <a:r>
              <a:rPr lang="en-US" sz="2000" dirty="0" smtClean="0"/>
              <a:t>.</a:t>
            </a:r>
          </a:p>
          <a:p>
            <a:pPr algn="just"/>
            <a:r>
              <a:rPr lang="en-US" sz="2000" dirty="0" smtClean="0"/>
              <a:t>With a host-based </a:t>
            </a:r>
            <a:r>
              <a:rPr lang="en-US" sz="2000" dirty="0" smtClean="0">
                <a:hlinkClick r:id="rId3"/>
              </a:rPr>
              <a:t>virtual machine</a:t>
            </a:r>
            <a:r>
              <a:rPr lang="en-US" sz="2000" dirty="0" smtClean="0"/>
              <a:t>, data is contained on the server, server resources can be allocated to users as needed, users can work from a variety of clients in different locations, and all of the virtual machines can be managed centrally. However, the client device must always be connected to the server in order to access the virtual machine, and when one single server is compromised many users can be affected</a:t>
            </a:r>
            <a:r>
              <a:rPr lang="en-US" sz="2000" dirty="0" smtClean="0"/>
              <a:t>.</a:t>
            </a:r>
          </a:p>
          <a:p>
            <a:pPr algn="just"/>
            <a:r>
              <a:rPr lang="en-US" sz="2000" dirty="0" smtClean="0"/>
              <a:t>Ex:</a:t>
            </a:r>
            <a:endParaRPr lang="en-US" sz="2000" dirty="0" smtClean="0"/>
          </a:p>
          <a:p>
            <a:pPr algn="just"/>
            <a:r>
              <a:rPr lang="en-US" sz="2000" dirty="0" smtClean="0"/>
              <a:t>Host-based virtual machines are conceptually similar to </a:t>
            </a:r>
            <a:r>
              <a:rPr lang="en-US" sz="2000" dirty="0" smtClean="0">
                <a:hlinkClick r:id="rId4"/>
              </a:rPr>
              <a:t>Windows Terminal Server</a:t>
            </a:r>
            <a:r>
              <a:rPr lang="en-US" sz="2000" dirty="0" smtClean="0"/>
              <a:t> </a:t>
            </a:r>
            <a:r>
              <a:rPr lang="en-US" sz="2000" dirty="0" smtClean="0"/>
              <a:t>environments.</a:t>
            </a:r>
          </a:p>
          <a:p>
            <a:pPr algn="just"/>
            <a:r>
              <a:rPr lang="en-US" sz="2000" dirty="0" smtClean="0"/>
              <a:t>Host </a:t>
            </a:r>
            <a:r>
              <a:rPr lang="en-US" sz="2000" dirty="0" smtClean="0"/>
              <a:t>virtualization - On the existing host along with your </a:t>
            </a:r>
            <a:r>
              <a:rPr lang="en-US" sz="2000" dirty="0" err="1" smtClean="0"/>
              <a:t>favourite</a:t>
            </a:r>
            <a:r>
              <a:rPr lang="en-US" sz="2000" dirty="0" smtClean="0"/>
              <a:t> music player, text editor, hypervisor is installed just like an app</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CPU Virtualization</a:t>
            </a:r>
            <a:endParaRPr lang="en-US" dirty="0"/>
          </a:p>
        </p:txBody>
      </p:sp>
      <p:sp>
        <p:nvSpPr>
          <p:cNvPr id="3" name="Content Placeholder 2"/>
          <p:cNvSpPr>
            <a:spLocks noGrp="1"/>
          </p:cNvSpPr>
          <p:nvPr>
            <p:ph idx="1"/>
          </p:nvPr>
        </p:nvSpPr>
        <p:spPr/>
        <p:txBody>
          <a:bodyPr>
            <a:normAutofit fontScale="92500" lnSpcReduction="20000"/>
          </a:bodyPr>
          <a:lstStyle/>
          <a:p>
            <a:pPr algn="just"/>
            <a:r>
              <a:rPr lang="en-US" b="1" dirty="0" smtClean="0"/>
              <a:t>CPU Virtualization</a:t>
            </a:r>
            <a:r>
              <a:rPr lang="en-US" dirty="0" smtClean="0"/>
              <a:t> is a hardware feature found in all current AMD &amp; Intel </a:t>
            </a:r>
            <a:r>
              <a:rPr lang="en-US" b="1" dirty="0" smtClean="0"/>
              <a:t>CPUs</a:t>
            </a:r>
            <a:r>
              <a:rPr lang="en-US" dirty="0" smtClean="0"/>
              <a:t> that allows a single </a:t>
            </a:r>
            <a:r>
              <a:rPr lang="en-US" b="1" dirty="0" smtClean="0"/>
              <a:t>processor</a:t>
            </a:r>
            <a:r>
              <a:rPr lang="en-US" dirty="0" smtClean="0"/>
              <a:t> to act as if it was multiple individual </a:t>
            </a:r>
            <a:r>
              <a:rPr lang="en-US" b="1" dirty="0" smtClean="0"/>
              <a:t>CPUs</a:t>
            </a:r>
            <a:r>
              <a:rPr lang="en-US" dirty="0" smtClean="0"/>
              <a:t>. </a:t>
            </a:r>
          </a:p>
          <a:p>
            <a:pPr algn="just"/>
            <a:endParaRPr lang="en-US" b="1" dirty="0" smtClean="0"/>
          </a:p>
          <a:p>
            <a:pPr algn="just"/>
            <a:r>
              <a:rPr lang="en-US" b="1" dirty="0" smtClean="0"/>
              <a:t>CPU </a:t>
            </a:r>
            <a:r>
              <a:rPr lang="en-US" b="1" dirty="0" smtClean="0"/>
              <a:t>virtualization</a:t>
            </a:r>
            <a:r>
              <a:rPr lang="en-US" dirty="0" smtClean="0"/>
              <a:t> involves a single CPU acting as if it were multiple separate CPUs. The most common reason for doing this is to run multiple different operating systems on one machine. CPU virtualization emphasizes performance and runs directly on the available CPUs whenever possible.</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VIRTUALIZATION OF CPU, MEMORY, AND I/O DEVICES</a:t>
            </a:r>
            <a:endParaRPr lang="en-US" dirty="0"/>
          </a:p>
        </p:txBody>
      </p:sp>
      <p:sp>
        <p:nvSpPr>
          <p:cNvPr id="3" name="Content Placeholder 2"/>
          <p:cNvSpPr>
            <a:spLocks noGrp="1"/>
          </p:cNvSpPr>
          <p:nvPr>
            <p:ph idx="1"/>
          </p:nvPr>
        </p:nvSpPr>
        <p:spPr/>
        <p:txBody>
          <a:bodyPr/>
          <a:lstStyle/>
          <a:p>
            <a:r>
              <a:rPr lang="en-US" dirty="0" smtClean="0"/>
              <a:t>To support virtualization, processors such as the x86 employ a special running mode </a:t>
            </a:r>
            <a:r>
              <a:rPr lang="en-US" dirty="0" smtClean="0"/>
              <a:t> and </a:t>
            </a:r>
            <a:r>
              <a:rPr lang="en-US" dirty="0" smtClean="0"/>
              <a:t>instructions, known as </a:t>
            </a:r>
            <a:r>
              <a:rPr lang="en-US" dirty="0" smtClean="0"/>
              <a:t>hardware assisted </a:t>
            </a:r>
            <a:r>
              <a:rPr lang="en-US" dirty="0" smtClean="0"/>
              <a:t>virtualization. </a:t>
            </a:r>
            <a:endParaRPr lang="en-US" dirty="0" smtClean="0"/>
          </a:p>
          <a:p>
            <a:r>
              <a:rPr lang="en-US" dirty="0" smtClean="0"/>
              <a:t>Modern operating systems and processors permit multiple processes to run </a:t>
            </a:r>
            <a:r>
              <a:rPr lang="en-US" dirty="0" smtClean="0"/>
              <a:t>simultaneously</a:t>
            </a:r>
            <a:r>
              <a:rPr lang="en-US" dirty="0" smtClean="0"/>
              <a:t>. </a:t>
            </a:r>
          </a:p>
          <a:p>
            <a:endParaRPr lang="en-US" dirty="0" smtClean="0"/>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5" name="Content Placeholder 4"/>
          <p:cNvSpPr>
            <a:spLocks noGrp="1"/>
          </p:cNvSpPr>
          <p:nvPr>
            <p:ph idx="1"/>
          </p:nvPr>
        </p:nvSpPr>
        <p:spPr/>
        <p:txBody>
          <a:bodyPr/>
          <a:lstStyle/>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8673" name="Picture 1"/>
          <p:cNvPicPr>
            <a:picLocks noChangeAspect="1" noChangeArrowheads="1"/>
          </p:cNvPicPr>
          <p:nvPr/>
        </p:nvPicPr>
        <p:blipFill>
          <a:blip r:embed="rId2"/>
          <a:srcRect/>
          <a:stretch>
            <a:fillRect/>
          </a:stretch>
        </p:blipFill>
        <p:spPr bwMode="auto">
          <a:xfrm>
            <a:off x="533400" y="1828800"/>
            <a:ext cx="7620000" cy="838199"/>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Two T</a:t>
            </a:r>
            <a:r>
              <a:rPr lang="en-US" altLang="zh-TW" dirty="0" smtClean="0"/>
              <a:t>ypes </a:t>
            </a:r>
            <a:r>
              <a:rPr lang="en-US" altLang="zh-TW" dirty="0"/>
              <a:t>of H</a:t>
            </a:r>
            <a:r>
              <a:rPr lang="en-US" altLang="zh-TW" dirty="0" smtClean="0"/>
              <a:t>ypervisor (1/2)</a:t>
            </a:r>
            <a:endParaRPr lang="zh-TW" altLang="en-US" dirty="0"/>
          </a:p>
        </p:txBody>
      </p:sp>
      <p:sp>
        <p:nvSpPr>
          <p:cNvPr id="3" name="內容版面配置區 2"/>
          <p:cNvSpPr>
            <a:spLocks noGrp="1"/>
          </p:cNvSpPr>
          <p:nvPr>
            <p:ph idx="1"/>
          </p:nvPr>
        </p:nvSpPr>
        <p:spPr/>
        <p:txBody>
          <a:bodyPr/>
          <a:lstStyle/>
          <a:p>
            <a:r>
              <a:rPr lang="en-US" altLang="zh-TW" dirty="0"/>
              <a:t>In their 1974 article "Formal Requirements for </a:t>
            </a:r>
            <a:r>
              <a:rPr lang="en-US" altLang="zh-TW" dirty="0" err="1"/>
              <a:t>Virtualizable</a:t>
            </a:r>
            <a:r>
              <a:rPr lang="en-US" altLang="zh-TW" dirty="0"/>
              <a:t> Third Generation Architectures" Gerald J. </a:t>
            </a:r>
            <a:r>
              <a:rPr lang="en-US" altLang="zh-TW" dirty="0" err="1"/>
              <a:t>Popek</a:t>
            </a:r>
            <a:r>
              <a:rPr lang="en-US" altLang="zh-TW" dirty="0"/>
              <a:t> and Robert P. Goldberg classified two types of hypervisor</a:t>
            </a:r>
            <a:r>
              <a:rPr lang="en-US" altLang="zh-TW" dirty="0" smtClean="0"/>
              <a:t>:</a:t>
            </a:r>
          </a:p>
          <a:p>
            <a:pPr lvl="1"/>
            <a:r>
              <a:rPr lang="en-US" altLang="zh-TW" dirty="0"/>
              <a:t>Type 1 </a:t>
            </a:r>
            <a:r>
              <a:rPr lang="en-US" altLang="zh-TW" dirty="0" smtClean="0"/>
              <a:t>hypervisor : bare metal type</a:t>
            </a:r>
            <a:endParaRPr lang="en-US" altLang="zh-TW" dirty="0"/>
          </a:p>
          <a:p>
            <a:pPr lvl="1"/>
            <a:r>
              <a:rPr lang="en-US" altLang="zh-TW" dirty="0"/>
              <a:t>Type 2 </a:t>
            </a:r>
            <a:r>
              <a:rPr lang="en-US" altLang="zh-TW" dirty="0" smtClean="0"/>
              <a:t>hypervisor : hosted type</a:t>
            </a:r>
            <a:endParaRPr lang="en-US" altLang="zh-TW" dirty="0"/>
          </a:p>
        </p:txBody>
      </p:sp>
    </p:spTree>
    <p:extLst>
      <p:ext uri="{BB962C8B-B14F-4D97-AF65-F5344CB8AC3E}">
        <p14:creationId xmlns:p14="http://schemas.microsoft.com/office/powerpoint/2010/main" xmlns="" val="241898419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Two </a:t>
            </a:r>
            <a:r>
              <a:rPr lang="en-US" altLang="zh-TW" dirty="0" smtClean="0"/>
              <a:t>Types </a:t>
            </a:r>
            <a:r>
              <a:rPr lang="en-US" altLang="zh-TW" dirty="0"/>
              <a:t>of </a:t>
            </a:r>
            <a:r>
              <a:rPr lang="en-US" altLang="zh-TW" dirty="0" smtClean="0"/>
              <a:t>Hypervisor (2/2</a:t>
            </a:r>
            <a:r>
              <a:rPr lang="en-US" altLang="zh-TW" dirty="0"/>
              <a:t>)</a:t>
            </a:r>
            <a:endParaRPr lang="zh-TW" altLang="en-US" dirty="0"/>
          </a:p>
        </p:txBody>
      </p:sp>
      <p:pic>
        <p:nvPicPr>
          <p:cNvPr id="4100" name="Picture 4" descr="http://upload.wikimedia.org/wikipedia/commons/e/e1/Hyperviseur.png"/>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907704" y="1988840"/>
            <a:ext cx="5976664" cy="3731698"/>
          </a:xfrm>
          <a:prstGeom prst="rect">
            <a:avLst/>
          </a:prstGeom>
          <a:noFill/>
          <a:extLst>
            <a:ext uri="{909E8E84-426E-40DD-AFC4-6F175D3DCCD1}">
              <a14:hiddenFill xmlns:a14="http://schemas.microsoft.com/office/drawing/2010/main" xmlns="">
                <a:solidFill>
                  <a:srgbClr val="FFFFFF"/>
                </a:solidFill>
              </a14:hiddenFill>
            </a:ext>
          </a:extLst>
        </p:spPr>
      </p:pic>
      <p:sp>
        <p:nvSpPr>
          <p:cNvPr id="5" name="矩形 4"/>
          <p:cNvSpPr/>
          <p:nvPr/>
        </p:nvSpPr>
        <p:spPr>
          <a:xfrm>
            <a:off x="1619671" y="5813929"/>
            <a:ext cx="2995179" cy="646331"/>
          </a:xfrm>
          <a:prstGeom prst="rect">
            <a:avLst/>
          </a:prstGeom>
        </p:spPr>
        <p:txBody>
          <a:bodyPr wrap="none">
            <a:spAutoFit/>
          </a:bodyPr>
          <a:lstStyle/>
          <a:p>
            <a:r>
              <a:rPr lang="nb-NO" altLang="zh-TW" i="1" dirty="0">
                <a:solidFill>
                  <a:srgbClr val="FF0000"/>
                </a:solidFill>
              </a:rPr>
              <a:t>Type 1</a:t>
            </a:r>
            <a:r>
              <a:rPr lang="nb-NO" altLang="zh-TW" dirty="0">
                <a:solidFill>
                  <a:srgbClr val="FF0000"/>
                </a:solidFill>
              </a:rPr>
              <a:t> (or </a:t>
            </a:r>
            <a:r>
              <a:rPr lang="nb-NO" altLang="zh-TW" i="1" dirty="0">
                <a:solidFill>
                  <a:srgbClr val="FF0000"/>
                </a:solidFill>
              </a:rPr>
              <a:t>native</a:t>
            </a:r>
            <a:r>
              <a:rPr lang="nb-NO" altLang="zh-TW" dirty="0">
                <a:solidFill>
                  <a:srgbClr val="FF0000"/>
                </a:solidFill>
              </a:rPr>
              <a:t>, bare metal) </a:t>
            </a:r>
            <a:endParaRPr lang="nb-NO" altLang="zh-TW" dirty="0" smtClean="0">
              <a:solidFill>
                <a:srgbClr val="FF0000"/>
              </a:solidFill>
            </a:endParaRPr>
          </a:p>
          <a:p>
            <a:pPr algn="ctr"/>
            <a:r>
              <a:rPr lang="nb-NO" altLang="zh-TW" dirty="0" smtClean="0">
                <a:solidFill>
                  <a:srgbClr val="FF0000"/>
                </a:solidFill>
              </a:rPr>
              <a:t>hypervisors</a:t>
            </a:r>
            <a:endParaRPr lang="zh-TW" altLang="en-US" dirty="0">
              <a:solidFill>
                <a:srgbClr val="FF0000"/>
              </a:solidFill>
            </a:endParaRPr>
          </a:p>
        </p:txBody>
      </p:sp>
      <p:sp>
        <p:nvSpPr>
          <p:cNvPr id="6" name="矩形 5"/>
          <p:cNvSpPr/>
          <p:nvPr/>
        </p:nvSpPr>
        <p:spPr>
          <a:xfrm>
            <a:off x="5220072" y="5813930"/>
            <a:ext cx="1918346" cy="646331"/>
          </a:xfrm>
          <a:prstGeom prst="rect">
            <a:avLst/>
          </a:prstGeom>
        </p:spPr>
        <p:txBody>
          <a:bodyPr wrap="none">
            <a:spAutoFit/>
          </a:bodyPr>
          <a:lstStyle/>
          <a:p>
            <a:r>
              <a:rPr lang="en-US" altLang="zh-TW" i="1" dirty="0">
                <a:solidFill>
                  <a:srgbClr val="FF0000"/>
                </a:solidFill>
              </a:rPr>
              <a:t>Type 2</a:t>
            </a:r>
            <a:r>
              <a:rPr lang="en-US" altLang="zh-TW" dirty="0">
                <a:solidFill>
                  <a:srgbClr val="FF0000"/>
                </a:solidFill>
              </a:rPr>
              <a:t> (or </a:t>
            </a:r>
            <a:r>
              <a:rPr lang="en-US" altLang="zh-TW" i="1" dirty="0">
                <a:solidFill>
                  <a:srgbClr val="FF0000"/>
                </a:solidFill>
              </a:rPr>
              <a:t>hosted</a:t>
            </a:r>
            <a:r>
              <a:rPr lang="en-US" altLang="zh-TW" dirty="0">
                <a:solidFill>
                  <a:srgbClr val="FF0000"/>
                </a:solidFill>
              </a:rPr>
              <a:t>) </a:t>
            </a:r>
            <a:endParaRPr lang="en-US" altLang="zh-TW" dirty="0" smtClean="0">
              <a:solidFill>
                <a:srgbClr val="FF0000"/>
              </a:solidFill>
            </a:endParaRPr>
          </a:p>
          <a:p>
            <a:pPr algn="ctr"/>
            <a:r>
              <a:rPr lang="en-US" altLang="zh-TW" dirty="0" smtClean="0">
                <a:solidFill>
                  <a:srgbClr val="FF0000"/>
                </a:solidFill>
              </a:rPr>
              <a:t>hypervisors</a:t>
            </a:r>
            <a:endParaRPr lang="zh-TW" altLang="en-US" dirty="0">
              <a:solidFill>
                <a:srgbClr val="FF0000"/>
              </a:solidFill>
            </a:endParaRPr>
          </a:p>
        </p:txBody>
      </p:sp>
      <p:sp>
        <p:nvSpPr>
          <p:cNvPr id="7" name="矩形 6"/>
          <p:cNvSpPr/>
          <p:nvPr/>
        </p:nvSpPr>
        <p:spPr>
          <a:xfrm>
            <a:off x="2599569" y="6460260"/>
            <a:ext cx="3944862" cy="369332"/>
          </a:xfrm>
          <a:prstGeom prst="rect">
            <a:avLst/>
          </a:prstGeom>
        </p:spPr>
        <p:txBody>
          <a:bodyPr wrap="none">
            <a:spAutoFit/>
          </a:bodyPr>
          <a:lstStyle/>
          <a:p>
            <a:r>
              <a:rPr lang="en-US" altLang="zh-TW" dirty="0"/>
              <a:t>http://en.wikipedia.org/wiki/Hypervisor</a:t>
            </a:r>
            <a:endParaRPr lang="zh-TW" altLang="en-US" dirty="0"/>
          </a:p>
        </p:txBody>
      </p:sp>
    </p:spTree>
    <p:extLst>
      <p:ext uri="{BB962C8B-B14F-4D97-AF65-F5344CB8AC3E}">
        <p14:creationId xmlns:p14="http://schemas.microsoft.com/office/powerpoint/2010/main" xmlns="" val="163961939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Purposes of Hypervisor</a:t>
            </a:r>
            <a:endParaRPr lang="zh-TW" altLang="en-US" dirty="0"/>
          </a:p>
        </p:txBody>
      </p:sp>
      <p:sp>
        <p:nvSpPr>
          <p:cNvPr id="3" name="內容版面配置區 2"/>
          <p:cNvSpPr>
            <a:spLocks noGrp="1"/>
          </p:cNvSpPr>
          <p:nvPr>
            <p:ph idx="1"/>
          </p:nvPr>
        </p:nvSpPr>
        <p:spPr>
          <a:xfrm>
            <a:off x="457200" y="1600201"/>
            <a:ext cx="8229600" cy="3917032"/>
          </a:xfrm>
        </p:spPr>
        <p:txBody>
          <a:bodyPr>
            <a:normAutofit fontScale="92500" lnSpcReduction="10000"/>
          </a:bodyPr>
          <a:lstStyle/>
          <a:p>
            <a:r>
              <a:rPr lang="en-US" altLang="zh-TW" dirty="0" smtClean="0"/>
              <a:t>CPU Virtualization</a:t>
            </a:r>
          </a:p>
          <a:p>
            <a:pPr lvl="1"/>
            <a:r>
              <a:rPr lang="en-US" altLang="zh-TW" dirty="0" smtClean="0"/>
              <a:t>Handle all sensitive instructions by emulation</a:t>
            </a:r>
          </a:p>
          <a:p>
            <a:r>
              <a:rPr lang="en-US" altLang="zh-TW" dirty="0" smtClean="0"/>
              <a:t>Memory Virtualization</a:t>
            </a:r>
          </a:p>
          <a:p>
            <a:pPr lvl="1"/>
            <a:r>
              <a:rPr lang="en-US" altLang="zh-TW" dirty="0" smtClean="0"/>
              <a:t>Allocate guest physical memory</a:t>
            </a:r>
          </a:p>
          <a:p>
            <a:pPr lvl="1"/>
            <a:r>
              <a:rPr lang="en-US" altLang="zh-TW" dirty="0" smtClean="0"/>
              <a:t>Translate guest virtual address to host virtual address</a:t>
            </a:r>
          </a:p>
          <a:p>
            <a:r>
              <a:rPr lang="en-US" altLang="zh-TW" dirty="0" smtClean="0"/>
              <a:t>I/O Virtualization</a:t>
            </a:r>
          </a:p>
          <a:p>
            <a:pPr lvl="1"/>
            <a:r>
              <a:rPr lang="en-US" altLang="zh-TW" dirty="0" smtClean="0"/>
              <a:t>Emulate I/O devices for guest</a:t>
            </a:r>
          </a:p>
          <a:p>
            <a:pPr lvl="1"/>
            <a:r>
              <a:rPr lang="en-US" altLang="zh-TW" dirty="0" smtClean="0"/>
              <a:t>Ex: Keyboard, UART, Storage and Network</a:t>
            </a:r>
            <a:endParaRPr lang="zh-TW" altLang="en-US" dirty="0"/>
          </a:p>
        </p:txBody>
      </p:sp>
    </p:spTree>
    <p:extLst>
      <p:ext uri="{BB962C8B-B14F-4D97-AF65-F5344CB8AC3E}">
        <p14:creationId xmlns:p14="http://schemas.microsoft.com/office/powerpoint/2010/main" xmlns="" val="421126341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7650" name="Picture 2" descr="Image result for host based virtualization architecture"/>
          <p:cNvPicPr>
            <a:picLocks noChangeAspect="1" noChangeArrowheads="1"/>
          </p:cNvPicPr>
          <p:nvPr/>
        </p:nvPicPr>
        <p:blipFill>
          <a:blip r:embed="rId2"/>
          <a:srcRect/>
          <a:stretch>
            <a:fillRect/>
          </a:stretch>
        </p:blipFill>
        <p:spPr bwMode="auto">
          <a:xfrm>
            <a:off x="1371600" y="1600200"/>
            <a:ext cx="5715000" cy="4720084"/>
          </a:xfrm>
          <a:prstGeom prst="rect">
            <a:avLst/>
          </a:prstGeom>
          <a:noFill/>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601</TotalTime>
  <Words>809</Words>
  <Application>Microsoft Office PowerPoint</Application>
  <PresentationFormat>On-screen Show (4:3)</PresentationFormat>
  <Paragraphs>66</Paragraphs>
  <Slides>22</Slides>
  <Notes>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Slide 1</vt:lpstr>
      <vt:lpstr>Slide 2</vt:lpstr>
      <vt:lpstr>Slide 3</vt:lpstr>
      <vt:lpstr>Virtualization Structures/Tools and Mechanisms</vt:lpstr>
      <vt:lpstr>1. Hypervisor and Xen Architecture</vt:lpstr>
      <vt:lpstr>The Xen Architecture</vt:lpstr>
      <vt:lpstr>The Xen Architecture</vt:lpstr>
      <vt:lpstr>Xen Architecture</vt:lpstr>
      <vt:lpstr>Slide 9</vt:lpstr>
      <vt:lpstr>2.Para-virtualization</vt:lpstr>
      <vt:lpstr>2.Para-virtualization</vt:lpstr>
      <vt:lpstr>2.Para-virtualization</vt:lpstr>
      <vt:lpstr>2.Para-virtualization</vt:lpstr>
      <vt:lpstr> 3. host-based virtualization</vt:lpstr>
      <vt:lpstr>CPU Virtualization</vt:lpstr>
      <vt:lpstr>VIRTUALIZATION OF CPU, MEMORY, AND I/O DEVICES</vt:lpstr>
      <vt:lpstr>Slide 17</vt:lpstr>
      <vt:lpstr>Slide 18</vt:lpstr>
      <vt:lpstr>Two Types of Hypervisor (1/2)</vt:lpstr>
      <vt:lpstr>Two Types of Hypervisor (2/2)</vt:lpstr>
      <vt:lpstr>Purposes of Hypervisor</vt:lpstr>
      <vt:lpstr>Slide 22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HODIT</dc:creator>
  <cp:lastModifiedBy>HODIT</cp:lastModifiedBy>
  <cp:revision>45</cp:revision>
  <dcterms:created xsi:type="dcterms:W3CDTF">2019-01-17T03:45:19Z</dcterms:created>
  <dcterms:modified xsi:type="dcterms:W3CDTF">2019-01-18T10:16:18Z</dcterms:modified>
</cp:coreProperties>
</file>