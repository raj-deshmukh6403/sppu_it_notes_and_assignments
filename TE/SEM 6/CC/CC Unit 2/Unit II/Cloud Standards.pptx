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7" r:id="rId15"/>
    <p:sldId id="269" r:id="rId16"/>
    <p:sldId id="270" r:id="rId17"/>
    <p:sldId id="281" r:id="rId18"/>
    <p:sldId id="272" r:id="rId19"/>
    <p:sldId id="283" r:id="rId20"/>
    <p:sldId id="284" r:id="rId21"/>
    <p:sldId id="273" r:id="rId22"/>
    <p:sldId id="285" r:id="rId23"/>
    <p:sldId id="286" r:id="rId24"/>
    <p:sldId id="274" r:id="rId25"/>
    <p:sldId id="275" r:id="rId26"/>
    <p:sldId id="276" r:id="rId27"/>
    <p:sldId id="278" r:id="rId28"/>
    <p:sldId id="279" r:id="rId29"/>
    <p:sldId id="280" r:id="rId30"/>
    <p:sldId id="291" r:id="rId31"/>
    <p:sldId id="290" r:id="rId32"/>
    <p:sldId id="292" r:id="rId33"/>
    <p:sldId id="293" r:id="rId34"/>
    <p:sldId id="294" r:id="rId35"/>
    <p:sldId id="311" r:id="rId36"/>
    <p:sldId id="312" r:id="rId37"/>
    <p:sldId id="302" r:id="rId38"/>
    <p:sldId id="299" r:id="rId39"/>
    <p:sldId id="306" r:id="rId40"/>
    <p:sldId id="307" r:id="rId41"/>
    <p:sldId id="308" r:id="rId42"/>
    <p:sldId id="309" r:id="rId43"/>
    <p:sldId id="310" r:id="rId44"/>
    <p:sldId id="287" r:id="rId45"/>
    <p:sldId id="289" r:id="rId46"/>
    <p:sldId id="313" r:id="rId47"/>
    <p:sldId id="314" r:id="rId48"/>
    <p:sldId id="318" r:id="rId49"/>
    <p:sldId id="319" r:id="rId50"/>
    <p:sldId id="316" r:id="rId51"/>
    <p:sldId id="317" r:id="rId52"/>
    <p:sldId id="320" r:id="rId53"/>
    <p:sldId id="315"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ACEEAD-4F0B-4EA4-84AC-2E9084DCDC74}" type="datetimeFigureOut">
              <a:rPr lang="en-US" smtClean="0"/>
              <a:t>2/18/2019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33FEF-8D3A-4FF4-90AC-FEA3BD1BD92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Before:</a:t>
            </a:r>
            <a:r>
              <a:rPr lang="en-US" baseline="0" dirty="0" smtClean="0"/>
              <a:t> User must visit all sites on a regular bases to check for changes.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35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After: servers</a:t>
            </a:r>
            <a:r>
              <a:rPr lang="en-US" baseline="0" dirty="0" smtClean="0"/>
              <a:t> (websites) send information to aggregator when changes or additions are made. (In Theory) In practices, reader app checks subscribed sites for changes at set time intervals and alerts users to new information in a feed panel. Difference between push and pull delivery system.      </a:t>
            </a:r>
            <a:endParaRPr lang="en-US" dirty="0"/>
          </a:p>
        </p:txBody>
      </p:sp>
      <p:sp>
        <p:nvSpPr>
          <p:cNvPr id="4" name="Slide Number Placeholder 3"/>
          <p:cNvSpPr>
            <a:spLocks noGrp="1"/>
          </p:cNvSpPr>
          <p:nvPr>
            <p:ph type="sldNum" sz="quarter" idx="10"/>
          </p:nvPr>
        </p:nvSpPr>
        <p:spPr/>
        <p:txBody>
          <a:bodyPr/>
          <a:lstStyle/>
          <a:p>
            <a:fld id="{442E2AF1-562D-410D-8ADD-0D17803A3087}" type="slidenum">
              <a:rPr lang="en-US" smtClean="0"/>
              <a:pPr/>
              <a:t>36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B870596-575E-456E-AF64-B2AC34605B12}" type="datetimeFigureOut">
              <a:rPr lang="en-US" smtClean="0"/>
              <a:pPr/>
              <a:t>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870596-575E-456E-AF64-B2AC34605B12}" type="datetimeFigureOut">
              <a:rPr lang="en-US" smtClean="0"/>
              <a:pPr/>
              <a:t>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870596-575E-456E-AF64-B2AC34605B12}" type="datetimeFigureOut">
              <a:rPr lang="en-US" smtClean="0"/>
              <a:pPr/>
              <a:t>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B870596-575E-456E-AF64-B2AC34605B12}" type="datetimeFigureOut">
              <a:rPr lang="en-US" smtClean="0"/>
              <a:pPr/>
              <a:t>2/18/2019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870596-575E-456E-AF64-B2AC34605B12}" type="datetimeFigureOut">
              <a:rPr lang="en-US" smtClean="0"/>
              <a:pPr/>
              <a:t>2/18/2019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870596-575E-456E-AF64-B2AC34605B12}" type="datetimeFigureOut">
              <a:rPr lang="en-US" smtClean="0"/>
              <a:pPr/>
              <a:t>2/18/2019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870596-575E-456E-AF64-B2AC34605B12}" type="datetimeFigureOut">
              <a:rPr lang="en-US" smtClean="0"/>
              <a:pPr/>
              <a:t>2/18/2019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870596-575E-456E-AF64-B2AC34605B12}" type="datetimeFigureOut">
              <a:rPr lang="en-US" smtClean="0"/>
              <a:pPr/>
              <a:t>2/18/2019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870596-575E-456E-AF64-B2AC34605B12}" type="datetimeFigureOut">
              <a:rPr lang="en-US" smtClean="0"/>
              <a:pPr/>
              <a:t>2/18/2019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870596-575E-456E-AF64-B2AC34605B12}" type="datetimeFigureOut">
              <a:rPr lang="en-US" smtClean="0"/>
              <a:pPr/>
              <a:t>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870596-575E-456E-AF64-B2AC34605B12}" type="datetimeFigureOut">
              <a:rPr lang="en-US" smtClean="0"/>
              <a:pPr/>
              <a:t>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8558B-442F-4190-BF96-7AAC64C4E63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870596-575E-456E-AF64-B2AC34605B12}" type="datetimeFigureOut">
              <a:rPr lang="en-US" smtClean="0"/>
              <a:pPr/>
              <a:t>2/18/2019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8558B-442F-4190-BF96-7AAC64C4E63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webopedia.com/TERM/O/object_oriented_programming_OOP.html" TargetMode="External"/><Relationship Id="rId13" Type="http://schemas.openxmlformats.org/officeDocument/2006/relationships/hyperlink" Target="https://www.webopedia.com/TERM/L/LAMP.html" TargetMode="External"/><Relationship Id="rId3" Type="http://schemas.openxmlformats.org/officeDocument/2006/relationships/hyperlink" Target="https://www.webopedia.com/TERM/O/operating_system.html" TargetMode="External"/><Relationship Id="rId7" Type="http://schemas.openxmlformats.org/officeDocument/2006/relationships/hyperlink" Target="https://www.webopedia.com/TERM/P/PHP.html" TargetMode="External"/><Relationship Id="rId12" Type="http://schemas.openxmlformats.org/officeDocument/2006/relationships/hyperlink" Target="https://www.webopedia.com/TERM/P/platform.html" TargetMode="External"/><Relationship Id="rId2" Type="http://schemas.openxmlformats.org/officeDocument/2006/relationships/hyperlink" Target="https://www.webopedia.com/TERM/L/Linux.html" TargetMode="External"/><Relationship Id="rId1" Type="http://schemas.openxmlformats.org/officeDocument/2006/relationships/slideLayout" Target="../slideLayouts/slideLayout2.xml"/><Relationship Id="rId6" Type="http://schemas.openxmlformats.org/officeDocument/2006/relationships/hyperlink" Target="https://www.webopedia.com/TERM/R/RDBMS.html" TargetMode="External"/><Relationship Id="rId11" Type="http://schemas.openxmlformats.org/officeDocument/2006/relationships/hyperlink" Target="https://www.webopedia.com/TERM/O/open_source.html" TargetMode="External"/><Relationship Id="rId5" Type="http://schemas.openxmlformats.org/officeDocument/2006/relationships/hyperlink" Target="https://www.webopedia.com/TERM/M/MySQL.html" TargetMode="External"/><Relationship Id="rId15" Type="http://schemas.openxmlformats.org/officeDocument/2006/relationships/hyperlink" Target="https://www.webopedia.com/TERM/P/PostGreSQL.html" TargetMode="External"/><Relationship Id="rId10" Type="http://schemas.openxmlformats.org/officeDocument/2006/relationships/hyperlink" Target="https://www.webopedia.com/TERM/P/Python.html" TargetMode="External"/><Relationship Id="rId4" Type="http://schemas.openxmlformats.org/officeDocument/2006/relationships/hyperlink" Target="https://www.webopedia.com/TERM/A/Apache_Web_server.html" TargetMode="External"/><Relationship Id="rId9" Type="http://schemas.openxmlformats.org/officeDocument/2006/relationships/hyperlink" Target="https://www.webopedia.com/TERM/P/Perl.html" TargetMode="External"/><Relationship Id="rId14" Type="http://schemas.openxmlformats.org/officeDocument/2006/relationships/hyperlink" Target="https://www.webopedia.com/TERM/W/Web_server.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COMMON STANDARDS IN CLOUD COMPUTING </a:t>
            </a:r>
            <a:endParaRPr lang="en-US" dirty="0"/>
          </a:p>
        </p:txBody>
      </p:sp>
      <p:sp>
        <p:nvSpPr>
          <p:cNvPr id="3" name="Content Placeholder 2"/>
          <p:cNvSpPr>
            <a:spLocks noGrp="1"/>
          </p:cNvSpPr>
          <p:nvPr>
            <p:ph idx="1"/>
          </p:nvPr>
        </p:nvSpPr>
        <p:spPr/>
        <p:txBody>
          <a:bodyPr/>
          <a:lstStyle/>
          <a:p>
            <a:pPr>
              <a:buNone/>
            </a:pPr>
            <a:r>
              <a:rPr lang="en-US" dirty="0" smtClean="0"/>
              <a:t>Examples of cloud-related working groups:</a:t>
            </a:r>
          </a:p>
          <a:p>
            <a:pPr>
              <a:buNone/>
            </a:pPr>
            <a:r>
              <a:rPr lang="en-US" b="1" dirty="0" smtClean="0"/>
              <a:t>   1. The </a:t>
            </a:r>
            <a:r>
              <a:rPr lang="en-US" b="1" dirty="0"/>
              <a:t>Open Cloud </a:t>
            </a:r>
            <a:r>
              <a:rPr lang="en-US" b="1" dirty="0" smtClean="0"/>
              <a:t>Consortium</a:t>
            </a:r>
          </a:p>
          <a:p>
            <a:pPr>
              <a:buNone/>
            </a:pPr>
            <a:r>
              <a:rPr lang="en-US" b="1" dirty="0" smtClean="0"/>
              <a:t>   2. </a:t>
            </a:r>
            <a:r>
              <a:rPr lang="en-US" dirty="0" smtClean="0"/>
              <a:t>Distributed Management Task Force (DMTF)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The Open Cloud Consortium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Supports </a:t>
            </a:r>
            <a:r>
              <a:rPr lang="en-US" dirty="0"/>
              <a:t>the </a:t>
            </a:r>
            <a:r>
              <a:rPr lang="en-US" dirty="0" smtClean="0"/>
              <a:t>development of standards, interoperability framework, and reference implementations.</a:t>
            </a:r>
          </a:p>
          <a:p>
            <a:r>
              <a:rPr lang="en-US" dirty="0" smtClean="0"/>
              <a:t>Strong </a:t>
            </a:r>
            <a:r>
              <a:rPr lang="en-US" dirty="0"/>
              <a:t>proponent </a:t>
            </a:r>
            <a:r>
              <a:rPr lang="en-US" dirty="0" smtClean="0"/>
              <a:t>of open </a:t>
            </a:r>
            <a:r>
              <a:rPr lang="en-US" dirty="0"/>
              <a:t>source software to be used for cloud computing</a:t>
            </a:r>
            <a:r>
              <a:rPr lang="en-US" dirty="0" smtClean="0"/>
              <a:t>.</a:t>
            </a:r>
          </a:p>
          <a:p>
            <a:r>
              <a:rPr lang="en-US" dirty="0"/>
              <a:t>OCC manages </a:t>
            </a:r>
            <a:r>
              <a:rPr lang="en-US" dirty="0" smtClean="0"/>
              <a:t>a testing </a:t>
            </a:r>
            <a:r>
              <a:rPr lang="en-US" dirty="0"/>
              <a:t>platform and a test-bed for cloud computing called the </a:t>
            </a:r>
            <a:r>
              <a:rPr lang="en-US" dirty="0" smtClean="0"/>
              <a:t>Open Cloud </a:t>
            </a:r>
            <a:r>
              <a:rPr lang="en-US" dirty="0"/>
              <a:t>Test-bed</a:t>
            </a:r>
            <a:r>
              <a:rPr lang="en-US" dirty="0" smtClean="0"/>
              <a:t>.</a:t>
            </a:r>
          </a:p>
          <a:p>
            <a:r>
              <a:rPr lang="en-US" dirty="0" smtClean="0"/>
              <a:t>Sponsors </a:t>
            </a:r>
            <a:r>
              <a:rPr lang="en-US" dirty="0"/>
              <a:t>workshops and other </a:t>
            </a:r>
            <a:r>
              <a:rPr lang="en-US" dirty="0" smtClean="0"/>
              <a:t>events related </a:t>
            </a:r>
            <a:r>
              <a:rPr lang="en-US" dirty="0"/>
              <a:t>to cloud computing</a:t>
            </a:r>
            <a:r>
              <a:rPr lang="en-US" dirty="0" smtClean="0"/>
              <a:t>.</a:t>
            </a:r>
          </a:p>
          <a:p>
            <a:r>
              <a:rPr lang="en-US" dirty="0" smtClean="0"/>
              <a:t>Develop Benchmarks.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0" y="1600200"/>
            <a:ext cx="8513009" cy="4566444"/>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sp>
        <p:nvSpPr>
          <p:cNvPr id="5" name="Content Placeholder 4"/>
          <p:cNvSpPr>
            <a:spLocks noGrp="1"/>
          </p:cNvSpPr>
          <p:nvPr>
            <p:ph idx="1"/>
          </p:nvPr>
        </p:nvSpPr>
        <p:spPr/>
        <p:txBody>
          <a:bodyPr/>
          <a:lstStyle/>
          <a:p>
            <a:pPr>
              <a:buNone/>
            </a:pPr>
            <a:r>
              <a:rPr lang="en-US" dirty="0" smtClean="0"/>
              <a:t>1. Working Group on Standards and Interoperability</a:t>
            </a:r>
          </a:p>
          <a:p>
            <a:pPr>
              <a:buNone/>
            </a:pPr>
            <a:r>
              <a:rPr lang="en-US" dirty="0" smtClean="0"/>
              <a:t>2. Working Group on Wide Area Clouds and the Impact of Network Protocols on Clouds</a:t>
            </a:r>
          </a:p>
          <a:p>
            <a:pPr>
              <a:buNone/>
            </a:pPr>
            <a:r>
              <a:rPr lang="en-US" dirty="0" smtClean="0"/>
              <a:t>3.The Working Group on Information Sharing, Security, and Clouds</a:t>
            </a:r>
          </a:p>
          <a:p>
            <a:pPr>
              <a:buNone/>
            </a:pPr>
            <a:r>
              <a:rPr lang="en-US" dirty="0" smtClean="0"/>
              <a:t>4.Open Cloud Test-bed Working Group</a:t>
            </a:r>
          </a:p>
          <a:p>
            <a:pPr>
              <a:buNone/>
            </a:pPr>
            <a:endParaRPr lang="en-US" dirty="0" smtClean="0"/>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sz="4000" u="sng" dirty="0">
                <a:solidFill>
                  <a:srgbClr val="FF0000"/>
                </a:solidFill>
              </a:rPr>
              <a:t>Working Group on Standards and </a:t>
            </a:r>
            <a:r>
              <a:rPr lang="en-US" sz="4000" u="sng" dirty="0" smtClean="0">
                <a:solidFill>
                  <a:srgbClr val="FF0000"/>
                </a:solidFill>
              </a:rPr>
              <a:t>Interoperability</a:t>
            </a:r>
          </a:p>
          <a:p>
            <a:pPr>
              <a:buNone/>
            </a:pPr>
            <a:endParaRPr lang="en-US" dirty="0" smtClean="0"/>
          </a:p>
          <a:p>
            <a:pPr>
              <a:buNone/>
            </a:pPr>
            <a:r>
              <a:rPr lang="en-US" dirty="0" smtClean="0"/>
              <a:t>Provide </a:t>
            </a:r>
            <a:r>
              <a:rPr lang="en-US" dirty="0"/>
              <a:t>On-Demand Computing Capacity focuses on </a:t>
            </a:r>
            <a:r>
              <a:rPr lang="en-US" dirty="0" smtClean="0"/>
              <a:t>developing standards </a:t>
            </a:r>
            <a:r>
              <a:rPr lang="en-US" dirty="0"/>
              <a:t>for interoperating clouds that provide on-demand </a:t>
            </a:r>
            <a:r>
              <a:rPr lang="en-US" dirty="0" smtClean="0"/>
              <a:t>computing capacity</a:t>
            </a:r>
            <a:r>
              <a:rPr lang="en-US" dirty="0"/>
              <a:t>. </a:t>
            </a:r>
            <a:endParaRPr lang="en-US" dirty="0" smtClean="0"/>
          </a:p>
          <a:p>
            <a:pPr>
              <a:buNone/>
            </a:pPr>
            <a:endParaRPr lang="en-US" dirty="0" smtClean="0"/>
          </a:p>
          <a:p>
            <a:pPr>
              <a:buNone/>
            </a:pPr>
            <a:r>
              <a:rPr lang="en-US" dirty="0" smtClean="0"/>
              <a:t>One </a:t>
            </a:r>
            <a:r>
              <a:rPr lang="en-US" dirty="0"/>
              <a:t>architecture for clouds that was popularized by a series </a:t>
            </a:r>
            <a:r>
              <a:rPr lang="en-US" dirty="0" smtClean="0"/>
              <a:t>of Google </a:t>
            </a:r>
            <a:r>
              <a:rPr lang="en-US" dirty="0"/>
              <a:t>technical reports describes </a:t>
            </a:r>
            <a:r>
              <a:rPr lang="en-US" dirty="0" smtClean="0"/>
              <a:t>a </a:t>
            </a:r>
            <a:r>
              <a:rPr lang="en-US" i="1" dirty="0" smtClean="0"/>
              <a:t>storage cloud </a:t>
            </a:r>
            <a:r>
              <a:rPr lang="en-US" dirty="0" smtClean="0"/>
              <a:t>providing </a:t>
            </a:r>
            <a:r>
              <a:rPr lang="en-US" dirty="0"/>
              <a:t>a </a:t>
            </a:r>
            <a:r>
              <a:rPr lang="en-US" dirty="0" smtClean="0"/>
              <a:t>distributed file </a:t>
            </a:r>
            <a:r>
              <a:rPr lang="en-US" dirty="0"/>
              <a:t>system, </a:t>
            </a:r>
            <a:r>
              <a:rPr lang="en-US" dirty="0" smtClean="0"/>
              <a:t>a </a:t>
            </a:r>
            <a:r>
              <a:rPr lang="en-US" i="1" dirty="0" smtClean="0"/>
              <a:t>compute cloud s</a:t>
            </a:r>
            <a:r>
              <a:rPr lang="en-US" dirty="0" smtClean="0"/>
              <a:t>upporting </a:t>
            </a:r>
            <a:r>
              <a:rPr lang="en-US" dirty="0" err="1"/>
              <a:t>MapReduce</a:t>
            </a:r>
            <a:r>
              <a:rPr lang="en-US" dirty="0"/>
              <a:t>, and </a:t>
            </a:r>
            <a:r>
              <a:rPr lang="en-US" dirty="0" smtClean="0"/>
              <a:t>a </a:t>
            </a:r>
            <a:r>
              <a:rPr lang="en-US" i="1" dirty="0" smtClean="0"/>
              <a:t>data cloud  </a:t>
            </a:r>
            <a:r>
              <a:rPr lang="en-US" dirty="0" smtClean="0"/>
              <a:t>supporting table </a:t>
            </a:r>
            <a:r>
              <a:rPr lang="en-US" dirty="0"/>
              <a:t>services. </a:t>
            </a:r>
            <a:endParaRPr lang="en-US" dirty="0" smtClean="0"/>
          </a:p>
          <a:p>
            <a:pPr>
              <a:buNone/>
            </a:pPr>
            <a:endParaRPr lang="en-US" dirty="0" smtClean="0"/>
          </a:p>
          <a:p>
            <a:pPr>
              <a:buNone/>
            </a:pPr>
            <a:r>
              <a:rPr lang="en-US" dirty="0" smtClean="0"/>
              <a:t>The </a:t>
            </a:r>
            <a:r>
              <a:rPr lang="en-US" dirty="0"/>
              <a:t>open source </a:t>
            </a:r>
            <a:r>
              <a:rPr lang="en-US" dirty="0" err="1"/>
              <a:t>Hadoop</a:t>
            </a:r>
            <a:r>
              <a:rPr lang="en-US" dirty="0"/>
              <a:t> system follows this architecture</a:t>
            </a:r>
            <a:r>
              <a:rPr lang="en-US" dirty="0" smtClean="0"/>
              <a:t>.  </a:t>
            </a:r>
          </a:p>
          <a:p>
            <a:pPr>
              <a:buNone/>
            </a:pPr>
            <a:endParaRPr lang="en-US" dirty="0"/>
          </a:p>
          <a:p>
            <a:pPr>
              <a:buNone/>
            </a:pPr>
            <a:r>
              <a:rPr lang="en-US" dirty="0" smtClean="0"/>
              <a:t>These </a:t>
            </a:r>
            <a:r>
              <a:rPr lang="en-US" dirty="0"/>
              <a:t>types of cloud architectures support the concept of </a:t>
            </a:r>
            <a:r>
              <a:rPr lang="en-US" dirty="0" smtClean="0"/>
              <a:t>on demand computing </a:t>
            </a:r>
            <a:r>
              <a:rPr lang="en-US" dirty="0"/>
              <a:t>capacity.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u="sng" dirty="0">
                <a:solidFill>
                  <a:srgbClr val="FF0000"/>
                </a:solidFill>
              </a:rPr>
              <a:t>Working Group on Wide Area Clouds and the Impact </a:t>
            </a:r>
            <a:r>
              <a:rPr lang="en-US" u="sng" dirty="0" smtClean="0">
                <a:solidFill>
                  <a:srgbClr val="FF0000"/>
                </a:solidFill>
              </a:rPr>
              <a:t>of</a:t>
            </a:r>
          </a:p>
          <a:p>
            <a:pPr>
              <a:buNone/>
            </a:pPr>
            <a:r>
              <a:rPr lang="en-US" u="sng" dirty="0" smtClean="0">
                <a:solidFill>
                  <a:srgbClr val="FF0000"/>
                </a:solidFill>
              </a:rPr>
              <a:t> Network Protocols on Clo</a:t>
            </a:r>
            <a:r>
              <a:rPr lang="en-US" dirty="0" smtClean="0">
                <a:solidFill>
                  <a:srgbClr val="FF0000"/>
                </a:solidFill>
              </a:rPr>
              <a:t>uds</a:t>
            </a:r>
            <a:endParaRPr lang="en-US" u="sng" dirty="0" smtClean="0">
              <a:solidFill>
                <a:srgbClr val="FF0000"/>
              </a:solidFill>
            </a:endParaRPr>
          </a:p>
          <a:p>
            <a:pPr>
              <a:buNone/>
            </a:pPr>
            <a:endParaRPr lang="en-US" dirty="0" smtClean="0"/>
          </a:p>
          <a:p>
            <a:pPr>
              <a:buNone/>
            </a:pPr>
            <a:r>
              <a:rPr lang="en-US" dirty="0" smtClean="0"/>
              <a:t>The </a:t>
            </a:r>
            <a:r>
              <a:rPr lang="en-US" dirty="0"/>
              <a:t>focus of this working group is on </a:t>
            </a:r>
            <a:r>
              <a:rPr lang="en-US" dirty="0" smtClean="0"/>
              <a:t>developing technology </a:t>
            </a:r>
            <a:r>
              <a:rPr lang="en-US" dirty="0"/>
              <a:t>for wide area clouds, including creation of </a:t>
            </a:r>
            <a:r>
              <a:rPr lang="en-US" dirty="0" smtClean="0"/>
              <a:t>methodologies and </a:t>
            </a:r>
            <a:r>
              <a:rPr lang="en-US" dirty="0"/>
              <a:t>benchmarks to be used for evaluating wide area clouds. This </a:t>
            </a:r>
            <a:r>
              <a:rPr lang="en-US" dirty="0" smtClean="0"/>
              <a:t>working group </a:t>
            </a:r>
            <a:r>
              <a:rPr lang="en-US" dirty="0"/>
              <a:t>is tasked to study the applicability of variants of TCP (</a:t>
            </a:r>
            <a:r>
              <a:rPr lang="en-US" dirty="0" smtClean="0"/>
              <a:t>Transmission Control </a:t>
            </a:r>
            <a:r>
              <a:rPr lang="en-US" dirty="0"/>
              <a:t>Protocol) and the use of other network protocols for clouds</a:t>
            </a:r>
            <a:r>
              <a:rPr lang="en-US" dirty="0" smtClean="0"/>
              <a:t>.</a:t>
            </a:r>
          </a:p>
          <a:p>
            <a:pPr>
              <a:buNone/>
            </a:pPr>
            <a:endParaRPr lang="en-US" dirty="0" smtClean="0"/>
          </a:p>
          <a:p>
            <a:r>
              <a:rPr lang="en-US" dirty="0"/>
              <a:t>The Open Cloud Test-bed uses Cisco C-Wave and the UIC </a:t>
            </a:r>
            <a:r>
              <a:rPr lang="en-US" dirty="0" err="1"/>
              <a:t>Teraflow</a:t>
            </a:r>
            <a:endParaRPr lang="en-US" dirty="0"/>
          </a:p>
          <a:p>
            <a:pPr>
              <a:buNone/>
            </a:pPr>
            <a:r>
              <a:rPr lang="en-US" dirty="0" smtClean="0"/>
              <a:t>      Network </a:t>
            </a:r>
            <a:r>
              <a:rPr lang="en-US" dirty="0"/>
              <a:t>for its network connections. C-Wave makes network </a:t>
            </a:r>
            <a:r>
              <a:rPr lang="en-US" dirty="0" smtClean="0"/>
              <a:t>resources available </a:t>
            </a:r>
            <a:r>
              <a:rPr lang="en-US" dirty="0"/>
              <a:t>to researchers to conduct networking and applications research</a:t>
            </a:r>
            <a:r>
              <a:rPr lang="en-US" dirty="0" smtClean="0"/>
              <a:t>.</a:t>
            </a:r>
          </a:p>
          <a:p>
            <a:pPr>
              <a:buNone/>
            </a:pPr>
            <a:endParaRPr lang="en-US" dirty="0" smtClean="0"/>
          </a:p>
          <a:p>
            <a:r>
              <a:rPr lang="en-US" dirty="0"/>
              <a:t>The </a:t>
            </a:r>
            <a:r>
              <a:rPr lang="en-US" dirty="0" err="1"/>
              <a:t>Teraflow</a:t>
            </a:r>
            <a:r>
              <a:rPr lang="en-US" dirty="0"/>
              <a:t> Test-bed analyzes streaming data </a:t>
            </a:r>
            <a:r>
              <a:rPr lang="en-US" dirty="0" smtClean="0"/>
              <a:t>with the </a:t>
            </a:r>
            <a:r>
              <a:rPr lang="en-US" dirty="0"/>
              <a:t>goal of developing innovative technology for data streams at very </a:t>
            </a:r>
            <a:r>
              <a:rPr lang="en-US" dirty="0" smtClean="0"/>
              <a:t>high speeds</a:t>
            </a:r>
            <a:r>
              <a:rPr lang="en-US" dirty="0"/>
              <a:t>.</a:t>
            </a:r>
            <a:endParaRPr 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sp>
        <p:nvSpPr>
          <p:cNvPr id="3" name="Content Placeholder 2"/>
          <p:cNvSpPr>
            <a:spLocks noGrp="1"/>
          </p:cNvSpPr>
          <p:nvPr>
            <p:ph idx="1"/>
          </p:nvPr>
        </p:nvSpPr>
        <p:spPr>
          <a:xfrm>
            <a:off x="381000" y="1600200"/>
            <a:ext cx="8229600" cy="4525963"/>
          </a:xfrm>
        </p:spPr>
        <p:txBody>
          <a:bodyPr>
            <a:normAutofit fontScale="92500" lnSpcReduction="10000"/>
          </a:bodyPr>
          <a:lstStyle/>
          <a:p>
            <a:pPr>
              <a:buNone/>
            </a:pPr>
            <a:r>
              <a:rPr lang="en-US" u="sng" dirty="0">
                <a:solidFill>
                  <a:srgbClr val="FF0000"/>
                </a:solidFill>
              </a:rPr>
              <a:t>The Working Group on Information Sharing, Security, and Clouds</a:t>
            </a:r>
          </a:p>
          <a:p>
            <a:r>
              <a:rPr lang="en-US" dirty="0"/>
              <a:t>has a primary focus on standards and standards-based architectures </a:t>
            </a:r>
            <a:r>
              <a:rPr lang="en-US" dirty="0" smtClean="0"/>
              <a:t>for sharing </a:t>
            </a:r>
            <a:r>
              <a:rPr lang="en-US" dirty="0"/>
              <a:t>information between clouds</a:t>
            </a:r>
            <a:r>
              <a:rPr lang="en-US" dirty="0" smtClean="0"/>
              <a:t>.</a:t>
            </a:r>
          </a:p>
          <a:p>
            <a:r>
              <a:rPr lang="en-US" dirty="0"/>
              <a:t>This is especially true for </a:t>
            </a:r>
            <a:r>
              <a:rPr lang="en-US" dirty="0" smtClean="0"/>
              <a:t>clouds </a:t>
            </a:r>
            <a:r>
              <a:rPr lang="en-US" dirty="0"/>
              <a:t>belonging to different organizations and subject to possibly </a:t>
            </a:r>
            <a:r>
              <a:rPr lang="en-US" dirty="0" smtClean="0"/>
              <a:t>different authorities </a:t>
            </a:r>
            <a:r>
              <a:rPr lang="en-US" dirty="0"/>
              <a:t>and policies. This group is also concerned with security </a:t>
            </a:r>
            <a:r>
              <a:rPr lang="en-US" dirty="0" smtClean="0"/>
              <a:t>architectures for </a:t>
            </a:r>
            <a:r>
              <a:rPr lang="en-US" dirty="0"/>
              <a:t>clouds.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Open Cloud Consortium</a:t>
            </a:r>
            <a:endParaRPr lang="en-US" dirty="0"/>
          </a:p>
        </p:txBody>
      </p:sp>
      <p:sp>
        <p:nvSpPr>
          <p:cNvPr id="3" name="Content Placeholder 2"/>
          <p:cNvSpPr>
            <a:spLocks noGrp="1"/>
          </p:cNvSpPr>
          <p:nvPr>
            <p:ph idx="1"/>
          </p:nvPr>
        </p:nvSpPr>
        <p:spPr/>
        <p:txBody>
          <a:bodyPr/>
          <a:lstStyle/>
          <a:p>
            <a:r>
              <a:rPr lang="en-US" dirty="0"/>
              <a:t>Finally, there is an Open Cloud Test-bed Working Group that </a:t>
            </a:r>
            <a:r>
              <a:rPr lang="en-US" dirty="0" smtClean="0"/>
              <a:t>manages and </a:t>
            </a:r>
            <a:r>
              <a:rPr lang="en-US" dirty="0"/>
              <a:t>operates the Open Cloud Test-bed. Currently, membership in </a:t>
            </a:r>
            <a:r>
              <a:rPr lang="en-US" dirty="0" smtClean="0"/>
              <a:t>this working </a:t>
            </a:r>
            <a:r>
              <a:rPr lang="en-US" dirty="0"/>
              <a:t>group is limited to those who contribute computing, networking,</a:t>
            </a:r>
          </a:p>
          <a:p>
            <a:pPr>
              <a:buNone/>
            </a:pPr>
            <a:r>
              <a:rPr lang="en-US" dirty="0" smtClean="0"/>
              <a:t>   or </a:t>
            </a:r>
            <a:r>
              <a:rPr lang="en-US" dirty="0"/>
              <a:t>other resources to the Open Cloud Test-bed.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Distributed Management Task Force</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enables more effective management of millions of IT systems worldwide by bringing the IT industry together to collaborate on the development, validation and promotion of systems management standards.</a:t>
            </a:r>
          </a:p>
          <a:p>
            <a:r>
              <a:rPr lang="en-US" dirty="0" smtClean="0"/>
              <a:t>The group spans the industry with 160 member companies and organizations, and more than 4,000 active participants crossing 43 countries.</a:t>
            </a:r>
          </a:p>
          <a:p>
            <a:r>
              <a:rPr lang="en-US" dirty="0" smtClean="0"/>
              <a:t>The DMTF board of directors is led by 16 innovative, industry-leading technology companies. They include Novell; Oracle; Sun Microsystems; Microsoft etc.</a:t>
            </a:r>
          </a:p>
          <a:p>
            <a:endParaRPr lang="en-US" dirty="0" smtClean="0"/>
          </a:p>
          <a:p>
            <a:r>
              <a:rPr lang="en-US" dirty="0" smtClean="0"/>
              <a:t>DMTF creates standards that enable </a:t>
            </a:r>
            <a:r>
              <a:rPr lang="en-US" dirty="0" smtClean="0">
                <a:solidFill>
                  <a:srgbClr val="FF0000"/>
                </a:solidFill>
              </a:rPr>
              <a:t>interoperable</a:t>
            </a:r>
            <a:r>
              <a:rPr lang="en-US" dirty="0" smtClean="0"/>
              <a:t> IT management.</a:t>
            </a:r>
          </a:p>
          <a:p>
            <a:endParaRPr lang="en-US" dirty="0" smtClean="0"/>
          </a:p>
          <a:p>
            <a:r>
              <a:rPr lang="en-US" dirty="0" smtClean="0"/>
              <a:t>DMTF management standards are critical to enabling management interoperability among multi-vendor systems, tools and solutions within the enterprise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 Distributed Management Task Force</a:t>
            </a:r>
            <a:endParaRPr lang="en-US" dirty="0"/>
          </a:p>
        </p:txBody>
      </p:sp>
      <p:sp>
        <p:nvSpPr>
          <p:cNvPr id="3" name="Content Placeholder 2"/>
          <p:cNvSpPr>
            <a:spLocks noGrp="1"/>
          </p:cNvSpPr>
          <p:nvPr>
            <p:ph idx="1"/>
          </p:nvPr>
        </p:nvSpPr>
        <p:spPr/>
        <p:txBody>
          <a:bodyPr/>
          <a:lstStyle/>
          <a:p>
            <a:r>
              <a:rPr lang="en-US" dirty="0" smtClean="0"/>
              <a:t>The DMTF started the Virtualization Management Initiative (VMAN).</a:t>
            </a:r>
          </a:p>
          <a:p>
            <a:r>
              <a:rPr lang="en-US" dirty="0" smtClean="0"/>
              <a:t>The VMAN unleashes the power of virtualization by delivering broadly supported interoperability and portability standards to virtual computing environments.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Open Virtualization Format</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Open Virtualization Format (OVF) is a fairly new standard that has emerged within the VMAN Initiative.</a:t>
            </a:r>
          </a:p>
          <a:p>
            <a:r>
              <a:rPr lang="en-US" dirty="0" smtClean="0"/>
              <a:t>The OVF simplifies interoperability, security, and virtual machine life-cycle management by describing an open, secure, portable, efficient, and extensible format for the packaging and distribution of one or more virtual appliances.</a:t>
            </a:r>
          </a:p>
          <a:p>
            <a:r>
              <a:rPr lang="en-US" dirty="0" smtClean="0"/>
              <a:t>The OVF specifies procedures and technologies to permit integrity checking of the virtual machines (VM) to ensure that they have not been modified since the package was produced.</a:t>
            </a:r>
          </a:p>
          <a:p>
            <a:r>
              <a:rPr lang="en-US" dirty="0" smtClean="0"/>
              <a:t>The OVF also provides mechanisms that support license checking for the enclosed VMs, addressing a key concern of both independent software vendors and customers.</a:t>
            </a:r>
          </a:p>
          <a:p>
            <a:r>
              <a:rPr lang="en-US" dirty="0" smtClean="0"/>
              <a:t>Finally, the OVF allows an installed VM to acquire information about its host virtualization platform and runtime environment, which allows the VM to localize the applications it contains and optimize its performance for the particular virtualization environment.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Open Virtualization Format</a:t>
            </a:r>
            <a:endParaRPr lang="en-US" dirty="0"/>
          </a:p>
        </p:txBody>
      </p:sp>
      <p:sp>
        <p:nvSpPr>
          <p:cNvPr id="3" name="Content Placeholder 2"/>
          <p:cNvSpPr>
            <a:spLocks noGrp="1"/>
          </p:cNvSpPr>
          <p:nvPr>
            <p:ph idx="1"/>
          </p:nvPr>
        </p:nvSpPr>
        <p:spPr/>
        <p:txBody>
          <a:bodyPr/>
          <a:lstStyle/>
          <a:p>
            <a:r>
              <a:rPr lang="en-US" dirty="0" smtClean="0"/>
              <a:t>Prop:</a:t>
            </a:r>
          </a:p>
          <a:p>
            <a:r>
              <a:rPr lang="en-US" dirty="0" smtClean="0"/>
              <a:t>is virtual machine packaging portability.</a:t>
            </a:r>
          </a:p>
          <a:p>
            <a:r>
              <a:rPr lang="en-US" dirty="0" smtClean="0"/>
              <a:t>open virtual hard disk formats.</a:t>
            </a:r>
          </a:p>
          <a:p>
            <a:r>
              <a:rPr lang="en-US" dirty="0" smtClean="0"/>
              <a:t>It supports content verification and integrity checking based on industry-standard public key infrastructure and provides a basic scheme for management of software licensing.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Standards for Application Developers</a:t>
            </a:r>
            <a:endParaRPr lang="en-US" dirty="0" smtClean="0"/>
          </a:p>
          <a:p>
            <a:r>
              <a:rPr lang="en-US" dirty="0" smtClean="0"/>
              <a:t>Standards for Messaging</a:t>
            </a:r>
          </a:p>
          <a:p>
            <a:r>
              <a:rPr lang="en-US" dirty="0" smtClean="0"/>
              <a:t>Standards for Security</a:t>
            </a:r>
            <a:br>
              <a:rPr lang="en-US" dirty="0" smtClean="0"/>
            </a:br>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Standards for Application Developers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purpose of application development standards is to ensure uniform, consistent, high-quality software solutions.</a:t>
            </a:r>
          </a:p>
          <a:p>
            <a:r>
              <a:rPr lang="en-US" dirty="0" smtClean="0"/>
              <a:t>Programming standards are important to programmers for a variety of reasons.</a:t>
            </a:r>
          </a:p>
          <a:p>
            <a:r>
              <a:rPr lang="en-US" dirty="0" smtClean="0"/>
              <a:t>Some researchers have stated that, as a general rule, 80% of the lifetime cost of a piece of software goes to maintenance.</a:t>
            </a:r>
          </a:p>
          <a:p>
            <a:r>
              <a:rPr lang="en-US" dirty="0" smtClean="0"/>
              <a:t>Programming standards help to improve the readability of the software, allowing developers to understand new code more quickly and thoroughly.</a:t>
            </a:r>
          </a:p>
          <a:p>
            <a:r>
              <a:rPr lang="en-US" dirty="0" smtClean="0"/>
              <a:t>If you ship source code as a product, it is important to ensure that it is as well packaged and meets industry standards comparable to the products you compete with.</a:t>
            </a:r>
          </a:p>
          <a:p>
            <a:r>
              <a:rPr lang="en-US" dirty="0" smtClean="0"/>
              <a:t>For the standards to work, everyone developing solutions must conform to them.</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Standards for Application Developers</a:t>
            </a:r>
            <a:endParaRPr lang="en-US" dirty="0"/>
          </a:p>
        </p:txBody>
      </p:sp>
      <p:sp>
        <p:nvSpPr>
          <p:cNvPr id="3" name="Content Placeholder 2"/>
          <p:cNvSpPr>
            <a:spLocks noGrp="1"/>
          </p:cNvSpPr>
          <p:nvPr>
            <p:ph idx="1"/>
          </p:nvPr>
        </p:nvSpPr>
        <p:spPr/>
        <p:txBody>
          <a:bodyPr>
            <a:normAutofit/>
          </a:bodyPr>
          <a:lstStyle/>
          <a:p>
            <a:pPr>
              <a:buNone/>
            </a:pPr>
            <a:r>
              <a:rPr lang="en-US" dirty="0" smtClean="0"/>
              <a:t>Application standards that are commonly used across the Internet in browsers, for transferring data, sending messages, and securing data.</a:t>
            </a:r>
          </a:p>
          <a:p>
            <a:pPr marL="514350" indent="-514350">
              <a:buAutoNum type="arabicPeriod"/>
            </a:pPr>
            <a:r>
              <a:rPr lang="en-US" b="1" dirty="0" smtClean="0"/>
              <a:t>Browsers (Ajax)</a:t>
            </a:r>
          </a:p>
          <a:p>
            <a:pPr marL="514350" indent="-514350">
              <a:buAutoNum type="arabicPeriod"/>
            </a:pPr>
            <a:r>
              <a:rPr lang="en-US" dirty="0" smtClean="0"/>
              <a:t>Data (XML, JSON)</a:t>
            </a:r>
          </a:p>
          <a:p>
            <a:pPr marL="514350" indent="-514350">
              <a:buAutoNum type="arabicPeriod"/>
            </a:pPr>
            <a:r>
              <a:rPr lang="en-US" b="1" dirty="0" smtClean="0"/>
              <a:t>Solution Stacks (LAMP and LAPP)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Standards for Application Developers</a:t>
            </a:r>
            <a:endParaRPr lang="en-US" dirty="0"/>
          </a:p>
        </p:txBody>
      </p:sp>
      <p:sp>
        <p:nvSpPr>
          <p:cNvPr id="3" name="Content Placeholder 2"/>
          <p:cNvSpPr>
            <a:spLocks noGrp="1"/>
          </p:cNvSpPr>
          <p:nvPr>
            <p:ph idx="1"/>
          </p:nvPr>
        </p:nvSpPr>
        <p:spPr/>
        <p:txBody>
          <a:bodyPr>
            <a:normAutofit fontScale="40000" lnSpcReduction="20000"/>
          </a:bodyPr>
          <a:lstStyle/>
          <a:p>
            <a:r>
              <a:rPr lang="en-US" b="1" dirty="0" smtClean="0">
                <a:solidFill>
                  <a:schemeClr val="accent1"/>
                </a:solidFill>
              </a:rPr>
              <a:t>Browsers (Ajax)</a:t>
            </a:r>
          </a:p>
          <a:p>
            <a:endParaRPr lang="en-US" dirty="0" smtClean="0"/>
          </a:p>
          <a:p>
            <a:r>
              <a:rPr lang="en-US" dirty="0" smtClean="0"/>
              <a:t>A  group of interrelated web development techniques used to create interactive web applications or rich Internet applications. </a:t>
            </a:r>
          </a:p>
          <a:p>
            <a:endParaRPr lang="en-US" dirty="0" smtClean="0"/>
          </a:p>
          <a:p>
            <a:r>
              <a:rPr lang="en-US" dirty="0" smtClean="0"/>
              <a:t>Using Ajax, web applications can retrieve data from the server asynchronously, without interfering with the display and behavior of the browser page currently being displayed to the user.</a:t>
            </a:r>
          </a:p>
          <a:p>
            <a:endParaRPr lang="en-US" dirty="0" smtClean="0"/>
          </a:p>
          <a:p>
            <a:r>
              <a:rPr lang="en-US" dirty="0" smtClean="0"/>
              <a:t>An Ajax framework helps developers create web applications that use Ajax.</a:t>
            </a:r>
          </a:p>
          <a:p>
            <a:endParaRPr lang="en-US" dirty="0" smtClean="0"/>
          </a:p>
          <a:p>
            <a:r>
              <a:rPr lang="en-US" dirty="0" smtClean="0"/>
              <a:t>The framework helps them to build dynamic web pages on the client side. Data is sent to or from the server using requests, usually written in JavaScript.</a:t>
            </a:r>
          </a:p>
          <a:p>
            <a:endParaRPr lang="en-US" dirty="0" smtClean="0"/>
          </a:p>
          <a:p>
            <a:r>
              <a:rPr lang="en-US" dirty="0" smtClean="0"/>
              <a:t>On the server, some processing may be required to handle these requests, for example, when finding and storing data.</a:t>
            </a:r>
            <a:r>
              <a:rPr lang="en-US" b="1" dirty="0" smtClean="0"/>
              <a:t> </a:t>
            </a:r>
            <a:r>
              <a:rPr lang="en-US" b="1" dirty="0" err="1" smtClean="0"/>
              <a:t>ICEfaces</a:t>
            </a:r>
            <a:r>
              <a:rPr lang="en-US" b="1" dirty="0" smtClean="0"/>
              <a:t> Ajax Application Framework </a:t>
            </a:r>
            <a:r>
              <a:rPr lang="en-US" dirty="0" smtClean="0"/>
              <a:t>dedicated to process Ajax requests. </a:t>
            </a:r>
          </a:p>
          <a:p>
            <a:endParaRPr lang="en-US" dirty="0" smtClean="0"/>
          </a:p>
          <a:p>
            <a:r>
              <a:rPr lang="en-US" dirty="0" err="1" smtClean="0"/>
              <a:t>ICEfaceis</a:t>
            </a:r>
            <a:r>
              <a:rPr lang="en-US" dirty="0" smtClean="0"/>
              <a:t> </a:t>
            </a:r>
            <a:r>
              <a:rPr lang="en-US" b="1" dirty="0" smtClean="0"/>
              <a:t> </a:t>
            </a:r>
            <a:r>
              <a:rPr lang="en-US" dirty="0" smtClean="0"/>
              <a:t>Compatible with SSL (Secure Sockets Layer) protocol, it prevents cross-site scripting, malicious code injection, and unauthorized data mining. </a:t>
            </a:r>
          </a:p>
          <a:p>
            <a:endParaRPr lang="en-US" dirty="0" smtClean="0"/>
          </a:p>
          <a:p>
            <a:r>
              <a:rPr lang="en-US" dirty="0" err="1" smtClean="0"/>
              <a:t>ICEfaces</a:t>
            </a:r>
            <a:r>
              <a:rPr lang="en-US" dirty="0" smtClean="0"/>
              <a:t> does not expose application logic or user data, and it is effective in preventing fake form submits and SQL (Structured Query Language) injection</a:t>
            </a:r>
          </a:p>
          <a:p>
            <a:pPr>
              <a:buNone/>
            </a:pPr>
            <a:r>
              <a:rPr lang="en-US" dirty="0" smtClean="0"/>
              <a:t>        attacks.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09600" y="533400"/>
            <a:ext cx="8534400" cy="715963"/>
          </a:xfrm>
        </p:spPr>
        <p:txBody>
          <a:bodyPr rtlCol="0">
            <a:noAutofit/>
          </a:bodyPr>
          <a:lstStyle/>
          <a:p>
            <a:pPr eaLnBrk="1" fontAlgn="auto" hangingPunct="1">
              <a:spcAft>
                <a:spcPts val="0"/>
              </a:spcAft>
              <a:defRPr/>
            </a:pPr>
            <a:r>
              <a:rPr lang="en-US" sz="2400" dirty="0" smtClean="0">
                <a:solidFill>
                  <a:schemeClr val="accent1">
                    <a:tint val="88000"/>
                    <a:satMod val="150000"/>
                  </a:schemeClr>
                </a:solidFill>
              </a:rPr>
              <a:t/>
            </a:r>
            <a:br>
              <a:rPr lang="en-US" sz="2400" dirty="0" smtClean="0">
                <a:solidFill>
                  <a:schemeClr val="accent1">
                    <a:tint val="88000"/>
                    <a:satMod val="150000"/>
                  </a:schemeClr>
                </a:solidFill>
              </a:rPr>
            </a:br>
            <a:r>
              <a:rPr lang="en-US" sz="2400" dirty="0" smtClean="0">
                <a:solidFill>
                  <a:schemeClr val="accent1">
                    <a:tint val="88000"/>
                    <a:satMod val="150000"/>
                  </a:schemeClr>
                </a:solidFill>
              </a:rPr>
              <a:t/>
            </a:r>
            <a:br>
              <a:rPr lang="en-US" sz="2400" dirty="0" smtClean="0">
                <a:solidFill>
                  <a:schemeClr val="accent1">
                    <a:tint val="88000"/>
                    <a:satMod val="150000"/>
                  </a:schemeClr>
                </a:solidFill>
              </a:rPr>
            </a:br>
            <a:r>
              <a:rPr lang="en-US" sz="2400" dirty="0" smtClean="0">
                <a:solidFill>
                  <a:schemeClr val="accent1">
                    <a:tint val="88000"/>
                    <a:satMod val="150000"/>
                  </a:schemeClr>
                </a:solidFill>
              </a:rPr>
              <a:t>Standards for Application Developers</a:t>
            </a:r>
            <a:r>
              <a:rPr lang="en-AU" sz="2400" dirty="0" smtClean="0">
                <a:solidFill>
                  <a:schemeClr val="accent1">
                    <a:tint val="88000"/>
                    <a:satMod val="150000"/>
                  </a:schemeClr>
                </a:solidFill>
              </a:rPr>
              <a:t>(Cont’d)</a:t>
            </a:r>
            <a:br>
              <a:rPr lang="en-AU" sz="2400" dirty="0" smtClean="0">
                <a:solidFill>
                  <a:schemeClr val="accent1">
                    <a:tint val="88000"/>
                    <a:satMod val="150000"/>
                  </a:schemeClr>
                </a:solidFill>
              </a:rPr>
            </a:br>
            <a:r>
              <a:rPr lang="en-US" sz="2400" dirty="0" smtClean="0">
                <a:solidFill>
                  <a:schemeClr val="accent1">
                    <a:tint val="88000"/>
                    <a:satMod val="150000"/>
                  </a:schemeClr>
                </a:solidFill>
              </a:rPr>
              <a:t/>
            </a:r>
            <a:br>
              <a:rPr lang="en-US" sz="2400" dirty="0" smtClean="0">
                <a:solidFill>
                  <a:schemeClr val="accent1">
                    <a:tint val="88000"/>
                    <a:satMod val="150000"/>
                  </a:schemeClr>
                </a:solidFill>
              </a:rPr>
            </a:br>
            <a:endParaRPr lang="en-US" sz="2400"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a:t>Common Standards In Cloud Computing</a:t>
            </a:r>
            <a:endParaRPr lang="en-US" dirty="0"/>
          </a:p>
        </p:txBody>
      </p:sp>
      <p:sp>
        <p:nvSpPr>
          <p:cNvPr id="4" name="Slide Number Placeholder 3"/>
          <p:cNvSpPr>
            <a:spLocks noGrp="1"/>
          </p:cNvSpPr>
          <p:nvPr>
            <p:ph type="sldNum" sz="quarter" idx="12"/>
          </p:nvPr>
        </p:nvSpPr>
        <p:spPr/>
        <p:txBody>
          <a:bodyPr/>
          <a:lstStyle/>
          <a:p>
            <a:pPr>
              <a:defRPr/>
            </a:pPr>
            <a:fld id="{8559C5DB-D1E5-4F12-A547-E4C81745BB0F}" type="slidenum">
              <a:rPr lang="en-US"/>
              <a:pPr>
                <a:defRPr/>
              </a:pPr>
              <a:t>18</a:t>
            </a:fld>
            <a:endParaRPr lang="en-US"/>
          </a:p>
        </p:txBody>
      </p:sp>
      <p:sp>
        <p:nvSpPr>
          <p:cNvPr id="11" name="Rectangle 10"/>
          <p:cNvSpPr/>
          <p:nvPr/>
        </p:nvSpPr>
        <p:spPr>
          <a:xfrm>
            <a:off x="381000" y="1447800"/>
            <a:ext cx="4648200" cy="487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lstStyle/>
          <a:p>
            <a:pPr>
              <a:buClr>
                <a:srgbClr val="F07F09"/>
              </a:buClr>
              <a:buFont typeface="Wingdings" pitchFamily="2" charset="2"/>
              <a:buChar char="v"/>
              <a:defRPr/>
            </a:pPr>
            <a:r>
              <a:rPr lang="en-US" sz="2000" b="1" dirty="0">
                <a:solidFill>
                  <a:schemeClr val="accent1"/>
                </a:solidFill>
              </a:rPr>
              <a:t>Browsers (Ajax)</a:t>
            </a:r>
          </a:p>
          <a:p>
            <a:pPr>
              <a:buClr>
                <a:srgbClr val="F07F09"/>
              </a:buClr>
              <a:buFont typeface="Wingdings" pitchFamily="2" charset="2"/>
              <a:buChar char="v"/>
              <a:defRPr/>
            </a:pPr>
            <a:endParaRPr lang="en-US" sz="2000" dirty="0">
              <a:solidFill>
                <a:schemeClr val="tx1"/>
              </a:solidFill>
            </a:endParaRPr>
          </a:p>
          <a:p>
            <a:pPr>
              <a:buClr>
                <a:srgbClr val="F07F09"/>
              </a:buClr>
              <a:buFont typeface="Wingdings" pitchFamily="2" charset="2"/>
              <a:buChar char="v"/>
              <a:defRPr/>
            </a:pPr>
            <a:r>
              <a:rPr lang="en-US" dirty="0">
                <a:solidFill>
                  <a:schemeClr val="tx1"/>
                </a:solidFill>
              </a:rPr>
              <a:t>Its predecessor AJAX (Asynchronous JavaScript and XML</a:t>
            </a:r>
            <a:r>
              <a:rPr lang="en-US" dirty="0" smtClean="0">
                <a:solidFill>
                  <a:schemeClr val="tx1"/>
                </a:solidFill>
              </a:rPr>
              <a:t>).</a:t>
            </a:r>
          </a:p>
          <a:p>
            <a:pPr>
              <a:buClr>
                <a:srgbClr val="F07F09"/>
              </a:buClr>
              <a:buFont typeface="Wingdings" pitchFamily="2" charset="2"/>
              <a:buChar char="v"/>
              <a:defRPr/>
            </a:pPr>
            <a:endParaRPr lang="en-US" dirty="0">
              <a:solidFill>
                <a:schemeClr val="tx1"/>
              </a:solidFill>
            </a:endParaRPr>
          </a:p>
          <a:p>
            <a:pPr>
              <a:buClr>
                <a:srgbClr val="F07F09"/>
              </a:buClr>
              <a:buFont typeface="Wingdings" pitchFamily="2" charset="2"/>
              <a:buChar char="v"/>
              <a:defRPr/>
            </a:pPr>
            <a:endParaRPr lang="en-US" dirty="0">
              <a:solidFill>
                <a:schemeClr val="tx1"/>
              </a:solidFill>
            </a:endParaRPr>
          </a:p>
          <a:p>
            <a:pPr>
              <a:buClr>
                <a:schemeClr val="accent1"/>
              </a:buClr>
              <a:buFont typeface="Wingdings" pitchFamily="2" charset="2"/>
              <a:buChar char="v"/>
              <a:defRPr/>
            </a:pPr>
            <a:r>
              <a:rPr lang="en-US" dirty="0">
                <a:solidFill>
                  <a:schemeClr val="tx1"/>
                </a:solidFill>
              </a:rPr>
              <a:t>A web application can request only the content that needs to be updated.</a:t>
            </a:r>
          </a:p>
          <a:p>
            <a:pPr>
              <a:buClr>
                <a:schemeClr val="accent1"/>
              </a:buClr>
              <a:buFont typeface="Wingdings" pitchFamily="2" charset="2"/>
              <a:buChar char="v"/>
              <a:defRPr/>
            </a:pPr>
            <a:endParaRPr lang="en-US" dirty="0">
              <a:solidFill>
                <a:schemeClr val="tx1"/>
              </a:solidFill>
            </a:endParaRPr>
          </a:p>
          <a:p>
            <a:pPr>
              <a:buClr>
                <a:schemeClr val="accent1"/>
              </a:buClr>
              <a:buFont typeface="Wingdings" pitchFamily="2" charset="2"/>
              <a:buChar char="v"/>
              <a:defRPr/>
            </a:pPr>
            <a:endParaRPr lang="en-US" dirty="0">
              <a:solidFill>
                <a:schemeClr val="tx1"/>
              </a:solidFill>
            </a:endParaRPr>
          </a:p>
          <a:p>
            <a:pPr>
              <a:buClr>
                <a:schemeClr val="accent1"/>
              </a:buClr>
              <a:buFont typeface="Wingdings" pitchFamily="2" charset="2"/>
              <a:buChar char="v"/>
              <a:defRPr/>
            </a:pPr>
            <a:r>
              <a:rPr lang="en-US" dirty="0">
                <a:solidFill>
                  <a:schemeClr val="tx1"/>
                </a:solidFill>
              </a:rPr>
              <a:t> This greatly reduces networking bandwidth usage and page load times.</a:t>
            </a:r>
          </a:p>
          <a:p>
            <a:pPr>
              <a:buClr>
                <a:schemeClr val="accent1"/>
              </a:buClr>
              <a:buFont typeface="Wingdings" pitchFamily="2" charset="2"/>
              <a:buChar char="v"/>
              <a:defRPr/>
            </a:pPr>
            <a:endParaRPr lang="en-US" dirty="0">
              <a:solidFill>
                <a:schemeClr val="tx1"/>
              </a:solidFill>
            </a:endParaRPr>
          </a:p>
          <a:p>
            <a:pPr>
              <a:buClr>
                <a:schemeClr val="accent1"/>
              </a:buClr>
              <a:buFont typeface="Wingdings" pitchFamily="2" charset="2"/>
              <a:buChar char="v"/>
              <a:defRPr/>
            </a:pPr>
            <a:r>
              <a:rPr lang="en-US" dirty="0">
                <a:solidFill>
                  <a:schemeClr val="tx1"/>
                </a:solidFill>
              </a:rPr>
              <a:t>Use in interactive animation on web pages</a:t>
            </a:r>
            <a:r>
              <a:rPr lang="en-US" sz="2000" dirty="0">
                <a:solidFill>
                  <a:schemeClr val="tx1"/>
                </a:solidFill>
              </a:rPr>
              <a:t>.</a:t>
            </a:r>
          </a:p>
          <a:p>
            <a:pPr>
              <a:buClr>
                <a:srgbClr val="F07F09"/>
              </a:buClr>
              <a:buFont typeface="Wingdings" pitchFamily="2" charset="2"/>
              <a:buChar char="v"/>
              <a:defRPr/>
            </a:pPr>
            <a:endParaRPr lang="en-US" sz="2000" dirty="0">
              <a:solidFill>
                <a:schemeClr val="tx1"/>
              </a:solidFill>
            </a:endParaRPr>
          </a:p>
          <a:p>
            <a:pPr>
              <a:buClr>
                <a:srgbClr val="F07F09"/>
              </a:buClr>
              <a:buFont typeface="Wingdings" pitchFamily="2" charset="2"/>
              <a:buChar char="v"/>
              <a:defRPr/>
            </a:pPr>
            <a:endParaRPr lang="en-US" sz="2000" dirty="0">
              <a:solidFill>
                <a:schemeClr val="tx1"/>
              </a:solidFill>
            </a:endParaRPr>
          </a:p>
        </p:txBody>
      </p:sp>
      <p:pic>
        <p:nvPicPr>
          <p:cNvPr id="6" name="Picture 5" descr="CloudComputing_2.jpg"/>
          <p:cNvPicPr>
            <a:picLocks noChangeAspect="1"/>
          </p:cNvPicPr>
          <p:nvPr/>
        </p:nvPicPr>
        <p:blipFill>
          <a:blip r:embed="rId2"/>
          <a:stretch>
            <a:fillRect/>
          </a:stretch>
        </p:blipFill>
        <p:spPr>
          <a:xfrm>
            <a:off x="5396952" y="1752600"/>
            <a:ext cx="2957648" cy="36576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tint val="88000"/>
                    <a:satMod val="150000"/>
                  </a:schemeClr>
                </a:solidFill>
              </a:rPr>
              <a:t/>
            </a:r>
            <a:br>
              <a:rPr lang="en-US" dirty="0" smtClean="0">
                <a:solidFill>
                  <a:schemeClr val="accent1">
                    <a:tint val="88000"/>
                    <a:satMod val="150000"/>
                  </a:schemeClr>
                </a:solidFill>
              </a:rPr>
            </a:br>
            <a:r>
              <a:rPr lang="en-US" dirty="0" smtClean="0">
                <a:solidFill>
                  <a:schemeClr val="accent1">
                    <a:tint val="88000"/>
                    <a:satMod val="150000"/>
                  </a:schemeClr>
                </a:solidFill>
              </a:rPr>
              <a:t>Standards for Application Developers</a:t>
            </a:r>
            <a:r>
              <a:rPr lang="en-AU" dirty="0" smtClean="0">
                <a:solidFill>
                  <a:schemeClr val="accent1">
                    <a:tint val="88000"/>
                    <a:satMod val="150000"/>
                  </a:schemeClr>
                </a:solidFill>
              </a:rPr>
              <a:t>(Cont’d)</a:t>
            </a:r>
            <a:br>
              <a:rPr lang="en-AU" dirty="0" smtClean="0">
                <a:solidFill>
                  <a:schemeClr val="accent1">
                    <a:tint val="88000"/>
                    <a:satMod val="150000"/>
                  </a:schemeClr>
                </a:solidFill>
              </a:rPr>
            </a:br>
            <a:endParaRPr lang="en-US" dirty="0"/>
          </a:p>
        </p:txBody>
      </p:sp>
      <p:sp>
        <p:nvSpPr>
          <p:cNvPr id="3" name="Content Placeholder 2"/>
          <p:cNvSpPr>
            <a:spLocks noGrp="1"/>
          </p:cNvSpPr>
          <p:nvPr>
            <p:ph idx="1"/>
          </p:nvPr>
        </p:nvSpPr>
        <p:spPr/>
        <p:txBody>
          <a:bodyPr>
            <a:normAutofit fontScale="55000" lnSpcReduction="20000"/>
          </a:bodyPr>
          <a:lstStyle/>
          <a:p>
            <a:pPr marL="342900" lvl="1" indent="-342900">
              <a:buNone/>
            </a:pPr>
            <a:r>
              <a:rPr lang="en-US" u="sng" dirty="0" smtClean="0"/>
              <a:t>Data (XML, JSON)</a:t>
            </a:r>
          </a:p>
          <a:p>
            <a:r>
              <a:rPr lang="en-US" dirty="0" smtClean="0"/>
              <a:t>XML Separates Data from HTML.</a:t>
            </a:r>
          </a:p>
          <a:p>
            <a:r>
              <a:rPr lang="en-US" dirty="0" smtClean="0"/>
              <a:t>XML data can be stored in separate XML files</a:t>
            </a:r>
          </a:p>
          <a:p>
            <a:r>
              <a:rPr lang="en-US" dirty="0" smtClean="0"/>
              <a:t>XML stands for </a:t>
            </a:r>
            <a:r>
              <a:rPr lang="en-US" dirty="0" err="1" smtClean="0"/>
              <a:t>eXtensible</a:t>
            </a:r>
            <a:r>
              <a:rPr lang="en-US" dirty="0" smtClean="0"/>
              <a:t> Markup Language</a:t>
            </a:r>
          </a:p>
          <a:p>
            <a:r>
              <a:rPr lang="en-US" dirty="0" smtClean="0"/>
              <a:t>XML is designed to transport and store data</a:t>
            </a:r>
          </a:p>
          <a:p>
            <a:r>
              <a:rPr lang="en-US" dirty="0" smtClean="0"/>
              <a:t>XML was designed to carry data, not to display them</a:t>
            </a:r>
          </a:p>
          <a:p>
            <a:r>
              <a:rPr lang="en-US" dirty="0" smtClean="0"/>
              <a:t>XML tags are not predefined. You must defined your own tags</a:t>
            </a:r>
          </a:p>
          <a:p>
            <a:r>
              <a:rPr lang="en-US" dirty="0" smtClean="0"/>
              <a:t>XML is designed to be self-descriptive</a:t>
            </a:r>
          </a:p>
          <a:p>
            <a:r>
              <a:rPr lang="en-US" dirty="0" smtClean="0"/>
              <a:t>XML is used to describe structured data and to serialize objects.</a:t>
            </a:r>
          </a:p>
          <a:p>
            <a:r>
              <a:rPr lang="en-US" dirty="0" smtClean="0"/>
              <a:t>you can concentrate on using HTML/CSS for display and layout, and be sure that changes in the underlying data will not require any changes to the HTML</a:t>
            </a:r>
          </a:p>
          <a:p>
            <a:r>
              <a:rPr lang="en-US" dirty="0" smtClean="0"/>
              <a:t>In the real world, computer systems and databases contain data in incompatible</a:t>
            </a:r>
          </a:p>
          <a:p>
            <a:r>
              <a:rPr lang="en-US" dirty="0" smtClean="0"/>
              <a:t>formats.</a:t>
            </a:r>
          </a:p>
          <a:p>
            <a:r>
              <a:rPr lang="en-US" dirty="0" smtClean="0"/>
              <a:t>XML data is stored in plain text format provides a software- and hardware-independent way of storing data</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tint val="88000"/>
                    <a:satMod val="150000"/>
                  </a:schemeClr>
                </a:solidFill>
              </a:rPr>
              <a:t>Standards for Application Developers</a:t>
            </a:r>
            <a:r>
              <a:rPr lang="en-AU" dirty="0" smtClean="0">
                <a:solidFill>
                  <a:schemeClr val="accent1">
                    <a:tint val="88000"/>
                    <a:satMod val="150000"/>
                  </a:schemeClr>
                </a:solidFill>
              </a:rPr>
              <a:t>(Cont’d)</a:t>
            </a:r>
            <a:endParaRPr lang="en-US" dirty="0"/>
          </a:p>
        </p:txBody>
      </p:sp>
      <p:sp>
        <p:nvSpPr>
          <p:cNvPr id="3" name="Content Placeholder 2"/>
          <p:cNvSpPr>
            <a:spLocks noGrp="1"/>
          </p:cNvSpPr>
          <p:nvPr>
            <p:ph idx="1"/>
          </p:nvPr>
        </p:nvSpPr>
        <p:spPr/>
        <p:txBody>
          <a:bodyPr>
            <a:noAutofit/>
          </a:bodyPr>
          <a:lstStyle/>
          <a:p>
            <a:r>
              <a:rPr lang="en-US" sz="1800" dirty="0" smtClean="0"/>
              <a:t>JSON is syntax for storing and exchanging text information.</a:t>
            </a:r>
          </a:p>
          <a:p>
            <a:r>
              <a:rPr lang="en-US" sz="1800" dirty="0" smtClean="0"/>
              <a:t>The JSON format is often used for transmitting structured data over a network connection in a process called </a:t>
            </a:r>
            <a:r>
              <a:rPr lang="en-US" sz="1800" dirty="0" smtClean="0">
                <a:solidFill>
                  <a:srgbClr val="FF0000"/>
                </a:solidFill>
              </a:rPr>
              <a:t>serialization(</a:t>
            </a:r>
            <a:r>
              <a:rPr lang="en-US" sz="1800" dirty="0" smtClean="0"/>
              <a:t>In computer science, in the context of </a:t>
            </a:r>
            <a:r>
              <a:rPr lang="en-US" sz="1800" i="1" dirty="0" smtClean="0"/>
              <a:t>data</a:t>
            </a:r>
            <a:r>
              <a:rPr lang="en-US" sz="1800" dirty="0" smtClean="0"/>
              <a:t> storage, </a:t>
            </a:r>
            <a:r>
              <a:rPr lang="en-US" sz="1800" i="1" dirty="0" smtClean="0"/>
              <a:t>serialization</a:t>
            </a:r>
            <a:r>
              <a:rPr lang="en-US" sz="1800" dirty="0" smtClean="0"/>
              <a:t> (or </a:t>
            </a:r>
            <a:r>
              <a:rPr lang="en-US" sz="1800" i="1" dirty="0" err="1" smtClean="0"/>
              <a:t>serialisation</a:t>
            </a:r>
            <a:r>
              <a:rPr lang="en-US" sz="1800" dirty="0" smtClean="0"/>
              <a:t>) is the process of translating </a:t>
            </a:r>
            <a:r>
              <a:rPr lang="en-US" sz="1800" i="1" dirty="0" smtClean="0"/>
              <a:t>data</a:t>
            </a:r>
            <a:r>
              <a:rPr lang="en-US" sz="1800" dirty="0" smtClean="0"/>
              <a:t> structures or object state into a format that can be stored (for example, in a file or memory buffer) or transmitted (for example, across a network connection link) and reconstructed later ).</a:t>
            </a:r>
          </a:p>
          <a:p>
            <a:r>
              <a:rPr lang="en-US" sz="1800" dirty="0" smtClean="0"/>
              <a:t>Its main application is in Ajax web application programming, where it serves as an alternative to the XML format.</a:t>
            </a:r>
            <a:endParaRPr lang="en-US" sz="1800" dirty="0" smtClean="0">
              <a:solidFill>
                <a:srgbClr val="FF0000"/>
              </a:solidFill>
            </a:endParaRPr>
          </a:p>
          <a:p>
            <a:r>
              <a:rPr lang="en-US" sz="1800" dirty="0" smtClean="0"/>
              <a:t>Much Like XML</a:t>
            </a:r>
          </a:p>
          <a:p>
            <a:r>
              <a:rPr lang="en-US" sz="1800" dirty="0" smtClean="0"/>
              <a:t>    JSON is plain text</a:t>
            </a:r>
          </a:p>
          <a:p>
            <a:r>
              <a:rPr lang="en-US" sz="1800" dirty="0" smtClean="0"/>
              <a:t>    JSON is hierarchical (values within values) </a:t>
            </a:r>
          </a:p>
          <a:p>
            <a:r>
              <a:rPr lang="en-US" sz="1800" dirty="0" smtClean="0"/>
              <a:t>    JSON can be parsed by JavaScript</a:t>
            </a:r>
          </a:p>
          <a:p>
            <a:pPr>
              <a:buNone/>
            </a:pPr>
            <a:r>
              <a:rPr lang="en-US" sz="1800" dirty="0" smtClean="0"/>
              <a:t>            JSON data can be transported using AJAX</a:t>
            </a:r>
          </a:p>
          <a:p>
            <a:pPr>
              <a:buNone/>
            </a:pPr>
            <a:endParaRPr lang="en-US" sz="14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81000" y="914400"/>
            <a:ext cx="8534400" cy="715963"/>
          </a:xfrm>
        </p:spPr>
        <p:txBody>
          <a:bodyPr rtlCol="0">
            <a:noAutofit/>
          </a:bodyPr>
          <a:lstStyle/>
          <a:p>
            <a:pPr eaLnBrk="1" fontAlgn="auto" hangingPunct="1">
              <a:spcAft>
                <a:spcPts val="0"/>
              </a:spcAft>
              <a:defRPr/>
            </a:pPr>
            <a:r>
              <a:rPr lang="en-US" sz="2400" dirty="0" smtClean="0">
                <a:solidFill>
                  <a:schemeClr val="accent1">
                    <a:tint val="88000"/>
                    <a:satMod val="150000"/>
                  </a:schemeClr>
                </a:solidFill>
              </a:rPr>
              <a:t>Standards for Application Developers</a:t>
            </a:r>
            <a:r>
              <a:rPr lang="en-AU" sz="2400" dirty="0" smtClean="0">
                <a:solidFill>
                  <a:schemeClr val="accent1">
                    <a:tint val="88000"/>
                    <a:satMod val="150000"/>
                  </a:schemeClr>
                </a:solidFill>
              </a:rPr>
              <a:t>(Cont’d)</a:t>
            </a:r>
            <a:br>
              <a:rPr lang="en-AU" sz="2400" dirty="0" smtClean="0">
                <a:solidFill>
                  <a:schemeClr val="accent1">
                    <a:tint val="88000"/>
                    <a:satMod val="150000"/>
                  </a:schemeClr>
                </a:solidFill>
              </a:rPr>
            </a:br>
            <a:r>
              <a:rPr lang="en-US" sz="2400" dirty="0" smtClean="0">
                <a:solidFill>
                  <a:schemeClr val="accent1">
                    <a:tint val="88000"/>
                    <a:satMod val="150000"/>
                  </a:schemeClr>
                </a:solidFill>
              </a:rPr>
              <a:t/>
            </a:r>
            <a:br>
              <a:rPr lang="en-US" sz="2400" dirty="0" smtClean="0">
                <a:solidFill>
                  <a:schemeClr val="accent1">
                    <a:tint val="88000"/>
                    <a:satMod val="150000"/>
                  </a:schemeClr>
                </a:solidFill>
              </a:rPr>
            </a:br>
            <a:endParaRPr lang="en-US" sz="2400"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a:t>Common Standards In Cloud Computing</a:t>
            </a:r>
            <a:endParaRPr lang="en-US" dirty="0"/>
          </a:p>
        </p:txBody>
      </p:sp>
      <p:sp>
        <p:nvSpPr>
          <p:cNvPr id="4" name="Slide Number Placeholder 3"/>
          <p:cNvSpPr>
            <a:spLocks noGrp="1"/>
          </p:cNvSpPr>
          <p:nvPr>
            <p:ph type="sldNum" sz="quarter" idx="12"/>
          </p:nvPr>
        </p:nvSpPr>
        <p:spPr/>
        <p:txBody>
          <a:bodyPr/>
          <a:lstStyle/>
          <a:p>
            <a:pPr>
              <a:defRPr/>
            </a:pPr>
            <a:fld id="{557A0BEE-74EF-488C-B8CE-D58829A1774E}" type="slidenum">
              <a:rPr lang="en-US"/>
              <a:pPr>
                <a:defRPr/>
              </a:pPr>
              <a:t>21</a:t>
            </a:fld>
            <a:endParaRPr lang="en-US"/>
          </a:p>
        </p:txBody>
      </p:sp>
      <p:sp>
        <p:nvSpPr>
          <p:cNvPr id="11" name="Rectangle 10"/>
          <p:cNvSpPr/>
          <p:nvPr/>
        </p:nvSpPr>
        <p:spPr>
          <a:xfrm>
            <a:off x="304800" y="2133600"/>
            <a:ext cx="8153400" cy="365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1">
              <a:buClr>
                <a:srgbClr val="F07F09"/>
              </a:buClr>
              <a:buFont typeface="Wingdings" pitchFamily="2" charset="2"/>
              <a:buChar char="v"/>
              <a:defRPr/>
            </a:pPr>
            <a:r>
              <a:rPr lang="en-US" sz="2000" b="1" dirty="0">
                <a:solidFill>
                  <a:schemeClr val="accent1"/>
                </a:solidFill>
              </a:rPr>
              <a:t>Data (XML, JSON)</a:t>
            </a:r>
          </a:p>
          <a:p>
            <a:pPr>
              <a:buClr>
                <a:srgbClr val="F07F09"/>
              </a:buClr>
              <a:buFont typeface="Wingdings" pitchFamily="2" charset="2"/>
              <a:buChar char="v"/>
              <a:defRPr/>
            </a:pPr>
            <a:endParaRPr lang="en-US" sz="2000" b="1" dirty="0">
              <a:solidFill>
                <a:schemeClr val="accent1"/>
              </a:solidFill>
            </a:endParaRPr>
          </a:p>
          <a:p>
            <a:pPr>
              <a:buClr>
                <a:srgbClr val="F07F09"/>
              </a:buClr>
              <a:buFont typeface="Wingdings" pitchFamily="2" charset="2"/>
              <a:buChar char="v"/>
              <a:defRPr/>
            </a:pPr>
            <a:r>
              <a:rPr lang="en-US" sz="2000" b="1" dirty="0">
                <a:solidFill>
                  <a:schemeClr val="accent1"/>
                </a:solidFill>
              </a:rPr>
              <a:t>XML(Extensible Markup Language)</a:t>
            </a:r>
          </a:p>
          <a:p>
            <a:r>
              <a:rPr lang="en-US" dirty="0" smtClean="0"/>
              <a:t>XML </a:t>
            </a:r>
            <a:r>
              <a:rPr lang="en-US" sz="2000" dirty="0" smtClean="0">
                <a:solidFill>
                  <a:schemeClr val="tx1"/>
                </a:solidFill>
              </a:rPr>
              <a:t>Usually </a:t>
            </a:r>
            <a:r>
              <a:rPr lang="en-US" sz="2000" dirty="0">
                <a:solidFill>
                  <a:schemeClr val="tx1"/>
                </a:solidFill>
              </a:rPr>
              <a:t>combination with other standards.</a:t>
            </a:r>
          </a:p>
          <a:p>
            <a:pPr lvl="1">
              <a:buFont typeface="Arial" pitchFamily="34" charset="0"/>
              <a:buChar char="•"/>
              <a:defRPr/>
            </a:pPr>
            <a:r>
              <a:rPr lang="en-US" sz="2000" dirty="0">
                <a:solidFill>
                  <a:schemeClr val="tx1"/>
                </a:solidFill>
              </a:rPr>
              <a:t>Define the content of a document separately</a:t>
            </a:r>
            <a:r>
              <a:rPr lang="en-US" sz="2000" dirty="0" smtClean="0">
                <a:solidFill>
                  <a:schemeClr val="tx1"/>
                </a:solidFill>
              </a:rPr>
              <a:t>.</a:t>
            </a:r>
          </a:p>
          <a:p>
            <a:r>
              <a:rPr lang="en-US" dirty="0" smtClean="0"/>
              <a:t>The</a:t>
            </a:r>
            <a:endParaRPr lang="en-US" sz="3600" dirty="0">
              <a:solidFill>
                <a:schemeClr val="tx1"/>
              </a:solidFill>
            </a:endParaRPr>
          </a:p>
          <a:p>
            <a:pPr lvl="1">
              <a:buFont typeface="Arial" pitchFamily="34" charset="0"/>
              <a:buChar char="•"/>
              <a:defRPr/>
            </a:pPr>
            <a:endParaRPr lang="en-US" sz="2000" b="1" dirty="0">
              <a:solidFill>
                <a:schemeClr val="tx1"/>
              </a:solidFill>
            </a:endParaRPr>
          </a:p>
          <a:p>
            <a:pPr lvl="1">
              <a:buFont typeface="Arial" pitchFamily="34" charset="0"/>
              <a:buChar char="•"/>
              <a:defRPr/>
            </a:pPr>
            <a:endParaRPr lang="en-US" sz="2000" b="1" dirty="0">
              <a:solidFill>
                <a:schemeClr val="tx1"/>
              </a:solidFill>
            </a:endParaRPr>
          </a:p>
          <a:p>
            <a:pPr>
              <a:buFont typeface="Wingdings" pitchFamily="2" charset="2"/>
              <a:buChar char="v"/>
              <a:defRPr/>
            </a:pPr>
            <a:r>
              <a:rPr lang="en-US" sz="2000" b="1" dirty="0">
                <a:solidFill>
                  <a:schemeClr val="accent1"/>
                </a:solidFill>
              </a:rPr>
              <a:t>JSON(JavaScript Object Notation)</a:t>
            </a:r>
          </a:p>
          <a:p>
            <a:pPr lvl="1">
              <a:buFont typeface="Arial" pitchFamily="34" charset="0"/>
              <a:buChar char="•"/>
              <a:defRPr/>
            </a:pPr>
            <a:r>
              <a:rPr lang="en-US" sz="2000" dirty="0">
                <a:solidFill>
                  <a:schemeClr val="tx1"/>
                </a:solidFill>
              </a:rPr>
              <a:t>A lightweight computer data interchange format</a:t>
            </a:r>
          </a:p>
          <a:p>
            <a:pPr lvl="1">
              <a:buFont typeface="Arial" pitchFamily="34" charset="0"/>
              <a:buChar char="•"/>
              <a:defRPr/>
            </a:pPr>
            <a:r>
              <a:rPr lang="en-US" sz="2000" dirty="0">
                <a:solidFill>
                  <a:schemeClr val="tx1"/>
                </a:solidFill>
              </a:rPr>
              <a:t>Is specified in Internet Engineering </a:t>
            </a:r>
          </a:p>
          <a:p>
            <a:pPr lvl="1">
              <a:buFont typeface="Arial" pitchFamily="34" charset="0"/>
              <a:buChar char="•"/>
              <a:defRPr/>
            </a:pPr>
            <a:r>
              <a:rPr lang="en-US" sz="2000" dirty="0">
                <a:solidFill>
                  <a:schemeClr val="tx1"/>
                </a:solidFill>
              </a:rPr>
              <a:t>Request for Comment (RFC)</a:t>
            </a:r>
          </a:p>
          <a:p>
            <a:pPr lvl="1">
              <a:buFont typeface="Arial" pitchFamily="34" charset="0"/>
              <a:buChar char="•"/>
              <a:defRPr/>
            </a:pPr>
            <a:r>
              <a:rPr lang="en-US" sz="2000" dirty="0">
                <a:solidFill>
                  <a:schemeClr val="tx1"/>
                </a:solidFill>
              </a:rPr>
              <a:t>Independent data format</a:t>
            </a:r>
            <a:endParaRPr lang="en-US" sz="2000" b="1" dirty="0">
              <a:solidFill>
                <a:schemeClr val="tx1"/>
              </a:solidFill>
            </a:endParaRPr>
          </a:p>
          <a:p>
            <a:pPr>
              <a:buClr>
                <a:srgbClr val="F07F09"/>
              </a:buClr>
              <a:buFont typeface="Wingdings" pitchFamily="2" charset="2"/>
              <a:buChar char="v"/>
              <a:defRPr/>
            </a:pPr>
            <a:endParaRPr lang="en-US" sz="2000" dirty="0">
              <a:solidFill>
                <a:schemeClr val="tx1"/>
              </a:solidFill>
            </a:endParaRPr>
          </a:p>
          <a:p>
            <a:pPr>
              <a:buClr>
                <a:srgbClr val="F07F09"/>
              </a:buClr>
              <a:buFont typeface="Wingdings" pitchFamily="2" charset="2"/>
              <a:buChar char="v"/>
              <a:defRPr/>
            </a:pPr>
            <a:endParaRPr lang="en-US" sz="2000" dirty="0">
              <a:solidFill>
                <a:schemeClr val="tx1"/>
              </a:solidFill>
            </a:endParaRPr>
          </a:p>
        </p:txBody>
      </p:sp>
      <p:pic>
        <p:nvPicPr>
          <p:cNvPr id="6" name="Picture 5" descr="CloudComputing_2.jpg"/>
          <p:cNvPicPr>
            <a:picLocks noChangeAspect="1"/>
          </p:cNvPicPr>
          <p:nvPr/>
        </p:nvPicPr>
        <p:blipFill>
          <a:blip r:embed="rId2"/>
          <a:stretch>
            <a:fillRect/>
          </a:stretch>
        </p:blipFill>
        <p:spPr>
          <a:xfrm>
            <a:off x="4572000" y="990600"/>
            <a:ext cx="3692525" cy="12922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2000"/>
                                        <p:tgtEl>
                                          <p:spTgt spid="1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animEffect transition="in" filter="fade">
                                      <p:cBhvr>
                                        <p:cTn id="15" dur="2000"/>
                                        <p:tgtEl>
                                          <p:spTgt spid="11">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4" end="4"/>
                                            </p:txEl>
                                          </p:spTgt>
                                        </p:tgtEl>
                                        <p:attrNameLst>
                                          <p:attrName>style.visibility</p:attrName>
                                        </p:attrNameLst>
                                      </p:cBhvr>
                                      <p:to>
                                        <p:strVal val="visible"/>
                                      </p:to>
                                    </p:set>
                                    <p:animEffect transition="in" filter="fade">
                                      <p:cBhvr>
                                        <p:cTn id="18" dur="2000"/>
                                        <p:tgtEl>
                                          <p:spTgt spid="1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animEffect transition="in" filter="fade">
                                      <p:cBhvr>
                                        <p:cTn id="23" dur="2000"/>
                                        <p:tgtEl>
                                          <p:spTgt spid="11">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8" end="8"/>
                                            </p:txEl>
                                          </p:spTgt>
                                        </p:tgtEl>
                                        <p:attrNameLst>
                                          <p:attrName>style.visibility</p:attrName>
                                        </p:attrNameLst>
                                      </p:cBhvr>
                                      <p:to>
                                        <p:strVal val="visible"/>
                                      </p:to>
                                    </p:set>
                                    <p:animEffect transition="in" filter="fade">
                                      <p:cBhvr>
                                        <p:cTn id="28" dur="2000"/>
                                        <p:tgtEl>
                                          <p:spTgt spid="11">
                                            <p:txEl>
                                              <p:pRg st="8" end="8"/>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xEl>
                                              <p:pRg st="9" end="9"/>
                                            </p:txEl>
                                          </p:spTgt>
                                        </p:tgtEl>
                                        <p:attrNameLst>
                                          <p:attrName>style.visibility</p:attrName>
                                        </p:attrNameLst>
                                      </p:cBhvr>
                                      <p:to>
                                        <p:strVal val="visible"/>
                                      </p:to>
                                    </p:set>
                                    <p:animEffect transition="in" filter="fade">
                                      <p:cBhvr>
                                        <p:cTn id="31" dur="2000"/>
                                        <p:tgtEl>
                                          <p:spTgt spid="11">
                                            <p:txEl>
                                              <p:pRg st="9" end="9"/>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xEl>
                                              <p:pRg st="10" end="10"/>
                                            </p:txEl>
                                          </p:spTgt>
                                        </p:tgtEl>
                                        <p:attrNameLst>
                                          <p:attrName>style.visibility</p:attrName>
                                        </p:attrNameLst>
                                      </p:cBhvr>
                                      <p:to>
                                        <p:strVal val="visible"/>
                                      </p:to>
                                    </p:set>
                                    <p:animEffect transition="in" filter="fade">
                                      <p:cBhvr>
                                        <p:cTn id="34" dur="2000"/>
                                        <p:tgtEl>
                                          <p:spTgt spid="11">
                                            <p:txEl>
                                              <p:pRg st="10" end="1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xEl>
                                              <p:pRg st="11" end="11"/>
                                            </p:txEl>
                                          </p:spTgt>
                                        </p:tgtEl>
                                        <p:attrNameLst>
                                          <p:attrName>style.visibility</p:attrName>
                                        </p:attrNameLst>
                                      </p:cBhvr>
                                      <p:to>
                                        <p:strVal val="visible"/>
                                      </p:to>
                                    </p:set>
                                    <p:animEffect transition="in" filter="fade">
                                      <p:cBhvr>
                                        <p:cTn id="37" dur="2000"/>
                                        <p:tgtEl>
                                          <p:spTgt spid="11">
                                            <p:txEl>
                                              <p:pRg st="11" end="1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xEl>
                                              <p:pRg st="12" end="12"/>
                                            </p:txEl>
                                          </p:spTgt>
                                        </p:tgtEl>
                                        <p:attrNameLst>
                                          <p:attrName>style.visibility</p:attrName>
                                        </p:attrNameLst>
                                      </p:cBhvr>
                                      <p:to>
                                        <p:strVal val="visible"/>
                                      </p:to>
                                    </p:set>
                                    <p:animEffect transition="in" filter="fade">
                                      <p:cBhvr>
                                        <p:cTn id="40" dur="2000"/>
                                        <p:tgtEl>
                                          <p:spTgt spid="1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tint val="88000"/>
                    <a:satMod val="150000"/>
                  </a:schemeClr>
                </a:solidFill>
              </a:rPr>
              <a:t>Standards for Application Developers</a:t>
            </a:r>
            <a:r>
              <a:rPr lang="en-AU" dirty="0" smtClean="0">
                <a:solidFill>
                  <a:schemeClr val="accent1">
                    <a:tint val="88000"/>
                    <a:satMod val="150000"/>
                  </a:schemeClr>
                </a:solidFill>
              </a:rPr>
              <a:t>(Cont’d)</a:t>
            </a:r>
            <a:endParaRPr lang="en-US" dirty="0"/>
          </a:p>
        </p:txBody>
      </p:sp>
      <p:sp>
        <p:nvSpPr>
          <p:cNvPr id="3" name="Content Placeholder 2"/>
          <p:cNvSpPr>
            <a:spLocks noGrp="1"/>
          </p:cNvSpPr>
          <p:nvPr>
            <p:ph idx="1"/>
          </p:nvPr>
        </p:nvSpPr>
        <p:spPr/>
        <p:txBody>
          <a:bodyPr>
            <a:normAutofit fontScale="55000" lnSpcReduction="20000"/>
          </a:bodyPr>
          <a:lstStyle/>
          <a:p>
            <a:endParaRPr lang="en-US" dirty="0" smtClean="0"/>
          </a:p>
          <a:p>
            <a:r>
              <a:rPr lang="en-US" dirty="0" smtClean="0"/>
              <a:t>In computing, a </a:t>
            </a:r>
            <a:r>
              <a:rPr lang="en-US" b="1" dirty="0" smtClean="0"/>
              <a:t>solution stack</a:t>
            </a:r>
            <a:r>
              <a:rPr lang="en-US" dirty="0" smtClean="0"/>
              <a:t> or software </a:t>
            </a:r>
            <a:r>
              <a:rPr lang="en-US" b="1" dirty="0" smtClean="0"/>
              <a:t>stack</a:t>
            </a:r>
            <a:r>
              <a:rPr lang="en-US" dirty="0" smtClean="0"/>
              <a:t> is a set of software subsystems or components needed to create a complete platform such that no additional software is needed to support applications. Applications are said to "run on" or "run on top of" the resulting platform.</a:t>
            </a:r>
          </a:p>
          <a:p>
            <a:r>
              <a:rPr lang="en-US" b="1" dirty="0" smtClean="0">
                <a:solidFill>
                  <a:schemeClr val="accent1"/>
                </a:solidFill>
              </a:rPr>
              <a:t>Solution Stacks (LAMP and LAPP)</a:t>
            </a:r>
          </a:p>
          <a:p>
            <a:pPr>
              <a:buNone/>
            </a:pPr>
            <a:endParaRPr lang="en-US" dirty="0" smtClean="0"/>
          </a:p>
          <a:p>
            <a:pPr>
              <a:buNone/>
            </a:pPr>
            <a:r>
              <a:rPr lang="en-US" dirty="0" smtClean="0"/>
              <a:t>LAMP: Short for </a:t>
            </a:r>
            <a:r>
              <a:rPr lang="en-US" b="1" i="1" dirty="0" smtClean="0"/>
              <a:t>L</a:t>
            </a:r>
            <a:r>
              <a:rPr lang="en-US" i="1" dirty="0" smtClean="0"/>
              <a:t>inux, </a:t>
            </a:r>
            <a:r>
              <a:rPr lang="en-US" b="1" i="1" dirty="0" smtClean="0"/>
              <a:t>A</a:t>
            </a:r>
            <a:r>
              <a:rPr lang="en-US" i="1" dirty="0" smtClean="0"/>
              <a:t>pache, </a:t>
            </a:r>
            <a:r>
              <a:rPr lang="en-US" b="1" i="1" dirty="0" err="1" smtClean="0"/>
              <a:t>M</a:t>
            </a:r>
            <a:r>
              <a:rPr lang="en-US" i="1" dirty="0" err="1" smtClean="0"/>
              <a:t>ySQL</a:t>
            </a:r>
            <a:r>
              <a:rPr lang="en-US" i="1" dirty="0" smtClean="0"/>
              <a:t> and </a:t>
            </a:r>
            <a:r>
              <a:rPr lang="en-US" b="1" i="1" dirty="0" smtClean="0"/>
              <a:t>P</a:t>
            </a:r>
            <a:r>
              <a:rPr lang="en-US" i="1" dirty="0" smtClean="0"/>
              <a:t>HP</a:t>
            </a:r>
            <a:r>
              <a:rPr lang="en-US" dirty="0" smtClean="0"/>
              <a:t>, an open-source Web development platform, also called a Web stack, that uses </a:t>
            </a:r>
            <a:r>
              <a:rPr lang="en-US" dirty="0" smtClean="0">
                <a:hlinkClick r:id="rId2"/>
              </a:rPr>
              <a:t>Linux</a:t>
            </a:r>
            <a:r>
              <a:rPr lang="en-US" dirty="0" smtClean="0"/>
              <a:t> as the </a:t>
            </a:r>
            <a:r>
              <a:rPr lang="en-US" dirty="0" smtClean="0">
                <a:hlinkClick r:id="rId3"/>
              </a:rPr>
              <a:t>operating system</a:t>
            </a:r>
            <a:r>
              <a:rPr lang="en-US" dirty="0" smtClean="0"/>
              <a:t>, </a:t>
            </a:r>
            <a:r>
              <a:rPr lang="en-US" dirty="0" smtClean="0">
                <a:hlinkClick r:id="rId4"/>
              </a:rPr>
              <a:t>Apache</a:t>
            </a:r>
            <a:r>
              <a:rPr lang="en-US" dirty="0" smtClean="0"/>
              <a:t> as the Web server, </a:t>
            </a:r>
            <a:r>
              <a:rPr lang="en-US" dirty="0" err="1" smtClean="0">
                <a:hlinkClick r:id="rId5"/>
              </a:rPr>
              <a:t>MySQL</a:t>
            </a:r>
            <a:r>
              <a:rPr lang="en-US" dirty="0" smtClean="0"/>
              <a:t> as the </a:t>
            </a:r>
            <a:r>
              <a:rPr lang="en-US" dirty="0" smtClean="0">
                <a:hlinkClick r:id="rId6"/>
              </a:rPr>
              <a:t>RDBMS</a:t>
            </a:r>
            <a:r>
              <a:rPr lang="en-US" dirty="0" smtClean="0"/>
              <a:t> and </a:t>
            </a:r>
            <a:r>
              <a:rPr lang="en-US" dirty="0" smtClean="0">
                <a:hlinkClick r:id="rId7"/>
              </a:rPr>
              <a:t>PHP</a:t>
            </a:r>
            <a:r>
              <a:rPr lang="en-US" dirty="0" smtClean="0"/>
              <a:t> as the </a:t>
            </a:r>
            <a:r>
              <a:rPr lang="en-US" dirty="0" smtClean="0">
                <a:hlinkClick r:id="rId8"/>
              </a:rPr>
              <a:t>object-oriented</a:t>
            </a:r>
            <a:r>
              <a:rPr lang="en-US" dirty="0" smtClean="0"/>
              <a:t> scripting language. </a:t>
            </a:r>
            <a:r>
              <a:rPr lang="en-US" dirty="0" smtClean="0">
                <a:hlinkClick r:id="rId9"/>
              </a:rPr>
              <a:t>Perl</a:t>
            </a:r>
            <a:r>
              <a:rPr lang="en-US" dirty="0" smtClean="0"/>
              <a:t> or </a:t>
            </a:r>
            <a:r>
              <a:rPr lang="en-US" dirty="0" smtClean="0">
                <a:hlinkClick r:id="rId10"/>
              </a:rPr>
              <a:t>Python</a:t>
            </a:r>
            <a:r>
              <a:rPr lang="en-US" dirty="0" smtClean="0"/>
              <a:t> is often substituted for PHP. </a:t>
            </a:r>
            <a:br>
              <a:rPr lang="en-US" dirty="0" smtClean="0"/>
            </a:br>
            <a:endParaRPr lang="en-US" dirty="0" smtClean="0"/>
          </a:p>
          <a:p>
            <a:pPr>
              <a:buNone/>
            </a:pPr>
            <a:r>
              <a:rPr lang="en-US" dirty="0" err="1" smtClean="0"/>
              <a:t>LAPP:Short</a:t>
            </a:r>
            <a:r>
              <a:rPr lang="en-US" dirty="0" smtClean="0"/>
              <a:t> for </a:t>
            </a:r>
            <a:r>
              <a:rPr lang="en-US" b="1" i="1" dirty="0" smtClean="0"/>
              <a:t>L</a:t>
            </a:r>
            <a:r>
              <a:rPr lang="en-US" i="1" dirty="0" smtClean="0"/>
              <a:t>inux, </a:t>
            </a:r>
            <a:r>
              <a:rPr lang="en-US" b="1" i="1" dirty="0" smtClean="0"/>
              <a:t>A</a:t>
            </a:r>
            <a:r>
              <a:rPr lang="en-US" i="1" dirty="0" smtClean="0"/>
              <a:t>pache, </a:t>
            </a:r>
            <a:r>
              <a:rPr lang="en-US" b="1" i="1" dirty="0" err="1" smtClean="0"/>
              <a:t>P</a:t>
            </a:r>
            <a:r>
              <a:rPr lang="en-US" i="1" dirty="0" err="1" smtClean="0"/>
              <a:t>ostGreSQL</a:t>
            </a:r>
            <a:r>
              <a:rPr lang="en-US" i="1" dirty="0" smtClean="0"/>
              <a:t>, </a:t>
            </a:r>
            <a:r>
              <a:rPr lang="en-US" b="1" i="1" dirty="0" smtClean="0"/>
              <a:t>P</a:t>
            </a:r>
            <a:r>
              <a:rPr lang="en-US" i="1" dirty="0" smtClean="0"/>
              <a:t>erl</a:t>
            </a:r>
            <a:r>
              <a:rPr lang="en-US" dirty="0" smtClean="0"/>
              <a:t> ,  LAPP is an </a:t>
            </a:r>
            <a:r>
              <a:rPr lang="en-US" dirty="0" smtClean="0">
                <a:hlinkClick r:id="rId11"/>
              </a:rPr>
              <a:t>open source</a:t>
            </a:r>
            <a:r>
              <a:rPr lang="en-US" dirty="0" smtClean="0"/>
              <a:t> Web development </a:t>
            </a:r>
            <a:r>
              <a:rPr lang="en-US" dirty="0" smtClean="0">
                <a:hlinkClick r:id="rId12"/>
              </a:rPr>
              <a:t>platform</a:t>
            </a:r>
            <a:r>
              <a:rPr lang="en-US" dirty="0" smtClean="0"/>
              <a:t> that is a variation to the </a:t>
            </a:r>
            <a:r>
              <a:rPr lang="en-US" dirty="0" smtClean="0">
                <a:hlinkClick r:id="rId13"/>
              </a:rPr>
              <a:t>LAMP stack</a:t>
            </a:r>
            <a:r>
              <a:rPr lang="en-US" dirty="0" smtClean="0"/>
              <a:t>. LAPP uses </a:t>
            </a:r>
            <a:r>
              <a:rPr lang="en-US" dirty="0" smtClean="0">
                <a:hlinkClick r:id="rId2"/>
              </a:rPr>
              <a:t>Linux</a:t>
            </a:r>
            <a:r>
              <a:rPr lang="en-US" dirty="0" smtClean="0"/>
              <a:t> as the </a:t>
            </a:r>
            <a:r>
              <a:rPr lang="en-US" dirty="0" smtClean="0">
                <a:hlinkClick r:id="rId3"/>
              </a:rPr>
              <a:t>operating system</a:t>
            </a:r>
            <a:r>
              <a:rPr lang="en-US" dirty="0" smtClean="0"/>
              <a:t>, </a:t>
            </a:r>
            <a:r>
              <a:rPr lang="en-US" dirty="0" smtClean="0">
                <a:hlinkClick r:id="rId4"/>
              </a:rPr>
              <a:t>Apache</a:t>
            </a:r>
            <a:r>
              <a:rPr lang="en-US" dirty="0" smtClean="0"/>
              <a:t> as the </a:t>
            </a:r>
            <a:r>
              <a:rPr lang="en-US" dirty="0" smtClean="0">
                <a:hlinkClick r:id="rId14"/>
              </a:rPr>
              <a:t>Web server</a:t>
            </a:r>
            <a:r>
              <a:rPr lang="en-US" dirty="0" smtClean="0"/>
              <a:t>, </a:t>
            </a:r>
            <a:r>
              <a:rPr lang="en-US" dirty="0" err="1" smtClean="0">
                <a:hlinkClick r:id="rId15"/>
              </a:rPr>
              <a:t>PostGreSQL</a:t>
            </a:r>
            <a:r>
              <a:rPr lang="en-US" dirty="0" smtClean="0"/>
              <a:t> as the </a:t>
            </a:r>
            <a:r>
              <a:rPr lang="en-US" dirty="0" smtClean="0">
                <a:hlinkClick r:id="rId6"/>
              </a:rPr>
              <a:t>RDBMS</a:t>
            </a:r>
            <a:r>
              <a:rPr lang="en-US" dirty="0" smtClean="0"/>
              <a:t>, and </a:t>
            </a:r>
            <a:r>
              <a:rPr lang="en-US" dirty="0" smtClean="0">
                <a:hlinkClick r:id="rId7"/>
              </a:rPr>
              <a:t>PHP</a:t>
            </a:r>
            <a:r>
              <a:rPr lang="en-US" dirty="0" smtClean="0"/>
              <a:t> as the </a:t>
            </a:r>
            <a:r>
              <a:rPr lang="en-US" dirty="0" smtClean="0">
                <a:hlinkClick r:id="rId8"/>
              </a:rPr>
              <a:t>object-oriented scripting language</a:t>
            </a:r>
            <a:r>
              <a:rPr lang="en-US" dirty="0" smtClean="0"/>
              <a:t>.  </a:t>
            </a:r>
            <a:r>
              <a:rPr lang="en-US" dirty="0" smtClean="0">
                <a:hlinkClick r:id="rId9"/>
              </a:rPr>
              <a:t>Perl</a:t>
            </a:r>
            <a:r>
              <a:rPr lang="en-US" dirty="0" smtClean="0"/>
              <a:t> or </a:t>
            </a:r>
            <a:r>
              <a:rPr lang="en-US" dirty="0" err="1" smtClean="0">
                <a:hlinkClick r:id="rId10"/>
              </a:rPr>
              <a:t>Python</a:t>
            </a:r>
            <a:r>
              <a:rPr lang="en-US" dirty="0" err="1" smtClean="0"/>
              <a:t>may</a:t>
            </a:r>
            <a:r>
              <a:rPr lang="en-US" dirty="0" smtClean="0"/>
              <a:t> be substituted for PHP.</a:t>
            </a:r>
            <a:endParaRPr lang="en-US" b="1" dirty="0" smtClean="0">
              <a:solidFill>
                <a:schemeClr val="accent1"/>
              </a:solidFill>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1">
                    <a:tint val="88000"/>
                    <a:satMod val="150000"/>
                  </a:schemeClr>
                </a:solidFill>
              </a:rPr>
              <a:t>Standards for Application Developers</a:t>
            </a:r>
            <a:r>
              <a:rPr lang="en-AU" dirty="0" smtClean="0">
                <a:solidFill>
                  <a:schemeClr val="accent1">
                    <a:tint val="88000"/>
                    <a:satMod val="150000"/>
                  </a:schemeClr>
                </a:solidFill>
              </a:rPr>
              <a:t>(Cont’d)</a:t>
            </a:r>
            <a:endParaRPr lang="en-US" dirty="0"/>
          </a:p>
        </p:txBody>
      </p:sp>
      <p:sp>
        <p:nvSpPr>
          <p:cNvPr id="3" name="Content Placeholder 2"/>
          <p:cNvSpPr>
            <a:spLocks noGrp="1"/>
          </p:cNvSpPr>
          <p:nvPr>
            <p:ph idx="1"/>
          </p:nvPr>
        </p:nvSpPr>
        <p:spPr/>
        <p:txBody>
          <a:bodyPr>
            <a:normAutofit lnSpcReduction="10000"/>
          </a:bodyPr>
          <a:lstStyle/>
          <a:p>
            <a:r>
              <a:rPr lang="en-US" dirty="0" smtClean="0"/>
              <a:t>The architectural </a:t>
            </a:r>
            <a:r>
              <a:rPr lang="en-US" b="1" dirty="0" smtClean="0"/>
              <a:t>difference between </a:t>
            </a:r>
            <a:r>
              <a:rPr lang="en-US" b="1" dirty="0" err="1" smtClean="0"/>
              <a:t>MySQL</a:t>
            </a:r>
            <a:r>
              <a:rPr lang="en-US" dirty="0" smtClean="0"/>
              <a:t> and </a:t>
            </a:r>
            <a:r>
              <a:rPr lang="en-US" b="1" dirty="0" err="1" smtClean="0"/>
              <a:t>PostgreSQL</a:t>
            </a:r>
            <a:r>
              <a:rPr lang="en-US" dirty="0" smtClean="0"/>
              <a:t> is that </a:t>
            </a:r>
            <a:r>
              <a:rPr lang="en-US" b="1" dirty="0" err="1" smtClean="0"/>
              <a:t>MySQL</a:t>
            </a:r>
            <a:r>
              <a:rPr lang="en-US" dirty="0" smtClean="0"/>
              <a:t> is </a:t>
            </a:r>
            <a:r>
              <a:rPr lang="en-US" dirty="0" smtClean="0">
                <a:solidFill>
                  <a:srgbClr val="FF0000"/>
                </a:solidFill>
              </a:rPr>
              <a:t>a relational database management system </a:t>
            </a:r>
            <a:r>
              <a:rPr lang="en-US" dirty="0" smtClean="0"/>
              <a:t>whereas, </a:t>
            </a:r>
            <a:r>
              <a:rPr lang="en-US" dirty="0" err="1" smtClean="0"/>
              <a:t>PostgresSQL</a:t>
            </a:r>
            <a:r>
              <a:rPr lang="en-US" dirty="0" smtClean="0"/>
              <a:t> is </a:t>
            </a:r>
            <a:r>
              <a:rPr lang="en-US" dirty="0" smtClean="0">
                <a:solidFill>
                  <a:srgbClr val="FF0000"/>
                </a:solidFill>
              </a:rPr>
              <a:t>object-relational database management system</a:t>
            </a:r>
            <a:r>
              <a:rPr lang="en-US" dirty="0" smtClean="0"/>
              <a:t>. ...</a:t>
            </a:r>
          </a:p>
          <a:p>
            <a:r>
              <a:rPr lang="en-US" dirty="0" smtClean="0"/>
              <a:t> In </a:t>
            </a:r>
            <a:r>
              <a:rPr lang="en-US" b="1" dirty="0" err="1" smtClean="0"/>
              <a:t>MySQL</a:t>
            </a:r>
            <a:r>
              <a:rPr lang="en-US" dirty="0" smtClean="0"/>
              <a:t>, the </a:t>
            </a:r>
            <a:r>
              <a:rPr lang="en-US" dirty="0" err="1" smtClean="0"/>
              <a:t>phpMyAdmin</a:t>
            </a:r>
            <a:r>
              <a:rPr lang="en-US" dirty="0" smtClean="0"/>
              <a:t> tool provides GUI and SQL interface. </a:t>
            </a:r>
          </a:p>
          <a:p>
            <a:r>
              <a:rPr lang="en-US" dirty="0" smtClean="0"/>
              <a:t>However, in </a:t>
            </a:r>
            <a:r>
              <a:rPr lang="en-US" b="1" dirty="0" err="1" smtClean="0"/>
              <a:t>PostgreSQL</a:t>
            </a:r>
            <a:r>
              <a:rPr lang="en-US" dirty="0" smtClean="0"/>
              <a:t>, the </a:t>
            </a:r>
            <a:r>
              <a:rPr lang="en-US" dirty="0" err="1" smtClean="0"/>
              <a:t>pgAdmin</a:t>
            </a:r>
            <a:r>
              <a:rPr lang="en-US" dirty="0" smtClean="0"/>
              <a:t> tool provides GUI and SQL interface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52400" y="914400"/>
            <a:ext cx="8534400" cy="715963"/>
          </a:xfrm>
        </p:spPr>
        <p:txBody>
          <a:bodyPr rtlCol="0">
            <a:noAutofit/>
          </a:bodyPr>
          <a:lstStyle/>
          <a:p>
            <a:pPr eaLnBrk="1" fontAlgn="auto" hangingPunct="1">
              <a:spcAft>
                <a:spcPts val="0"/>
              </a:spcAft>
              <a:defRPr/>
            </a:pPr>
            <a:r>
              <a:rPr lang="en-US" sz="2400" dirty="0" smtClean="0">
                <a:solidFill>
                  <a:schemeClr val="accent1">
                    <a:tint val="88000"/>
                    <a:satMod val="150000"/>
                  </a:schemeClr>
                </a:solidFill>
              </a:rPr>
              <a:t>Standards for Application Developers</a:t>
            </a:r>
            <a:r>
              <a:rPr lang="en-AU" sz="2400" dirty="0" smtClean="0">
                <a:solidFill>
                  <a:schemeClr val="accent1">
                    <a:tint val="88000"/>
                    <a:satMod val="150000"/>
                  </a:schemeClr>
                </a:solidFill>
              </a:rPr>
              <a:t>(Cont’d)</a:t>
            </a:r>
            <a:br>
              <a:rPr lang="en-AU" sz="2400" dirty="0" smtClean="0">
                <a:solidFill>
                  <a:schemeClr val="accent1">
                    <a:tint val="88000"/>
                    <a:satMod val="150000"/>
                  </a:schemeClr>
                </a:solidFill>
              </a:rPr>
            </a:br>
            <a:r>
              <a:rPr lang="en-US" sz="2400" dirty="0" smtClean="0">
                <a:solidFill>
                  <a:schemeClr val="accent1">
                    <a:tint val="88000"/>
                    <a:satMod val="150000"/>
                  </a:schemeClr>
                </a:solidFill>
              </a:rPr>
              <a:t/>
            </a:r>
            <a:br>
              <a:rPr lang="en-US" sz="2400" dirty="0" smtClean="0">
                <a:solidFill>
                  <a:schemeClr val="accent1">
                    <a:tint val="88000"/>
                    <a:satMod val="150000"/>
                  </a:schemeClr>
                </a:solidFill>
              </a:rPr>
            </a:br>
            <a:endParaRPr lang="en-US" sz="2400"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a:t>Common Standards In Cloud Computing</a:t>
            </a:r>
            <a:endParaRPr lang="en-US" dirty="0"/>
          </a:p>
        </p:txBody>
      </p:sp>
      <p:sp>
        <p:nvSpPr>
          <p:cNvPr id="4" name="Slide Number Placeholder 3"/>
          <p:cNvSpPr>
            <a:spLocks noGrp="1"/>
          </p:cNvSpPr>
          <p:nvPr>
            <p:ph type="sldNum" sz="quarter" idx="12"/>
          </p:nvPr>
        </p:nvSpPr>
        <p:spPr/>
        <p:txBody>
          <a:bodyPr/>
          <a:lstStyle/>
          <a:p>
            <a:pPr>
              <a:defRPr/>
            </a:pPr>
            <a:fld id="{31DCCF88-460C-40A0-9F1E-80117BF4CE91}" type="slidenum">
              <a:rPr lang="en-US"/>
              <a:pPr>
                <a:defRPr/>
              </a:pPr>
              <a:t>24</a:t>
            </a:fld>
            <a:endParaRPr lang="en-US"/>
          </a:p>
        </p:txBody>
      </p:sp>
      <p:sp>
        <p:nvSpPr>
          <p:cNvPr id="11" name="Rectangle 10"/>
          <p:cNvSpPr/>
          <p:nvPr/>
        </p:nvSpPr>
        <p:spPr>
          <a:xfrm>
            <a:off x="228600" y="1905000"/>
            <a:ext cx="6172200" cy="426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buClr>
                <a:srgbClr val="F07F09"/>
              </a:buClr>
              <a:buFont typeface="Wingdings" pitchFamily="2" charset="2"/>
              <a:buChar char="v"/>
              <a:defRPr/>
            </a:pPr>
            <a:endParaRPr lang="en-US" sz="1700" dirty="0">
              <a:solidFill>
                <a:schemeClr val="tx1"/>
              </a:solidFill>
            </a:endParaRPr>
          </a:p>
          <a:p>
            <a:pPr>
              <a:buClr>
                <a:srgbClr val="F07F09"/>
              </a:buClr>
              <a:buFont typeface="Wingdings" pitchFamily="2" charset="2"/>
              <a:buChar char="v"/>
              <a:defRPr/>
            </a:pPr>
            <a:r>
              <a:rPr lang="en-US" sz="1700" b="1" dirty="0">
                <a:solidFill>
                  <a:schemeClr val="accent1"/>
                </a:solidFill>
              </a:rPr>
              <a:t>Solution Stacks (LAMP and LAPP</a:t>
            </a:r>
            <a:r>
              <a:rPr lang="en-US" sz="1700" b="1" dirty="0" smtClean="0">
                <a:solidFill>
                  <a:schemeClr val="accent1"/>
                </a:solidFill>
              </a:rPr>
              <a:t>)</a:t>
            </a:r>
            <a:endParaRPr lang="en-US" sz="1700" b="1" dirty="0">
              <a:solidFill>
                <a:schemeClr val="accent1"/>
              </a:solidFill>
            </a:endParaRPr>
          </a:p>
          <a:p>
            <a:pPr>
              <a:buClr>
                <a:srgbClr val="F07F09"/>
              </a:buClr>
              <a:buFont typeface="Wingdings" pitchFamily="2" charset="2"/>
              <a:buChar char="v"/>
              <a:defRPr/>
            </a:pPr>
            <a:r>
              <a:rPr lang="en-US" sz="1700" b="1" dirty="0">
                <a:solidFill>
                  <a:schemeClr val="accent1"/>
                </a:solidFill>
              </a:rPr>
              <a:t>LAMP</a:t>
            </a:r>
          </a:p>
          <a:p>
            <a:pPr>
              <a:buClr>
                <a:srgbClr val="F07F09"/>
              </a:buClr>
              <a:buFont typeface="Wingdings" pitchFamily="2" charset="2"/>
              <a:buChar char="v"/>
              <a:defRPr/>
            </a:pPr>
            <a:endParaRPr lang="en-US" sz="1700" b="1" dirty="0">
              <a:solidFill>
                <a:schemeClr val="accent1"/>
              </a:solidFill>
            </a:endParaRPr>
          </a:p>
          <a:p>
            <a:pPr lvl="1">
              <a:buFont typeface="Wingdings" pitchFamily="2" charset="2"/>
              <a:buChar char="Ø"/>
              <a:defRPr/>
            </a:pPr>
            <a:r>
              <a:rPr lang="en-US" sz="1700" dirty="0">
                <a:solidFill>
                  <a:schemeClr val="tx1"/>
                </a:solidFill>
              </a:rPr>
              <a:t>The acronym  </a:t>
            </a:r>
            <a:r>
              <a:rPr lang="en-US" sz="1700" b="1" dirty="0" err="1">
                <a:solidFill>
                  <a:schemeClr val="tx1"/>
                </a:solidFill>
              </a:rPr>
              <a:t>L</a:t>
            </a:r>
            <a:r>
              <a:rPr lang="en-US" sz="1700" dirty="0" err="1">
                <a:solidFill>
                  <a:schemeClr val="tx1"/>
                </a:solidFill>
              </a:rPr>
              <a:t>inux,</a:t>
            </a:r>
            <a:r>
              <a:rPr lang="en-US" sz="1700" b="1" dirty="0" err="1">
                <a:solidFill>
                  <a:schemeClr val="tx1"/>
                </a:solidFill>
              </a:rPr>
              <a:t>A</a:t>
            </a:r>
            <a:r>
              <a:rPr lang="en-US" sz="1700" dirty="0" err="1">
                <a:solidFill>
                  <a:schemeClr val="tx1"/>
                </a:solidFill>
              </a:rPr>
              <a:t>pache,</a:t>
            </a:r>
            <a:r>
              <a:rPr lang="en-US" sz="1700" b="1" dirty="0" err="1">
                <a:solidFill>
                  <a:schemeClr val="tx1"/>
                </a:solidFill>
              </a:rPr>
              <a:t>M</a:t>
            </a:r>
            <a:r>
              <a:rPr lang="en-US" sz="1700" dirty="0" err="1">
                <a:solidFill>
                  <a:schemeClr val="tx1"/>
                </a:solidFill>
              </a:rPr>
              <a:t>ySQL</a:t>
            </a:r>
            <a:r>
              <a:rPr lang="en-US" sz="1700" dirty="0">
                <a:solidFill>
                  <a:schemeClr val="tx1"/>
                </a:solidFill>
              </a:rPr>
              <a:t>, and </a:t>
            </a:r>
            <a:r>
              <a:rPr lang="en-US" sz="1700" b="1" dirty="0">
                <a:solidFill>
                  <a:schemeClr val="tx1"/>
                </a:solidFill>
              </a:rPr>
              <a:t>P</a:t>
            </a:r>
            <a:r>
              <a:rPr lang="en-US" sz="1700" dirty="0">
                <a:solidFill>
                  <a:schemeClr val="tx1"/>
                </a:solidFill>
              </a:rPr>
              <a:t>HP (or Perl or Python)</a:t>
            </a:r>
          </a:p>
          <a:p>
            <a:pPr lvl="1">
              <a:buFont typeface="Wingdings" pitchFamily="2" charset="2"/>
              <a:buChar char="Ø"/>
              <a:defRPr/>
            </a:pPr>
            <a:r>
              <a:rPr lang="en-US" sz="1700" dirty="0">
                <a:solidFill>
                  <a:schemeClr val="tx1"/>
                </a:solidFill>
              </a:rPr>
              <a:t>Open source nature, low cost, and the wide distribution of its components</a:t>
            </a:r>
          </a:p>
          <a:p>
            <a:pPr lvl="1">
              <a:buFont typeface="Wingdings" pitchFamily="2" charset="2"/>
              <a:buChar char="Ø"/>
              <a:defRPr/>
            </a:pPr>
            <a:r>
              <a:rPr lang="en-US" sz="1700" dirty="0">
                <a:solidFill>
                  <a:schemeClr val="tx1"/>
                </a:solidFill>
              </a:rPr>
              <a:t>Used to</a:t>
            </a:r>
          </a:p>
          <a:p>
            <a:pPr lvl="2">
              <a:buFont typeface="Arial" pitchFamily="34" charset="0"/>
              <a:buChar char="•"/>
              <a:defRPr/>
            </a:pPr>
            <a:r>
              <a:rPr lang="en-US" sz="1700" dirty="0">
                <a:solidFill>
                  <a:schemeClr val="tx1"/>
                </a:solidFill>
              </a:rPr>
              <a:t>Run dynamic web sites and servers. </a:t>
            </a:r>
          </a:p>
          <a:p>
            <a:pPr lvl="2">
              <a:buFont typeface="Arial" pitchFamily="34" charset="0"/>
              <a:buChar char="•"/>
              <a:defRPr/>
            </a:pPr>
            <a:r>
              <a:rPr lang="en-US" sz="1700" dirty="0">
                <a:solidFill>
                  <a:schemeClr val="tx1"/>
                </a:solidFill>
              </a:rPr>
              <a:t>Development and deployment of high-performance web applications.</a:t>
            </a:r>
          </a:p>
          <a:p>
            <a:pPr lvl="2">
              <a:buFont typeface="Arial" pitchFamily="34" charset="0"/>
              <a:buChar char="•"/>
              <a:defRPr/>
            </a:pPr>
            <a:r>
              <a:rPr lang="en-US" sz="1700" dirty="0">
                <a:solidFill>
                  <a:schemeClr val="tx1"/>
                </a:solidFill>
              </a:rPr>
              <a:t>Define a web server infrastructure.</a:t>
            </a:r>
          </a:p>
          <a:p>
            <a:pPr lvl="2">
              <a:buFont typeface="Arial" pitchFamily="34" charset="0"/>
              <a:buChar char="•"/>
              <a:defRPr/>
            </a:pPr>
            <a:r>
              <a:rPr lang="en-US" sz="1700" dirty="0">
                <a:solidFill>
                  <a:schemeClr val="tx1"/>
                </a:solidFill>
              </a:rPr>
              <a:t>Creating a programming environment for developing software.</a:t>
            </a:r>
          </a:p>
          <a:p>
            <a:pPr lvl="2">
              <a:defRPr/>
            </a:pPr>
            <a:endParaRPr lang="en-US" sz="1700" dirty="0">
              <a:solidFill>
                <a:schemeClr val="tx1"/>
              </a:solidFill>
            </a:endParaRPr>
          </a:p>
          <a:p>
            <a:pPr>
              <a:buFont typeface="Wingdings" pitchFamily="2" charset="2"/>
              <a:buChar char="v"/>
              <a:defRPr/>
            </a:pPr>
            <a:r>
              <a:rPr lang="en-US" sz="1700" b="1" dirty="0">
                <a:solidFill>
                  <a:schemeClr val="accent1"/>
                </a:solidFill>
              </a:rPr>
              <a:t>LAPP</a:t>
            </a:r>
          </a:p>
          <a:p>
            <a:pPr lvl="2">
              <a:buFont typeface="Arial" pitchFamily="34" charset="0"/>
              <a:buChar char="•"/>
              <a:defRPr/>
            </a:pPr>
            <a:r>
              <a:rPr lang="en-US" sz="1700" dirty="0">
                <a:solidFill>
                  <a:schemeClr val="tx1"/>
                </a:solidFill>
              </a:rPr>
              <a:t>It is more powerful than LAMP stack</a:t>
            </a:r>
          </a:p>
          <a:p>
            <a:pPr lvl="2">
              <a:buFont typeface="Arial" pitchFamily="34" charset="0"/>
              <a:buChar char="•"/>
              <a:defRPr/>
            </a:pPr>
            <a:endParaRPr lang="en-US" sz="1700" dirty="0">
              <a:solidFill>
                <a:schemeClr val="tx1"/>
              </a:solidFill>
            </a:endParaRPr>
          </a:p>
          <a:p>
            <a:pPr>
              <a:defRPr/>
            </a:pPr>
            <a:endParaRPr lang="en-US" sz="1700" dirty="0">
              <a:solidFill>
                <a:schemeClr val="tx1"/>
              </a:solidFill>
            </a:endParaRPr>
          </a:p>
          <a:p>
            <a:pPr>
              <a:defRPr/>
            </a:pPr>
            <a:endParaRPr lang="en-US" sz="1700" dirty="0"/>
          </a:p>
          <a:p>
            <a:pPr>
              <a:defRPr/>
            </a:pPr>
            <a:endParaRPr lang="en-US" sz="1700" dirty="0"/>
          </a:p>
          <a:p>
            <a:pPr>
              <a:defRPr/>
            </a:pPr>
            <a:endParaRPr lang="fa-IR" sz="1700" b="1" dirty="0">
              <a:solidFill>
                <a:schemeClr val="accent1"/>
              </a:solidFill>
            </a:endParaRPr>
          </a:p>
        </p:txBody>
      </p:sp>
      <p:pic>
        <p:nvPicPr>
          <p:cNvPr id="10246" name="Picture 6"/>
          <p:cNvPicPr>
            <a:picLocks noChangeAspect="1" noChangeArrowheads="1"/>
          </p:cNvPicPr>
          <p:nvPr/>
        </p:nvPicPr>
        <p:blipFill>
          <a:blip r:embed="rId2"/>
          <a:srcRect/>
          <a:stretch>
            <a:fillRect/>
          </a:stretch>
        </p:blipFill>
        <p:spPr bwMode="auto">
          <a:xfrm>
            <a:off x="6781800" y="2057400"/>
            <a:ext cx="2590801" cy="3771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2000"/>
                                        <p:tgtEl>
                                          <p:spTgt spid="11">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2000"/>
                                        <p:tgtEl>
                                          <p:spTgt spid="11">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animEffect transition="in" filter="fade">
                                      <p:cBhvr>
                                        <p:cTn id="13" dur="2000"/>
                                        <p:tgtEl>
                                          <p:spTgt spid="11">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5" end="5"/>
                                            </p:txEl>
                                          </p:spTgt>
                                        </p:tgtEl>
                                        <p:attrNameLst>
                                          <p:attrName>style.visibility</p:attrName>
                                        </p:attrNameLst>
                                      </p:cBhvr>
                                      <p:to>
                                        <p:strVal val="visible"/>
                                      </p:to>
                                    </p:set>
                                    <p:animEffect transition="in" filter="fade">
                                      <p:cBhvr>
                                        <p:cTn id="16" dur="2000"/>
                                        <p:tgtEl>
                                          <p:spTgt spid="11">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animEffect transition="in" filter="fade">
                                      <p:cBhvr>
                                        <p:cTn id="19" dur="2000"/>
                                        <p:tgtEl>
                                          <p:spTgt spid="11">
                                            <p:txEl>
                                              <p:pRg st="6" end="6"/>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xEl>
                                              <p:pRg st="7" end="7"/>
                                            </p:txEl>
                                          </p:spTgt>
                                        </p:tgtEl>
                                        <p:attrNameLst>
                                          <p:attrName>style.visibility</p:attrName>
                                        </p:attrNameLst>
                                      </p:cBhvr>
                                      <p:to>
                                        <p:strVal val="visible"/>
                                      </p:to>
                                    </p:set>
                                    <p:animEffect transition="in" filter="fade">
                                      <p:cBhvr>
                                        <p:cTn id="22" dur="2000"/>
                                        <p:tgtEl>
                                          <p:spTgt spid="11">
                                            <p:txEl>
                                              <p:pRg st="7" end="7"/>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xEl>
                                              <p:pRg st="8" end="8"/>
                                            </p:txEl>
                                          </p:spTgt>
                                        </p:tgtEl>
                                        <p:attrNameLst>
                                          <p:attrName>style.visibility</p:attrName>
                                        </p:attrNameLst>
                                      </p:cBhvr>
                                      <p:to>
                                        <p:strVal val="visible"/>
                                      </p:to>
                                    </p:set>
                                    <p:animEffect transition="in" filter="fade">
                                      <p:cBhvr>
                                        <p:cTn id="25" dur="2000"/>
                                        <p:tgtEl>
                                          <p:spTgt spid="11">
                                            <p:txEl>
                                              <p:pRg st="8" end="8"/>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xEl>
                                              <p:pRg st="9" end="9"/>
                                            </p:txEl>
                                          </p:spTgt>
                                        </p:tgtEl>
                                        <p:attrNameLst>
                                          <p:attrName>style.visibility</p:attrName>
                                        </p:attrNameLst>
                                      </p:cBhvr>
                                      <p:to>
                                        <p:strVal val="visible"/>
                                      </p:to>
                                    </p:set>
                                    <p:animEffect transition="in" filter="fade">
                                      <p:cBhvr>
                                        <p:cTn id="28" dur="2000"/>
                                        <p:tgtEl>
                                          <p:spTgt spid="11">
                                            <p:txEl>
                                              <p:pRg st="9" end="9"/>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xEl>
                                              <p:pRg st="10" end="10"/>
                                            </p:txEl>
                                          </p:spTgt>
                                        </p:tgtEl>
                                        <p:attrNameLst>
                                          <p:attrName>style.visibility</p:attrName>
                                        </p:attrNameLst>
                                      </p:cBhvr>
                                      <p:to>
                                        <p:strVal val="visible"/>
                                      </p:to>
                                    </p:set>
                                    <p:animEffect transition="in" filter="fade">
                                      <p:cBhvr>
                                        <p:cTn id="31" dur="2000"/>
                                        <p:tgtEl>
                                          <p:spTgt spid="11">
                                            <p:txEl>
                                              <p:pRg st="10" end="1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xEl>
                                              <p:pRg st="12" end="12"/>
                                            </p:txEl>
                                          </p:spTgt>
                                        </p:tgtEl>
                                        <p:attrNameLst>
                                          <p:attrName>style.visibility</p:attrName>
                                        </p:attrNameLst>
                                      </p:cBhvr>
                                      <p:to>
                                        <p:strVal val="visible"/>
                                      </p:to>
                                    </p:set>
                                    <p:animEffect transition="in" filter="fade">
                                      <p:cBhvr>
                                        <p:cTn id="36" dur="2000"/>
                                        <p:tgtEl>
                                          <p:spTgt spid="11">
                                            <p:txEl>
                                              <p:pRg st="12" end="1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xEl>
                                              <p:pRg st="13" end="13"/>
                                            </p:txEl>
                                          </p:spTgt>
                                        </p:tgtEl>
                                        <p:attrNameLst>
                                          <p:attrName>style.visibility</p:attrName>
                                        </p:attrNameLst>
                                      </p:cBhvr>
                                      <p:to>
                                        <p:strVal val="visible"/>
                                      </p:to>
                                    </p:set>
                                    <p:animEffect transition="in" filter="fade">
                                      <p:cBhvr>
                                        <p:cTn id="39" dur="20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Standards for Messaging</a:t>
            </a:r>
            <a:r>
              <a:rPr lang="fa-IR" dirty="0" smtClean="0"/>
              <a:t/>
            </a:r>
            <a:br>
              <a:rPr lang="fa-IR" dirty="0" smtClean="0"/>
            </a:br>
            <a:endParaRPr lang="en-US" dirty="0"/>
          </a:p>
        </p:txBody>
      </p:sp>
      <p:sp>
        <p:nvSpPr>
          <p:cNvPr id="4" name="Content Placeholder 3"/>
          <p:cNvSpPr>
            <a:spLocks noGrp="1"/>
          </p:cNvSpPr>
          <p:nvPr>
            <p:ph idx="1"/>
          </p:nvPr>
        </p:nvSpPr>
        <p:spPr>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endParaRPr lang="en-US" sz="2000" dirty="0"/>
          </a:p>
          <a:p>
            <a:pPr>
              <a:defRPr/>
            </a:pPr>
            <a:r>
              <a:rPr lang="en-US" sz="2000" b="1" dirty="0">
                <a:solidFill>
                  <a:schemeClr val="accent1"/>
                </a:solidFill>
              </a:rPr>
              <a:t>The purpose :</a:t>
            </a:r>
            <a:endParaRPr lang="fa-IR" sz="2000" b="1" dirty="0">
              <a:solidFill>
                <a:schemeClr val="accent1"/>
              </a:solidFill>
            </a:endParaRPr>
          </a:p>
          <a:p>
            <a:pPr>
              <a:defRPr/>
            </a:pPr>
            <a:r>
              <a:rPr lang="en-US" sz="2000" dirty="0">
                <a:solidFill>
                  <a:schemeClr val="tx1"/>
                </a:solidFill>
              </a:rPr>
              <a:t>Standards</a:t>
            </a:r>
            <a:r>
              <a:rPr lang="en-US" sz="2000" dirty="0"/>
              <a:t> </a:t>
            </a:r>
            <a:r>
              <a:rPr lang="en-US" sz="2000" dirty="0">
                <a:solidFill>
                  <a:schemeClr val="tx1"/>
                </a:solidFill>
              </a:rPr>
              <a:t>for message</a:t>
            </a:r>
            <a:r>
              <a:rPr lang="en-US" sz="2000" i="1" dirty="0">
                <a:solidFill>
                  <a:schemeClr val="tx1"/>
                </a:solidFill>
              </a:rPr>
              <a:t> </a:t>
            </a:r>
            <a:r>
              <a:rPr lang="en-US" sz="2000" dirty="0">
                <a:solidFill>
                  <a:schemeClr val="tx1"/>
                </a:solidFill>
              </a:rPr>
              <a:t>that</a:t>
            </a:r>
            <a:r>
              <a:rPr lang="en-US" sz="2000" i="1" dirty="0">
                <a:solidFill>
                  <a:schemeClr val="tx1"/>
                </a:solidFill>
              </a:rPr>
              <a:t> </a:t>
            </a:r>
            <a:r>
              <a:rPr lang="en-US" sz="2000" dirty="0">
                <a:solidFill>
                  <a:schemeClr val="tx1"/>
                </a:solidFill>
              </a:rPr>
              <a:t>is a unit of information that is moved from one place to another</a:t>
            </a:r>
          </a:p>
          <a:p>
            <a:pPr>
              <a:buClr>
                <a:srgbClr val="F07F09"/>
              </a:buClr>
              <a:buFont typeface="Wingdings" pitchFamily="2" charset="2"/>
              <a:buChar char="v"/>
              <a:defRPr/>
            </a:pPr>
            <a:r>
              <a:rPr lang="en-US" sz="2000" dirty="0">
                <a:solidFill>
                  <a:schemeClr val="tx1"/>
                </a:solidFill>
              </a:rPr>
              <a:t>Simple Message Transfer Protocol (SMTP)</a:t>
            </a:r>
          </a:p>
          <a:p>
            <a:pPr>
              <a:buClr>
                <a:srgbClr val="F07F09"/>
              </a:buClr>
              <a:buFont typeface="Wingdings" pitchFamily="2" charset="2"/>
              <a:buChar char="v"/>
              <a:defRPr/>
            </a:pPr>
            <a:r>
              <a:rPr lang="en-US" sz="2000" dirty="0">
                <a:solidFill>
                  <a:schemeClr val="tx1"/>
                </a:solidFill>
              </a:rPr>
              <a:t>Post Office Protocol (POP)</a:t>
            </a:r>
          </a:p>
          <a:p>
            <a:pPr>
              <a:buClr>
                <a:srgbClr val="F07F09"/>
              </a:buClr>
              <a:buFont typeface="Wingdings" pitchFamily="2" charset="2"/>
              <a:buChar char="v"/>
              <a:defRPr/>
            </a:pPr>
            <a:r>
              <a:rPr lang="en-US" sz="2000" dirty="0">
                <a:solidFill>
                  <a:schemeClr val="tx1"/>
                </a:solidFill>
              </a:rPr>
              <a:t>Internet Messaging Access Protocol (IMAP)</a:t>
            </a:r>
          </a:p>
          <a:p>
            <a:pPr>
              <a:buClr>
                <a:srgbClr val="F07F09"/>
              </a:buClr>
              <a:buFont typeface="Wingdings" pitchFamily="2" charset="2"/>
              <a:buChar char="v"/>
              <a:defRPr/>
            </a:pPr>
            <a:r>
              <a:rPr lang="en-US" sz="2000" dirty="0">
                <a:solidFill>
                  <a:schemeClr val="tx1"/>
                </a:solidFill>
              </a:rPr>
              <a:t>Syndication (Atom, Atom Publishing Protocol, and RSS)</a:t>
            </a:r>
          </a:p>
          <a:p>
            <a:pPr>
              <a:buClr>
                <a:srgbClr val="F07F09"/>
              </a:buClr>
              <a:buFont typeface="Wingdings" pitchFamily="2" charset="2"/>
              <a:buChar char="v"/>
              <a:defRPr/>
            </a:pPr>
            <a:r>
              <a:rPr lang="en-US" sz="2000" dirty="0">
                <a:solidFill>
                  <a:schemeClr val="tx1"/>
                </a:solidFill>
              </a:rPr>
              <a:t>Communications (HTTP, SIMPLE, and XMPP)</a:t>
            </a:r>
            <a:endParaRPr lang="fa-IR"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Standards for Security</a:t>
            </a:r>
            <a:br>
              <a:rPr lang="en-US" dirty="0" smtClean="0"/>
            </a:br>
            <a:endParaRPr lang="en-US" dirty="0"/>
          </a:p>
        </p:txBody>
      </p:sp>
      <p:sp>
        <p:nvSpPr>
          <p:cNvPr id="4" name="Content Placeholder 3"/>
          <p:cNvSpPr>
            <a:spLocks noGrp="1"/>
          </p:cNvSpPr>
          <p:nvPr>
            <p:ph idx="1"/>
          </p:nvPr>
        </p:nvSpPr>
        <p:spPr>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r>
              <a:rPr lang="en-US" sz="2000" b="1" dirty="0">
                <a:solidFill>
                  <a:schemeClr val="accent1"/>
                </a:solidFill>
              </a:rPr>
              <a:t>The purpose :</a:t>
            </a:r>
            <a:endParaRPr lang="fa-IR" sz="2000" b="1" dirty="0">
              <a:solidFill>
                <a:schemeClr val="accent1"/>
              </a:solidFill>
            </a:endParaRPr>
          </a:p>
          <a:p>
            <a:pPr>
              <a:defRPr/>
            </a:pPr>
            <a:endParaRPr lang="en-US" sz="2000" dirty="0">
              <a:solidFill>
                <a:schemeClr val="tx1"/>
              </a:solidFill>
            </a:endParaRPr>
          </a:p>
          <a:p>
            <a:pPr>
              <a:defRPr/>
            </a:pPr>
            <a:r>
              <a:rPr lang="en-US" sz="2000" dirty="0">
                <a:solidFill>
                  <a:schemeClr val="tx1"/>
                </a:solidFill>
              </a:rPr>
              <a:t>Security standards define the processes, procedures, and practices necessary for implementing a security program</a:t>
            </a:r>
            <a:r>
              <a:rPr lang="en-US" sz="2000" dirty="0" smtClean="0">
                <a:solidFill>
                  <a:schemeClr val="tx1"/>
                </a:solidFill>
              </a:rPr>
              <a:t>.</a:t>
            </a:r>
          </a:p>
          <a:p>
            <a:pPr>
              <a:defRPr/>
            </a:pPr>
            <a:endParaRPr lang="en-US" sz="2000" dirty="0">
              <a:solidFill>
                <a:schemeClr val="tx1"/>
              </a:solidFill>
            </a:endParaRPr>
          </a:p>
          <a:p>
            <a:pPr>
              <a:buClr>
                <a:schemeClr val="accent1"/>
              </a:buClr>
              <a:buFont typeface="Wingdings" pitchFamily="2" charset="2"/>
              <a:buChar char="v"/>
              <a:defRPr/>
            </a:pPr>
            <a:r>
              <a:rPr lang="en-US" sz="2000" dirty="0">
                <a:solidFill>
                  <a:schemeClr val="tx1">
                    <a:lumMod val="95000"/>
                    <a:lumOff val="5000"/>
                  </a:schemeClr>
                </a:solidFill>
              </a:rPr>
              <a:t>SAML</a:t>
            </a:r>
          </a:p>
          <a:p>
            <a:pPr>
              <a:buClr>
                <a:schemeClr val="accent1"/>
              </a:buClr>
              <a:buFont typeface="Wingdings" pitchFamily="2" charset="2"/>
              <a:buChar char="v"/>
              <a:defRPr/>
            </a:pPr>
            <a:r>
              <a:rPr lang="en-US" sz="2000" dirty="0" err="1">
                <a:solidFill>
                  <a:schemeClr val="tx1">
                    <a:lumMod val="95000"/>
                    <a:lumOff val="5000"/>
                  </a:schemeClr>
                </a:solidFill>
              </a:rPr>
              <a:t>OAuth</a:t>
            </a:r>
            <a:endParaRPr lang="en-US" sz="2000" dirty="0">
              <a:solidFill>
                <a:schemeClr val="tx1">
                  <a:lumMod val="95000"/>
                  <a:lumOff val="5000"/>
                </a:schemeClr>
              </a:solidFill>
            </a:endParaRPr>
          </a:p>
          <a:p>
            <a:pPr>
              <a:buClr>
                <a:schemeClr val="accent1"/>
              </a:buClr>
              <a:buFont typeface="Wingdings" pitchFamily="2" charset="2"/>
              <a:buChar char="v"/>
              <a:defRPr/>
            </a:pPr>
            <a:r>
              <a:rPr lang="en-US" sz="2000" dirty="0" err="1">
                <a:solidFill>
                  <a:schemeClr val="tx1">
                    <a:lumMod val="95000"/>
                    <a:lumOff val="5000"/>
                  </a:schemeClr>
                </a:solidFill>
              </a:rPr>
              <a:t>OpenID</a:t>
            </a:r>
            <a:endParaRPr lang="en-US" sz="2000" dirty="0">
              <a:solidFill>
                <a:schemeClr val="tx1">
                  <a:lumMod val="95000"/>
                  <a:lumOff val="5000"/>
                </a:schemeClr>
              </a:solidFill>
            </a:endParaRPr>
          </a:p>
          <a:p>
            <a:pPr>
              <a:buClr>
                <a:schemeClr val="accent1"/>
              </a:buClr>
              <a:buFont typeface="Wingdings" pitchFamily="2" charset="2"/>
              <a:buChar char="v"/>
              <a:defRPr/>
            </a:pPr>
            <a:r>
              <a:rPr lang="en-US" sz="2000" dirty="0">
                <a:solidFill>
                  <a:schemeClr val="tx1">
                    <a:lumMod val="95000"/>
                    <a:lumOff val="5000"/>
                  </a:schemeClr>
                </a:solidFill>
              </a:rPr>
              <a:t>SSL/TLS</a:t>
            </a:r>
          </a:p>
          <a:p>
            <a:pPr>
              <a:buClr>
                <a:srgbClr val="F07F09"/>
              </a:buClr>
              <a:buFont typeface="Wingdings" pitchFamily="2" charset="2"/>
              <a:buChar char="v"/>
              <a:defRPr/>
            </a:pPr>
            <a:endParaRPr lang="fa-IR"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304800"/>
            <a:ext cx="8229600" cy="715963"/>
          </a:xfrm>
        </p:spPr>
        <p:txBody>
          <a:bodyPr rtlCol="0">
            <a:normAutofit fontScale="90000"/>
          </a:bodyPr>
          <a:lstStyle/>
          <a:p>
            <a:pPr eaLnBrk="1" fontAlgn="auto" hangingPunct="1">
              <a:spcAft>
                <a:spcPts val="0"/>
              </a:spcAft>
              <a:defRPr/>
            </a:pPr>
            <a:r>
              <a:rPr lang="en-US" dirty="0" smtClean="0">
                <a:solidFill>
                  <a:schemeClr val="accent1">
                    <a:tint val="88000"/>
                    <a:satMod val="150000"/>
                  </a:schemeClr>
                </a:solidFill>
              </a:rPr>
              <a:t>Standards for Security</a:t>
            </a:r>
            <a:r>
              <a:rPr lang="en-AU" dirty="0" smtClean="0">
                <a:solidFill>
                  <a:schemeClr val="accent1">
                    <a:tint val="88000"/>
                    <a:satMod val="150000"/>
                  </a:schemeClr>
                </a:solidFill>
              </a:rPr>
              <a:t>(Cont’d)</a:t>
            </a:r>
            <a:endParaRPr lang="en-US"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a:t>Common Standards In Cloud Computing</a:t>
            </a:r>
            <a:endParaRPr lang="en-US" dirty="0"/>
          </a:p>
        </p:txBody>
      </p:sp>
      <p:sp>
        <p:nvSpPr>
          <p:cNvPr id="4" name="Slide Number Placeholder 3"/>
          <p:cNvSpPr>
            <a:spLocks noGrp="1"/>
          </p:cNvSpPr>
          <p:nvPr>
            <p:ph type="sldNum" sz="quarter" idx="12"/>
          </p:nvPr>
        </p:nvSpPr>
        <p:spPr/>
        <p:txBody>
          <a:bodyPr/>
          <a:lstStyle/>
          <a:p>
            <a:pPr>
              <a:defRPr/>
            </a:pPr>
            <a:fld id="{11EB76DC-014A-4D64-88F6-D9193E242D31}" type="slidenum">
              <a:rPr lang="en-US"/>
              <a:pPr>
                <a:defRPr/>
              </a:pPr>
              <a:t>27</a:t>
            </a:fld>
            <a:endParaRPr lang="en-US"/>
          </a:p>
        </p:txBody>
      </p:sp>
      <p:sp>
        <p:nvSpPr>
          <p:cNvPr id="11" name="Rectangle 10"/>
          <p:cNvSpPr/>
          <p:nvPr/>
        </p:nvSpPr>
        <p:spPr>
          <a:xfrm>
            <a:off x="685800" y="1219200"/>
            <a:ext cx="80772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buClr>
                <a:schemeClr val="accent1"/>
              </a:buClr>
              <a:buFont typeface="Wingdings" pitchFamily="2" charset="2"/>
              <a:buChar char="v"/>
              <a:defRPr/>
            </a:pPr>
            <a:r>
              <a:rPr lang="en-US" b="1" dirty="0">
                <a:solidFill>
                  <a:schemeClr val="accent1"/>
                </a:solidFill>
              </a:rPr>
              <a:t>SAML</a:t>
            </a:r>
          </a:p>
          <a:p>
            <a:pPr lvl="1">
              <a:buFont typeface="Arial" pitchFamily="34" charset="0"/>
              <a:buChar char="•"/>
              <a:defRPr/>
            </a:pPr>
            <a:r>
              <a:rPr lang="en-US" dirty="0">
                <a:solidFill>
                  <a:schemeClr val="tx1"/>
                </a:solidFill>
              </a:rPr>
              <a:t>Standard for communicating authentication, authorization, and attribute information among online partners.</a:t>
            </a:r>
          </a:p>
          <a:p>
            <a:pPr lvl="1">
              <a:buFont typeface="Arial" pitchFamily="34" charset="0"/>
              <a:buChar char="•"/>
              <a:defRPr/>
            </a:pPr>
            <a:r>
              <a:rPr lang="en-US" dirty="0">
                <a:solidFill>
                  <a:schemeClr val="tx1"/>
                </a:solidFill>
              </a:rPr>
              <a:t>It allows businesses to securely send assertions between partners.</a:t>
            </a:r>
          </a:p>
          <a:p>
            <a:pPr lvl="1">
              <a:buFont typeface="Arial" pitchFamily="34" charset="0"/>
              <a:buChar char="•"/>
              <a:defRPr/>
            </a:pPr>
            <a:r>
              <a:rPr lang="en-US" dirty="0">
                <a:solidFill>
                  <a:schemeClr val="tx1"/>
                </a:solidFill>
              </a:rPr>
              <a:t>SAML protocol refers to what is transmitted, not how it is transmitted.</a:t>
            </a:r>
          </a:p>
          <a:p>
            <a:pPr lvl="1">
              <a:buFont typeface="Arial" pitchFamily="34" charset="0"/>
              <a:buChar char="•"/>
              <a:defRPr/>
            </a:pPr>
            <a:r>
              <a:rPr lang="en-US" dirty="0">
                <a:solidFill>
                  <a:schemeClr val="tx1"/>
                </a:solidFill>
              </a:rPr>
              <a:t>Three types of statements are provided by SAML: authentication statements, attribute statements, and authorization decision statements</a:t>
            </a:r>
          </a:p>
          <a:p>
            <a:pPr>
              <a:buClr>
                <a:srgbClr val="F07F09"/>
              </a:buClr>
              <a:buFont typeface="Wingdings" pitchFamily="2" charset="2"/>
              <a:buChar char="v"/>
              <a:defRPr/>
            </a:pPr>
            <a:endParaRPr lang="fa-IR" dirty="0">
              <a:solidFill>
                <a:schemeClr val="tx1"/>
              </a:solidFill>
            </a:endParaRPr>
          </a:p>
        </p:txBody>
      </p:sp>
      <p:pic>
        <p:nvPicPr>
          <p:cNvPr id="7" name="Picture 6" descr="11949848201138561364eye_01_svg_thumb.png"/>
          <p:cNvPicPr>
            <a:picLocks noChangeAspect="1"/>
          </p:cNvPicPr>
          <p:nvPr/>
        </p:nvPicPr>
        <p:blipFill>
          <a:blip r:embed="rId2"/>
          <a:stretch>
            <a:fillRect/>
          </a:stretch>
        </p:blipFill>
        <p:spPr>
          <a:xfrm>
            <a:off x="1905000" y="4006850"/>
            <a:ext cx="5105400" cy="28511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609600"/>
            <a:ext cx="8229600" cy="715963"/>
          </a:xfrm>
        </p:spPr>
        <p:txBody>
          <a:bodyPr rtlCol="0">
            <a:normAutofit fontScale="90000"/>
          </a:bodyPr>
          <a:lstStyle/>
          <a:p>
            <a:pPr eaLnBrk="1" fontAlgn="auto" hangingPunct="1">
              <a:spcAft>
                <a:spcPts val="0"/>
              </a:spcAft>
              <a:defRPr/>
            </a:pPr>
            <a:r>
              <a:rPr lang="en-US" dirty="0" smtClean="0">
                <a:solidFill>
                  <a:schemeClr val="accent1">
                    <a:tint val="88000"/>
                    <a:satMod val="150000"/>
                  </a:schemeClr>
                </a:solidFill>
              </a:rPr>
              <a:t>Standards for Security</a:t>
            </a:r>
            <a:r>
              <a:rPr lang="en-AU" dirty="0" smtClean="0">
                <a:solidFill>
                  <a:schemeClr val="accent1">
                    <a:tint val="88000"/>
                    <a:satMod val="150000"/>
                  </a:schemeClr>
                </a:solidFill>
              </a:rPr>
              <a:t>(Cont’d)</a:t>
            </a:r>
            <a:endParaRPr lang="en-US"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a:t>Common Standards In Cloud Computing</a:t>
            </a:r>
            <a:endParaRPr lang="en-US" dirty="0"/>
          </a:p>
        </p:txBody>
      </p:sp>
      <p:sp>
        <p:nvSpPr>
          <p:cNvPr id="4" name="Slide Number Placeholder 3"/>
          <p:cNvSpPr>
            <a:spLocks noGrp="1"/>
          </p:cNvSpPr>
          <p:nvPr>
            <p:ph type="sldNum" sz="quarter" idx="12"/>
          </p:nvPr>
        </p:nvSpPr>
        <p:spPr/>
        <p:txBody>
          <a:bodyPr/>
          <a:lstStyle/>
          <a:p>
            <a:pPr>
              <a:defRPr/>
            </a:pPr>
            <a:fld id="{CE7530C2-4F6E-4223-A69C-63AB84770883}" type="slidenum">
              <a:rPr lang="en-US"/>
              <a:pPr>
                <a:defRPr/>
              </a:pPr>
              <a:t>28</a:t>
            </a:fld>
            <a:endParaRPr lang="en-US"/>
          </a:p>
        </p:txBody>
      </p:sp>
      <p:sp>
        <p:nvSpPr>
          <p:cNvPr id="11" name="Rectangle 10"/>
          <p:cNvSpPr/>
          <p:nvPr/>
        </p:nvSpPr>
        <p:spPr>
          <a:xfrm>
            <a:off x="685800" y="1447800"/>
            <a:ext cx="80772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endParaRPr lang="en-US" sz="2000" b="1" dirty="0">
              <a:solidFill>
                <a:schemeClr val="accent1"/>
              </a:solidFill>
            </a:endParaRPr>
          </a:p>
          <a:p>
            <a:pPr>
              <a:buClr>
                <a:schemeClr val="accent1"/>
              </a:buClr>
              <a:buFont typeface="Wingdings" pitchFamily="2" charset="2"/>
              <a:buChar char="v"/>
              <a:defRPr/>
            </a:pPr>
            <a:r>
              <a:rPr lang="en-US" sz="2000" b="1" dirty="0" err="1">
                <a:solidFill>
                  <a:schemeClr val="accent1"/>
                </a:solidFill>
              </a:rPr>
              <a:t>OAuth</a:t>
            </a:r>
            <a:r>
              <a:rPr lang="en-US" sz="2000" b="1" dirty="0">
                <a:solidFill>
                  <a:schemeClr val="accent1"/>
                </a:solidFill>
              </a:rPr>
              <a:t>(Open Authentication)</a:t>
            </a:r>
          </a:p>
          <a:p>
            <a:pPr lvl="1">
              <a:buFont typeface="Arial" pitchFamily="34" charset="0"/>
              <a:buChar char="•"/>
              <a:defRPr/>
            </a:pPr>
            <a:r>
              <a:rPr lang="en-US" sz="2000" dirty="0" err="1">
                <a:solidFill>
                  <a:schemeClr val="tx1"/>
                </a:solidFill>
              </a:rPr>
              <a:t>OAuth</a:t>
            </a:r>
            <a:r>
              <a:rPr lang="en-US" sz="2000" dirty="0">
                <a:solidFill>
                  <a:schemeClr val="tx1"/>
                </a:solidFill>
              </a:rPr>
              <a:t> is a method for publishing and interacting with protected data.</a:t>
            </a:r>
          </a:p>
          <a:p>
            <a:pPr lvl="1">
              <a:buFont typeface="Arial" pitchFamily="34" charset="0"/>
              <a:buChar char="•"/>
              <a:defRPr/>
            </a:pPr>
            <a:r>
              <a:rPr lang="en-US" sz="2000" dirty="0">
                <a:solidFill>
                  <a:schemeClr val="tx1"/>
                </a:solidFill>
              </a:rPr>
              <a:t>For developers, </a:t>
            </a:r>
            <a:r>
              <a:rPr lang="en-US" sz="2000" dirty="0" err="1">
                <a:solidFill>
                  <a:schemeClr val="tx1"/>
                </a:solidFill>
              </a:rPr>
              <a:t>OAuth</a:t>
            </a:r>
            <a:r>
              <a:rPr lang="en-US" sz="2000" dirty="0">
                <a:solidFill>
                  <a:schemeClr val="tx1"/>
                </a:solidFill>
              </a:rPr>
              <a:t> provides users access to their data .</a:t>
            </a:r>
          </a:p>
          <a:p>
            <a:pPr lvl="1">
              <a:buFont typeface="Arial" pitchFamily="34" charset="0"/>
              <a:buChar char="•"/>
              <a:defRPr/>
            </a:pPr>
            <a:r>
              <a:rPr lang="en-US" sz="2000" dirty="0" err="1">
                <a:solidFill>
                  <a:schemeClr val="tx1"/>
                </a:solidFill>
              </a:rPr>
              <a:t>OAuth</a:t>
            </a:r>
            <a:r>
              <a:rPr lang="en-US" sz="2000" dirty="0">
                <a:solidFill>
                  <a:schemeClr val="tx1"/>
                </a:solidFill>
              </a:rPr>
              <a:t> allows users to grant access to their.</a:t>
            </a:r>
          </a:p>
          <a:p>
            <a:pPr lvl="1">
              <a:buFont typeface="Arial" pitchFamily="34" charset="0"/>
              <a:buChar char="•"/>
              <a:defRPr/>
            </a:pPr>
            <a:r>
              <a:rPr lang="en-US" sz="2000" dirty="0" err="1">
                <a:solidFill>
                  <a:schemeClr val="tx1"/>
                </a:solidFill>
              </a:rPr>
              <a:t>OAuth</a:t>
            </a:r>
            <a:r>
              <a:rPr lang="en-US" sz="2000" dirty="0">
                <a:solidFill>
                  <a:schemeClr val="tx1"/>
                </a:solidFill>
              </a:rPr>
              <a:t> by itself provides no privacy at all and depends on other protocols such as SSL .</a:t>
            </a:r>
            <a:endParaRPr lang="en-US" sz="2000" b="1" dirty="0">
              <a:solidFill>
                <a:schemeClr val="tx1"/>
              </a:solidFill>
            </a:endParaRPr>
          </a:p>
          <a:p>
            <a:pPr>
              <a:buClr>
                <a:schemeClr val="accent1"/>
              </a:buClr>
              <a:buFont typeface="Wingdings" pitchFamily="2" charset="2"/>
              <a:buChar char="v"/>
              <a:defRPr/>
            </a:pPr>
            <a:endParaRPr lang="en-US" sz="2000" b="1" dirty="0">
              <a:solidFill>
                <a:schemeClr val="accent1"/>
              </a:solidFill>
            </a:endParaRPr>
          </a:p>
          <a:p>
            <a:pPr>
              <a:buClr>
                <a:srgbClr val="F07F09"/>
              </a:buClr>
              <a:buFont typeface="Wingdings" pitchFamily="2" charset="2"/>
              <a:buChar char="v"/>
              <a:defRPr/>
            </a:pPr>
            <a:endParaRPr lang="fa-IR" sz="2000" dirty="0">
              <a:solidFill>
                <a:schemeClr val="tx1"/>
              </a:solidFill>
            </a:endParaRPr>
          </a:p>
        </p:txBody>
      </p:sp>
      <p:pic>
        <p:nvPicPr>
          <p:cNvPr id="6" name="Picture 5" descr="11949848201138561364eye_01_svg_thumb.png"/>
          <p:cNvPicPr>
            <a:picLocks noChangeAspect="1"/>
          </p:cNvPicPr>
          <p:nvPr/>
        </p:nvPicPr>
        <p:blipFill>
          <a:blip r:embed="rId2"/>
          <a:stretch>
            <a:fillRect/>
          </a:stretch>
        </p:blipFill>
        <p:spPr>
          <a:xfrm>
            <a:off x="3092450" y="3962400"/>
            <a:ext cx="2851150" cy="28384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ppt_w</p:attrName>
                                        </p:attrNameLst>
                                      </p:cBhvr>
                                      <p:tavLst>
                                        <p:tav tm="0">
                                          <p:val>
                                            <p:fltVal val="0"/>
                                          </p:val>
                                        </p:tav>
                                        <p:tav tm="100000">
                                          <p:val>
                                            <p:strVal val="#ppt_w"/>
                                          </p:val>
                                        </p:tav>
                                      </p:tavLst>
                                    </p:anim>
                                    <p:anim calcmode="lin" valueType="num">
                                      <p:cBhvr>
                                        <p:cTn id="8" dur="20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609600"/>
            <a:ext cx="8229600" cy="715963"/>
          </a:xfrm>
        </p:spPr>
        <p:txBody>
          <a:bodyPr rtlCol="0">
            <a:normAutofit fontScale="90000"/>
          </a:bodyPr>
          <a:lstStyle/>
          <a:p>
            <a:pPr eaLnBrk="1" fontAlgn="auto" hangingPunct="1">
              <a:spcAft>
                <a:spcPts val="0"/>
              </a:spcAft>
              <a:defRPr/>
            </a:pPr>
            <a:r>
              <a:rPr lang="en-US" dirty="0" smtClean="0">
                <a:solidFill>
                  <a:schemeClr val="accent1">
                    <a:tint val="88000"/>
                    <a:satMod val="150000"/>
                  </a:schemeClr>
                </a:solidFill>
              </a:rPr>
              <a:t>Standards for Security</a:t>
            </a:r>
            <a:r>
              <a:rPr lang="en-AU" dirty="0" smtClean="0">
                <a:solidFill>
                  <a:schemeClr val="accent1">
                    <a:tint val="88000"/>
                    <a:satMod val="150000"/>
                  </a:schemeClr>
                </a:solidFill>
              </a:rPr>
              <a:t>(Cont’d)</a:t>
            </a:r>
            <a:endParaRPr lang="en-US" dirty="0" smtClean="0">
              <a:solidFill>
                <a:schemeClr val="accent1">
                  <a:tint val="88000"/>
                  <a:satMod val="150000"/>
                </a:schemeClr>
              </a:solidFill>
            </a:endParaRPr>
          </a:p>
        </p:txBody>
      </p:sp>
      <p:sp>
        <p:nvSpPr>
          <p:cNvPr id="5" name="Footer Placeholder 4"/>
          <p:cNvSpPr>
            <a:spLocks noGrp="1"/>
          </p:cNvSpPr>
          <p:nvPr>
            <p:ph type="ftr" sz="quarter" idx="11"/>
          </p:nvPr>
        </p:nvSpPr>
        <p:spPr>
          <a:xfrm>
            <a:off x="3505200" y="6172200"/>
            <a:ext cx="2286000" cy="365125"/>
          </a:xfrm>
        </p:spPr>
        <p:txBody>
          <a:bodyPr/>
          <a:lstStyle/>
          <a:p>
            <a:pPr algn="ctr">
              <a:defRPr/>
            </a:pPr>
            <a:r>
              <a:rPr lang="en-US" dirty="0"/>
              <a:t>Common Standards In Cloud Computing</a:t>
            </a:r>
          </a:p>
        </p:txBody>
      </p:sp>
      <p:sp>
        <p:nvSpPr>
          <p:cNvPr id="4" name="Slide Number Placeholder 3"/>
          <p:cNvSpPr>
            <a:spLocks noGrp="1"/>
          </p:cNvSpPr>
          <p:nvPr>
            <p:ph type="sldNum" sz="quarter" idx="12"/>
          </p:nvPr>
        </p:nvSpPr>
        <p:spPr/>
        <p:txBody>
          <a:bodyPr/>
          <a:lstStyle/>
          <a:p>
            <a:pPr>
              <a:defRPr/>
            </a:pPr>
            <a:fld id="{591B1844-F97A-478C-A2E6-A8D0B35146F1}" type="slidenum">
              <a:rPr lang="en-US"/>
              <a:pPr>
                <a:defRPr/>
              </a:pPr>
              <a:t>29</a:t>
            </a:fld>
            <a:endParaRPr lang="en-US"/>
          </a:p>
        </p:txBody>
      </p:sp>
      <p:sp>
        <p:nvSpPr>
          <p:cNvPr id="11" name="Rectangle 10"/>
          <p:cNvSpPr/>
          <p:nvPr/>
        </p:nvSpPr>
        <p:spPr>
          <a:xfrm>
            <a:off x="685800" y="2057400"/>
            <a:ext cx="80772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defRPr/>
            </a:pPr>
            <a:endParaRPr lang="en-US" sz="2000" b="1" dirty="0">
              <a:solidFill>
                <a:schemeClr val="accent1"/>
              </a:solidFill>
            </a:endParaRPr>
          </a:p>
          <a:p>
            <a:pPr>
              <a:buClr>
                <a:schemeClr val="accent1"/>
              </a:buClr>
              <a:buFont typeface="Wingdings" pitchFamily="2" charset="2"/>
              <a:buChar char="v"/>
              <a:defRPr/>
            </a:pPr>
            <a:endParaRPr lang="en-US" sz="2000" b="1" dirty="0">
              <a:solidFill>
                <a:schemeClr val="accent1"/>
              </a:solidFill>
            </a:endParaRPr>
          </a:p>
          <a:p>
            <a:pPr>
              <a:buClr>
                <a:schemeClr val="accent1"/>
              </a:buClr>
              <a:buFont typeface="Wingdings" pitchFamily="2" charset="2"/>
              <a:buChar char="v"/>
              <a:defRPr/>
            </a:pPr>
            <a:r>
              <a:rPr lang="en-US" sz="2000" b="1" dirty="0" err="1">
                <a:solidFill>
                  <a:schemeClr val="accent1"/>
                </a:solidFill>
              </a:rPr>
              <a:t>OpenID</a:t>
            </a:r>
            <a:endParaRPr lang="en-US" sz="2000" b="1" dirty="0">
              <a:solidFill>
                <a:schemeClr val="accent1"/>
              </a:solidFill>
            </a:endParaRPr>
          </a:p>
          <a:p>
            <a:pPr lvl="1">
              <a:buFont typeface="Arial" pitchFamily="34" charset="0"/>
              <a:buChar char="•"/>
              <a:defRPr/>
            </a:pPr>
            <a:r>
              <a:rPr lang="en-US" sz="2000" dirty="0" err="1">
                <a:solidFill>
                  <a:schemeClr val="tx1"/>
                </a:solidFill>
              </a:rPr>
              <a:t>OpenID</a:t>
            </a:r>
            <a:r>
              <a:rPr lang="en-US" sz="2000" dirty="0">
                <a:solidFill>
                  <a:schemeClr val="tx1"/>
                </a:solidFill>
              </a:rPr>
              <a:t> is an open, decentralized standard for user authentication.</a:t>
            </a:r>
          </a:p>
          <a:p>
            <a:pPr lvl="1">
              <a:buFont typeface="Arial" pitchFamily="34" charset="0"/>
              <a:buChar char="•"/>
              <a:defRPr/>
            </a:pPr>
            <a:r>
              <a:rPr lang="en-US" sz="2000" dirty="0">
                <a:solidFill>
                  <a:schemeClr val="tx1"/>
                </a:solidFill>
              </a:rPr>
              <a:t>And allows users to log on to many services using the same digital identity. </a:t>
            </a:r>
          </a:p>
          <a:p>
            <a:pPr lvl="1">
              <a:buFont typeface="Arial" pitchFamily="34" charset="0"/>
              <a:buChar char="•"/>
              <a:defRPr/>
            </a:pPr>
            <a:r>
              <a:rPr lang="en-US" sz="2000" dirty="0">
                <a:solidFill>
                  <a:schemeClr val="tx1"/>
                </a:solidFill>
              </a:rPr>
              <a:t>It is a single-sign-on (SSO) method of access control.</a:t>
            </a:r>
          </a:p>
          <a:p>
            <a:pPr lvl="1">
              <a:buFont typeface="Arial" pitchFamily="34" charset="0"/>
              <a:buChar char="•"/>
              <a:defRPr/>
            </a:pPr>
            <a:endParaRPr lang="en-US" sz="2000" dirty="0" err="1">
              <a:solidFill>
                <a:schemeClr val="tx1"/>
              </a:solidFill>
            </a:endParaRPr>
          </a:p>
          <a:p>
            <a:pPr>
              <a:buClr>
                <a:schemeClr val="accent1"/>
              </a:buClr>
              <a:buFont typeface="Wingdings" pitchFamily="2" charset="2"/>
              <a:buChar char="v"/>
              <a:defRPr/>
            </a:pPr>
            <a:r>
              <a:rPr lang="en-US" sz="2000" b="1" dirty="0">
                <a:solidFill>
                  <a:schemeClr val="accent1"/>
                </a:solidFill>
              </a:rPr>
              <a:t>SSL/TLS</a:t>
            </a:r>
          </a:p>
          <a:p>
            <a:pPr lvl="1">
              <a:buFont typeface="Arial" pitchFamily="34" charset="0"/>
              <a:buChar char="•"/>
              <a:defRPr/>
            </a:pPr>
            <a:r>
              <a:rPr lang="en-US" sz="2000" dirty="0">
                <a:solidFill>
                  <a:schemeClr val="tx1"/>
                </a:solidFill>
              </a:rPr>
              <a:t>TLS  or its predecessor SSL </a:t>
            </a:r>
          </a:p>
          <a:p>
            <a:pPr lvl="1">
              <a:buFont typeface="Arial" pitchFamily="34" charset="0"/>
              <a:buChar char="•"/>
              <a:defRPr/>
            </a:pPr>
            <a:r>
              <a:rPr lang="en-US" sz="2000" dirty="0">
                <a:solidFill>
                  <a:schemeClr val="tx1"/>
                </a:solidFill>
              </a:rPr>
              <a:t>To provide security and data integrity for communications.</a:t>
            </a:r>
          </a:p>
          <a:p>
            <a:pPr lvl="1">
              <a:buFont typeface="Arial" pitchFamily="34" charset="0"/>
              <a:buChar char="•"/>
              <a:defRPr/>
            </a:pPr>
            <a:r>
              <a:rPr lang="en-US" sz="2000" dirty="0">
                <a:solidFill>
                  <a:schemeClr val="tx1"/>
                </a:solidFill>
              </a:rPr>
              <a:t>To prevent eavesdropping, tampering, and message forgery.</a:t>
            </a:r>
          </a:p>
          <a:p>
            <a:pPr>
              <a:buClr>
                <a:srgbClr val="F07F09"/>
              </a:buClr>
              <a:buFont typeface="Wingdings" pitchFamily="2" charset="2"/>
              <a:buChar char="v"/>
              <a:defRPr/>
            </a:pPr>
            <a:endParaRPr lang="fa-IR" sz="2000" dirty="0">
              <a:solidFill>
                <a:schemeClr val="tx1"/>
              </a:solidFill>
            </a:endParaRPr>
          </a:p>
        </p:txBody>
      </p:sp>
      <p:pic>
        <p:nvPicPr>
          <p:cNvPr id="7" name="Picture 6" descr="11949848201138561364eye_01_svg_thumb.png"/>
          <p:cNvPicPr>
            <a:picLocks noChangeAspect="1"/>
          </p:cNvPicPr>
          <p:nvPr/>
        </p:nvPicPr>
        <p:blipFill>
          <a:blip r:embed="rId2"/>
          <a:stretch>
            <a:fillRect/>
          </a:stretch>
        </p:blipFill>
        <p:spPr>
          <a:xfrm>
            <a:off x="0" y="5791200"/>
            <a:ext cx="4724400" cy="1571625"/>
          </a:xfrm>
          <a:prstGeom prst="rect">
            <a:avLst/>
          </a:prstGeom>
          <a:ln>
            <a:noFill/>
          </a:ln>
          <a:effectLst>
            <a:outerShdw blurRad="292100" dist="139700" dir="2700000" algn="tl" rotWithShape="0">
              <a:srgbClr val="333333">
                <a:alpha val="65000"/>
              </a:srgbClr>
            </a:outerShdw>
          </a:effectLst>
        </p:spPr>
      </p:pic>
      <p:pic>
        <p:nvPicPr>
          <p:cNvPr id="8" name="Picture 7" descr="11949848201138561364eye_01_svg_thumb.png"/>
          <p:cNvPicPr>
            <a:picLocks noChangeAspect="1"/>
          </p:cNvPicPr>
          <p:nvPr/>
        </p:nvPicPr>
        <p:blipFill>
          <a:blip r:embed="rId3"/>
          <a:stretch>
            <a:fillRect/>
          </a:stretch>
        </p:blipFill>
        <p:spPr>
          <a:xfrm>
            <a:off x="5105400" y="5715000"/>
            <a:ext cx="4724400" cy="22860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2000"/>
                                        <p:tgtEl>
                                          <p:spTgt spid="11">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2000"/>
                                        <p:tgtEl>
                                          <p:spTgt spid="11">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2000"/>
                                        <p:tgtEl>
                                          <p:spTgt spid="11">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animEffect transition="in" filter="fade">
                                      <p:cBhvr>
                                        <p:cTn id="19" dur="2000"/>
                                        <p:tgtEl>
                                          <p:spTgt spid="11">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xit" presetSubtype="0" fill="hold" nodeType="clickEffect">
                                  <p:stCondLst>
                                    <p:cond delay="0"/>
                                  </p:stCondLst>
                                  <p:childTnLst>
                                    <p:anim calcmode="lin" valueType="num">
                                      <p:cBhvr>
                                        <p:cTn id="23" dur="1000"/>
                                        <p:tgtEl>
                                          <p:spTgt spid="11">
                                            <p:txEl>
                                              <p:pRg st="2" end="2"/>
                                            </p:txEl>
                                          </p:spTgt>
                                        </p:tgtEl>
                                        <p:attrNameLst>
                                          <p:attrName>ppt_w</p:attrName>
                                        </p:attrNameLst>
                                      </p:cBhvr>
                                      <p:tavLst>
                                        <p:tav tm="0">
                                          <p:val>
                                            <p:strVal val="ppt_w"/>
                                          </p:val>
                                        </p:tav>
                                        <p:tav tm="100000">
                                          <p:val>
                                            <p:strVal val="ppt_w*0.70"/>
                                          </p:val>
                                        </p:tav>
                                      </p:tavLst>
                                    </p:anim>
                                    <p:anim calcmode="lin" valueType="num">
                                      <p:cBhvr>
                                        <p:cTn id="24" dur="1000"/>
                                        <p:tgtEl>
                                          <p:spTgt spid="11">
                                            <p:txEl>
                                              <p:pRg st="2" end="2"/>
                                            </p:txEl>
                                          </p:spTgt>
                                        </p:tgtEl>
                                        <p:attrNameLst>
                                          <p:attrName>ppt_h</p:attrName>
                                        </p:attrNameLst>
                                      </p:cBhvr>
                                      <p:tavLst>
                                        <p:tav tm="0">
                                          <p:val>
                                            <p:strVal val="ppt_h"/>
                                          </p:val>
                                        </p:tav>
                                        <p:tav tm="100000">
                                          <p:val>
                                            <p:strVal val="ppt_h"/>
                                          </p:val>
                                        </p:tav>
                                      </p:tavLst>
                                    </p:anim>
                                    <p:animEffect transition="out" filter="fade">
                                      <p:cBhvr>
                                        <p:cTn id="25" dur="1000"/>
                                        <p:tgtEl>
                                          <p:spTgt spid="11">
                                            <p:txEl>
                                              <p:pRg st="2" end="2"/>
                                            </p:txEl>
                                          </p:spTgt>
                                        </p:tgtEl>
                                      </p:cBhvr>
                                    </p:animEffect>
                                    <p:set>
                                      <p:cBhvr>
                                        <p:cTn id="26" dur="1" fill="hold">
                                          <p:stCondLst>
                                            <p:cond delay="999"/>
                                          </p:stCondLst>
                                        </p:cTn>
                                        <p:tgtEl>
                                          <p:spTgt spid="11">
                                            <p:txEl>
                                              <p:pRg st="2" end="2"/>
                                            </p:txEl>
                                          </p:spTgt>
                                        </p:tgtEl>
                                        <p:attrNameLst>
                                          <p:attrName>style.visibility</p:attrName>
                                        </p:attrNameLst>
                                      </p:cBhvr>
                                      <p:to>
                                        <p:strVal val="hidden"/>
                                      </p:to>
                                    </p:set>
                                  </p:childTnLst>
                                </p:cTn>
                              </p:par>
                              <p:par>
                                <p:cTn id="27" presetID="55" presetClass="exit" presetSubtype="0" fill="hold" nodeType="withEffect">
                                  <p:stCondLst>
                                    <p:cond delay="0"/>
                                  </p:stCondLst>
                                  <p:childTnLst>
                                    <p:anim calcmode="lin" valueType="num">
                                      <p:cBhvr>
                                        <p:cTn id="28" dur="1000"/>
                                        <p:tgtEl>
                                          <p:spTgt spid="11">
                                            <p:txEl>
                                              <p:pRg st="3" end="3"/>
                                            </p:txEl>
                                          </p:spTgt>
                                        </p:tgtEl>
                                        <p:attrNameLst>
                                          <p:attrName>ppt_w</p:attrName>
                                        </p:attrNameLst>
                                      </p:cBhvr>
                                      <p:tavLst>
                                        <p:tav tm="0">
                                          <p:val>
                                            <p:strVal val="ppt_w"/>
                                          </p:val>
                                        </p:tav>
                                        <p:tav tm="100000">
                                          <p:val>
                                            <p:strVal val="ppt_w*0.70"/>
                                          </p:val>
                                        </p:tav>
                                      </p:tavLst>
                                    </p:anim>
                                    <p:anim calcmode="lin" valueType="num">
                                      <p:cBhvr>
                                        <p:cTn id="29" dur="1000"/>
                                        <p:tgtEl>
                                          <p:spTgt spid="11">
                                            <p:txEl>
                                              <p:pRg st="3" end="3"/>
                                            </p:txEl>
                                          </p:spTgt>
                                        </p:tgtEl>
                                        <p:attrNameLst>
                                          <p:attrName>ppt_h</p:attrName>
                                        </p:attrNameLst>
                                      </p:cBhvr>
                                      <p:tavLst>
                                        <p:tav tm="0">
                                          <p:val>
                                            <p:strVal val="ppt_h"/>
                                          </p:val>
                                        </p:tav>
                                        <p:tav tm="100000">
                                          <p:val>
                                            <p:strVal val="ppt_h"/>
                                          </p:val>
                                        </p:tav>
                                      </p:tavLst>
                                    </p:anim>
                                    <p:animEffect transition="out" filter="fade">
                                      <p:cBhvr>
                                        <p:cTn id="30" dur="1000"/>
                                        <p:tgtEl>
                                          <p:spTgt spid="11">
                                            <p:txEl>
                                              <p:pRg st="3" end="3"/>
                                            </p:txEl>
                                          </p:spTgt>
                                        </p:tgtEl>
                                      </p:cBhvr>
                                    </p:animEffect>
                                    <p:set>
                                      <p:cBhvr>
                                        <p:cTn id="31" dur="1" fill="hold">
                                          <p:stCondLst>
                                            <p:cond delay="999"/>
                                          </p:stCondLst>
                                        </p:cTn>
                                        <p:tgtEl>
                                          <p:spTgt spid="11">
                                            <p:txEl>
                                              <p:pRg st="3" end="3"/>
                                            </p:txEl>
                                          </p:spTgt>
                                        </p:tgtEl>
                                        <p:attrNameLst>
                                          <p:attrName>style.visibility</p:attrName>
                                        </p:attrNameLst>
                                      </p:cBhvr>
                                      <p:to>
                                        <p:strVal val="hidden"/>
                                      </p:to>
                                    </p:set>
                                  </p:childTnLst>
                                </p:cTn>
                              </p:par>
                              <p:par>
                                <p:cTn id="32" presetID="55" presetClass="exit" presetSubtype="0" fill="hold" nodeType="withEffect">
                                  <p:stCondLst>
                                    <p:cond delay="0"/>
                                  </p:stCondLst>
                                  <p:childTnLst>
                                    <p:anim calcmode="lin" valueType="num">
                                      <p:cBhvr>
                                        <p:cTn id="33" dur="1000"/>
                                        <p:tgtEl>
                                          <p:spTgt spid="11">
                                            <p:txEl>
                                              <p:pRg st="4" end="4"/>
                                            </p:txEl>
                                          </p:spTgt>
                                        </p:tgtEl>
                                        <p:attrNameLst>
                                          <p:attrName>ppt_w</p:attrName>
                                        </p:attrNameLst>
                                      </p:cBhvr>
                                      <p:tavLst>
                                        <p:tav tm="0">
                                          <p:val>
                                            <p:strVal val="ppt_w"/>
                                          </p:val>
                                        </p:tav>
                                        <p:tav tm="100000">
                                          <p:val>
                                            <p:strVal val="ppt_w*0.70"/>
                                          </p:val>
                                        </p:tav>
                                      </p:tavLst>
                                    </p:anim>
                                    <p:anim calcmode="lin" valueType="num">
                                      <p:cBhvr>
                                        <p:cTn id="34" dur="1000"/>
                                        <p:tgtEl>
                                          <p:spTgt spid="11">
                                            <p:txEl>
                                              <p:pRg st="4" end="4"/>
                                            </p:txEl>
                                          </p:spTgt>
                                        </p:tgtEl>
                                        <p:attrNameLst>
                                          <p:attrName>ppt_h</p:attrName>
                                        </p:attrNameLst>
                                      </p:cBhvr>
                                      <p:tavLst>
                                        <p:tav tm="0">
                                          <p:val>
                                            <p:strVal val="ppt_h"/>
                                          </p:val>
                                        </p:tav>
                                        <p:tav tm="100000">
                                          <p:val>
                                            <p:strVal val="ppt_h"/>
                                          </p:val>
                                        </p:tav>
                                      </p:tavLst>
                                    </p:anim>
                                    <p:animEffect transition="out" filter="fade">
                                      <p:cBhvr>
                                        <p:cTn id="35" dur="1000"/>
                                        <p:tgtEl>
                                          <p:spTgt spid="11">
                                            <p:txEl>
                                              <p:pRg st="4" end="4"/>
                                            </p:txEl>
                                          </p:spTgt>
                                        </p:tgtEl>
                                      </p:cBhvr>
                                    </p:animEffect>
                                    <p:set>
                                      <p:cBhvr>
                                        <p:cTn id="36" dur="1" fill="hold">
                                          <p:stCondLst>
                                            <p:cond delay="999"/>
                                          </p:stCondLst>
                                        </p:cTn>
                                        <p:tgtEl>
                                          <p:spTgt spid="11">
                                            <p:txEl>
                                              <p:pRg st="4" end="4"/>
                                            </p:txEl>
                                          </p:spTgt>
                                        </p:tgtEl>
                                        <p:attrNameLst>
                                          <p:attrName>style.visibility</p:attrName>
                                        </p:attrNameLst>
                                      </p:cBhvr>
                                      <p:to>
                                        <p:strVal val="hidden"/>
                                      </p:to>
                                    </p:set>
                                  </p:childTnLst>
                                </p:cTn>
                              </p:par>
                              <p:par>
                                <p:cTn id="37" presetID="55" presetClass="exit" presetSubtype="0" fill="hold" nodeType="withEffect">
                                  <p:stCondLst>
                                    <p:cond delay="0"/>
                                  </p:stCondLst>
                                  <p:childTnLst>
                                    <p:anim calcmode="lin" valueType="num">
                                      <p:cBhvr>
                                        <p:cTn id="38" dur="1000"/>
                                        <p:tgtEl>
                                          <p:spTgt spid="11">
                                            <p:txEl>
                                              <p:pRg st="5" end="5"/>
                                            </p:txEl>
                                          </p:spTgt>
                                        </p:tgtEl>
                                        <p:attrNameLst>
                                          <p:attrName>ppt_w</p:attrName>
                                        </p:attrNameLst>
                                      </p:cBhvr>
                                      <p:tavLst>
                                        <p:tav tm="0">
                                          <p:val>
                                            <p:strVal val="ppt_w"/>
                                          </p:val>
                                        </p:tav>
                                        <p:tav tm="100000">
                                          <p:val>
                                            <p:strVal val="ppt_w*0.70"/>
                                          </p:val>
                                        </p:tav>
                                      </p:tavLst>
                                    </p:anim>
                                    <p:anim calcmode="lin" valueType="num">
                                      <p:cBhvr>
                                        <p:cTn id="39" dur="1000"/>
                                        <p:tgtEl>
                                          <p:spTgt spid="11">
                                            <p:txEl>
                                              <p:pRg st="5" end="5"/>
                                            </p:txEl>
                                          </p:spTgt>
                                        </p:tgtEl>
                                        <p:attrNameLst>
                                          <p:attrName>ppt_h</p:attrName>
                                        </p:attrNameLst>
                                      </p:cBhvr>
                                      <p:tavLst>
                                        <p:tav tm="0">
                                          <p:val>
                                            <p:strVal val="ppt_h"/>
                                          </p:val>
                                        </p:tav>
                                        <p:tav tm="100000">
                                          <p:val>
                                            <p:strVal val="ppt_h"/>
                                          </p:val>
                                        </p:tav>
                                      </p:tavLst>
                                    </p:anim>
                                    <p:animEffect transition="out" filter="fade">
                                      <p:cBhvr>
                                        <p:cTn id="40" dur="1000"/>
                                        <p:tgtEl>
                                          <p:spTgt spid="11">
                                            <p:txEl>
                                              <p:pRg st="5" end="5"/>
                                            </p:txEl>
                                          </p:spTgt>
                                        </p:tgtEl>
                                      </p:cBhvr>
                                    </p:animEffect>
                                    <p:set>
                                      <p:cBhvr>
                                        <p:cTn id="41" dur="1" fill="hold">
                                          <p:stCondLst>
                                            <p:cond delay="999"/>
                                          </p:stCondLst>
                                        </p:cTn>
                                        <p:tgtEl>
                                          <p:spTgt spid="11">
                                            <p:txEl>
                                              <p:pRg st="5" end="5"/>
                                            </p:txEl>
                                          </p:spTgt>
                                        </p:tgtEl>
                                        <p:attrNameLst>
                                          <p:attrName>style.visibility</p:attrName>
                                        </p:attrNameLst>
                                      </p:cBhvr>
                                      <p:to>
                                        <p:strVal val="hidden"/>
                                      </p:to>
                                    </p:set>
                                  </p:childTnLst>
                                </p:cTn>
                              </p:par>
                              <p:par>
                                <p:cTn id="42" presetID="55" presetClass="exit" presetSubtype="0" fill="hold" nodeType="withEffect">
                                  <p:stCondLst>
                                    <p:cond delay="0"/>
                                  </p:stCondLst>
                                  <p:childTnLst>
                                    <p:anim calcmode="lin" valueType="num">
                                      <p:cBhvr>
                                        <p:cTn id="43" dur="1000"/>
                                        <p:tgtEl>
                                          <p:spTgt spid="7"/>
                                        </p:tgtEl>
                                        <p:attrNameLst>
                                          <p:attrName>ppt_w</p:attrName>
                                        </p:attrNameLst>
                                      </p:cBhvr>
                                      <p:tavLst>
                                        <p:tav tm="0">
                                          <p:val>
                                            <p:strVal val="ppt_w"/>
                                          </p:val>
                                        </p:tav>
                                        <p:tav tm="100000">
                                          <p:val>
                                            <p:strVal val="ppt_w*0.70"/>
                                          </p:val>
                                        </p:tav>
                                      </p:tavLst>
                                    </p:anim>
                                    <p:anim calcmode="lin" valueType="num">
                                      <p:cBhvr>
                                        <p:cTn id="44" dur="1000"/>
                                        <p:tgtEl>
                                          <p:spTgt spid="7"/>
                                        </p:tgtEl>
                                        <p:attrNameLst>
                                          <p:attrName>ppt_h</p:attrName>
                                        </p:attrNameLst>
                                      </p:cBhvr>
                                      <p:tavLst>
                                        <p:tav tm="0">
                                          <p:val>
                                            <p:strVal val="ppt_h"/>
                                          </p:val>
                                        </p:tav>
                                        <p:tav tm="100000">
                                          <p:val>
                                            <p:strVal val="ppt_h"/>
                                          </p:val>
                                        </p:tav>
                                      </p:tavLst>
                                    </p:anim>
                                    <p:animEffect transition="out" filter="fade">
                                      <p:cBhvr>
                                        <p:cTn id="45" dur="1000"/>
                                        <p:tgtEl>
                                          <p:spTgt spid="7"/>
                                        </p:tgtEl>
                                      </p:cBhvr>
                                    </p:animEffect>
                                    <p:set>
                                      <p:cBhvr>
                                        <p:cTn id="46" dur="1" fill="hold">
                                          <p:stCondLst>
                                            <p:cond delay="999"/>
                                          </p:stCondLst>
                                        </p:cTn>
                                        <p:tgtEl>
                                          <p:spTgt spid="7"/>
                                        </p:tgtEl>
                                        <p:attrNameLst>
                                          <p:attrName>style.visibility</p:attrName>
                                        </p:attrNameLst>
                                      </p:cBhvr>
                                      <p:to>
                                        <p:strVal val="hidden"/>
                                      </p:to>
                                    </p:se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11">
                                            <p:txEl>
                                              <p:pRg st="7" end="7"/>
                                            </p:txEl>
                                          </p:spTgt>
                                        </p:tgtEl>
                                        <p:attrNameLst>
                                          <p:attrName>style.visibility</p:attrName>
                                        </p:attrNameLst>
                                      </p:cBhvr>
                                      <p:to>
                                        <p:strVal val="visible"/>
                                      </p:to>
                                    </p:set>
                                    <p:animEffect transition="in" filter="fade">
                                      <p:cBhvr>
                                        <p:cTn id="50" dur="2000"/>
                                        <p:tgtEl>
                                          <p:spTgt spid="11">
                                            <p:txEl>
                                              <p:pRg st="7" end="7"/>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
                                            <p:txEl>
                                              <p:pRg st="8" end="8"/>
                                            </p:txEl>
                                          </p:spTgt>
                                        </p:tgtEl>
                                        <p:attrNameLst>
                                          <p:attrName>style.visibility</p:attrName>
                                        </p:attrNameLst>
                                      </p:cBhvr>
                                      <p:to>
                                        <p:strVal val="visible"/>
                                      </p:to>
                                    </p:set>
                                    <p:animEffect transition="in" filter="fade">
                                      <p:cBhvr>
                                        <p:cTn id="53" dur="2000"/>
                                        <p:tgtEl>
                                          <p:spTgt spid="11">
                                            <p:txEl>
                                              <p:pRg st="8" end="8"/>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1">
                                            <p:txEl>
                                              <p:pRg st="9" end="9"/>
                                            </p:txEl>
                                          </p:spTgt>
                                        </p:tgtEl>
                                        <p:attrNameLst>
                                          <p:attrName>style.visibility</p:attrName>
                                        </p:attrNameLst>
                                      </p:cBhvr>
                                      <p:to>
                                        <p:strVal val="visible"/>
                                      </p:to>
                                    </p:set>
                                    <p:animEffect transition="in" filter="fade">
                                      <p:cBhvr>
                                        <p:cTn id="56" dur="2000"/>
                                        <p:tgtEl>
                                          <p:spTgt spid="11">
                                            <p:txEl>
                                              <p:pRg st="9" end="9"/>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xEl>
                                              <p:pRg st="10" end="10"/>
                                            </p:txEl>
                                          </p:spTgt>
                                        </p:tgtEl>
                                        <p:attrNameLst>
                                          <p:attrName>style.visibility</p:attrName>
                                        </p:attrNameLst>
                                      </p:cBhvr>
                                      <p:to>
                                        <p:strVal val="visible"/>
                                      </p:to>
                                    </p:set>
                                    <p:animEffect transition="in" filter="fade">
                                      <p:cBhvr>
                                        <p:cTn id="59" dur="2000"/>
                                        <p:tgtEl>
                                          <p:spTgt spid="11">
                                            <p:txEl>
                                              <p:pRg st="10" end="10"/>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b="1" dirty="0" smtClean="0"/>
          </a:p>
          <a:p>
            <a:endParaRPr lang="en-US" b="1" dirty="0" smtClean="0"/>
          </a:p>
          <a:p>
            <a:endParaRPr lang="en-US" b="1" dirty="0" smtClean="0"/>
          </a:p>
          <a:p>
            <a:pPr>
              <a:buNone/>
            </a:pPr>
            <a:r>
              <a:rPr lang="en-US" b="1" dirty="0" smtClean="0"/>
              <a:t>Syndication (Atom, Atom Publishing Protocol, and RSS)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Syndication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sz="2000" dirty="0" smtClean="0"/>
              <a:t>Syndication </a:t>
            </a:r>
          </a:p>
          <a:p>
            <a:r>
              <a:rPr lang="en-US" sz="2000" dirty="0" smtClean="0"/>
              <a:t>noun: </a:t>
            </a:r>
            <a:r>
              <a:rPr lang="en-US" sz="2000" b="1" dirty="0" smtClean="0"/>
              <a:t>syndication</a:t>
            </a:r>
            <a:r>
              <a:rPr lang="en-US" sz="2000" dirty="0" smtClean="0"/>
              <a:t>; plural noun: </a:t>
            </a:r>
            <a:r>
              <a:rPr lang="en-US" sz="2000" b="1" dirty="0" smtClean="0"/>
              <a:t>syndications</a:t>
            </a:r>
          </a:p>
          <a:p>
            <a:endParaRPr lang="en-US" sz="2000" dirty="0" smtClean="0"/>
          </a:p>
          <a:p>
            <a:r>
              <a:rPr lang="en-US" sz="2000" dirty="0" smtClean="0"/>
              <a:t>the transfer of something for control or management by a group of individuals or organizations. "the syndication of loans to investors“</a:t>
            </a:r>
          </a:p>
          <a:p>
            <a:endParaRPr lang="en-US" sz="2000" dirty="0" smtClean="0"/>
          </a:p>
          <a:p>
            <a:r>
              <a:rPr lang="en-US" sz="2000" dirty="0" smtClean="0"/>
              <a:t>the sale or licensing of material for publication or broadcasting by a number of television stations, periodicals, etc.</a:t>
            </a:r>
          </a:p>
          <a:p>
            <a:endParaRPr lang="en-US" sz="2000" dirty="0" smtClean="0"/>
          </a:p>
          <a:p>
            <a:r>
              <a:rPr lang="en-US" sz="2000" dirty="0" smtClean="0"/>
              <a:t>"100 episodes of programming are available for television syndication“</a:t>
            </a:r>
          </a:p>
          <a:p>
            <a:endParaRPr lang="en-US" sz="2000" dirty="0" smtClean="0"/>
          </a:p>
          <a:p>
            <a:r>
              <a:rPr lang="en-US" sz="2000" b="1" dirty="0" smtClean="0"/>
              <a:t>Synonyms</a:t>
            </a:r>
            <a:r>
              <a:rPr lang="en-US" sz="2000" dirty="0" smtClean="0"/>
              <a:t> of </a:t>
            </a:r>
            <a:r>
              <a:rPr lang="en-US" sz="2000" b="1" dirty="0" smtClean="0"/>
              <a:t>syndicate</a:t>
            </a:r>
            <a:r>
              <a:rPr lang="en-US" sz="2000" dirty="0" smtClean="0"/>
              <a:t>. cabal, conspiracy, crew, gang, Mafia, mob, ring. Words Related to </a:t>
            </a:r>
            <a:r>
              <a:rPr lang="en-US" sz="2000" b="1" dirty="0" smtClean="0"/>
              <a:t>syndicate</a:t>
            </a:r>
            <a:r>
              <a:rPr lang="en-US" sz="2000" dirty="0" smtClean="0"/>
              <a:t>. bunch, circle, clan, clique, coterie, coven, crowd, </a:t>
            </a:r>
            <a:r>
              <a:rPr lang="en-US" sz="2000" dirty="0" err="1" smtClean="0"/>
              <a:t>galère</a:t>
            </a:r>
            <a:r>
              <a:rPr lang="en-US" sz="2000" dirty="0" smtClean="0"/>
              <a:t>, lot, network, pack, set.</a:t>
            </a:r>
          </a:p>
          <a:p>
            <a:endParaRPr lang="en-US" sz="2000" dirty="0" smtClean="0"/>
          </a:p>
          <a:p>
            <a:r>
              <a:rPr lang="en-US" sz="2000" dirty="0" smtClean="0"/>
              <a:t>Ex:  Supply of content (articles, cartoons, stories, etc.) or information (business and economic data, news stories, etc.) on a subscription basis to marketers or media (periodicals, radio and television, websites). </a:t>
            </a:r>
            <a:br>
              <a:rPr lang="en-US" sz="2000" dirty="0" smtClean="0"/>
            </a:br>
            <a:r>
              <a:rPr lang="en-US" sz="2000" dirty="0" smtClean="0"/>
              <a:t/>
            </a:r>
            <a:br>
              <a:rPr lang="en-US" sz="2000" dirty="0" smtClean="0"/>
            </a:br>
            <a:endParaRPr lang="en-US" sz="2000" dirty="0" smtClean="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Web Content Syndication</a:t>
            </a:r>
            <a:endParaRPr lang="en-US" dirty="0"/>
          </a:p>
        </p:txBody>
      </p:sp>
      <p:sp>
        <p:nvSpPr>
          <p:cNvPr id="3" name="Content Placeholder 2"/>
          <p:cNvSpPr>
            <a:spLocks noGrp="1"/>
          </p:cNvSpPr>
          <p:nvPr>
            <p:ph idx="1"/>
          </p:nvPr>
        </p:nvSpPr>
        <p:spPr/>
        <p:txBody>
          <a:bodyPr>
            <a:normAutofit lnSpcReduction="10000"/>
          </a:bodyPr>
          <a:lstStyle/>
          <a:p>
            <a:r>
              <a:rPr lang="en-US" dirty="0" smtClean="0"/>
              <a:t>Web content syndication is a process in which materials of the transmitting website are distributed around various receiving sites.</a:t>
            </a:r>
          </a:p>
          <a:p>
            <a:r>
              <a:rPr lang="en-US" dirty="0" smtClean="0"/>
              <a:t>In most cases, Web syndication means making Web feeds available from a source site to other sites with an update or summary of the website's freshly added content, for instance, forum posts or the latest news regarding the site. </a:t>
            </a:r>
            <a:endParaRPr lang="en-US" b="1" dirty="0" smtClean="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5" name="TextBox 4"/>
          <p:cNvSpPr txBox="1"/>
          <p:nvPr/>
        </p:nvSpPr>
        <p:spPr>
          <a:xfrm>
            <a:off x="838200" y="2133600"/>
            <a:ext cx="6629400" cy="3970318"/>
          </a:xfrm>
          <a:prstGeom prst="rect">
            <a:avLst/>
          </a:prstGeom>
          <a:noFill/>
        </p:spPr>
        <p:txBody>
          <a:bodyPr wrap="square" rtlCol="0">
            <a:spAutoFit/>
          </a:bodyPr>
          <a:lstStyle/>
          <a:p>
            <a:r>
              <a:rPr lang="en-US" sz="3600" dirty="0" smtClean="0"/>
              <a:t>1.Which of the following  technology is used for syndicate content?</a:t>
            </a:r>
          </a:p>
          <a:p>
            <a:pPr marL="342900" indent="-342900">
              <a:buAutoNum type="alphaLcParenR"/>
            </a:pPr>
            <a:r>
              <a:rPr lang="en-US" sz="3600" dirty="0" smtClean="0"/>
              <a:t>AJAX</a:t>
            </a:r>
          </a:p>
          <a:p>
            <a:pPr marL="342900" indent="-342900">
              <a:buAutoNum type="alphaLcParenR"/>
            </a:pPr>
            <a:r>
              <a:rPr lang="en-US" sz="3600" dirty="0" smtClean="0"/>
              <a:t>RSS</a:t>
            </a:r>
          </a:p>
          <a:p>
            <a:pPr marL="342900" indent="-342900">
              <a:buAutoNum type="alphaLcParenR"/>
            </a:pPr>
            <a:r>
              <a:rPr lang="en-US" sz="3600" dirty="0" smtClean="0"/>
              <a:t>Java Script</a:t>
            </a:r>
          </a:p>
          <a:p>
            <a:pPr marL="342900" indent="-342900">
              <a:buAutoNum type="alphaLcParenR"/>
            </a:pPr>
            <a:r>
              <a:rPr lang="en-US" sz="3600" dirty="0" smtClean="0"/>
              <a:t>All of the mentioned</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6" name="TextBox 5"/>
          <p:cNvSpPr txBox="1"/>
          <p:nvPr/>
        </p:nvSpPr>
        <p:spPr>
          <a:xfrm>
            <a:off x="914400" y="1524000"/>
            <a:ext cx="6553200" cy="4832092"/>
          </a:xfrm>
          <a:prstGeom prst="rect">
            <a:avLst/>
          </a:prstGeom>
          <a:noFill/>
        </p:spPr>
        <p:txBody>
          <a:bodyPr wrap="square" rtlCol="0">
            <a:spAutoFit/>
          </a:bodyPr>
          <a:lstStyle/>
          <a:p>
            <a:r>
              <a:rPr lang="en-US" sz="2800" dirty="0" smtClean="0"/>
              <a:t>1.Which of the following  technology is used for syndicate content?</a:t>
            </a:r>
          </a:p>
          <a:p>
            <a:pPr marL="342900" indent="-342900">
              <a:buAutoNum type="alphaLcParenR"/>
            </a:pPr>
            <a:r>
              <a:rPr lang="en-US" sz="2800" dirty="0" smtClean="0"/>
              <a:t>AJAX</a:t>
            </a:r>
          </a:p>
          <a:p>
            <a:pPr marL="342900" indent="-342900">
              <a:buAutoNum type="alphaLcParenR"/>
            </a:pPr>
            <a:r>
              <a:rPr lang="en-US" sz="2800" dirty="0" smtClean="0"/>
              <a:t>RSS</a:t>
            </a:r>
          </a:p>
          <a:p>
            <a:pPr marL="342900" indent="-342900">
              <a:buAutoNum type="alphaLcParenR"/>
            </a:pPr>
            <a:r>
              <a:rPr lang="en-US" sz="2800" dirty="0" smtClean="0"/>
              <a:t>Java Script</a:t>
            </a:r>
          </a:p>
          <a:p>
            <a:pPr marL="342900" indent="-342900">
              <a:buAutoNum type="alphaLcParenR"/>
            </a:pPr>
            <a:r>
              <a:rPr lang="en-US" sz="2800" dirty="0" smtClean="0"/>
              <a:t>All of the mentioned</a:t>
            </a:r>
          </a:p>
          <a:p>
            <a:pPr marL="342900" indent="-342900">
              <a:buAutoNum type="alphaLcParenR"/>
            </a:pPr>
            <a:endParaRPr lang="en-US" sz="2800" dirty="0" smtClean="0"/>
          </a:p>
          <a:p>
            <a:pPr marL="342900" indent="-342900"/>
            <a:r>
              <a:rPr lang="en-US" sz="2800" dirty="0" smtClean="0"/>
              <a:t>Answer: b</a:t>
            </a:r>
          </a:p>
          <a:p>
            <a:pPr marL="342900" indent="-342900"/>
            <a:r>
              <a:rPr lang="en-US" sz="2800" dirty="0" smtClean="0"/>
              <a:t>Explanation: RSS stands for </a:t>
            </a:r>
            <a:r>
              <a:rPr lang="en-US" sz="2800" b="1" u="sng" dirty="0" smtClean="0"/>
              <a:t>RSS(Really Simple Syndication)</a:t>
            </a:r>
          </a:p>
          <a:p>
            <a:pPr marL="342900" indent="-342900"/>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09600"/>
            <a:ext cx="9144000" cy="369332"/>
          </a:xfrm>
          <a:prstGeom prst="rect">
            <a:avLst/>
          </a:prstGeom>
          <a:noFill/>
        </p:spPr>
        <p:txBody>
          <a:bodyPr wrap="square" rtlCol="0">
            <a:spAutoFit/>
          </a:bodyPr>
          <a:lstStyle/>
          <a:p>
            <a:pPr algn="ctr"/>
            <a:r>
              <a:rPr lang="en-US" b="1" dirty="0" smtClean="0"/>
              <a:t>What is RSS and Atom all about? </a:t>
            </a:r>
            <a:endParaRPr lang="en-US" b="1" dirty="0"/>
          </a:p>
        </p:txBody>
      </p:sp>
      <p:sp>
        <p:nvSpPr>
          <p:cNvPr id="16" name="TextBox 15"/>
          <p:cNvSpPr txBox="1"/>
          <p:nvPr/>
        </p:nvSpPr>
        <p:spPr>
          <a:xfrm>
            <a:off x="990600" y="1371600"/>
            <a:ext cx="7162800" cy="646331"/>
          </a:xfrm>
          <a:prstGeom prst="rect">
            <a:avLst/>
          </a:prstGeom>
          <a:noFill/>
        </p:spPr>
        <p:txBody>
          <a:bodyPr wrap="square" rtlCol="0">
            <a:spAutoFit/>
          </a:bodyPr>
          <a:lstStyle/>
          <a:p>
            <a:pPr marL="119063" indent="-119063"/>
            <a:r>
              <a:rPr lang="en-US" dirty="0" smtClean="0"/>
              <a:t>- They are a form of communication using XML documents to broadcast information updates to a large group of subscribers.  </a:t>
            </a:r>
            <a:endParaRPr lang="en-US" dirty="0"/>
          </a:p>
        </p:txBody>
      </p:sp>
      <p:sp>
        <p:nvSpPr>
          <p:cNvPr id="17" name="TextBox 16"/>
          <p:cNvSpPr txBox="1"/>
          <p:nvPr/>
        </p:nvSpPr>
        <p:spPr>
          <a:xfrm>
            <a:off x="0" y="2667000"/>
            <a:ext cx="9144000" cy="369332"/>
          </a:xfrm>
          <a:prstGeom prst="rect">
            <a:avLst/>
          </a:prstGeom>
          <a:noFill/>
        </p:spPr>
        <p:txBody>
          <a:bodyPr wrap="square" rtlCol="0">
            <a:spAutoFit/>
          </a:bodyPr>
          <a:lstStyle/>
          <a:p>
            <a:pPr algn="ctr"/>
            <a:r>
              <a:rPr lang="en-US" b="1" dirty="0" smtClean="0"/>
              <a:t>How it works and its benefit.</a:t>
            </a:r>
            <a:endParaRPr lang="en-US" b="1" dirty="0"/>
          </a:p>
        </p:txBody>
      </p:sp>
      <p:sp>
        <p:nvSpPr>
          <p:cNvPr id="18" name="TextBox 17"/>
          <p:cNvSpPr txBox="1"/>
          <p:nvPr/>
        </p:nvSpPr>
        <p:spPr>
          <a:xfrm>
            <a:off x="3352800" y="3429000"/>
            <a:ext cx="2157770" cy="369332"/>
          </a:xfrm>
          <a:prstGeom prst="rect">
            <a:avLst/>
          </a:prstGeom>
          <a:noFill/>
        </p:spPr>
        <p:txBody>
          <a:bodyPr wrap="none" rtlCol="0">
            <a:spAutoFit/>
          </a:bodyPr>
          <a:lstStyle/>
          <a:p>
            <a:pPr algn="ctr"/>
            <a:r>
              <a:rPr lang="en-US" dirty="0" smtClean="0"/>
              <a:t>Before RSS and Atom</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2133601" y="4419602"/>
            <a:ext cx="1197523" cy="1190679"/>
          </a:xfrm>
          <a:prstGeom prst="rect">
            <a:avLst/>
          </a:prstGeom>
          <a:noFill/>
          <a:ln w="9525">
            <a:noFill/>
            <a:miter lim="800000"/>
            <a:headEnd/>
            <a:tailEnd/>
          </a:ln>
        </p:spPr>
      </p:pic>
      <p:cxnSp>
        <p:nvCxnSpPr>
          <p:cNvPr id="21" name="Straight Arrow Connector 20"/>
          <p:cNvCxnSpPr/>
          <p:nvPr/>
        </p:nvCxnSpPr>
        <p:spPr>
          <a:xfrm flipV="1">
            <a:off x="3429000" y="4343400"/>
            <a:ext cx="1828800" cy="457200"/>
          </a:xfrm>
          <a:prstGeom prst="straightConnector1">
            <a:avLst/>
          </a:prstGeom>
          <a:ln w="12700" cap="rnd">
            <a:tailEnd type="arrow"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724400" y="4114802"/>
            <a:ext cx="2514600" cy="307777"/>
          </a:xfrm>
          <a:prstGeom prst="rect">
            <a:avLst/>
          </a:prstGeom>
          <a:noFill/>
        </p:spPr>
        <p:txBody>
          <a:bodyPr wrap="square" rtlCol="0">
            <a:spAutoFit/>
          </a:bodyPr>
          <a:lstStyle/>
          <a:p>
            <a:pPr algn="ctr"/>
            <a:r>
              <a:rPr lang="en-US" sz="1400" dirty="0" smtClean="0"/>
              <a:t>Favorite website A </a:t>
            </a:r>
            <a:endParaRPr lang="en-US" sz="1400" dirty="0"/>
          </a:p>
        </p:txBody>
      </p:sp>
      <p:sp>
        <p:nvSpPr>
          <p:cNvPr id="23" name="TextBox 22"/>
          <p:cNvSpPr txBox="1"/>
          <p:nvPr/>
        </p:nvSpPr>
        <p:spPr>
          <a:xfrm>
            <a:off x="5334000" y="4724402"/>
            <a:ext cx="2514600" cy="307777"/>
          </a:xfrm>
          <a:prstGeom prst="rect">
            <a:avLst/>
          </a:prstGeom>
          <a:noFill/>
        </p:spPr>
        <p:txBody>
          <a:bodyPr wrap="square" rtlCol="0">
            <a:spAutoFit/>
          </a:bodyPr>
          <a:lstStyle/>
          <a:p>
            <a:pPr algn="ctr"/>
            <a:r>
              <a:rPr lang="en-US" sz="1400" dirty="0" smtClean="0"/>
              <a:t>Favorite website B </a:t>
            </a:r>
            <a:endParaRPr lang="en-US" sz="1400" dirty="0"/>
          </a:p>
        </p:txBody>
      </p:sp>
      <p:sp>
        <p:nvSpPr>
          <p:cNvPr id="24" name="TextBox 23"/>
          <p:cNvSpPr txBox="1"/>
          <p:nvPr/>
        </p:nvSpPr>
        <p:spPr>
          <a:xfrm>
            <a:off x="4114800" y="5257802"/>
            <a:ext cx="2514600" cy="307777"/>
          </a:xfrm>
          <a:prstGeom prst="rect">
            <a:avLst/>
          </a:prstGeom>
          <a:noFill/>
        </p:spPr>
        <p:txBody>
          <a:bodyPr wrap="square" rtlCol="0">
            <a:spAutoFit/>
          </a:bodyPr>
          <a:lstStyle/>
          <a:p>
            <a:pPr algn="ctr"/>
            <a:r>
              <a:rPr lang="en-US" sz="1400" dirty="0" smtClean="0"/>
              <a:t>Favorite website C </a:t>
            </a:r>
            <a:endParaRPr lang="en-US" sz="1400" dirty="0"/>
          </a:p>
        </p:txBody>
      </p:sp>
      <p:cxnSp>
        <p:nvCxnSpPr>
          <p:cNvPr id="29" name="Straight Arrow Connector 28"/>
          <p:cNvCxnSpPr/>
          <p:nvPr/>
        </p:nvCxnSpPr>
        <p:spPr>
          <a:xfrm flipV="1">
            <a:off x="3505200" y="4876800"/>
            <a:ext cx="2362200" cy="762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505200" y="5181600"/>
            <a:ext cx="1143000" cy="2286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2804" y="457200"/>
            <a:ext cx="2012922" cy="369332"/>
          </a:xfrm>
          <a:prstGeom prst="rect">
            <a:avLst/>
          </a:prstGeom>
          <a:noFill/>
        </p:spPr>
        <p:txBody>
          <a:bodyPr wrap="none" rtlCol="0">
            <a:spAutoFit/>
          </a:bodyPr>
          <a:lstStyle/>
          <a:p>
            <a:pPr algn="ctr"/>
            <a:r>
              <a:rPr lang="en-US" dirty="0" smtClean="0"/>
              <a:t>After RSS and Atom</a:t>
            </a:r>
            <a:endParaRPr lang="en-US" dirty="0"/>
          </a:p>
        </p:txBody>
      </p:sp>
      <p:pic>
        <p:nvPicPr>
          <p:cNvPr id="3" name="Picture 2"/>
          <p:cNvPicPr>
            <a:picLocks noChangeAspect="1" noChangeArrowheads="1"/>
          </p:cNvPicPr>
          <p:nvPr/>
        </p:nvPicPr>
        <p:blipFill>
          <a:blip r:embed="rId3" cstate="print"/>
          <a:srcRect/>
          <a:stretch>
            <a:fillRect/>
          </a:stretch>
        </p:blipFill>
        <p:spPr bwMode="auto">
          <a:xfrm>
            <a:off x="707477" y="1219202"/>
            <a:ext cx="1197523" cy="1190679"/>
          </a:xfrm>
          <a:prstGeom prst="rect">
            <a:avLst/>
          </a:prstGeom>
          <a:noFill/>
          <a:ln w="9525">
            <a:noFill/>
            <a:miter lim="800000"/>
            <a:headEnd/>
            <a:tailEnd/>
          </a:ln>
        </p:spPr>
      </p:pic>
      <p:cxnSp>
        <p:nvCxnSpPr>
          <p:cNvPr id="4" name="Straight Arrow Connector 3"/>
          <p:cNvCxnSpPr/>
          <p:nvPr/>
        </p:nvCxnSpPr>
        <p:spPr>
          <a:xfrm rot="10800000" flipV="1">
            <a:off x="5105400" y="1295400"/>
            <a:ext cx="1524000" cy="304800"/>
          </a:xfrm>
          <a:prstGeom prst="straightConnector1">
            <a:avLst/>
          </a:prstGeom>
          <a:ln w="12700" cap="rnd">
            <a:tailEnd type="arrow" w="lg" len="lg"/>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096000" y="1143002"/>
            <a:ext cx="2514600" cy="307777"/>
          </a:xfrm>
          <a:prstGeom prst="rect">
            <a:avLst/>
          </a:prstGeom>
          <a:noFill/>
        </p:spPr>
        <p:txBody>
          <a:bodyPr wrap="square" rtlCol="0">
            <a:spAutoFit/>
          </a:bodyPr>
          <a:lstStyle/>
          <a:p>
            <a:pPr algn="ctr"/>
            <a:r>
              <a:rPr lang="en-US" sz="1400" dirty="0" smtClean="0"/>
              <a:t>Favorite website A </a:t>
            </a:r>
            <a:endParaRPr lang="en-US" sz="1400" dirty="0"/>
          </a:p>
        </p:txBody>
      </p:sp>
      <p:sp>
        <p:nvSpPr>
          <p:cNvPr id="6" name="TextBox 5"/>
          <p:cNvSpPr txBox="1"/>
          <p:nvPr/>
        </p:nvSpPr>
        <p:spPr>
          <a:xfrm>
            <a:off x="6858000" y="1752602"/>
            <a:ext cx="2133600" cy="307777"/>
          </a:xfrm>
          <a:prstGeom prst="rect">
            <a:avLst/>
          </a:prstGeom>
          <a:noFill/>
        </p:spPr>
        <p:txBody>
          <a:bodyPr wrap="square" rtlCol="0">
            <a:spAutoFit/>
          </a:bodyPr>
          <a:lstStyle/>
          <a:p>
            <a:pPr algn="ctr"/>
            <a:r>
              <a:rPr lang="en-US" sz="1400" dirty="0" smtClean="0"/>
              <a:t>Favorite website B </a:t>
            </a:r>
            <a:endParaRPr lang="en-US" sz="1400" dirty="0"/>
          </a:p>
        </p:txBody>
      </p:sp>
      <p:sp>
        <p:nvSpPr>
          <p:cNvPr id="7" name="TextBox 6"/>
          <p:cNvSpPr txBox="1"/>
          <p:nvPr/>
        </p:nvSpPr>
        <p:spPr>
          <a:xfrm>
            <a:off x="5486400" y="2286002"/>
            <a:ext cx="2514600" cy="307777"/>
          </a:xfrm>
          <a:prstGeom prst="rect">
            <a:avLst/>
          </a:prstGeom>
          <a:noFill/>
        </p:spPr>
        <p:txBody>
          <a:bodyPr wrap="square" rtlCol="0">
            <a:spAutoFit/>
          </a:bodyPr>
          <a:lstStyle/>
          <a:p>
            <a:pPr algn="ctr"/>
            <a:r>
              <a:rPr lang="en-US" sz="1400" dirty="0" smtClean="0"/>
              <a:t>Favorite website C </a:t>
            </a:r>
            <a:endParaRPr lang="en-US" sz="1400" dirty="0"/>
          </a:p>
        </p:txBody>
      </p:sp>
      <p:cxnSp>
        <p:nvCxnSpPr>
          <p:cNvPr id="8" name="Straight Arrow Connector 7"/>
          <p:cNvCxnSpPr/>
          <p:nvPr/>
        </p:nvCxnSpPr>
        <p:spPr>
          <a:xfrm rot="10800000">
            <a:off x="5105400" y="1905000"/>
            <a:ext cx="2133600" cy="1588"/>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a:off x="5105400" y="2133600"/>
            <a:ext cx="914400" cy="304800"/>
          </a:xfrm>
          <a:prstGeom prst="straightConnector1">
            <a:avLst/>
          </a:prstGeom>
          <a:ln w="12700">
            <a:tailEnd type="arrow"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836742" y="1524002"/>
            <a:ext cx="2192460" cy="646331"/>
          </a:xfrm>
          <a:prstGeom prst="rect">
            <a:avLst/>
          </a:prstGeom>
          <a:noFill/>
          <a:ln w="19050" cmpd="sng">
            <a:solidFill>
              <a:schemeClr val="accent4">
                <a:lumMod val="60000"/>
                <a:lumOff val="40000"/>
              </a:schemeClr>
            </a:solidFill>
            <a:miter lim="800000"/>
          </a:ln>
        </p:spPr>
        <p:txBody>
          <a:bodyPr wrap="none" rtlCol="0">
            <a:spAutoFit/>
          </a:bodyPr>
          <a:lstStyle/>
          <a:p>
            <a:pPr algn="ctr"/>
            <a:r>
              <a:rPr lang="en-US" dirty="0" smtClean="0"/>
              <a:t>Reader or Aggregator</a:t>
            </a:r>
          </a:p>
          <a:p>
            <a:pPr algn="ctr"/>
            <a:r>
              <a:rPr lang="en-US" dirty="0" smtClean="0"/>
              <a:t>Application</a:t>
            </a:r>
          </a:p>
        </p:txBody>
      </p:sp>
      <p:sp>
        <p:nvSpPr>
          <p:cNvPr id="32" name="TextBox 31"/>
          <p:cNvSpPr txBox="1"/>
          <p:nvPr/>
        </p:nvSpPr>
        <p:spPr>
          <a:xfrm>
            <a:off x="914402" y="2743200"/>
            <a:ext cx="2192460" cy="2438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-Web Based-</a:t>
            </a:r>
          </a:p>
          <a:p>
            <a:pPr algn="ctr">
              <a:buFont typeface="Wingdings" pitchFamily="2" charset="2"/>
              <a:buChar char="Ø"/>
            </a:pPr>
            <a:r>
              <a:rPr lang="en-US" dirty="0" smtClean="0"/>
              <a:t> Google Reader</a:t>
            </a:r>
          </a:p>
          <a:p>
            <a:pPr algn="ctr">
              <a:buFont typeface="Wingdings" pitchFamily="2" charset="2"/>
              <a:buChar char="Ø"/>
            </a:pPr>
            <a:r>
              <a:rPr lang="en-US" dirty="0" smtClean="0"/>
              <a:t> </a:t>
            </a:r>
            <a:r>
              <a:rPr lang="en-US" dirty="0" err="1" smtClean="0"/>
              <a:t>Netvibes</a:t>
            </a:r>
            <a:endParaRPr lang="en-US" dirty="0" smtClean="0"/>
          </a:p>
          <a:p>
            <a:pPr algn="ctr">
              <a:buFont typeface="Wingdings" pitchFamily="2" charset="2"/>
              <a:buChar char="Ø"/>
            </a:pPr>
            <a:r>
              <a:rPr lang="en-US" dirty="0" smtClean="0"/>
              <a:t> </a:t>
            </a:r>
            <a:r>
              <a:rPr lang="en-US" dirty="0" err="1" smtClean="0"/>
              <a:t>Pageflakes</a:t>
            </a:r>
            <a:endParaRPr lang="en-US" dirty="0" smtClean="0"/>
          </a:p>
          <a:p>
            <a:pPr algn="ctr">
              <a:buFont typeface="Wingdings" pitchFamily="2" charset="2"/>
              <a:buChar char="Ø"/>
            </a:pPr>
            <a:r>
              <a:rPr lang="en-US" dirty="0" smtClean="0"/>
              <a:t> My Yahoo!</a:t>
            </a:r>
          </a:p>
          <a:p>
            <a:pPr algn="ctr">
              <a:buFont typeface="Wingdings" pitchFamily="2" charset="2"/>
              <a:buChar char="Ø"/>
            </a:pPr>
            <a:r>
              <a:rPr lang="en-US" dirty="0" smtClean="0"/>
              <a:t> </a:t>
            </a:r>
            <a:r>
              <a:rPr lang="en-US" dirty="0" err="1" smtClean="0"/>
              <a:t>Bloglines</a:t>
            </a:r>
            <a:endParaRPr lang="en-US" dirty="0" smtClean="0"/>
          </a:p>
          <a:p>
            <a:pPr algn="ctr">
              <a:buFont typeface="Wingdings" pitchFamily="2" charset="2"/>
              <a:buChar char="Ø"/>
            </a:pPr>
            <a:r>
              <a:rPr lang="en-US" dirty="0" smtClean="0"/>
              <a:t> </a:t>
            </a:r>
            <a:r>
              <a:rPr lang="en-US" dirty="0" err="1" smtClean="0"/>
              <a:t>NewsGator</a:t>
            </a:r>
            <a:endParaRPr lang="en-US" dirty="0" smtClean="0"/>
          </a:p>
          <a:p>
            <a:pPr algn="ctr">
              <a:buFont typeface="Wingdings" pitchFamily="2" charset="2"/>
              <a:buChar char="Ø"/>
            </a:pPr>
            <a:r>
              <a:rPr lang="en-US" dirty="0" smtClean="0"/>
              <a:t> </a:t>
            </a:r>
            <a:r>
              <a:rPr lang="en-US" dirty="0" err="1" smtClean="0"/>
              <a:t>Fwicki</a:t>
            </a:r>
            <a:endParaRPr lang="en-US" dirty="0" smtClean="0"/>
          </a:p>
          <a:p>
            <a:pPr algn="ctr"/>
            <a:endParaRPr lang="en-US" dirty="0" smtClean="0"/>
          </a:p>
        </p:txBody>
      </p:sp>
      <p:sp>
        <p:nvSpPr>
          <p:cNvPr id="33" name="TextBox 32"/>
          <p:cNvSpPr txBox="1"/>
          <p:nvPr/>
        </p:nvSpPr>
        <p:spPr>
          <a:xfrm>
            <a:off x="3429000" y="2819400"/>
            <a:ext cx="1981200" cy="1676400"/>
          </a:xfrm>
          <a:prstGeom prst="rect">
            <a:avLst/>
          </a:prstGeom>
          <a:noFill/>
          <a:ln w="19050" cmpd="sng">
            <a:solidFill>
              <a:schemeClr val="accent4">
                <a:lumMod val="60000"/>
                <a:lumOff val="40000"/>
              </a:schemeClr>
            </a:solidFill>
            <a:miter lim="800000"/>
          </a:ln>
        </p:spPr>
        <p:txBody>
          <a:bodyPr wrap="square" rtlCol="0">
            <a:noAutofit/>
          </a:bodyPr>
          <a:lstStyle/>
          <a:p>
            <a:pPr algn="ctr"/>
            <a:r>
              <a:rPr lang="en-US" dirty="0" smtClean="0"/>
              <a:t>-Non-Web Based-</a:t>
            </a:r>
          </a:p>
          <a:p>
            <a:pPr algn="ctr">
              <a:buFont typeface="Wingdings" pitchFamily="2" charset="2"/>
              <a:buChar char="Ø"/>
            </a:pPr>
            <a:r>
              <a:rPr lang="en-US" dirty="0" smtClean="0"/>
              <a:t> </a:t>
            </a:r>
            <a:r>
              <a:rPr lang="en-US" dirty="0" err="1" smtClean="0"/>
              <a:t>RssReader</a:t>
            </a:r>
            <a:endParaRPr lang="en-US" dirty="0" smtClean="0"/>
          </a:p>
          <a:p>
            <a:pPr algn="ctr">
              <a:buFont typeface="Wingdings" pitchFamily="2" charset="2"/>
              <a:buChar char="Ø"/>
            </a:pPr>
            <a:r>
              <a:rPr lang="en-US" dirty="0" smtClean="0"/>
              <a:t> RSS Bandit</a:t>
            </a:r>
          </a:p>
          <a:p>
            <a:pPr algn="ctr">
              <a:buFont typeface="Wingdings" pitchFamily="2" charset="2"/>
              <a:buChar char="Ø"/>
            </a:pPr>
            <a:r>
              <a:rPr lang="en-US" dirty="0" smtClean="0"/>
              <a:t> </a:t>
            </a:r>
            <a:r>
              <a:rPr lang="en-US" dirty="0" err="1" smtClean="0"/>
              <a:t>RSSOwl</a:t>
            </a:r>
            <a:endParaRPr lang="en-US" dirty="0" smtClean="0"/>
          </a:p>
          <a:p>
            <a:pPr algn="ctr">
              <a:buFont typeface="Wingdings" pitchFamily="2" charset="2"/>
              <a:buChar char="Ø"/>
            </a:pPr>
            <a:r>
              <a:rPr lang="en-US" dirty="0" smtClean="0"/>
              <a:t> Thunderbird</a:t>
            </a:r>
          </a:p>
        </p:txBody>
      </p:sp>
      <p:cxnSp>
        <p:nvCxnSpPr>
          <p:cNvPr id="38" name="Straight Arrow Connector 37"/>
          <p:cNvCxnSpPr/>
          <p:nvPr/>
        </p:nvCxnSpPr>
        <p:spPr>
          <a:xfrm>
            <a:off x="1981200" y="1905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096000" y="2895601"/>
            <a:ext cx="2514600" cy="3139321"/>
          </a:xfrm>
          <a:prstGeom prst="rect">
            <a:avLst/>
          </a:prstGeom>
          <a:noFill/>
        </p:spPr>
        <p:txBody>
          <a:bodyPr wrap="square" rtlCol="0">
            <a:spAutoFit/>
          </a:bodyPr>
          <a:lstStyle/>
          <a:p>
            <a:pPr algn="ctr"/>
            <a:r>
              <a:rPr lang="en-US" b="1" dirty="0" smtClean="0"/>
              <a:t>The Benefit?</a:t>
            </a:r>
          </a:p>
          <a:p>
            <a:pPr algn="ctr"/>
            <a:r>
              <a:rPr lang="en-US" dirty="0" smtClean="0"/>
              <a:t>Is to organize news, highlights, and information in one handy location, saving the user valuable time from having to checkout all their favorite websites for new information on a weekly, daily, hourly… bases.  </a:t>
            </a:r>
            <a:endParaRPr lang="en-US"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Syndication: RSS</a:t>
            </a:r>
            <a:endParaRPr lang="en-US" dirty="0"/>
          </a:p>
        </p:txBody>
      </p:sp>
      <p:sp>
        <p:nvSpPr>
          <p:cNvPr id="3" name="Content Placeholder 2"/>
          <p:cNvSpPr>
            <a:spLocks noGrp="1"/>
          </p:cNvSpPr>
          <p:nvPr>
            <p:ph idx="1"/>
          </p:nvPr>
        </p:nvSpPr>
        <p:spPr/>
        <p:txBody>
          <a:bodyPr>
            <a:normAutofit fontScale="62500" lnSpcReduction="20000"/>
          </a:bodyPr>
          <a:lstStyle/>
          <a:p>
            <a:r>
              <a:rPr lang="en-US" b="1" u="sng" dirty="0" smtClean="0"/>
              <a:t>RSS(Really Simple Syndication)</a:t>
            </a:r>
          </a:p>
          <a:p>
            <a:r>
              <a:rPr lang="en-US" dirty="0" smtClean="0"/>
              <a:t>RSS is a family of web feed formats used to publish frequently updated works—such as blog entries, news headlines, audio, and video—in a standardized format.</a:t>
            </a:r>
          </a:p>
          <a:p>
            <a:r>
              <a:rPr lang="en-US" dirty="0" smtClean="0"/>
              <a:t>An RSS document includes full or summarized text, plus metadata such as publishing dates and authorship.</a:t>
            </a:r>
          </a:p>
          <a:p>
            <a:r>
              <a:rPr lang="en-US" dirty="0" smtClean="0"/>
              <a:t>Web feeds benefit publishers by letting them syndicate content automatically.</a:t>
            </a:r>
          </a:p>
          <a:p>
            <a:r>
              <a:rPr lang="en-US" dirty="0" smtClean="0"/>
              <a:t>They benefit readers who want to subscribe to timely updates from favored web sites or to aggregate feeds from many sites into one place.</a:t>
            </a:r>
          </a:p>
          <a:p>
            <a:r>
              <a:rPr lang="en-US" dirty="0" smtClean="0"/>
              <a:t>RSS feeds can be read using software called a reader that can be web-based, desktop-based, a mobile device, or any computerized Internet-connected device.</a:t>
            </a:r>
          </a:p>
          <a:p>
            <a:r>
              <a:rPr lang="en-US" dirty="0" smtClean="0"/>
              <a:t>A standardized XML file format allows the information to be published once and viewed by many different programs.</a:t>
            </a:r>
            <a:endParaRPr lang="en-US" u="sng"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6" name="TextBox 5"/>
          <p:cNvSpPr txBox="1"/>
          <p:nvPr/>
        </p:nvSpPr>
        <p:spPr>
          <a:xfrm>
            <a:off x="1066800" y="1676400"/>
            <a:ext cx="6019800" cy="3139321"/>
          </a:xfrm>
          <a:prstGeom prst="rect">
            <a:avLst/>
          </a:prstGeom>
          <a:noFill/>
        </p:spPr>
        <p:txBody>
          <a:bodyPr wrap="square" rtlCol="0">
            <a:spAutoFit/>
          </a:bodyPr>
          <a:lstStyle/>
          <a:p>
            <a:r>
              <a:rPr lang="en-US" dirty="0" smtClean="0"/>
              <a:t>4. Which of the following file format is used by RSS module?</a:t>
            </a:r>
          </a:p>
          <a:p>
            <a:r>
              <a:rPr lang="en-US" dirty="0" smtClean="0"/>
              <a:t>a)XML</a:t>
            </a:r>
          </a:p>
          <a:p>
            <a:r>
              <a:rPr lang="en-US" dirty="0" smtClean="0"/>
              <a:t>b)SMIL</a:t>
            </a:r>
          </a:p>
          <a:p>
            <a:r>
              <a:rPr lang="en-US" dirty="0" smtClean="0"/>
              <a:t>c)JSON</a:t>
            </a:r>
          </a:p>
          <a:p>
            <a:r>
              <a:rPr lang="en-US" dirty="0" smtClean="0"/>
              <a:t>d)All of the above mentioned</a:t>
            </a:r>
          </a:p>
          <a:p>
            <a:endParaRPr lang="en-US" dirty="0" smtClean="0"/>
          </a:p>
          <a:p>
            <a:r>
              <a:rPr lang="en-US" dirty="0" smtClean="0"/>
              <a:t>Answer: a)</a:t>
            </a:r>
          </a:p>
          <a:p>
            <a:endParaRPr lang="en-US" dirty="0" smtClean="0"/>
          </a:p>
          <a:p>
            <a:r>
              <a:rPr lang="en-US" dirty="0" smtClean="0"/>
              <a:t>Exp: RSS uses an XML file format and the concept of an RSS world or module</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5" name="TextBox 4"/>
          <p:cNvSpPr txBox="1"/>
          <p:nvPr/>
        </p:nvSpPr>
        <p:spPr>
          <a:xfrm>
            <a:off x="685800" y="2133600"/>
            <a:ext cx="7391400" cy="3539430"/>
          </a:xfrm>
          <a:prstGeom prst="rect">
            <a:avLst/>
          </a:prstGeom>
          <a:noFill/>
        </p:spPr>
        <p:txBody>
          <a:bodyPr wrap="square" rtlCol="0">
            <a:spAutoFit/>
          </a:bodyPr>
          <a:lstStyle/>
          <a:p>
            <a:r>
              <a:rPr lang="en-US" sz="2800" dirty="0" smtClean="0">
                <a:solidFill>
                  <a:schemeClr val="accent5">
                    <a:lumMod val="75000"/>
                  </a:schemeClr>
                </a:solidFill>
              </a:rPr>
              <a:t>2. Point out the correct statement:</a:t>
            </a:r>
          </a:p>
          <a:p>
            <a:pPr marL="342900" indent="-342900">
              <a:buAutoNum type="alphaLcParenR"/>
            </a:pPr>
            <a:r>
              <a:rPr lang="en-US" sz="2800" dirty="0" smtClean="0">
                <a:solidFill>
                  <a:schemeClr val="accent5">
                    <a:lumMod val="75000"/>
                  </a:schemeClr>
                </a:solidFill>
              </a:rPr>
              <a:t>A syndication service is another way for people to send messages to a group of people.</a:t>
            </a:r>
          </a:p>
          <a:p>
            <a:pPr marL="342900" indent="-342900">
              <a:buAutoNum type="alphaLcParenR"/>
            </a:pPr>
            <a:r>
              <a:rPr lang="en-US" sz="2800" dirty="0" smtClean="0">
                <a:solidFill>
                  <a:schemeClr val="accent5">
                    <a:lumMod val="75000"/>
                  </a:schemeClr>
                </a:solidFill>
              </a:rPr>
              <a:t>You can read RSS and Atom formatted content inside special applications called newsreaders</a:t>
            </a:r>
          </a:p>
          <a:p>
            <a:pPr marL="342900" indent="-342900">
              <a:buAutoNum type="alphaLcParenR"/>
            </a:pPr>
            <a:r>
              <a:rPr lang="en-US" sz="2800" dirty="0" smtClean="0">
                <a:solidFill>
                  <a:schemeClr val="accent5">
                    <a:lumMod val="75000"/>
                  </a:schemeClr>
                </a:solidFill>
              </a:rPr>
              <a:t>Web feeds also are used to follow blogger and wikis entries.</a:t>
            </a:r>
          </a:p>
          <a:p>
            <a:pPr marL="342900" indent="-342900">
              <a:buAutoNum type="alphaLcParenR"/>
            </a:pPr>
            <a:r>
              <a:rPr lang="en-US" sz="2800" dirty="0" smtClean="0">
                <a:solidFill>
                  <a:schemeClr val="accent5">
                    <a:lumMod val="75000"/>
                  </a:schemeClr>
                </a:solidFill>
              </a:rPr>
              <a:t>All of the mentioned.</a:t>
            </a:r>
            <a:endParaRPr lang="en-US" sz="2800" dirty="0">
              <a:solidFill>
                <a:schemeClr val="accent5">
                  <a:lumMod val="7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4" name="Content Placeholder 3"/>
          <p:cNvSpPr txBox="1">
            <a:spLocks noGrp="1"/>
          </p:cNvSpPr>
          <p:nvPr>
            <p:ph idx="1"/>
          </p:nvPr>
        </p:nvSpPr>
        <p:spPr>
          <a:xfrm>
            <a:off x="533400" y="1295400"/>
            <a:ext cx="8305800" cy="4401205"/>
          </a:xfrm>
          <a:prstGeom prst="rect">
            <a:avLst/>
          </a:prstGeom>
          <a:noFill/>
        </p:spPr>
        <p:txBody>
          <a:bodyPr wrap="square" rtlCol="0">
            <a:spAutoFit/>
          </a:bodyPr>
          <a:lstStyle/>
          <a:p>
            <a:pPr>
              <a:buNone/>
            </a:pPr>
            <a:r>
              <a:rPr lang="en-US" sz="2800" dirty="0" smtClean="0">
                <a:solidFill>
                  <a:schemeClr val="accent5">
                    <a:lumMod val="75000"/>
                  </a:schemeClr>
                </a:solidFill>
              </a:rPr>
              <a:t>2. </a:t>
            </a:r>
            <a:r>
              <a:rPr lang="en-US" sz="2000" dirty="0" smtClean="0">
                <a:solidFill>
                  <a:schemeClr val="accent5">
                    <a:lumMod val="75000"/>
                  </a:schemeClr>
                </a:solidFill>
              </a:rPr>
              <a:t>Point out the correct statement:</a:t>
            </a:r>
          </a:p>
          <a:p>
            <a:pPr marL="342900" indent="-342900">
              <a:buAutoNum type="alphaLcParenR"/>
            </a:pPr>
            <a:r>
              <a:rPr lang="en-US" sz="2000" dirty="0" smtClean="0">
                <a:solidFill>
                  <a:schemeClr val="accent5">
                    <a:lumMod val="75000"/>
                  </a:schemeClr>
                </a:solidFill>
              </a:rPr>
              <a:t>A syndication service is another way for people to send messages to a group of people.</a:t>
            </a:r>
          </a:p>
          <a:p>
            <a:pPr marL="342900" indent="-342900">
              <a:buAutoNum type="alphaLcParenR"/>
            </a:pPr>
            <a:r>
              <a:rPr lang="en-US" sz="2000" dirty="0" smtClean="0">
                <a:solidFill>
                  <a:schemeClr val="accent5">
                    <a:lumMod val="75000"/>
                  </a:schemeClr>
                </a:solidFill>
              </a:rPr>
              <a:t>You can read RSS and Atom formatted content inside special applications called newsreaders</a:t>
            </a:r>
          </a:p>
          <a:p>
            <a:pPr marL="342900" indent="-342900">
              <a:buAutoNum type="alphaLcParenR"/>
            </a:pPr>
            <a:r>
              <a:rPr lang="en-US" sz="2000" dirty="0" smtClean="0">
                <a:solidFill>
                  <a:schemeClr val="accent5">
                    <a:lumMod val="75000"/>
                  </a:schemeClr>
                </a:solidFill>
              </a:rPr>
              <a:t>Web feeds also are used to follow blogger and wikis entries.</a:t>
            </a:r>
          </a:p>
          <a:p>
            <a:pPr marL="342900" indent="-342900">
              <a:buAutoNum type="alphaLcParenR"/>
            </a:pPr>
            <a:r>
              <a:rPr lang="en-US" sz="2000" dirty="0" smtClean="0">
                <a:solidFill>
                  <a:schemeClr val="accent5">
                    <a:lumMod val="75000"/>
                  </a:schemeClr>
                </a:solidFill>
              </a:rPr>
              <a:t>All of the mentioned.</a:t>
            </a:r>
          </a:p>
          <a:p>
            <a:pPr marL="342900" indent="-342900">
              <a:buNone/>
            </a:pPr>
            <a:endParaRPr lang="en-US" sz="2000" dirty="0" smtClean="0">
              <a:solidFill>
                <a:schemeClr val="accent5">
                  <a:lumMod val="75000"/>
                </a:schemeClr>
              </a:solidFill>
            </a:endParaRPr>
          </a:p>
          <a:p>
            <a:pPr marL="342900" indent="-342900">
              <a:buNone/>
            </a:pPr>
            <a:endParaRPr lang="en-US" sz="2000" dirty="0" smtClean="0">
              <a:solidFill>
                <a:schemeClr val="accent5">
                  <a:lumMod val="75000"/>
                </a:schemeClr>
              </a:solidFill>
            </a:endParaRPr>
          </a:p>
          <a:p>
            <a:pPr marL="342900" indent="-342900">
              <a:buNone/>
            </a:pPr>
            <a:r>
              <a:rPr lang="en-US" sz="2000" dirty="0" smtClean="0">
                <a:solidFill>
                  <a:schemeClr val="accent5">
                    <a:lumMod val="75000"/>
                  </a:schemeClr>
                </a:solidFill>
              </a:rPr>
              <a:t>Answer: d</a:t>
            </a:r>
          </a:p>
          <a:p>
            <a:pPr marL="342900" indent="-342900">
              <a:buNone/>
            </a:pPr>
            <a:r>
              <a:rPr lang="en-US" sz="2000" dirty="0" smtClean="0">
                <a:solidFill>
                  <a:schemeClr val="accent5">
                    <a:lumMod val="75000"/>
                  </a:schemeClr>
                </a:solidFill>
              </a:rPr>
              <a:t>Explanation: The technology behind syndicate is simple, but the value of the content can be impactful.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5" name="TextBox 4"/>
          <p:cNvSpPr txBox="1"/>
          <p:nvPr/>
        </p:nvSpPr>
        <p:spPr>
          <a:xfrm>
            <a:off x="1066800" y="2209800"/>
            <a:ext cx="7086600" cy="2308324"/>
          </a:xfrm>
          <a:prstGeom prst="rect">
            <a:avLst/>
          </a:prstGeom>
          <a:noFill/>
        </p:spPr>
        <p:txBody>
          <a:bodyPr wrap="square" rtlCol="0">
            <a:spAutoFit/>
          </a:bodyPr>
          <a:lstStyle/>
          <a:p>
            <a:r>
              <a:rPr lang="en-US" dirty="0" smtClean="0"/>
              <a:t>3. How many technologies are used for most of the syndicated content on the internet</a:t>
            </a:r>
          </a:p>
          <a:p>
            <a:pPr marL="342900" indent="-342900">
              <a:buAutoNum type="alphaLcParenR"/>
            </a:pPr>
            <a:r>
              <a:rPr lang="en-US" dirty="0" smtClean="0"/>
              <a:t>1</a:t>
            </a:r>
          </a:p>
          <a:p>
            <a:pPr marL="342900" indent="-342900">
              <a:buAutoNum type="alphaLcParenR"/>
            </a:pPr>
            <a:r>
              <a:rPr lang="en-US" dirty="0" smtClean="0"/>
              <a:t>2</a:t>
            </a:r>
          </a:p>
          <a:p>
            <a:pPr marL="342900" indent="-342900">
              <a:buAutoNum type="alphaLcParenR"/>
            </a:pPr>
            <a:r>
              <a:rPr lang="en-US" dirty="0" smtClean="0"/>
              <a:t>3</a:t>
            </a:r>
          </a:p>
          <a:p>
            <a:pPr marL="342900" indent="-342900">
              <a:buAutoNum type="alphaLcParenR"/>
            </a:pPr>
            <a:r>
              <a:rPr lang="en-US" dirty="0" smtClean="0"/>
              <a:t>4</a:t>
            </a:r>
          </a:p>
          <a:p>
            <a:pPr marL="342900" indent="-342900"/>
            <a:endParaRPr lang="en-US" dirty="0" smtClean="0"/>
          </a:p>
          <a:p>
            <a:pPr marL="342900" indent="-342900"/>
            <a:endParaRPr lang="en-US"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5" name="TextBox 4"/>
          <p:cNvSpPr txBox="1"/>
          <p:nvPr/>
        </p:nvSpPr>
        <p:spPr>
          <a:xfrm>
            <a:off x="1066800" y="2209800"/>
            <a:ext cx="7086600" cy="3416320"/>
          </a:xfrm>
          <a:prstGeom prst="rect">
            <a:avLst/>
          </a:prstGeom>
          <a:noFill/>
        </p:spPr>
        <p:txBody>
          <a:bodyPr wrap="square" rtlCol="0">
            <a:spAutoFit/>
          </a:bodyPr>
          <a:lstStyle/>
          <a:p>
            <a:r>
              <a:rPr lang="en-US" dirty="0" smtClean="0"/>
              <a:t>3. How many technologies are used for most of the syndicated content on the internet</a:t>
            </a:r>
          </a:p>
          <a:p>
            <a:pPr marL="342900" indent="-342900">
              <a:buAutoNum type="alphaLcParenR"/>
            </a:pPr>
            <a:r>
              <a:rPr lang="en-US" dirty="0" smtClean="0"/>
              <a:t>1</a:t>
            </a:r>
          </a:p>
          <a:p>
            <a:pPr marL="342900" indent="-342900">
              <a:buAutoNum type="alphaLcParenR"/>
            </a:pPr>
            <a:r>
              <a:rPr lang="en-US" dirty="0" smtClean="0"/>
              <a:t>2</a:t>
            </a:r>
          </a:p>
          <a:p>
            <a:pPr marL="342900" indent="-342900">
              <a:buAutoNum type="alphaLcParenR"/>
            </a:pPr>
            <a:r>
              <a:rPr lang="en-US" dirty="0" smtClean="0"/>
              <a:t>3</a:t>
            </a:r>
          </a:p>
          <a:p>
            <a:pPr marL="342900" indent="-342900">
              <a:buAutoNum type="alphaLcParenR"/>
            </a:pPr>
            <a:r>
              <a:rPr lang="en-US" dirty="0" smtClean="0"/>
              <a:t>4</a:t>
            </a:r>
          </a:p>
          <a:p>
            <a:pPr marL="342900" indent="-342900"/>
            <a:endParaRPr lang="en-US" dirty="0" smtClean="0"/>
          </a:p>
          <a:p>
            <a:pPr marL="342900" indent="-342900"/>
            <a:endParaRPr lang="en-US" dirty="0" smtClean="0"/>
          </a:p>
          <a:p>
            <a:pPr marL="342900" indent="-342900"/>
            <a:r>
              <a:rPr lang="en-US" dirty="0" smtClean="0"/>
              <a:t>Answer: b</a:t>
            </a:r>
          </a:p>
          <a:p>
            <a:pPr marL="342900" indent="-342900"/>
            <a:r>
              <a:rPr lang="en-US" dirty="0" smtClean="0"/>
              <a:t>Two technologies are behind most of the syndicated content being used on the internet: </a:t>
            </a:r>
            <a:r>
              <a:rPr lang="en-US" dirty="0" smtClean="0">
                <a:solidFill>
                  <a:srgbClr val="FF0000"/>
                </a:solidFill>
              </a:rPr>
              <a:t>RSS  and  Atom</a:t>
            </a:r>
          </a:p>
          <a:p>
            <a:pPr marL="342900" indent="-342900"/>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6" name="TextBox 5"/>
          <p:cNvSpPr txBox="1"/>
          <p:nvPr/>
        </p:nvSpPr>
        <p:spPr>
          <a:xfrm>
            <a:off x="1828800" y="2286000"/>
            <a:ext cx="6019800" cy="3108543"/>
          </a:xfrm>
          <a:prstGeom prst="rect">
            <a:avLst/>
          </a:prstGeom>
          <a:noFill/>
        </p:spPr>
        <p:txBody>
          <a:bodyPr wrap="square" rtlCol="0">
            <a:spAutoFit/>
          </a:bodyPr>
          <a:lstStyle/>
          <a:p>
            <a:r>
              <a:rPr lang="en-US" sz="2800" dirty="0" smtClean="0"/>
              <a:t>4. Which of the following file format is used by RSS module?</a:t>
            </a:r>
          </a:p>
          <a:p>
            <a:r>
              <a:rPr lang="en-US" sz="2800" dirty="0" smtClean="0"/>
              <a:t>a)XML</a:t>
            </a:r>
          </a:p>
          <a:p>
            <a:r>
              <a:rPr lang="en-US" sz="2800" dirty="0" smtClean="0"/>
              <a:t>b)SMIL</a:t>
            </a:r>
          </a:p>
          <a:p>
            <a:r>
              <a:rPr lang="en-US" sz="2800" dirty="0" smtClean="0"/>
              <a:t>c)JSON</a:t>
            </a:r>
          </a:p>
          <a:p>
            <a:r>
              <a:rPr lang="en-US" sz="2800" dirty="0" smtClean="0"/>
              <a:t>d)All of the above mentioned</a:t>
            </a:r>
          </a:p>
          <a:p>
            <a:endParaRPr lang="en-US" sz="2800"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Syndication (Atom, Atom Publishing Protocol, and RSS)</a:t>
            </a:r>
            <a:endParaRPr lang="en-US" dirty="0"/>
          </a:p>
        </p:txBody>
      </p:sp>
      <p:sp>
        <p:nvSpPr>
          <p:cNvPr id="3" name="Content Placeholder 2"/>
          <p:cNvSpPr>
            <a:spLocks noGrp="1"/>
          </p:cNvSpPr>
          <p:nvPr>
            <p:ph idx="1"/>
          </p:nvPr>
        </p:nvSpPr>
        <p:spPr/>
        <p:txBody>
          <a:bodyPr>
            <a:normAutofit fontScale="70000" lnSpcReduction="20000"/>
          </a:bodyPr>
          <a:lstStyle/>
          <a:p>
            <a:r>
              <a:rPr lang="en-US" i="1" dirty="0" smtClean="0"/>
              <a:t>Content syndication </a:t>
            </a:r>
            <a:r>
              <a:rPr lang="en-US" dirty="0" smtClean="0"/>
              <a:t>provides citizen convenient access to new content and headlines from government via RSS (Really Simple Syndication) and other online syndication standards.</a:t>
            </a:r>
          </a:p>
          <a:p>
            <a:r>
              <a:rPr lang="en-US" dirty="0" smtClean="0"/>
              <a:t>Governments are providing access to more and more information online. As web sites become more complex and difficult to sift through, new or timely content is often buried.</a:t>
            </a:r>
          </a:p>
          <a:p>
            <a:r>
              <a:rPr lang="en-US" dirty="0" smtClean="0"/>
              <a:t>Dynamically presenting “what’s new” an the top of the web site is only the first step</a:t>
            </a:r>
          </a:p>
          <a:p>
            <a:r>
              <a:rPr lang="en-US" dirty="0" smtClean="0"/>
              <a:t>Portals can automatically aggregate and combine headlines and/or lengthier content from across multiple agency web sites.</a:t>
            </a:r>
          </a:p>
          <a:p>
            <a:r>
              <a:rPr lang="en-US" dirty="0" smtClean="0"/>
              <a:t>Press releases may be aggregated automatically from different systems, as long as they all are required to offer an RSS feed with content tagged with similar metadata.</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Atom and Atom Publishing Protocol (APP)</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name Atom applies to a pair of related standards. The Atom Syndication Format is an XML language used for web feeds, while the Atom Publishing Protocol (</a:t>
            </a:r>
            <a:r>
              <a:rPr lang="en-US" dirty="0" err="1" smtClean="0"/>
              <a:t>AtomPub</a:t>
            </a:r>
            <a:r>
              <a:rPr lang="en-US" dirty="0" smtClean="0"/>
              <a:t> or APP) is a simple HTTP-based protocol for creating and updating web resources, sometimes known as web feeds.</a:t>
            </a:r>
          </a:p>
          <a:p>
            <a:r>
              <a:rPr lang="en-US" dirty="0" smtClean="0"/>
              <a:t>Web feeds allow software programs to check for updates published on a web site. To provide a web feed, a site owner may use specialized software (such as a content management system) that publishes a list (or “feed”) of recent articles or content in a standardized, machine-readable format.</a:t>
            </a:r>
          </a:p>
          <a:p>
            <a:r>
              <a:rPr lang="en-US" dirty="0" smtClean="0"/>
              <a:t>The feed can then be downloaded by web sites that syndicate content from the feed, or by feed reader programs that allow Internet users to subscribe to feeds and view their content.</a:t>
            </a:r>
          </a:p>
          <a:p>
            <a:r>
              <a:rPr lang="en-US" dirty="0" smtClean="0"/>
              <a:t>A feed contains entries, which may be headlines, full-text articles, excerpts, summaries, and/or links to content on a web site, along with various metadata.</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-II</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Implementation Levels of Virtualization, Virtualization Structures/Tools and Mechanisms, Types of</a:t>
            </a:r>
          </a:p>
          <a:p>
            <a:pPr algn="just"/>
            <a:r>
              <a:rPr lang="en-US" dirty="0" smtClean="0"/>
              <a:t>Hypervisors, Virtualization of CPU, Memory, and I/O Devices, Virtual Clusters and Resource </a:t>
            </a:r>
            <a:r>
              <a:rPr lang="en-US" dirty="0" err="1" smtClean="0"/>
              <a:t>Management,Virtualization</a:t>
            </a:r>
            <a:r>
              <a:rPr lang="en-US" dirty="0" smtClean="0"/>
              <a:t> for Data-Center Automation</a:t>
            </a:r>
            <a:r>
              <a:rPr lang="en-US" dirty="0" smtClean="0"/>
              <a:t>.</a:t>
            </a:r>
          </a:p>
          <a:p>
            <a:pPr algn="just"/>
            <a:endParaRPr lang="en-US" dirty="0" smtClean="0"/>
          </a:p>
          <a:p>
            <a:pPr algn="just"/>
            <a:r>
              <a:rPr lang="en-US" dirty="0" smtClean="0"/>
              <a:t>Common Standards: The Open Cloud Consortium, Open Virtualization Format, Standards for </a:t>
            </a:r>
            <a:r>
              <a:rPr lang="en-US" dirty="0" err="1" smtClean="0"/>
              <a:t>ApplicationDevelopers</a:t>
            </a:r>
            <a:r>
              <a:rPr lang="en-US" dirty="0" smtClean="0"/>
              <a:t>: Browsers (Ajax), Data (XML, JSON), Solution Stacks (LAMP and LAPP),Syndication (Atom, </a:t>
            </a:r>
            <a:r>
              <a:rPr lang="en-US" dirty="0" err="1" smtClean="0"/>
              <a:t>AtomPublishing</a:t>
            </a:r>
            <a:r>
              <a:rPr lang="en-US" dirty="0" smtClean="0"/>
              <a:t> Protocol, and RSS), Standards for Security.</a:t>
            </a:r>
          </a:p>
          <a:p>
            <a:pPr algn="just"/>
            <a:r>
              <a:rPr lang="en-US" dirty="0" smtClean="0"/>
              <a:t> </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UNIT - III</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CLOUD </a:t>
            </a:r>
            <a:r>
              <a:rPr lang="en-US" b="1" dirty="0" smtClean="0"/>
              <a:t>PROGRAMMING, ENVIRONMENTS AND </a:t>
            </a:r>
            <a:r>
              <a:rPr lang="en-US" b="1" dirty="0" smtClean="0"/>
              <a:t>APPLICATIONS</a:t>
            </a:r>
            <a:endParaRPr lang="en-US" dirty="0" smtClean="0"/>
          </a:p>
          <a:p>
            <a:r>
              <a:rPr lang="en-US" dirty="0" smtClean="0"/>
              <a:t>Features of Cloud and Grid Platforms, Programming Support of Google App Engine, Programming on Amazon AWS and Microsoft Azure, Emerging Cloud Software Environments, Understanding Core </a:t>
            </a:r>
            <a:r>
              <a:rPr lang="en-US" dirty="0" err="1" smtClean="0"/>
              <a:t>OpenStack</a:t>
            </a:r>
            <a:r>
              <a:rPr lang="en-US" dirty="0" smtClean="0"/>
              <a:t> Ecosystem.</a:t>
            </a:r>
          </a:p>
          <a:p>
            <a:r>
              <a:rPr lang="en-US" dirty="0" smtClean="0"/>
              <a:t>Applications: Moving application to cloud, Microsoft Cloud Services, Google Cloud Applications, Amazon Cloud Services, Cloud Applications (Social Networking, E-mail, Office Services, Google Apps, Customer Relationship Management). </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Grid computing</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Grid computing</a:t>
            </a:r>
            <a:r>
              <a:rPr lang="en-US" dirty="0" smtClean="0"/>
              <a:t> is a processor architecture that combines </a:t>
            </a:r>
            <a:r>
              <a:rPr lang="en-US" b="1" dirty="0" smtClean="0"/>
              <a:t>computer</a:t>
            </a:r>
            <a:r>
              <a:rPr lang="en-US" dirty="0" smtClean="0"/>
              <a:t> resources from various domains to reach a main objective. In </a:t>
            </a:r>
            <a:r>
              <a:rPr lang="en-US" b="1" dirty="0" smtClean="0"/>
              <a:t>grid computing</a:t>
            </a:r>
            <a:r>
              <a:rPr lang="en-US" dirty="0" smtClean="0"/>
              <a:t>, the </a:t>
            </a:r>
            <a:r>
              <a:rPr lang="en-US" b="1" dirty="0" smtClean="0"/>
              <a:t>computers</a:t>
            </a:r>
            <a:r>
              <a:rPr lang="en-US" dirty="0" smtClean="0"/>
              <a:t> on the network can work on a task together, thus functioning as a supercomputer</a:t>
            </a:r>
            <a:r>
              <a:rPr lang="en-US" dirty="0" smtClean="0"/>
              <a:t>.</a:t>
            </a:r>
          </a:p>
          <a:p>
            <a:pPr>
              <a:buNone/>
            </a:pPr>
            <a:r>
              <a:rPr lang="en-US" dirty="0" smtClean="0"/>
              <a:t>OR</a:t>
            </a:r>
          </a:p>
          <a:p>
            <a:r>
              <a:rPr lang="en-US" dirty="0" smtClean="0"/>
              <a:t>A grid is an environment that allows service oriented, flexible and seamless </a:t>
            </a:r>
            <a:r>
              <a:rPr lang="en-US" dirty="0" smtClean="0"/>
              <a:t>sharing </a:t>
            </a:r>
            <a:r>
              <a:rPr lang="en-US" dirty="0" smtClean="0"/>
              <a:t>of heterogeneous network of resources for compute intensive and data </a:t>
            </a:r>
            <a:r>
              <a:rPr lang="en-US" dirty="0" smtClean="0"/>
              <a:t>intensive </a:t>
            </a:r>
            <a:r>
              <a:rPr lang="en-US" dirty="0" smtClean="0"/>
              <a:t>tasks and provides faster throughput and scalability at lower costs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Grid computing</a:t>
            </a:r>
            <a:endParaRPr lang="en-US" dirty="0"/>
          </a:p>
        </p:txBody>
      </p:sp>
      <p:sp>
        <p:nvSpPr>
          <p:cNvPr id="3" name="Content Placeholder 2"/>
          <p:cNvSpPr>
            <a:spLocks noGrp="1"/>
          </p:cNvSpPr>
          <p:nvPr>
            <p:ph idx="1"/>
          </p:nvPr>
        </p:nvSpPr>
        <p:spPr/>
        <p:txBody>
          <a:bodyPr/>
          <a:lstStyle/>
          <a:p>
            <a:pPr>
              <a:buNone/>
            </a:pPr>
            <a:r>
              <a:rPr lang="en-US" dirty="0" smtClean="0"/>
              <a:t>Benefits:</a:t>
            </a:r>
          </a:p>
          <a:p>
            <a:pPr>
              <a:buNone/>
            </a:pPr>
            <a:r>
              <a:rPr lang="en-US" dirty="0" smtClean="0"/>
              <a:t>performance </a:t>
            </a:r>
            <a:r>
              <a:rPr lang="en-US" dirty="0" smtClean="0"/>
              <a:t>with </a:t>
            </a:r>
            <a:r>
              <a:rPr lang="en-US" dirty="0" err="1" smtClean="0"/>
              <a:t>scalability,resource</a:t>
            </a:r>
            <a:r>
              <a:rPr lang="en-US" dirty="0" smtClean="0"/>
              <a:t> utilization, management </a:t>
            </a:r>
            <a:r>
              <a:rPr lang="en-US" dirty="0" smtClean="0"/>
              <a:t>and </a:t>
            </a:r>
            <a:r>
              <a:rPr lang="en-US" dirty="0" smtClean="0"/>
              <a:t>reliability and virtualization</a:t>
            </a:r>
            <a:r>
              <a:rPr lang="en-US" dirty="0" smtClean="0"/>
              <a: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G</a:t>
            </a:r>
            <a:r>
              <a:rPr lang="en-US" dirty="0" smtClean="0"/>
              <a:t>rid computing</a:t>
            </a:r>
            <a:endParaRPr lang="en-US" dirty="0"/>
          </a:p>
        </p:txBody>
      </p:sp>
      <p:sp>
        <p:nvSpPr>
          <p:cNvPr id="3" name="Segnaposto contenuto 2"/>
          <p:cNvSpPr>
            <a:spLocks noGrp="1"/>
          </p:cNvSpPr>
          <p:nvPr>
            <p:ph idx="1"/>
          </p:nvPr>
        </p:nvSpPr>
        <p:spPr/>
        <p:txBody>
          <a:bodyPr>
            <a:normAutofit lnSpcReduction="10000"/>
          </a:bodyPr>
          <a:lstStyle/>
          <a:p>
            <a:pPr marL="0" indent="0">
              <a:buNone/>
            </a:pPr>
            <a:r>
              <a:rPr lang="en-US" sz="3200" b="1" dirty="0" smtClean="0"/>
              <a:t>Grid computing is about collaborating and resource sharing as much as it is about high performance computing</a:t>
            </a:r>
          </a:p>
          <a:p>
            <a:pPr marL="0" indent="0">
              <a:buNone/>
            </a:pPr>
            <a:r>
              <a:rPr lang="en-US" sz="3000" dirty="0" smtClean="0"/>
              <a:t>Resource </a:t>
            </a:r>
            <a:r>
              <a:rPr lang="en-US" sz="3000" dirty="0" smtClean="0"/>
              <a:t>to be shared:</a:t>
            </a:r>
          </a:p>
          <a:p>
            <a:r>
              <a:rPr lang="en-US" sz="3000" dirty="0" smtClean="0"/>
              <a:t>Storage</a:t>
            </a:r>
          </a:p>
          <a:p>
            <a:r>
              <a:rPr lang="en-US" sz="3000" dirty="0" smtClean="0"/>
              <a:t>Sensors for experiments at particular sites</a:t>
            </a:r>
          </a:p>
          <a:p>
            <a:r>
              <a:rPr lang="en-US" sz="3000" dirty="0" smtClean="0"/>
              <a:t>Application Software</a:t>
            </a:r>
          </a:p>
          <a:p>
            <a:r>
              <a:rPr lang="en-US" sz="3000" dirty="0" smtClean="0"/>
              <a:t>Databases</a:t>
            </a:r>
          </a:p>
          <a:p>
            <a:r>
              <a:rPr lang="en-US" sz="3000" dirty="0" smtClean="0"/>
              <a:t>Network capacity, …</a:t>
            </a:r>
          </a:p>
          <a:p>
            <a:endParaRPr lang="en-US" dirty="0"/>
          </a:p>
        </p:txBody>
      </p:sp>
    </p:spTree>
    <p:extLst>
      <p:ext uri="{BB962C8B-B14F-4D97-AF65-F5344CB8AC3E}">
        <p14:creationId xmlns:p14="http://schemas.microsoft.com/office/powerpoint/2010/main" xmlns="" val="349352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G</a:t>
            </a:r>
            <a:r>
              <a:rPr lang="en-US" dirty="0" smtClean="0"/>
              <a:t>rid computing</a:t>
            </a:r>
            <a:endParaRPr lang="en-US" dirty="0"/>
          </a:p>
        </p:txBody>
      </p:sp>
      <p:sp>
        <p:nvSpPr>
          <p:cNvPr id="3" name="Segnaposto contenuto 2"/>
          <p:cNvSpPr>
            <a:spLocks noGrp="1"/>
          </p:cNvSpPr>
          <p:nvPr>
            <p:ph idx="1"/>
          </p:nvPr>
        </p:nvSpPr>
        <p:spPr/>
        <p:txBody>
          <a:bodyPr/>
          <a:lstStyle/>
          <a:p>
            <a:pPr marL="0" indent="0">
              <a:buNone/>
            </a:pPr>
            <a:r>
              <a:rPr lang="en-US" sz="2800" dirty="0" smtClean="0"/>
              <a:t>Ingredients:</a:t>
            </a:r>
          </a:p>
          <a:p>
            <a:r>
              <a:rPr lang="en-US" sz="2800" dirty="0" smtClean="0"/>
              <a:t>High capacity and high speed networks</a:t>
            </a:r>
          </a:p>
          <a:p>
            <a:r>
              <a:rPr lang="en-US" sz="2800" dirty="0" smtClean="0"/>
              <a:t>Computers and other resources</a:t>
            </a:r>
          </a:p>
          <a:p>
            <a:r>
              <a:rPr lang="en-US" sz="2800" dirty="0" smtClean="0"/>
              <a:t>Middle ware, the software to share resources</a:t>
            </a:r>
          </a:p>
          <a:p>
            <a:r>
              <a:rPr lang="en-US" sz="2800" dirty="0" smtClean="0"/>
              <a:t>Authorization and authentication system</a:t>
            </a:r>
          </a:p>
          <a:p>
            <a:r>
              <a:rPr lang="en-US" sz="2800" dirty="0" smtClean="0"/>
              <a:t>Virtual Organizations</a:t>
            </a:r>
            <a:endParaRPr lang="en-US" sz="2800" dirty="0"/>
          </a:p>
        </p:txBody>
      </p:sp>
    </p:spTree>
    <p:extLst>
      <p:ext uri="{BB962C8B-B14F-4D97-AF65-F5344CB8AC3E}">
        <p14:creationId xmlns:p14="http://schemas.microsoft.com/office/powerpoint/2010/main" xmlns="" val="9314223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Comparison Chart</a:t>
            </a:r>
            <a:br>
              <a:rPr lang="en-US" b="1" dirty="0" smtClean="0"/>
            </a:br>
            <a:endParaRPr lang="en-US" dirty="0"/>
          </a:p>
        </p:txBody>
      </p:sp>
      <p:graphicFrame>
        <p:nvGraphicFramePr>
          <p:cNvPr id="4" name="Table 3"/>
          <p:cNvGraphicFramePr>
            <a:graphicFrameLocks noGrp="1"/>
          </p:cNvGraphicFramePr>
          <p:nvPr/>
        </p:nvGraphicFramePr>
        <p:xfrm>
          <a:off x="838200" y="2057400"/>
          <a:ext cx="7696200" cy="2590800"/>
        </p:xfrm>
        <a:graphic>
          <a:graphicData uri="http://schemas.openxmlformats.org/drawingml/2006/table">
            <a:tbl>
              <a:tblPr/>
              <a:tblGrid>
                <a:gridCol w="2565400"/>
                <a:gridCol w="2565400"/>
                <a:gridCol w="2565400"/>
              </a:tblGrid>
              <a:tr h="215900">
                <a:tc>
                  <a:txBody>
                    <a:bodyPr/>
                    <a:lstStyle/>
                    <a:p>
                      <a:pPr marL="0" marR="0" algn="ctr">
                        <a:spcBef>
                          <a:spcPts val="0"/>
                        </a:spcBef>
                        <a:spcAft>
                          <a:spcPts val="0"/>
                        </a:spcAft>
                      </a:pPr>
                      <a:r>
                        <a:rPr lang="en-US" sz="1000" b="1">
                          <a:latin typeface="Times New Roman"/>
                          <a:ea typeface="Times New Roman"/>
                          <a:cs typeface="Times New Roman"/>
                        </a:rPr>
                        <a:t>Basis for comparison</a:t>
                      </a:r>
                      <a:endParaRPr lang="en-US" sz="10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b="1">
                          <a:latin typeface="Times New Roman"/>
                          <a:ea typeface="Times New Roman"/>
                          <a:cs typeface="Times New Roman"/>
                        </a:rPr>
                        <a:t>Cloud computing</a:t>
                      </a:r>
                      <a:endParaRPr lang="en-US" sz="10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b="1">
                          <a:latin typeface="Times New Roman"/>
                          <a:ea typeface="Times New Roman"/>
                          <a:cs typeface="Times New Roman"/>
                        </a:rPr>
                        <a:t>Grid computing</a:t>
                      </a:r>
                      <a:endParaRPr lang="en-US" sz="10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800">
                <a:tc>
                  <a:txBody>
                    <a:bodyPr/>
                    <a:lstStyle/>
                    <a:p>
                      <a:pPr marL="0" marR="0" algn="ctr">
                        <a:spcBef>
                          <a:spcPts val="0"/>
                        </a:spcBef>
                        <a:spcAft>
                          <a:spcPts val="0"/>
                        </a:spcAft>
                      </a:pPr>
                      <a:r>
                        <a:rPr lang="en-US" sz="1000">
                          <a:latin typeface="Times New Roman"/>
                          <a:ea typeface="Times New Roman"/>
                          <a:cs typeface="Times New Roman"/>
                        </a:rPr>
                        <a:t>Application focus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business and web-based applications.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Collaborative purposes.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0"/>
                        </a:spcAft>
                      </a:pPr>
                      <a:r>
                        <a:rPr lang="en-US" sz="1000">
                          <a:latin typeface="Times New Roman"/>
                          <a:ea typeface="Times New Roman"/>
                          <a:cs typeface="Times New Roman"/>
                        </a:rPr>
                        <a:t>Architecture used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Client-server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Distributed computing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0"/>
                        </a:spcAft>
                      </a:pPr>
                      <a:r>
                        <a:rPr lang="en-US" sz="1000">
                          <a:latin typeface="Times New Roman"/>
                          <a:ea typeface="Times New Roman"/>
                          <a:cs typeface="Times New Roman"/>
                        </a:rPr>
                        <a:t>Management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Centralized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Decentralized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0"/>
                        </a:spcAft>
                      </a:pPr>
                      <a:r>
                        <a:rPr lang="en-US" sz="1000">
                          <a:latin typeface="Times New Roman"/>
                          <a:ea typeface="Times New Roman"/>
                          <a:cs typeface="Times New Roman"/>
                        </a:rPr>
                        <a:t>Business model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Pay per use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No defined business model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7700">
                <a:tc>
                  <a:txBody>
                    <a:bodyPr/>
                    <a:lstStyle/>
                    <a:p>
                      <a:pPr marL="0" marR="0" algn="ctr">
                        <a:spcBef>
                          <a:spcPts val="0"/>
                        </a:spcBef>
                        <a:spcAft>
                          <a:spcPts val="0"/>
                        </a:spcAft>
                      </a:pPr>
                      <a:r>
                        <a:rPr lang="en-US" sz="1000">
                          <a:latin typeface="Times New Roman"/>
                          <a:ea typeface="Times New Roman"/>
                          <a:cs typeface="Times New Roman"/>
                        </a:rPr>
                        <a:t>Programming models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Eucalyptus, Open Nebula, Open stack etc, for Iaas but no middleware exists.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Different middle wares are available such as Globus gLite, Unicore, etc.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0"/>
                        </a:spcAft>
                      </a:pPr>
                      <a:r>
                        <a:rPr lang="en-US" sz="1000">
                          <a:latin typeface="Times New Roman"/>
                          <a:ea typeface="Times New Roman"/>
                          <a:cs typeface="Times New Roman"/>
                        </a:rPr>
                        <a:t>Resource usage patterns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Centralized manner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Collaborative manner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1200"/>
                        </a:spcAft>
                      </a:pPr>
                      <a:r>
                        <a:rPr lang="en-US" sz="1000">
                          <a:latin typeface="Times New Roman"/>
                          <a:ea typeface="Times New Roman"/>
                          <a:cs typeface="Times New Roman"/>
                        </a:rPr>
                        <a:t>Flexibility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High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000">
                          <a:latin typeface="Times New Roman"/>
                          <a:ea typeface="Times New Roman"/>
                          <a:cs typeface="Times New Roman"/>
                        </a:rPr>
                        <a:t>Low</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5900">
                <a:tc>
                  <a:txBody>
                    <a:bodyPr/>
                    <a:lstStyle/>
                    <a:p>
                      <a:pPr marL="0" marR="0" algn="ctr">
                        <a:spcBef>
                          <a:spcPts val="0"/>
                        </a:spcBef>
                        <a:spcAft>
                          <a:spcPts val="0"/>
                        </a:spcAft>
                      </a:pPr>
                      <a:endParaRPr lang="en-US" sz="100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00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10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973</TotalTime>
  <Words>3747</Words>
  <Application>Microsoft Office PowerPoint</Application>
  <PresentationFormat>On-screen Show (4:3)</PresentationFormat>
  <Paragraphs>422</Paragraphs>
  <Slides>53</Slides>
  <Notes>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Slide 1</vt:lpstr>
      <vt:lpstr>COMMON STANDARDS IN CLOUD COMPUTING </vt:lpstr>
      <vt:lpstr>1. The Open Cloud Consortium</vt:lpstr>
      <vt:lpstr>The Open Cloud Consortium</vt:lpstr>
      <vt:lpstr>The Open Cloud Consortium</vt:lpstr>
      <vt:lpstr>The Open Cloud Consortium</vt:lpstr>
      <vt:lpstr>The Open Cloud Consortium</vt:lpstr>
      <vt:lpstr>The Open Cloud Consortium</vt:lpstr>
      <vt:lpstr>The Open Cloud Consortium</vt:lpstr>
      <vt:lpstr>The Distributed Management Task Force</vt:lpstr>
      <vt:lpstr>The Distributed Management Task Force</vt:lpstr>
      <vt:lpstr>Open Virtualization Format</vt:lpstr>
      <vt:lpstr>Open Virtualization Format</vt:lpstr>
      <vt:lpstr>Slide 14</vt:lpstr>
      <vt:lpstr>Standards for Application Developers</vt:lpstr>
      <vt:lpstr>Standards for Application Developers</vt:lpstr>
      <vt:lpstr>Standards for Application Developers</vt:lpstr>
      <vt:lpstr>  Standards for Application Developers(Cont’d)  </vt:lpstr>
      <vt:lpstr> Standards for Application Developers(Cont’d) </vt:lpstr>
      <vt:lpstr>Standards for Application Developers(Cont’d)</vt:lpstr>
      <vt:lpstr>Standards for Application Developers(Cont’d)  </vt:lpstr>
      <vt:lpstr>Standards for Application Developers(Cont’d)</vt:lpstr>
      <vt:lpstr>Standards for Application Developers(Cont’d)</vt:lpstr>
      <vt:lpstr>Standards for Application Developers(Cont’d)  </vt:lpstr>
      <vt:lpstr>Standards for Messaging </vt:lpstr>
      <vt:lpstr>Standards for Security </vt:lpstr>
      <vt:lpstr>Standards for Security(Cont’d)</vt:lpstr>
      <vt:lpstr>Standards for Security(Cont’d)</vt:lpstr>
      <vt:lpstr>Standards for Security(Cont’d)</vt:lpstr>
      <vt:lpstr>Slide 30</vt:lpstr>
      <vt:lpstr>Syndication</vt:lpstr>
      <vt:lpstr>Web Content Syndication</vt:lpstr>
      <vt:lpstr>Quiz</vt:lpstr>
      <vt:lpstr>Quiz</vt:lpstr>
      <vt:lpstr>Slide 35</vt:lpstr>
      <vt:lpstr>Slide 36</vt:lpstr>
      <vt:lpstr>Syndication: RSS</vt:lpstr>
      <vt:lpstr>Quiz</vt:lpstr>
      <vt:lpstr>Quiz</vt:lpstr>
      <vt:lpstr>Quiz</vt:lpstr>
      <vt:lpstr>Quiz</vt:lpstr>
      <vt:lpstr>Quiz</vt:lpstr>
      <vt:lpstr>Quiz</vt:lpstr>
      <vt:lpstr>Syndication (Atom, Atom Publishing Protocol, and RSS)</vt:lpstr>
      <vt:lpstr> Atom and Atom Publishing Protocol (APP) </vt:lpstr>
      <vt:lpstr>Unit -II</vt:lpstr>
      <vt:lpstr>UNIT - III</vt:lpstr>
      <vt:lpstr>Grid computing</vt:lpstr>
      <vt:lpstr>Grid computing</vt:lpstr>
      <vt:lpstr>Grid computing</vt:lpstr>
      <vt:lpstr>Grid computing</vt:lpstr>
      <vt:lpstr>Comparison Chart </vt:lpstr>
      <vt:lpstr>Slide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HODIT</dc:creator>
  <cp:lastModifiedBy>HODIT</cp:lastModifiedBy>
  <cp:revision>99</cp:revision>
  <dcterms:created xsi:type="dcterms:W3CDTF">2019-02-07T04:35:32Z</dcterms:created>
  <dcterms:modified xsi:type="dcterms:W3CDTF">2019-02-18T04:16:02Z</dcterms:modified>
</cp:coreProperties>
</file>