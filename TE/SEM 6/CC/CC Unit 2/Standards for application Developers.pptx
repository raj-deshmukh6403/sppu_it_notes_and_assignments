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notesMasterIdLst>
    <p:notesMasterId r:id="rId13"/>
  </p:notesMasterIdLst>
  <p:sldIdLst>
    <p:sldId id="256" r:id="rId2"/>
    <p:sldId id="394" r:id="rId3"/>
    <p:sldId id="386" r:id="rId4"/>
    <p:sldId id="359" r:id="rId5"/>
    <p:sldId id="387" r:id="rId6"/>
    <p:sldId id="388" r:id="rId7"/>
    <p:sldId id="389" r:id="rId8"/>
    <p:sldId id="390" r:id="rId9"/>
    <p:sldId id="391" r:id="rId10"/>
    <p:sldId id="392" r:id="rId11"/>
    <p:sldId id="393" r:id="rId1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</a:defRPr>
            </a:lvl1pPr>
          </a:lstStyle>
          <a:p>
            <a:pPr>
              <a:defRPr/>
            </a:pPr>
            <a:fld id="{7212FB50-E04B-49C9-BA01-A0F26D1B0CE0}" type="datetime1">
              <a:rPr lang="en-US"/>
              <a:pPr>
                <a:defRPr/>
              </a:pPr>
              <a:t>2/20/2018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</a:defRPr>
            </a:lvl1pPr>
          </a:lstStyle>
          <a:p>
            <a:pPr>
              <a:defRPr/>
            </a:pPr>
            <a:fld id="{8BE1B54D-2FFD-4E7C-B390-C4F1142C0E3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0A281D-7FE7-4047-9569-52DE0EA45616}" type="datetime1">
              <a:rPr lang="en-US"/>
              <a:pPr>
                <a:defRPr/>
              </a:pPr>
              <a:t>2/20/2018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FB1F08-4E17-4A70-B60E-373F88A2B0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2EA10D-5E4C-4BE8-A492-D88D98314300}" type="datetime1">
              <a:rPr lang="en-US"/>
              <a:pPr>
                <a:defRPr/>
              </a:pPr>
              <a:t>2/20/2018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0CDFA1-E627-4126-81D0-9CD1DD8CF5E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99BB1B-EA6B-4996-9F24-A56AB954B0CF}" type="datetime1">
              <a:rPr lang="en-US"/>
              <a:pPr>
                <a:defRPr/>
              </a:pPr>
              <a:t>2/20/2018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0EC4BB-1B8D-49A2-99EA-89E262A19E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1551D9-AA66-4323-85B2-D0CADA846A19}" type="datetime1">
              <a:rPr lang="en-US"/>
              <a:pPr>
                <a:defRPr/>
              </a:pPr>
              <a:t>2/20/2018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E5AB24-234F-4FB2-B8E5-FD139EDBDA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6C98D3-5CD2-4465-96BC-2FAADC0030A5}" type="datetime1">
              <a:rPr lang="en-US"/>
              <a:pPr>
                <a:defRPr/>
              </a:pPr>
              <a:t>2/20/2018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D30DD6-7026-43BE-8CFB-A1F3BAA4FA7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B3C7AE-DDF6-489F-92D3-09D1009FE22A}" type="datetime1">
              <a:rPr lang="en-US"/>
              <a:pPr>
                <a:defRPr/>
              </a:pPr>
              <a:t>2/20/2018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DF71F4-5B5B-47D6-90F6-55224FBF74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4B8C13-A207-44BB-9419-B10611BB2D71}" type="datetime1">
              <a:rPr lang="en-US"/>
              <a:pPr>
                <a:defRPr/>
              </a:pPr>
              <a:t>2/20/2018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A7EDF5-C24F-4516-9B5D-EEAF3275D39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1317D2-84A1-47AF-99B6-146598BC7DD7}" type="datetime1">
              <a:rPr lang="en-US"/>
              <a:pPr>
                <a:defRPr/>
              </a:pPr>
              <a:t>2/20/2018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902A8E-5E7D-439C-96B9-2F625541BDB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F6C9CA-B4F4-4810-A9B5-C00BB0A1859B}" type="datetime1">
              <a:rPr lang="en-US"/>
              <a:pPr>
                <a:defRPr/>
              </a:pPr>
              <a:t>2/20/2018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827E31-EDBC-4168-9FE2-8A83195DBD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7E6D29-EEF8-4E83-AE16-21128ED7E1BC}" type="datetime1">
              <a:rPr lang="en-US"/>
              <a:pPr>
                <a:defRPr/>
              </a:pPr>
              <a:t>2/20/2018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B2BC63-2940-4BB8-9D45-5A0563EE0DC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79B2BD-41C1-4567-B45B-F69D026FFFBA}" type="datetime1">
              <a:rPr lang="en-US"/>
              <a:pPr>
                <a:defRPr/>
              </a:pPr>
              <a:t>2/20/2018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B8FD56-0420-418E-9EAA-C0A7B40A980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18A9107D-9185-4A6D-AC13-3CCB2FF78D6D}" type="datetime1">
              <a:rPr lang="en-US"/>
              <a:pPr>
                <a:defRPr/>
              </a:pPr>
              <a:t>2/20/2018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4533F121-A26B-4A46-B341-6D996FB242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-128"/>
          <a:cs typeface="ＭＳ Ｐゴシック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sz="5400" dirty="0" smtClean="0">
                <a:ea typeface="ＭＳ Ｐゴシック" pitchFamily="34" charset="-128"/>
              </a:rPr>
              <a:t>Standards for Application Developers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305800" cy="838200"/>
          </a:xfrm>
        </p:spPr>
        <p:txBody>
          <a:bodyPr/>
          <a:lstStyle/>
          <a:p>
            <a:r>
              <a:rPr lang="en-US" sz="3600" smtClean="0">
                <a:ea typeface="ＭＳ Ｐゴシック" pitchFamily="34" charset="-128"/>
              </a:rPr>
              <a:t>Why Application development standards? </a:t>
            </a:r>
          </a:p>
        </p:txBody>
      </p:sp>
      <p:sp>
        <p:nvSpPr>
          <p:cNvPr id="3075" name="Content Placeholder 2"/>
          <p:cNvSpPr>
            <a:spLocks noGrp="1"/>
          </p:cNvSpPr>
          <p:nvPr>
            <p:ph idx="1"/>
          </p:nvPr>
        </p:nvSpPr>
        <p:spPr>
          <a:xfrm>
            <a:off x="304800" y="1066800"/>
            <a:ext cx="8534400" cy="5059363"/>
          </a:xfrm>
        </p:spPr>
        <p:txBody>
          <a:bodyPr/>
          <a:lstStyle/>
          <a:p>
            <a:r>
              <a:rPr lang="en-US" sz="2400" smtClean="0">
                <a:ea typeface="ＭＳ Ｐゴシック" pitchFamily="34" charset="-128"/>
              </a:rPr>
              <a:t>To ensure uniform, consistent, high-quality software solutions. </a:t>
            </a:r>
          </a:p>
          <a:p>
            <a:r>
              <a:rPr lang="en-US" sz="2400" smtClean="0">
                <a:ea typeface="ＭＳ Ｐゴシック" pitchFamily="34" charset="-128"/>
              </a:rPr>
              <a:t>80% lifetime cost of software goes to maintenance. </a:t>
            </a:r>
          </a:p>
          <a:p>
            <a:r>
              <a:rPr lang="en-US" sz="2400" smtClean="0">
                <a:ea typeface="ＭＳ Ｐゴシック" pitchFamily="34" charset="-128"/>
              </a:rPr>
              <a:t>hardly any software is maintained by the original author for its complete life cycle. </a:t>
            </a:r>
          </a:p>
          <a:p>
            <a:r>
              <a:rPr lang="en-US" sz="2400" smtClean="0">
                <a:ea typeface="ＭＳ Ｐゴシック" pitchFamily="34" charset="-128"/>
              </a:rPr>
              <a:t>standards help to improve the readability of the software, allowing developers to understand new code more quickly and thoroughly.  </a:t>
            </a:r>
          </a:p>
          <a:p>
            <a:r>
              <a:rPr lang="en-US" sz="2400" smtClean="0">
                <a:ea typeface="ＭＳ Ｐゴシック" pitchFamily="34" charset="-128"/>
              </a:rPr>
              <a:t>For shipping the code as a product it should be well packaged and should meet industry standards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503238" y="4983163"/>
            <a:ext cx="8183562" cy="1052512"/>
          </a:xfrm>
        </p:spPr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Common Standards In Cloud Computing</a:t>
            </a:r>
            <a:endParaRPr lang="en-US"/>
          </a:p>
        </p:txBody>
      </p:sp>
      <p:sp>
        <p:nvSpPr>
          <p:cNvPr id="4100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BB4E2442-B37B-4EE3-A8C3-11E294FCD242}" type="slidenum">
              <a:rPr lang="en-US" smtClean="0"/>
              <a:pPr/>
              <a:t>3</a:t>
            </a:fld>
            <a:endParaRPr lang="en-US" smtClean="0"/>
          </a:p>
        </p:txBody>
      </p:sp>
      <p:pic>
        <p:nvPicPr>
          <p:cNvPr id="4101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533400" y="530225"/>
            <a:ext cx="7924800" cy="5565775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Content Placeholder 3"/>
          <p:cNvSpPr>
            <a:spLocks noGrp="1"/>
          </p:cNvSpPr>
          <p:nvPr>
            <p:ph idx="1"/>
          </p:nvPr>
        </p:nvSpPr>
        <p:spPr>
          <a:xfrm>
            <a:off x="304800" y="1752600"/>
            <a:ext cx="8610600" cy="2895600"/>
          </a:xfrm>
        </p:spPr>
        <p:txBody>
          <a:bodyPr/>
          <a:lstStyle/>
          <a:p>
            <a:pPr>
              <a:buClr>
                <a:srgbClr val="F07F09"/>
              </a:buClr>
              <a:buFont typeface="Wingdings" pitchFamily="2" charset="2"/>
              <a:buChar char="v"/>
            </a:pPr>
            <a:r>
              <a:rPr lang="en-US" sz="2400" smtClean="0">
                <a:ea typeface="ＭＳ Ｐゴシック" pitchFamily="34" charset="-128"/>
              </a:rPr>
              <a:t>Browsers (Ajax)</a:t>
            </a:r>
          </a:p>
          <a:p>
            <a:pPr>
              <a:buClr>
                <a:srgbClr val="F07F09"/>
              </a:buClr>
              <a:buFont typeface="Wingdings" pitchFamily="2" charset="2"/>
              <a:buChar char="v"/>
            </a:pPr>
            <a:r>
              <a:rPr lang="en-US" sz="2400" smtClean="0">
                <a:ea typeface="ＭＳ Ｐゴシック" pitchFamily="34" charset="-128"/>
              </a:rPr>
              <a:t>Data (XML, JSON)</a:t>
            </a:r>
          </a:p>
          <a:p>
            <a:pPr>
              <a:buClr>
                <a:srgbClr val="F07F09"/>
              </a:buClr>
              <a:buFont typeface="Wingdings" pitchFamily="2" charset="2"/>
              <a:buChar char="v"/>
            </a:pPr>
            <a:r>
              <a:rPr lang="en-US" sz="2400" smtClean="0">
                <a:ea typeface="ＭＳ Ｐゴシック" pitchFamily="34" charset="-128"/>
              </a:rPr>
              <a:t>Solution Stacks (LAMP and LAPP)</a:t>
            </a:r>
            <a:endParaRPr lang="fa-IR" sz="2400" smtClean="0">
              <a:ea typeface="ＭＳ Ｐゴシック" pitchFamily="34" charset="-128"/>
            </a:endParaRPr>
          </a:p>
          <a:p>
            <a:pPr algn="just"/>
            <a:endParaRPr lang="en-US" sz="2400" smtClean="0">
              <a:ea typeface="ＭＳ Ｐゴシック" pitchFamily="34" charset="-128"/>
            </a:endParaRPr>
          </a:p>
        </p:txBody>
      </p:sp>
      <p:sp>
        <p:nvSpPr>
          <p:cNvPr id="5123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Standards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534400" cy="762000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accent1">
                    <a:tint val="88000"/>
                    <a:satMod val="150000"/>
                  </a:schemeClr>
                </a:solidFill>
              </a:rPr>
              <a:t>Standards for Application Developers</a:t>
            </a:r>
            <a:r>
              <a:rPr lang="en-AU" sz="2400" dirty="0" smtClean="0">
                <a:solidFill>
                  <a:schemeClr val="accent1">
                    <a:tint val="88000"/>
                    <a:satMod val="150000"/>
                  </a:schemeClr>
                </a:solidFill>
              </a:rPr>
              <a:t>(Cont’d)</a:t>
            </a:r>
            <a:br>
              <a:rPr lang="en-AU" sz="2400" dirty="0" smtClean="0">
                <a:solidFill>
                  <a:schemeClr val="accent1">
                    <a:tint val="88000"/>
                    <a:satMod val="150000"/>
                  </a:schemeClr>
                </a:solidFill>
              </a:rPr>
            </a:br>
            <a:r>
              <a:rPr lang="en-US" sz="2400" dirty="0" smtClean="0">
                <a:solidFill>
                  <a:schemeClr val="accent1">
                    <a:tint val="88000"/>
                    <a:satMod val="150000"/>
                  </a:schemeClr>
                </a:solidFill>
              </a:rPr>
              <a:t/>
            </a:r>
            <a:br>
              <a:rPr lang="en-US" sz="2400" dirty="0" smtClean="0">
                <a:solidFill>
                  <a:schemeClr val="accent1">
                    <a:tint val="88000"/>
                    <a:satMod val="150000"/>
                  </a:schemeClr>
                </a:solidFill>
              </a:rPr>
            </a:br>
            <a:endParaRPr lang="en-US" sz="2400" dirty="0" smtClean="0">
              <a:solidFill>
                <a:schemeClr val="accent1">
                  <a:tint val="88000"/>
                  <a:satMod val="150000"/>
                </a:scheme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505200" y="6172200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/>
              <a:t>Common Standards In Cloud Computing</a:t>
            </a:r>
            <a:endParaRPr lang="en-US" dirty="0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B204CA3-751E-41B6-AEA4-4EB0C10E1065}" type="slidenum">
              <a:rPr lang="en-US" smtClean="0"/>
              <a:pPr/>
              <a:t>5</a:t>
            </a:fld>
            <a:endParaRPr lang="en-US" smtClean="0"/>
          </a:p>
        </p:txBody>
      </p:sp>
      <p:sp>
        <p:nvSpPr>
          <p:cNvPr id="11" name="Rectangle 10"/>
          <p:cNvSpPr/>
          <p:nvPr/>
        </p:nvSpPr>
        <p:spPr>
          <a:xfrm>
            <a:off x="304800" y="838200"/>
            <a:ext cx="5029200" cy="5486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buClr>
                <a:srgbClr val="F07F09"/>
              </a:buClr>
              <a:buFont typeface="Wingdings" pitchFamily="2" charset="2"/>
              <a:buChar char="v"/>
            </a:pPr>
            <a:r>
              <a:rPr lang="en-US" sz="2000" b="1">
                <a:solidFill>
                  <a:schemeClr val="accent1"/>
                </a:solidFill>
                <a:cs typeface="Arial" charset="0"/>
              </a:rPr>
              <a:t>Browsers (Ajax)</a:t>
            </a:r>
          </a:p>
          <a:p>
            <a:pPr>
              <a:buClr>
                <a:srgbClr val="F07F09"/>
              </a:buClr>
              <a:buFont typeface="Wingdings" pitchFamily="2" charset="2"/>
              <a:buChar char="v"/>
            </a:pPr>
            <a:endParaRPr lang="en-US" sz="2000">
              <a:solidFill>
                <a:schemeClr val="tx1"/>
              </a:solidFill>
              <a:cs typeface="Arial" charset="0"/>
            </a:endParaRPr>
          </a:p>
          <a:p>
            <a:pPr>
              <a:buClr>
                <a:schemeClr val="accent1"/>
              </a:buClr>
              <a:buFont typeface="Wingdings" pitchFamily="2" charset="2"/>
              <a:buChar char="v"/>
            </a:pPr>
            <a:r>
              <a:rPr lang="en-US">
                <a:solidFill>
                  <a:schemeClr val="tx1"/>
                </a:solidFill>
                <a:cs typeface="Arial" charset="0"/>
              </a:rPr>
              <a:t>Its predecessor AJAX (Asynchronous JavaScript and XML).</a:t>
            </a:r>
          </a:p>
          <a:p>
            <a:pPr eaLnBrk="0" hangingPunct="0">
              <a:buClr>
                <a:schemeClr val="accent1"/>
              </a:buClr>
              <a:buFont typeface="Wingdings" pitchFamily="2" charset="2"/>
              <a:buChar char="v"/>
            </a:pPr>
            <a:r>
              <a:rPr lang="en-US">
                <a:solidFill>
                  <a:schemeClr val="tx1"/>
                </a:solidFill>
                <a:cs typeface="Arial" charset="0"/>
              </a:rPr>
              <a:t>web development techniques used to create interactive web applications</a:t>
            </a:r>
          </a:p>
          <a:p>
            <a:pPr eaLnBrk="0" hangingPunct="0">
              <a:buClr>
                <a:schemeClr val="accent1"/>
              </a:buClr>
              <a:buFont typeface="Wingdings" pitchFamily="2" charset="2"/>
              <a:buChar char="v"/>
            </a:pPr>
            <a:r>
              <a:rPr lang="en-US">
                <a:solidFill>
                  <a:schemeClr val="tx1"/>
                </a:solidFill>
                <a:cs typeface="Arial" charset="0"/>
              </a:rPr>
              <a:t>Update a web page without reloading the page</a:t>
            </a:r>
          </a:p>
          <a:p>
            <a:pPr eaLnBrk="0" hangingPunct="0">
              <a:buClr>
                <a:schemeClr val="accent1"/>
              </a:buClr>
              <a:buFont typeface="Wingdings" pitchFamily="2" charset="2"/>
              <a:buChar char="v"/>
            </a:pPr>
            <a:r>
              <a:rPr lang="en-US">
                <a:solidFill>
                  <a:schemeClr val="tx1"/>
                </a:solidFill>
                <a:cs typeface="Arial" charset="0"/>
              </a:rPr>
              <a:t>Request data from a server - after the page has loaded</a:t>
            </a:r>
          </a:p>
          <a:p>
            <a:pPr eaLnBrk="0" hangingPunct="0">
              <a:buClr>
                <a:schemeClr val="accent1"/>
              </a:buClr>
              <a:buFont typeface="Wingdings" pitchFamily="2" charset="2"/>
              <a:buChar char="v"/>
            </a:pPr>
            <a:r>
              <a:rPr lang="en-US">
                <a:solidFill>
                  <a:schemeClr val="tx1"/>
                </a:solidFill>
                <a:cs typeface="Arial" charset="0"/>
              </a:rPr>
              <a:t>Receive data from a server - after the page has loaded</a:t>
            </a:r>
          </a:p>
          <a:p>
            <a:pPr eaLnBrk="0" hangingPunct="0">
              <a:buClr>
                <a:schemeClr val="accent1"/>
              </a:buClr>
              <a:buFont typeface="Wingdings" pitchFamily="2" charset="2"/>
              <a:buChar char="v"/>
            </a:pPr>
            <a:r>
              <a:rPr lang="en-US">
                <a:solidFill>
                  <a:schemeClr val="tx1"/>
                </a:solidFill>
                <a:cs typeface="Arial" charset="0"/>
              </a:rPr>
              <a:t>Send data to a server - in the background</a:t>
            </a:r>
          </a:p>
          <a:p>
            <a:pPr>
              <a:buClr>
                <a:schemeClr val="accent1"/>
              </a:buClr>
              <a:buFont typeface="Wingdings" pitchFamily="2" charset="2"/>
              <a:buChar char="v"/>
            </a:pPr>
            <a:r>
              <a:rPr lang="en-US">
                <a:solidFill>
                  <a:schemeClr val="tx1"/>
                </a:solidFill>
                <a:cs typeface="Arial" charset="0"/>
              </a:rPr>
              <a:t>A web application can request only the content that needs to be updated.</a:t>
            </a:r>
          </a:p>
          <a:p>
            <a:pPr>
              <a:buClr>
                <a:schemeClr val="accent1"/>
              </a:buClr>
              <a:buFont typeface="Wingdings" pitchFamily="2" charset="2"/>
              <a:buChar char="v"/>
            </a:pPr>
            <a:r>
              <a:rPr lang="en-US">
                <a:solidFill>
                  <a:schemeClr val="tx1"/>
                </a:solidFill>
                <a:cs typeface="Arial" charset="0"/>
              </a:rPr>
              <a:t> This greatly reduces networking bandwidth usage and page load times.</a:t>
            </a:r>
          </a:p>
          <a:p>
            <a:pPr>
              <a:buClr>
                <a:schemeClr val="accent1"/>
              </a:buClr>
              <a:buFont typeface="Wingdings" pitchFamily="2" charset="2"/>
              <a:buChar char="v"/>
            </a:pPr>
            <a:r>
              <a:rPr lang="en-US">
                <a:solidFill>
                  <a:schemeClr val="tx1"/>
                </a:solidFill>
                <a:cs typeface="Arial" charset="0"/>
              </a:rPr>
              <a:t>Use in interactive animation on web pages</a:t>
            </a:r>
            <a:r>
              <a:rPr lang="en-US" sz="2000">
                <a:solidFill>
                  <a:schemeClr val="tx1"/>
                </a:solidFill>
                <a:cs typeface="Arial" charset="0"/>
              </a:rPr>
              <a:t>.</a:t>
            </a:r>
          </a:p>
          <a:p>
            <a:pPr>
              <a:buClr>
                <a:schemeClr val="accent1"/>
              </a:buClr>
              <a:buFont typeface="Wingdings" pitchFamily="2" charset="2"/>
              <a:buChar char="v"/>
            </a:pPr>
            <a:r>
              <a:rPr lang="en-US" sz="2000" b="1">
                <a:solidFill>
                  <a:schemeClr val="tx1"/>
                </a:solidFill>
                <a:cs typeface="Arial" charset="0"/>
              </a:rPr>
              <a:t>ICEfaces Ajax Application Framework</a:t>
            </a:r>
          </a:p>
          <a:p>
            <a:pPr>
              <a:buClr>
                <a:srgbClr val="F07F09"/>
              </a:buClr>
              <a:buFont typeface="Wingdings" pitchFamily="2" charset="2"/>
              <a:buChar char="v"/>
            </a:pPr>
            <a:endParaRPr lang="en-US" sz="2000">
              <a:solidFill>
                <a:schemeClr val="tx1"/>
              </a:solidFill>
              <a:cs typeface="Arial" charset="0"/>
            </a:endParaRPr>
          </a:p>
        </p:txBody>
      </p:sp>
      <p:pic>
        <p:nvPicPr>
          <p:cNvPr id="6" name="Picture 5" descr="CloudComputing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752600"/>
            <a:ext cx="2957648" cy="365760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8534400" cy="715963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accent1">
                    <a:tint val="88000"/>
                    <a:satMod val="150000"/>
                  </a:schemeClr>
                </a:solidFill>
              </a:rPr>
              <a:t>Standards for Application Developers</a:t>
            </a:r>
            <a:r>
              <a:rPr lang="en-AU" sz="2400" dirty="0" smtClean="0">
                <a:solidFill>
                  <a:schemeClr val="accent1">
                    <a:tint val="88000"/>
                    <a:satMod val="150000"/>
                  </a:schemeClr>
                </a:solidFill>
              </a:rPr>
              <a:t>(Cont’d)</a:t>
            </a:r>
            <a:br>
              <a:rPr lang="en-AU" sz="2400" dirty="0" smtClean="0">
                <a:solidFill>
                  <a:schemeClr val="accent1">
                    <a:tint val="88000"/>
                    <a:satMod val="150000"/>
                  </a:schemeClr>
                </a:solidFill>
              </a:rPr>
            </a:br>
            <a:r>
              <a:rPr lang="en-US" sz="2400" dirty="0" smtClean="0">
                <a:solidFill>
                  <a:schemeClr val="accent1">
                    <a:tint val="88000"/>
                    <a:satMod val="150000"/>
                  </a:schemeClr>
                </a:solidFill>
              </a:rPr>
              <a:t/>
            </a:r>
            <a:br>
              <a:rPr lang="en-US" sz="2400" dirty="0" smtClean="0">
                <a:solidFill>
                  <a:schemeClr val="accent1">
                    <a:tint val="88000"/>
                    <a:satMod val="150000"/>
                  </a:schemeClr>
                </a:solidFill>
              </a:rPr>
            </a:br>
            <a:endParaRPr lang="en-US" sz="2400" dirty="0" smtClean="0">
              <a:solidFill>
                <a:schemeClr val="accent1">
                  <a:tint val="88000"/>
                  <a:satMod val="150000"/>
                </a:scheme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505200" y="6172200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/>
              <a:t>Common Standards In Cloud Computing</a:t>
            </a:r>
            <a:endParaRPr lang="en-US" dirty="0"/>
          </a:p>
        </p:txBody>
      </p:sp>
      <p:sp>
        <p:nvSpPr>
          <p:cNvPr id="7172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FA14D4AD-C02C-4306-9552-49D911707C62}" type="slidenum">
              <a:rPr lang="en-US" smtClean="0"/>
              <a:pPr/>
              <a:t>6</a:t>
            </a:fld>
            <a:endParaRPr lang="en-US" smtClean="0"/>
          </a:p>
        </p:txBody>
      </p:sp>
      <p:sp>
        <p:nvSpPr>
          <p:cNvPr id="11" name="Rectangle 10"/>
          <p:cNvSpPr/>
          <p:nvPr/>
        </p:nvSpPr>
        <p:spPr>
          <a:xfrm>
            <a:off x="304800" y="2133600"/>
            <a:ext cx="8153400" cy="3657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>
              <a:buClr>
                <a:srgbClr val="F07F09"/>
              </a:buClr>
              <a:buFont typeface="Wingdings" pitchFamily="2" charset="2"/>
              <a:buChar char="v"/>
              <a:defRPr/>
            </a:pPr>
            <a:r>
              <a:rPr lang="en-US" sz="2000" b="1" dirty="0">
                <a:solidFill>
                  <a:schemeClr val="accent1"/>
                </a:solidFill>
              </a:rPr>
              <a:t>Data (XML, JSON)</a:t>
            </a:r>
          </a:p>
          <a:p>
            <a:pPr>
              <a:buClr>
                <a:srgbClr val="F07F09"/>
              </a:buClr>
              <a:buFont typeface="Wingdings" pitchFamily="2" charset="2"/>
              <a:buChar char="v"/>
              <a:defRPr/>
            </a:pPr>
            <a:endParaRPr lang="en-US" sz="2000" b="1" dirty="0">
              <a:solidFill>
                <a:schemeClr val="accent1"/>
              </a:solidFill>
            </a:endParaRPr>
          </a:p>
          <a:p>
            <a:pPr>
              <a:buClr>
                <a:srgbClr val="F07F09"/>
              </a:buClr>
              <a:buFont typeface="Wingdings" pitchFamily="2" charset="2"/>
              <a:buChar char="v"/>
              <a:defRPr/>
            </a:pPr>
            <a:r>
              <a:rPr lang="en-US" sz="2000" b="1" dirty="0">
                <a:solidFill>
                  <a:schemeClr val="accent1"/>
                </a:solidFill>
              </a:rPr>
              <a:t>XML(Extensible Markup Language)</a:t>
            </a:r>
          </a:p>
          <a:p>
            <a:pPr lvl="1">
              <a:buFont typeface="Arial" pitchFamily="34" charset="0"/>
              <a:buChar char="•"/>
              <a:defRPr/>
            </a:pPr>
            <a:r>
              <a:rPr lang="en-US" sz="2000" dirty="0">
                <a:solidFill>
                  <a:schemeClr val="tx1"/>
                </a:solidFill>
              </a:rPr>
              <a:t>sharing of structured data</a:t>
            </a:r>
          </a:p>
          <a:p>
            <a:pPr lvl="1">
              <a:buFont typeface="Arial" pitchFamily="34" charset="0"/>
              <a:buChar char="•"/>
              <a:defRPr/>
            </a:pPr>
            <a:r>
              <a:rPr lang="en-US" sz="2000" dirty="0">
                <a:solidFill>
                  <a:schemeClr val="tx1"/>
                </a:solidFill>
              </a:rPr>
              <a:t>Usually combination with other standards.</a:t>
            </a:r>
          </a:p>
          <a:p>
            <a:pPr lvl="1">
              <a:buFont typeface="Arial" pitchFamily="34" charset="0"/>
              <a:buChar char="•"/>
              <a:defRPr/>
            </a:pPr>
            <a:r>
              <a:rPr lang="en-US" sz="2000" dirty="0">
                <a:solidFill>
                  <a:schemeClr val="tx1"/>
                </a:solidFill>
              </a:rPr>
              <a:t>Define the content of a document separately.</a:t>
            </a:r>
          </a:p>
          <a:p>
            <a:pPr lvl="1">
              <a:buFont typeface="Arial" pitchFamily="34" charset="0"/>
              <a:buChar char="•"/>
              <a:defRPr/>
            </a:pPr>
            <a:endParaRPr lang="en-US" sz="2000" b="1" dirty="0">
              <a:solidFill>
                <a:schemeClr val="tx1"/>
              </a:solidFill>
            </a:endParaRPr>
          </a:p>
          <a:p>
            <a:pPr lvl="1">
              <a:buFont typeface="Arial" pitchFamily="34" charset="0"/>
              <a:buChar char="•"/>
              <a:defRPr/>
            </a:pPr>
            <a:endParaRPr lang="en-US" sz="2000" b="1" dirty="0">
              <a:solidFill>
                <a:schemeClr val="tx1"/>
              </a:solidFill>
            </a:endParaRPr>
          </a:p>
          <a:p>
            <a:pPr>
              <a:buFont typeface="Wingdings" pitchFamily="2" charset="2"/>
              <a:buChar char="v"/>
              <a:defRPr/>
            </a:pPr>
            <a:r>
              <a:rPr lang="en-US" sz="2000" b="1" dirty="0">
                <a:solidFill>
                  <a:schemeClr val="accent1"/>
                </a:solidFill>
              </a:rPr>
              <a:t>JSON(JavaScript Object Notation)</a:t>
            </a:r>
          </a:p>
          <a:p>
            <a:pPr lvl="1">
              <a:buFont typeface="Arial" pitchFamily="34" charset="0"/>
              <a:buChar char="•"/>
              <a:defRPr/>
            </a:pPr>
            <a:r>
              <a:rPr lang="en-US" sz="2000" dirty="0">
                <a:solidFill>
                  <a:schemeClr val="tx1"/>
                </a:solidFill>
              </a:rPr>
              <a:t>A lightweight computer data interchange format</a:t>
            </a:r>
          </a:p>
          <a:p>
            <a:pPr lvl="1">
              <a:buFont typeface="Arial" pitchFamily="34" charset="0"/>
              <a:buChar char="•"/>
              <a:defRPr/>
            </a:pPr>
            <a:r>
              <a:rPr lang="en-US" sz="2000" dirty="0">
                <a:solidFill>
                  <a:schemeClr val="tx1"/>
                </a:solidFill>
              </a:rPr>
              <a:t>Is specified in Internet Engineering </a:t>
            </a:r>
          </a:p>
          <a:p>
            <a:pPr lvl="1">
              <a:buFont typeface="Arial" pitchFamily="34" charset="0"/>
              <a:buChar char="•"/>
              <a:defRPr/>
            </a:pPr>
            <a:r>
              <a:rPr lang="en-US" sz="2000" dirty="0">
                <a:solidFill>
                  <a:schemeClr val="tx1"/>
                </a:solidFill>
              </a:rPr>
              <a:t>Request for Comment (RFC)</a:t>
            </a:r>
          </a:p>
          <a:p>
            <a:pPr lvl="1">
              <a:buFont typeface="Arial" pitchFamily="34" charset="0"/>
              <a:buChar char="•"/>
              <a:defRPr/>
            </a:pPr>
            <a:r>
              <a:rPr lang="en-US" sz="2000" dirty="0">
                <a:solidFill>
                  <a:schemeClr val="tx1"/>
                </a:solidFill>
              </a:rPr>
              <a:t>Independent data format</a:t>
            </a:r>
            <a:endParaRPr lang="en-US" sz="2000" b="1" dirty="0">
              <a:solidFill>
                <a:schemeClr val="tx1"/>
              </a:solidFill>
            </a:endParaRPr>
          </a:p>
          <a:p>
            <a:pPr>
              <a:buClr>
                <a:srgbClr val="F07F09"/>
              </a:buClr>
              <a:buFont typeface="Wingdings" pitchFamily="2" charset="2"/>
              <a:buChar char="v"/>
              <a:defRPr/>
            </a:pPr>
            <a:endParaRPr lang="en-US" sz="2000" dirty="0">
              <a:solidFill>
                <a:schemeClr val="tx1"/>
              </a:solidFill>
            </a:endParaRPr>
          </a:p>
          <a:p>
            <a:pPr>
              <a:buClr>
                <a:srgbClr val="F07F09"/>
              </a:buClr>
              <a:buFont typeface="Wingdings" pitchFamily="2" charset="2"/>
              <a:buChar char="v"/>
              <a:defRPr/>
            </a:pPr>
            <a:endParaRPr lang="en-US" sz="2000" dirty="0">
              <a:solidFill>
                <a:schemeClr val="tx1"/>
              </a:solidFill>
            </a:endParaRPr>
          </a:p>
        </p:txBody>
      </p:sp>
      <p:pic>
        <p:nvPicPr>
          <p:cNvPr id="6" name="Picture 5" descr="CloudComputing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600" y="1143000"/>
            <a:ext cx="3692525" cy="12922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>
          <a:xfrm>
            <a:off x="152400" y="914400"/>
            <a:ext cx="8534400" cy="715963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accent1">
                    <a:tint val="88000"/>
                    <a:satMod val="150000"/>
                  </a:schemeClr>
                </a:solidFill>
              </a:rPr>
              <a:t>Standards for Application Developers</a:t>
            </a:r>
            <a:r>
              <a:rPr lang="en-AU" sz="2400" dirty="0" smtClean="0">
                <a:solidFill>
                  <a:schemeClr val="accent1">
                    <a:tint val="88000"/>
                    <a:satMod val="150000"/>
                  </a:schemeClr>
                </a:solidFill>
              </a:rPr>
              <a:t>(Cont’d)</a:t>
            </a:r>
            <a:br>
              <a:rPr lang="en-AU" sz="2400" dirty="0" smtClean="0">
                <a:solidFill>
                  <a:schemeClr val="accent1">
                    <a:tint val="88000"/>
                    <a:satMod val="150000"/>
                  </a:schemeClr>
                </a:solidFill>
              </a:rPr>
            </a:br>
            <a:r>
              <a:rPr lang="en-US" sz="2400" dirty="0" smtClean="0">
                <a:solidFill>
                  <a:schemeClr val="accent1">
                    <a:tint val="88000"/>
                    <a:satMod val="150000"/>
                  </a:schemeClr>
                </a:solidFill>
              </a:rPr>
              <a:t/>
            </a:r>
            <a:br>
              <a:rPr lang="en-US" sz="2400" dirty="0" smtClean="0">
                <a:solidFill>
                  <a:schemeClr val="accent1">
                    <a:tint val="88000"/>
                    <a:satMod val="150000"/>
                  </a:schemeClr>
                </a:solidFill>
              </a:rPr>
            </a:br>
            <a:endParaRPr lang="en-US" sz="2400" dirty="0" smtClean="0">
              <a:solidFill>
                <a:schemeClr val="accent1">
                  <a:tint val="88000"/>
                  <a:satMod val="150000"/>
                </a:scheme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505200" y="6172200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/>
              <a:t>Common Standards In Cloud Computing</a:t>
            </a:r>
            <a:endParaRPr lang="en-US" dirty="0"/>
          </a:p>
        </p:txBody>
      </p:sp>
      <p:sp>
        <p:nvSpPr>
          <p:cNvPr id="8196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ADCF38F4-6D63-4B6A-8EB9-5DB8611BF4AF}" type="slidenum">
              <a:rPr lang="en-US" smtClean="0"/>
              <a:pPr/>
              <a:t>7</a:t>
            </a:fld>
            <a:endParaRPr lang="en-US" smtClean="0"/>
          </a:p>
        </p:txBody>
      </p:sp>
      <p:sp>
        <p:nvSpPr>
          <p:cNvPr id="11" name="Rectangle 10"/>
          <p:cNvSpPr/>
          <p:nvPr/>
        </p:nvSpPr>
        <p:spPr>
          <a:xfrm>
            <a:off x="228600" y="1905000"/>
            <a:ext cx="6172200" cy="426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>
              <a:buClr>
                <a:srgbClr val="F07F09"/>
              </a:buClr>
              <a:buFont typeface="Wingdings" pitchFamily="2" charset="2"/>
              <a:buChar char="v"/>
              <a:defRPr/>
            </a:pPr>
            <a:endParaRPr lang="en-US" sz="1700" dirty="0">
              <a:solidFill>
                <a:schemeClr val="tx1"/>
              </a:solidFill>
            </a:endParaRPr>
          </a:p>
          <a:p>
            <a:pPr>
              <a:buClr>
                <a:srgbClr val="F07F09"/>
              </a:buClr>
              <a:buFont typeface="Wingdings" pitchFamily="2" charset="2"/>
              <a:buChar char="v"/>
              <a:defRPr/>
            </a:pPr>
            <a:r>
              <a:rPr lang="en-US" sz="1700" b="1" dirty="0">
                <a:solidFill>
                  <a:schemeClr val="accent1"/>
                </a:solidFill>
              </a:rPr>
              <a:t>Solution Stacks (LAMP and LAPP)</a:t>
            </a:r>
          </a:p>
          <a:p>
            <a:pPr>
              <a:buClr>
                <a:srgbClr val="F07F09"/>
              </a:buClr>
              <a:buFont typeface="Wingdings" pitchFamily="2" charset="2"/>
              <a:buChar char="v"/>
              <a:defRPr/>
            </a:pPr>
            <a:r>
              <a:rPr lang="en-US" sz="1700" b="1" dirty="0">
                <a:solidFill>
                  <a:schemeClr val="accent1"/>
                </a:solidFill>
              </a:rPr>
              <a:t>LAMP</a:t>
            </a:r>
          </a:p>
          <a:p>
            <a:pPr>
              <a:buClr>
                <a:srgbClr val="F07F09"/>
              </a:buClr>
              <a:buFont typeface="Wingdings" pitchFamily="2" charset="2"/>
              <a:buChar char="v"/>
              <a:defRPr/>
            </a:pPr>
            <a:endParaRPr lang="en-US" sz="1700" b="1" dirty="0">
              <a:solidFill>
                <a:schemeClr val="accent1"/>
              </a:solidFill>
            </a:endParaRPr>
          </a:p>
          <a:p>
            <a:pPr lvl="1">
              <a:buFont typeface="Wingdings" pitchFamily="2" charset="2"/>
              <a:buChar char="Ø"/>
              <a:defRPr/>
            </a:pPr>
            <a:r>
              <a:rPr lang="en-US" sz="1700" dirty="0">
                <a:solidFill>
                  <a:schemeClr val="tx1"/>
                </a:solidFill>
              </a:rPr>
              <a:t>The acronym  </a:t>
            </a:r>
            <a:r>
              <a:rPr lang="en-US" sz="1700" b="1" dirty="0" err="1">
                <a:solidFill>
                  <a:schemeClr val="tx1"/>
                </a:solidFill>
              </a:rPr>
              <a:t>L</a:t>
            </a:r>
            <a:r>
              <a:rPr lang="en-US" sz="1700" dirty="0" err="1">
                <a:solidFill>
                  <a:schemeClr val="tx1"/>
                </a:solidFill>
              </a:rPr>
              <a:t>inux,</a:t>
            </a:r>
            <a:r>
              <a:rPr lang="en-US" sz="1700" b="1" dirty="0" err="1">
                <a:solidFill>
                  <a:schemeClr val="tx1"/>
                </a:solidFill>
              </a:rPr>
              <a:t>A</a:t>
            </a:r>
            <a:r>
              <a:rPr lang="en-US" sz="1700" dirty="0" err="1">
                <a:solidFill>
                  <a:schemeClr val="tx1"/>
                </a:solidFill>
              </a:rPr>
              <a:t>pache,</a:t>
            </a:r>
            <a:r>
              <a:rPr lang="en-US" sz="1700" b="1" dirty="0" err="1">
                <a:solidFill>
                  <a:schemeClr val="tx1"/>
                </a:solidFill>
              </a:rPr>
              <a:t>M</a:t>
            </a:r>
            <a:r>
              <a:rPr lang="en-US" sz="1700" dirty="0" err="1">
                <a:solidFill>
                  <a:schemeClr val="tx1"/>
                </a:solidFill>
              </a:rPr>
              <a:t>ySQL</a:t>
            </a:r>
            <a:r>
              <a:rPr lang="en-US" sz="1700" dirty="0">
                <a:solidFill>
                  <a:schemeClr val="tx1"/>
                </a:solidFill>
              </a:rPr>
              <a:t>, and </a:t>
            </a:r>
            <a:r>
              <a:rPr lang="en-US" sz="1700" b="1" dirty="0">
                <a:solidFill>
                  <a:schemeClr val="tx1"/>
                </a:solidFill>
              </a:rPr>
              <a:t>P</a:t>
            </a:r>
            <a:r>
              <a:rPr lang="en-US" sz="1700" dirty="0">
                <a:solidFill>
                  <a:schemeClr val="tx1"/>
                </a:solidFill>
              </a:rPr>
              <a:t>HP (or Perl or Python)</a:t>
            </a:r>
          </a:p>
          <a:p>
            <a:pPr lvl="1">
              <a:buFont typeface="Wingdings" pitchFamily="2" charset="2"/>
              <a:buChar char="Ø"/>
              <a:defRPr/>
            </a:pPr>
            <a:r>
              <a:rPr lang="en-US" sz="1700" dirty="0">
                <a:solidFill>
                  <a:schemeClr val="tx1"/>
                </a:solidFill>
              </a:rPr>
              <a:t>Open source nature, low cost, and the wide distribution of its components</a:t>
            </a:r>
          </a:p>
          <a:p>
            <a:pPr lvl="1">
              <a:buFont typeface="Wingdings" pitchFamily="2" charset="2"/>
              <a:buChar char="Ø"/>
              <a:defRPr/>
            </a:pPr>
            <a:r>
              <a:rPr lang="en-US" sz="1700" dirty="0">
                <a:solidFill>
                  <a:schemeClr val="tx1"/>
                </a:solidFill>
              </a:rPr>
              <a:t>Used to</a:t>
            </a:r>
          </a:p>
          <a:p>
            <a:pPr lvl="2">
              <a:buFont typeface="Arial" pitchFamily="34" charset="0"/>
              <a:buChar char="•"/>
              <a:defRPr/>
            </a:pPr>
            <a:r>
              <a:rPr lang="en-US" sz="1700" dirty="0">
                <a:solidFill>
                  <a:schemeClr val="tx1"/>
                </a:solidFill>
              </a:rPr>
              <a:t>Run dynamic web sites and servers. </a:t>
            </a:r>
          </a:p>
          <a:p>
            <a:pPr lvl="2">
              <a:buFont typeface="Arial" pitchFamily="34" charset="0"/>
              <a:buChar char="•"/>
              <a:defRPr/>
            </a:pPr>
            <a:r>
              <a:rPr lang="en-US" sz="1700" dirty="0">
                <a:solidFill>
                  <a:schemeClr val="tx1"/>
                </a:solidFill>
              </a:rPr>
              <a:t>Development and deployment of high-performance web applications.</a:t>
            </a:r>
          </a:p>
          <a:p>
            <a:pPr lvl="2">
              <a:buFont typeface="Arial" pitchFamily="34" charset="0"/>
              <a:buChar char="•"/>
              <a:defRPr/>
            </a:pPr>
            <a:r>
              <a:rPr lang="en-US" sz="1700" dirty="0">
                <a:solidFill>
                  <a:schemeClr val="tx1"/>
                </a:solidFill>
              </a:rPr>
              <a:t>Define a web server infrastructure.</a:t>
            </a:r>
          </a:p>
          <a:p>
            <a:pPr lvl="2">
              <a:buFont typeface="Arial" pitchFamily="34" charset="0"/>
              <a:buChar char="•"/>
              <a:defRPr/>
            </a:pPr>
            <a:r>
              <a:rPr lang="en-US" sz="1700" dirty="0">
                <a:solidFill>
                  <a:schemeClr val="tx1"/>
                </a:solidFill>
              </a:rPr>
              <a:t>Creating a programming environment for developing software.</a:t>
            </a:r>
          </a:p>
          <a:p>
            <a:pPr lvl="2">
              <a:defRPr/>
            </a:pPr>
            <a:endParaRPr lang="en-US" sz="1700" dirty="0">
              <a:solidFill>
                <a:schemeClr val="tx1"/>
              </a:solidFill>
            </a:endParaRPr>
          </a:p>
          <a:p>
            <a:pPr>
              <a:buFont typeface="Wingdings" pitchFamily="2" charset="2"/>
              <a:buChar char="v"/>
              <a:defRPr/>
            </a:pPr>
            <a:r>
              <a:rPr lang="en-US" sz="1700" b="1" dirty="0">
                <a:solidFill>
                  <a:schemeClr val="accent1"/>
                </a:solidFill>
              </a:rPr>
              <a:t>LAPP</a:t>
            </a:r>
          </a:p>
          <a:p>
            <a:pPr lvl="2">
              <a:buFont typeface="Arial" pitchFamily="34" charset="0"/>
              <a:buChar char="•"/>
              <a:defRPr/>
            </a:pPr>
            <a:r>
              <a:rPr lang="en-US" sz="1700" dirty="0">
                <a:solidFill>
                  <a:schemeClr val="tx1"/>
                </a:solidFill>
              </a:rPr>
              <a:t>It is more powerful than LAMP stack</a:t>
            </a:r>
          </a:p>
          <a:p>
            <a:pPr lvl="2">
              <a:buFont typeface="Arial" pitchFamily="34" charset="0"/>
              <a:buChar char="•"/>
              <a:defRPr/>
            </a:pPr>
            <a:endParaRPr lang="en-US" sz="1700" dirty="0">
              <a:solidFill>
                <a:schemeClr val="tx1"/>
              </a:solidFill>
            </a:endParaRPr>
          </a:p>
          <a:p>
            <a:pPr>
              <a:defRPr/>
            </a:pPr>
            <a:endParaRPr lang="en-US" sz="1700" dirty="0">
              <a:solidFill>
                <a:schemeClr val="tx1"/>
              </a:solidFill>
            </a:endParaRPr>
          </a:p>
          <a:p>
            <a:pPr>
              <a:defRPr/>
            </a:pPr>
            <a:endParaRPr lang="en-US" sz="1700" dirty="0"/>
          </a:p>
          <a:p>
            <a:pPr>
              <a:defRPr/>
            </a:pPr>
            <a:endParaRPr lang="en-US" sz="1700" dirty="0"/>
          </a:p>
          <a:p>
            <a:pPr>
              <a:defRPr/>
            </a:pPr>
            <a:endParaRPr lang="fa-IR" sz="1700" b="1" dirty="0">
              <a:solidFill>
                <a:schemeClr val="accent1"/>
              </a:solidFill>
            </a:endParaRPr>
          </a:p>
        </p:txBody>
      </p:sp>
      <p:pic>
        <p:nvPicPr>
          <p:cNvPr id="10246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00800" y="1905000"/>
            <a:ext cx="2590801" cy="37719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smtClean="0">
              <a:ea typeface="ＭＳ Ｐゴシック" pitchFamily="34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b="1" dirty="0" smtClean="0">
                <a:solidFill>
                  <a:schemeClr val="accent1"/>
                </a:solidFill>
              </a:rPr>
              <a:t>The purpose :</a:t>
            </a:r>
            <a:endParaRPr lang="en-US" dirty="0" smtClean="0"/>
          </a:p>
          <a:p>
            <a:pPr>
              <a:defRPr/>
            </a:pPr>
            <a:r>
              <a:rPr lang="en-US" dirty="0" smtClean="0"/>
              <a:t>Security standards define the processes, procedures, and practices necessary for implementing a security program.</a:t>
            </a:r>
          </a:p>
          <a:p>
            <a:pPr>
              <a:buClr>
                <a:schemeClr val="accent1"/>
              </a:buClr>
              <a:buFont typeface="Wingdings" pitchFamily="2" charset="2"/>
              <a:buChar char="v"/>
              <a:defRPr/>
            </a:pP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SAML</a:t>
            </a:r>
          </a:p>
          <a:p>
            <a:pPr>
              <a:buClr>
                <a:schemeClr val="accent1"/>
              </a:buClr>
              <a:buFont typeface="Wingdings" pitchFamily="2" charset="2"/>
              <a:buChar char="v"/>
              <a:defRPr/>
            </a:pPr>
            <a:r>
              <a:rPr lang="en-US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OAuth</a:t>
            </a:r>
            <a:endParaRPr lang="en-US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buClr>
                <a:schemeClr val="accent1"/>
              </a:buClr>
              <a:buFont typeface="Wingdings" pitchFamily="2" charset="2"/>
              <a:buChar char="v"/>
              <a:defRPr/>
            </a:pPr>
            <a:r>
              <a:rPr lang="en-US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OpenID</a:t>
            </a:r>
            <a:endParaRPr lang="en-US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buClr>
                <a:schemeClr val="accent1"/>
              </a:buClr>
              <a:buFont typeface="Wingdings" pitchFamily="2" charset="2"/>
              <a:buChar char="v"/>
              <a:defRPr/>
            </a:pP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SSL/TLS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715963"/>
          </a:xfrm>
        </p:spPr>
        <p:txBody>
          <a:bodyPr rtlCol="0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accent1">
                    <a:tint val="88000"/>
                    <a:satMod val="150000"/>
                  </a:schemeClr>
                </a:solidFill>
              </a:rPr>
              <a:t>Standards for Security</a:t>
            </a:r>
            <a:r>
              <a:rPr lang="en-AU" dirty="0" smtClean="0">
                <a:solidFill>
                  <a:schemeClr val="accent1">
                    <a:tint val="88000"/>
                    <a:satMod val="150000"/>
                  </a:schemeClr>
                </a:solidFill>
              </a:rPr>
              <a:t>(Cont’d)</a:t>
            </a:r>
            <a:endParaRPr lang="en-US" dirty="0" smtClean="0">
              <a:solidFill>
                <a:schemeClr val="accent1">
                  <a:tint val="88000"/>
                  <a:satMod val="150000"/>
                </a:scheme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505200" y="6172200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/>
              <a:t>Common Standards In Cloud Computing</a:t>
            </a:r>
            <a:endParaRPr lang="en-US" dirty="0"/>
          </a:p>
        </p:txBody>
      </p:sp>
      <p:sp>
        <p:nvSpPr>
          <p:cNvPr id="10244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867F9F92-2284-4286-9ADB-47BCB52DCC8B}" type="slidenum">
              <a:rPr lang="en-US" smtClean="0"/>
              <a:pPr/>
              <a:t>9</a:t>
            </a:fld>
            <a:endParaRPr lang="en-US" smtClean="0"/>
          </a:p>
        </p:txBody>
      </p:sp>
      <p:sp>
        <p:nvSpPr>
          <p:cNvPr id="11" name="Rectangle 10"/>
          <p:cNvSpPr/>
          <p:nvPr/>
        </p:nvSpPr>
        <p:spPr>
          <a:xfrm>
            <a:off x="685800" y="1219200"/>
            <a:ext cx="8077200" cy="2895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>
              <a:buClr>
                <a:schemeClr val="accent1"/>
              </a:buClr>
              <a:buFont typeface="Wingdings" pitchFamily="2" charset="2"/>
              <a:buChar char="v"/>
              <a:defRPr/>
            </a:pPr>
            <a:r>
              <a:rPr lang="en-US" b="1" dirty="0">
                <a:solidFill>
                  <a:schemeClr val="accent1"/>
                </a:solidFill>
              </a:rPr>
              <a:t>SAML</a:t>
            </a:r>
          </a:p>
          <a:p>
            <a:pPr lvl="1">
              <a:buFont typeface="Arial" pitchFamily="34" charset="0"/>
              <a:buChar char="•"/>
              <a:defRPr/>
            </a:pPr>
            <a:r>
              <a:rPr lang="en-US" dirty="0">
                <a:solidFill>
                  <a:schemeClr val="tx1"/>
                </a:solidFill>
              </a:rPr>
              <a:t>Standard for communicating authentication, authorization, and attribute information among online partners.</a:t>
            </a:r>
          </a:p>
          <a:p>
            <a:pPr lvl="1">
              <a:buFont typeface="Arial" pitchFamily="34" charset="0"/>
              <a:buChar char="•"/>
              <a:defRPr/>
            </a:pPr>
            <a:r>
              <a:rPr lang="en-US" dirty="0">
                <a:solidFill>
                  <a:schemeClr val="tx1"/>
                </a:solidFill>
              </a:rPr>
              <a:t>It allows businesses to securely send assertions between partners.</a:t>
            </a:r>
          </a:p>
          <a:p>
            <a:pPr lvl="1">
              <a:buFont typeface="Arial" pitchFamily="34" charset="0"/>
              <a:buChar char="•"/>
              <a:defRPr/>
            </a:pPr>
            <a:r>
              <a:rPr lang="en-US" dirty="0">
                <a:solidFill>
                  <a:schemeClr val="tx1"/>
                </a:solidFill>
              </a:rPr>
              <a:t>SAML protocol refers to what is transmitted, not how it is transmitted.</a:t>
            </a:r>
          </a:p>
          <a:p>
            <a:pPr lvl="1">
              <a:buFont typeface="Arial" pitchFamily="34" charset="0"/>
              <a:buChar char="•"/>
              <a:defRPr/>
            </a:pPr>
            <a:r>
              <a:rPr lang="en-US" dirty="0">
                <a:solidFill>
                  <a:schemeClr val="tx1"/>
                </a:solidFill>
              </a:rPr>
              <a:t>Three types of statements are provided by SAML: authentication statements, attribute statements, and authorization decision statements</a:t>
            </a:r>
          </a:p>
          <a:p>
            <a:pPr>
              <a:buClr>
                <a:srgbClr val="F07F09"/>
              </a:buClr>
              <a:buFont typeface="Wingdings" pitchFamily="2" charset="2"/>
              <a:buChar char="v"/>
              <a:defRPr/>
            </a:pPr>
            <a:endParaRPr lang="fa-IR" dirty="0">
              <a:solidFill>
                <a:schemeClr val="tx1"/>
              </a:solidFill>
            </a:endParaRPr>
          </a:p>
        </p:txBody>
      </p:sp>
      <p:pic>
        <p:nvPicPr>
          <p:cNvPr id="7" name="Picture 6" descr="11949848201138561364eye_01_svg_thum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4006850"/>
            <a:ext cx="5105400" cy="28511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715963"/>
          </a:xfrm>
        </p:spPr>
        <p:txBody>
          <a:bodyPr rtlCol="0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accent1">
                    <a:tint val="88000"/>
                    <a:satMod val="150000"/>
                  </a:schemeClr>
                </a:solidFill>
              </a:rPr>
              <a:t>Standards for Security</a:t>
            </a:r>
            <a:r>
              <a:rPr lang="en-AU" dirty="0" smtClean="0">
                <a:solidFill>
                  <a:schemeClr val="accent1">
                    <a:tint val="88000"/>
                    <a:satMod val="150000"/>
                  </a:schemeClr>
                </a:solidFill>
              </a:rPr>
              <a:t>(Cont’d)</a:t>
            </a:r>
            <a:endParaRPr lang="en-US" dirty="0" smtClean="0">
              <a:solidFill>
                <a:schemeClr val="accent1">
                  <a:tint val="88000"/>
                  <a:satMod val="150000"/>
                </a:scheme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505200" y="6172200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/>
              <a:t>Common Standards In Cloud Computing</a:t>
            </a:r>
            <a:endParaRPr lang="en-US" dirty="0"/>
          </a:p>
        </p:txBody>
      </p:sp>
      <p:sp>
        <p:nvSpPr>
          <p:cNvPr id="11268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8D7F1ECE-4C7B-4354-AE0F-F494D70DDC08}" type="slidenum">
              <a:rPr lang="en-US" smtClean="0"/>
              <a:pPr/>
              <a:t>10</a:t>
            </a:fld>
            <a:endParaRPr lang="en-US" smtClean="0"/>
          </a:p>
        </p:txBody>
      </p:sp>
      <p:sp>
        <p:nvSpPr>
          <p:cNvPr id="11" name="Rectangle 10"/>
          <p:cNvSpPr/>
          <p:nvPr/>
        </p:nvSpPr>
        <p:spPr>
          <a:xfrm>
            <a:off x="685800" y="1447800"/>
            <a:ext cx="8077200" cy="2895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>
              <a:defRPr/>
            </a:pPr>
            <a:endParaRPr lang="en-US" sz="2000" b="1" dirty="0">
              <a:solidFill>
                <a:schemeClr val="accent1"/>
              </a:solidFill>
            </a:endParaRPr>
          </a:p>
          <a:p>
            <a:pPr>
              <a:buClr>
                <a:schemeClr val="accent1"/>
              </a:buClr>
              <a:buFont typeface="Wingdings" pitchFamily="2" charset="2"/>
              <a:buChar char="v"/>
              <a:defRPr/>
            </a:pPr>
            <a:r>
              <a:rPr lang="en-US" sz="2000" b="1" dirty="0" err="1">
                <a:solidFill>
                  <a:schemeClr val="accent1"/>
                </a:solidFill>
              </a:rPr>
              <a:t>OAuth</a:t>
            </a:r>
            <a:r>
              <a:rPr lang="en-US" sz="2000" b="1" dirty="0">
                <a:solidFill>
                  <a:schemeClr val="accent1"/>
                </a:solidFill>
              </a:rPr>
              <a:t>(Open Authentication)</a:t>
            </a:r>
          </a:p>
          <a:p>
            <a:pPr lvl="1">
              <a:buFont typeface="Arial" pitchFamily="34" charset="0"/>
              <a:buChar char="•"/>
              <a:defRPr/>
            </a:pPr>
            <a:r>
              <a:rPr lang="en-US" sz="2000" dirty="0" err="1">
                <a:solidFill>
                  <a:schemeClr val="tx1"/>
                </a:solidFill>
              </a:rPr>
              <a:t>OAuth</a:t>
            </a:r>
            <a:r>
              <a:rPr lang="en-US" sz="2000" dirty="0">
                <a:solidFill>
                  <a:schemeClr val="tx1"/>
                </a:solidFill>
              </a:rPr>
              <a:t> is a method for publishing and interacting with protected data.</a:t>
            </a:r>
          </a:p>
          <a:p>
            <a:pPr lvl="1">
              <a:buFont typeface="Arial" pitchFamily="34" charset="0"/>
              <a:buChar char="•"/>
              <a:defRPr/>
            </a:pPr>
            <a:r>
              <a:rPr lang="en-US" sz="2000" dirty="0">
                <a:solidFill>
                  <a:schemeClr val="tx1"/>
                </a:solidFill>
              </a:rPr>
              <a:t>For developers, </a:t>
            </a:r>
            <a:r>
              <a:rPr lang="en-US" sz="2000" dirty="0" err="1">
                <a:solidFill>
                  <a:schemeClr val="tx1"/>
                </a:solidFill>
              </a:rPr>
              <a:t>OAuth</a:t>
            </a:r>
            <a:r>
              <a:rPr lang="en-US" sz="2000" dirty="0">
                <a:solidFill>
                  <a:schemeClr val="tx1"/>
                </a:solidFill>
              </a:rPr>
              <a:t> provides users access to their data .</a:t>
            </a:r>
          </a:p>
          <a:p>
            <a:pPr lvl="1">
              <a:buFont typeface="Arial" pitchFamily="34" charset="0"/>
              <a:buChar char="•"/>
              <a:defRPr/>
            </a:pPr>
            <a:r>
              <a:rPr lang="en-US" sz="2000" dirty="0" err="1">
                <a:solidFill>
                  <a:schemeClr val="tx1"/>
                </a:solidFill>
              </a:rPr>
              <a:t>OAuth</a:t>
            </a:r>
            <a:r>
              <a:rPr lang="en-US" sz="2000" dirty="0">
                <a:solidFill>
                  <a:schemeClr val="tx1"/>
                </a:solidFill>
              </a:rPr>
              <a:t> allows users to grant access to their.</a:t>
            </a:r>
          </a:p>
          <a:p>
            <a:pPr lvl="1">
              <a:buFont typeface="Arial" pitchFamily="34" charset="0"/>
              <a:buChar char="•"/>
              <a:defRPr/>
            </a:pPr>
            <a:r>
              <a:rPr lang="en-US" sz="2000" dirty="0" err="1">
                <a:solidFill>
                  <a:schemeClr val="tx1"/>
                </a:solidFill>
              </a:rPr>
              <a:t>OAuth</a:t>
            </a:r>
            <a:r>
              <a:rPr lang="en-US" sz="2000" dirty="0">
                <a:solidFill>
                  <a:schemeClr val="tx1"/>
                </a:solidFill>
              </a:rPr>
              <a:t> by itself provides no privacy at all and depends on other protocols such as SSL .</a:t>
            </a:r>
            <a:endParaRPr lang="en-US" sz="2000" b="1" dirty="0">
              <a:solidFill>
                <a:schemeClr val="tx1"/>
              </a:solidFill>
            </a:endParaRPr>
          </a:p>
          <a:p>
            <a:pPr>
              <a:buClr>
                <a:schemeClr val="accent1"/>
              </a:buClr>
              <a:buFont typeface="Wingdings" pitchFamily="2" charset="2"/>
              <a:buChar char="v"/>
              <a:defRPr/>
            </a:pPr>
            <a:endParaRPr lang="en-US" sz="2000" b="1" dirty="0">
              <a:solidFill>
                <a:schemeClr val="accent1"/>
              </a:solidFill>
            </a:endParaRPr>
          </a:p>
          <a:p>
            <a:pPr>
              <a:buClr>
                <a:srgbClr val="F07F09"/>
              </a:buClr>
              <a:buFont typeface="Wingdings" pitchFamily="2" charset="2"/>
              <a:buChar char="v"/>
              <a:defRPr/>
            </a:pPr>
            <a:endParaRPr lang="fa-IR" sz="2000" dirty="0">
              <a:solidFill>
                <a:schemeClr val="tx1"/>
              </a:solidFill>
            </a:endParaRPr>
          </a:p>
        </p:txBody>
      </p:sp>
      <p:pic>
        <p:nvPicPr>
          <p:cNvPr id="6" name="Picture 5" descr="11949848201138561364eye_01_svg_thum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2450" y="3962400"/>
            <a:ext cx="2851150" cy="28384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715963"/>
          </a:xfrm>
        </p:spPr>
        <p:txBody>
          <a:bodyPr rtlCol="0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accent1">
                    <a:tint val="88000"/>
                    <a:satMod val="150000"/>
                  </a:schemeClr>
                </a:solidFill>
              </a:rPr>
              <a:t>Standards for Security</a:t>
            </a:r>
            <a:r>
              <a:rPr lang="en-AU" dirty="0" smtClean="0">
                <a:solidFill>
                  <a:schemeClr val="accent1">
                    <a:tint val="88000"/>
                    <a:satMod val="150000"/>
                  </a:schemeClr>
                </a:solidFill>
              </a:rPr>
              <a:t>(Cont’d)</a:t>
            </a:r>
            <a:endParaRPr lang="en-US" dirty="0" smtClean="0">
              <a:solidFill>
                <a:schemeClr val="accent1">
                  <a:tint val="88000"/>
                  <a:satMod val="150000"/>
                </a:scheme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505200" y="6172200"/>
            <a:ext cx="22860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Common Standards In Cloud Computing</a:t>
            </a:r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D4BD4A3C-FB9C-4497-B1D9-DAF1B0962FFF}" type="slidenum">
              <a:rPr lang="en-US" smtClean="0"/>
              <a:pPr/>
              <a:t>11</a:t>
            </a:fld>
            <a:endParaRPr lang="en-US" smtClean="0"/>
          </a:p>
        </p:txBody>
      </p:sp>
      <p:sp>
        <p:nvSpPr>
          <p:cNvPr id="11" name="Rectangle 10"/>
          <p:cNvSpPr/>
          <p:nvPr/>
        </p:nvSpPr>
        <p:spPr>
          <a:xfrm>
            <a:off x="685800" y="2057400"/>
            <a:ext cx="8077200" cy="2895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>
              <a:defRPr/>
            </a:pPr>
            <a:endParaRPr lang="en-US" sz="2000" b="1" dirty="0">
              <a:solidFill>
                <a:schemeClr val="accent1"/>
              </a:solidFill>
            </a:endParaRPr>
          </a:p>
          <a:p>
            <a:pPr>
              <a:buClr>
                <a:schemeClr val="accent1"/>
              </a:buClr>
              <a:buFont typeface="Wingdings" pitchFamily="2" charset="2"/>
              <a:buChar char="v"/>
              <a:defRPr/>
            </a:pPr>
            <a:endParaRPr lang="en-US" sz="2000" b="1" dirty="0">
              <a:solidFill>
                <a:schemeClr val="accent1"/>
              </a:solidFill>
            </a:endParaRPr>
          </a:p>
          <a:p>
            <a:pPr>
              <a:buClr>
                <a:schemeClr val="accent1"/>
              </a:buClr>
              <a:buFont typeface="Wingdings" pitchFamily="2" charset="2"/>
              <a:buChar char="v"/>
              <a:defRPr/>
            </a:pPr>
            <a:r>
              <a:rPr lang="en-US" sz="2000" b="1" dirty="0" err="1">
                <a:solidFill>
                  <a:schemeClr val="accent1"/>
                </a:solidFill>
              </a:rPr>
              <a:t>OpenID</a:t>
            </a:r>
            <a:endParaRPr lang="en-US" sz="2000" b="1" dirty="0">
              <a:solidFill>
                <a:schemeClr val="accent1"/>
              </a:solidFill>
            </a:endParaRPr>
          </a:p>
          <a:p>
            <a:pPr lvl="1">
              <a:buFont typeface="Arial" pitchFamily="34" charset="0"/>
              <a:buChar char="•"/>
              <a:defRPr/>
            </a:pPr>
            <a:r>
              <a:rPr lang="en-US" sz="2000" dirty="0" err="1">
                <a:solidFill>
                  <a:schemeClr val="tx1"/>
                </a:solidFill>
              </a:rPr>
              <a:t>OpenID</a:t>
            </a:r>
            <a:r>
              <a:rPr lang="en-US" sz="2000" dirty="0">
                <a:solidFill>
                  <a:schemeClr val="tx1"/>
                </a:solidFill>
              </a:rPr>
              <a:t> is an open, decentralized standard for user authentication.</a:t>
            </a:r>
          </a:p>
          <a:p>
            <a:pPr lvl="1">
              <a:buFont typeface="Arial" pitchFamily="34" charset="0"/>
              <a:buChar char="•"/>
              <a:defRPr/>
            </a:pPr>
            <a:r>
              <a:rPr lang="en-US" sz="2000" dirty="0">
                <a:solidFill>
                  <a:schemeClr val="tx1"/>
                </a:solidFill>
              </a:rPr>
              <a:t>And allows users to log on to many services using the same digital identity. </a:t>
            </a:r>
          </a:p>
          <a:p>
            <a:pPr lvl="1">
              <a:buFont typeface="Arial" pitchFamily="34" charset="0"/>
              <a:buChar char="•"/>
              <a:defRPr/>
            </a:pPr>
            <a:r>
              <a:rPr lang="en-US" sz="2000" dirty="0">
                <a:solidFill>
                  <a:schemeClr val="tx1"/>
                </a:solidFill>
              </a:rPr>
              <a:t>It is a single-sign-on (SSO) method of access control.</a:t>
            </a:r>
          </a:p>
          <a:p>
            <a:pPr lvl="1">
              <a:buFont typeface="Arial" pitchFamily="34" charset="0"/>
              <a:buChar char="•"/>
              <a:defRPr/>
            </a:pPr>
            <a:endParaRPr lang="en-US" sz="2000" dirty="0" err="1">
              <a:solidFill>
                <a:schemeClr val="tx1"/>
              </a:solidFill>
            </a:endParaRPr>
          </a:p>
          <a:p>
            <a:pPr>
              <a:buClr>
                <a:schemeClr val="accent1"/>
              </a:buClr>
              <a:buFont typeface="Wingdings" pitchFamily="2" charset="2"/>
              <a:buChar char="v"/>
              <a:defRPr/>
            </a:pPr>
            <a:r>
              <a:rPr lang="en-US" sz="2000" b="1" dirty="0">
                <a:solidFill>
                  <a:schemeClr val="accent1"/>
                </a:solidFill>
              </a:rPr>
              <a:t>SSL/TLS</a:t>
            </a:r>
          </a:p>
          <a:p>
            <a:pPr lvl="1">
              <a:buFont typeface="Arial" pitchFamily="34" charset="0"/>
              <a:buChar char="•"/>
              <a:defRPr/>
            </a:pPr>
            <a:r>
              <a:rPr lang="en-US" sz="2000" dirty="0">
                <a:solidFill>
                  <a:schemeClr val="tx1"/>
                </a:solidFill>
              </a:rPr>
              <a:t>TLS  or its predecessor SSL </a:t>
            </a:r>
          </a:p>
          <a:p>
            <a:pPr lvl="1">
              <a:buFont typeface="Arial" pitchFamily="34" charset="0"/>
              <a:buChar char="•"/>
              <a:defRPr/>
            </a:pPr>
            <a:r>
              <a:rPr lang="en-US" sz="2000" dirty="0">
                <a:solidFill>
                  <a:schemeClr val="tx1"/>
                </a:solidFill>
              </a:rPr>
              <a:t>To provide security and data integrity for communications.</a:t>
            </a:r>
          </a:p>
          <a:p>
            <a:pPr lvl="1">
              <a:buFont typeface="Arial" pitchFamily="34" charset="0"/>
              <a:buChar char="•"/>
              <a:defRPr/>
            </a:pPr>
            <a:r>
              <a:rPr lang="en-US" sz="2000" dirty="0">
                <a:solidFill>
                  <a:schemeClr val="tx1"/>
                </a:solidFill>
              </a:rPr>
              <a:t>To prevent eavesdropping, tampering, and message forgery.</a:t>
            </a:r>
          </a:p>
          <a:p>
            <a:pPr>
              <a:buClr>
                <a:srgbClr val="F07F09"/>
              </a:buClr>
              <a:buFont typeface="Wingdings" pitchFamily="2" charset="2"/>
              <a:buChar char="v"/>
              <a:defRPr/>
            </a:pPr>
            <a:endParaRPr lang="fa-IR" sz="2000" dirty="0">
              <a:solidFill>
                <a:schemeClr val="tx1"/>
              </a:solidFill>
            </a:endParaRPr>
          </a:p>
        </p:txBody>
      </p:sp>
      <p:pic>
        <p:nvPicPr>
          <p:cNvPr id="7" name="Picture 6" descr="11949848201138561364eye_01_svg_thum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4319588"/>
            <a:ext cx="4724400" cy="15716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 descr="11949848201138561364eye_01_svg_thum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1371600"/>
            <a:ext cx="4724400" cy="2286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3" dur="10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5" dur="10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55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8" dur="10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0" dur="10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55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3" dur="10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5" dur="10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55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8" dur="10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0" dur="10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55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3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0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000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000"/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000"/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4627</TotalTime>
  <Words>597</Words>
  <Application>Microsoft Macintosh PowerPoint</Application>
  <PresentationFormat>On-screen Show (4:3)</PresentationFormat>
  <Paragraphs>101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Standards for Application Developers</vt:lpstr>
      <vt:lpstr>Why Application development standards? </vt:lpstr>
      <vt:lpstr>Slide 3</vt:lpstr>
      <vt:lpstr>Standards</vt:lpstr>
      <vt:lpstr>Standards for Application Developers(Cont’d)  </vt:lpstr>
      <vt:lpstr>Standards for Application Developers(Cont’d)  </vt:lpstr>
      <vt:lpstr>Standards for Application Developers(Cont’d)  </vt:lpstr>
      <vt:lpstr>Slide 8</vt:lpstr>
      <vt:lpstr>Standards for Security(Cont’d)</vt:lpstr>
      <vt:lpstr>Standards for Security(Cont’d)</vt:lpstr>
      <vt:lpstr>Standards for Security(Cont’d)</vt:lpstr>
    </vt:vector>
  </TitlesOfParts>
  <Company>cloud-standards.org</Company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 Standards Overview</dc:title>
  <dc:creator>bobmarcus, krishna, mark</dc:creator>
  <cp:lastModifiedBy>Sachin</cp:lastModifiedBy>
  <cp:revision>140</cp:revision>
  <dcterms:created xsi:type="dcterms:W3CDTF">2010-05-10T12:56:29Z</dcterms:created>
  <dcterms:modified xsi:type="dcterms:W3CDTF">2018-02-20T06:35:35Z</dcterms:modified>
</cp:coreProperties>
</file>