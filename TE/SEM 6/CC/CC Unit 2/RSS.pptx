
<file path=[Content_Types].xml><?xml version="1.0" encoding="utf-8"?>
<Types xmlns="http://schemas.openxmlformats.org/package/2006/content-types">
  <Override PartName="/customXml/itemProps3.xml" ContentType="application/vnd.openxmlformats-officedocument.customXmlProperties+xml"/>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customXml/itemProps2.xml" ContentType="application/vnd.openxmlformats-officedocument.customXml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 id="2147483674" r:id="rId5"/>
    <p:sldMasterId id="2147483679" r:id="rId6"/>
  </p:sldMasterIdLst>
  <p:notesMasterIdLst>
    <p:notesMasterId r:id="rId23"/>
  </p:notesMasterIdLst>
  <p:sldIdLst>
    <p:sldId id="257" r:id="rId7"/>
    <p:sldId id="297" r:id="rId8"/>
    <p:sldId id="294" r:id="rId9"/>
    <p:sldId id="279" r:id="rId10"/>
    <p:sldId id="280" r:id="rId11"/>
    <p:sldId id="276" r:id="rId12"/>
    <p:sldId id="281" r:id="rId13"/>
    <p:sldId id="282" r:id="rId14"/>
    <p:sldId id="285" r:id="rId15"/>
    <p:sldId id="291" r:id="rId16"/>
    <p:sldId id="292" r:id="rId17"/>
    <p:sldId id="293" r:id="rId18"/>
    <p:sldId id="286" r:id="rId19"/>
    <p:sldId id="287" r:id="rId20"/>
    <p:sldId id="296" r:id="rId21"/>
    <p:sldId id="290"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autoAdjust="0"/>
    <p:restoredTop sz="85270" autoAdjust="0"/>
  </p:normalViewPr>
  <p:slideViewPr>
    <p:cSldViewPr>
      <p:cViewPr varScale="1">
        <p:scale>
          <a:sx n="62" d="100"/>
          <a:sy n="62" d="100"/>
        </p:scale>
        <p:origin x="-1596" y="-78"/>
      </p:cViewPr>
      <p:guideLst>
        <p:guide orient="horz" pos="2160"/>
        <p:guide pos="2880"/>
      </p:guideLst>
    </p:cSldViewPr>
  </p:slideViewPr>
  <p:outlineViewPr>
    <p:cViewPr>
      <p:scale>
        <a:sx n="33" d="100"/>
        <a:sy n="33" d="100"/>
      </p:scale>
      <p:origin x="36"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A4625E-77BF-4A78-977C-B395AFC63D3E}" type="datetimeFigureOut">
              <a:rPr lang="en-US" smtClean="0"/>
              <a:pPr/>
              <a:t>2/20/2018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02DC67-C434-444F-9788-90976544AD11}"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2/20/2018 12:06 PM</a:t>
            </a:fld>
            <a:endParaRPr lang="en-US" dirty="0"/>
          </a:p>
        </p:txBody>
      </p:sp>
      <p:sp>
        <p:nvSpPr>
          <p:cNvPr id="6" name="Footer Placeholder 5"/>
          <p:cNvSpPr>
            <a:spLocks noGrp="1"/>
          </p:cNvSpPr>
          <p:nvPr>
            <p:ph type="ftr" sz="quarter" idx="12"/>
          </p:nvPr>
        </p:nvSpPr>
        <p:spPr>
          <a:xfrm>
            <a:off x="0" y="8685213"/>
            <a:ext cx="6172200" cy="457200"/>
          </a:xfrm>
        </p:spPr>
        <p:txBody>
          <a:bodyPr/>
          <a:lstStyle/>
          <a:p>
            <a:r>
              <a:rPr lang="en-US" sz="500" dirty="0" smtClean="0">
                <a:solidFill>
                  <a:srgbClr val="000000"/>
                </a:solidFill>
              </a:rPr>
              <a:t>© 2007 Microsoft Corporation. All rights reserved. Microsoft, Windows, Windows Vista and other product names are or may be registered trademarks and/or trademarks in the U.S. and/or other countries.</a:t>
            </a:r>
          </a:p>
          <a:p>
            <a:r>
              <a:rPr lang="en-US" sz="500" dirty="0"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rPr>
            </a:br>
            <a:r>
              <a:rPr lang="en-US" sz="500" dirty="0" smtClean="0">
                <a:solidFill>
                  <a:srgbClr val="000000"/>
                </a:solidFill>
              </a:rPr>
              <a:t>MICROSOFT MAKES NO WARRANTIES, EXPRESS, IMPLIED OR STATUTORY, AS TO THE INFORMATION IN THIS PRESENTATION.</a:t>
            </a:r>
          </a:p>
          <a:p>
            <a:endParaRPr lang="en-US" sz="500" dirty="0"/>
          </a:p>
        </p:txBody>
      </p:sp>
      <p:sp>
        <p:nvSpPr>
          <p:cNvPr id="7" name="Slide Number Placeholder 6"/>
          <p:cNvSpPr>
            <a:spLocks noGrp="1"/>
          </p:cNvSpPr>
          <p:nvPr>
            <p:ph type="sldNum" sz="quarter" idx="13"/>
          </p:nvPr>
        </p:nvSpPr>
        <p:spPr>
          <a:xfrm>
            <a:off x="6172199" y="8685213"/>
            <a:ext cx="684213" cy="457200"/>
          </a:xfrm>
        </p:spPr>
        <p:txBody>
          <a:bodyPr/>
          <a:lstStyle/>
          <a:p>
            <a:fld id="{EC87E0CF-87F6-4B58-B8B8-DCAB2DAAF3C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r>
              <a:rPr lang="en-US" dirty="0" smtClean="0"/>
              <a:t>Before:</a:t>
            </a:r>
            <a:r>
              <a:rPr lang="en-US" baseline="0" dirty="0" smtClean="0"/>
              <a:t> User must visit all sites on a regular bases to check for changes. </a:t>
            </a:r>
            <a:endParaRPr lang="en-US" dirty="0"/>
          </a:p>
        </p:txBody>
      </p:sp>
      <p:sp>
        <p:nvSpPr>
          <p:cNvPr id="4" name="Slide Number Placeholder 3"/>
          <p:cNvSpPr>
            <a:spLocks noGrp="1"/>
          </p:cNvSpPr>
          <p:nvPr>
            <p:ph type="sldNum" sz="quarter" idx="10"/>
          </p:nvPr>
        </p:nvSpPr>
        <p:spPr/>
        <p:txBody>
          <a:bodyPr/>
          <a:lstStyle/>
          <a:p>
            <a:fld id="{442E2AF1-562D-410D-8ADD-0D17803A3087}" type="slidenum">
              <a:rPr lang="en-US" smtClean="0"/>
              <a:pPr/>
              <a:t>4</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r>
              <a:rPr lang="en-US" dirty="0" smtClean="0"/>
              <a:t>After: servers</a:t>
            </a:r>
            <a:r>
              <a:rPr lang="en-US" baseline="0" dirty="0" smtClean="0"/>
              <a:t> (websites) send information to aggregator when changes or additions are made. (In Theory) In practices, reader app checks subscribed sites for changes at set time intervals and alerts users to new information in a feed panel. Difference between push and pull delivery system.      </a:t>
            </a:r>
            <a:endParaRPr lang="en-US" dirty="0"/>
          </a:p>
        </p:txBody>
      </p:sp>
      <p:sp>
        <p:nvSpPr>
          <p:cNvPr id="4" name="Slide Number Placeholder 3"/>
          <p:cNvSpPr>
            <a:spLocks noGrp="1"/>
          </p:cNvSpPr>
          <p:nvPr>
            <p:ph type="sldNum" sz="quarter" idx="10"/>
          </p:nvPr>
        </p:nvSpPr>
        <p:spPr/>
        <p:txBody>
          <a:bodyPr/>
          <a:lstStyle/>
          <a:p>
            <a:fld id="{442E2AF1-562D-410D-8ADD-0D17803A3087}" type="slidenum">
              <a:rPr lang="en-US" smtClean="0"/>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2/20/2018 12:06 PM</a:t>
            </a:fld>
            <a:endParaRPr lang="en-US" dirty="0"/>
          </a:p>
        </p:txBody>
      </p:sp>
      <p:sp>
        <p:nvSpPr>
          <p:cNvPr id="6" name="Footer Placeholder 5"/>
          <p:cNvSpPr>
            <a:spLocks noGrp="1"/>
          </p:cNvSpPr>
          <p:nvPr>
            <p:ph type="ftr" sz="quarter" idx="12"/>
          </p:nvPr>
        </p:nvSpPr>
        <p:spPr/>
        <p:txBody>
          <a:bodyPr/>
          <a:lstStyle/>
          <a:p>
            <a:r>
              <a:rPr lang="en-US" dirty="0" smtClean="0">
                <a:solidFill>
                  <a:srgbClr val="000000"/>
                </a:solidFill>
              </a:rPr>
              <a:t>© 2007 Microsoft Corporation. All rights reserved. Microsoft, Windows, Windows Vista and other product names are or may be registered trademarks and/or trademarks in the U.S. and/or other countries.</a:t>
            </a:r>
          </a:p>
          <a:p>
            <a:r>
              <a:rPr lang="en-US" dirty="0"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smtClean="0">
                <a:solidFill>
                  <a:srgbClr val="000000"/>
                </a:solidFill>
              </a:rPr>
            </a:br>
            <a:r>
              <a:rPr lang="en-US" dirty="0" smtClean="0">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6</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Source: http://www.rssboard.org/rss-specification</a:t>
            </a:r>
          </a:p>
          <a:p>
            <a:r>
              <a:rPr lang="en-US" dirty="0" smtClean="0"/>
              <a:t>-mandatory attribute called version</a:t>
            </a:r>
          </a:p>
          <a:p>
            <a:r>
              <a:rPr lang="en-US" dirty="0" smtClean="0"/>
              <a:t>-Subordinate to the &lt;</a:t>
            </a:r>
            <a:r>
              <a:rPr lang="en-US" dirty="0" err="1" smtClean="0"/>
              <a:t>rss</a:t>
            </a:r>
            <a:r>
              <a:rPr lang="en-US" dirty="0" smtClean="0"/>
              <a:t>&gt; element is a single &lt;channel&gt; element</a:t>
            </a:r>
          </a:p>
          <a:p>
            <a:endParaRPr lang="en-US" dirty="0"/>
          </a:p>
        </p:txBody>
      </p:sp>
      <p:sp>
        <p:nvSpPr>
          <p:cNvPr id="4" name="Slide Number Placeholder 3"/>
          <p:cNvSpPr>
            <a:spLocks noGrp="1"/>
          </p:cNvSpPr>
          <p:nvPr>
            <p:ph type="sldNum" sz="quarter" idx="10"/>
          </p:nvPr>
        </p:nvSpPr>
        <p:spPr/>
        <p:txBody>
          <a:bodyPr/>
          <a:lstStyle/>
          <a:p>
            <a:fld id="{442E2AF1-562D-410D-8ADD-0D17803A3087}" type="slidenum">
              <a:rPr lang="en-US" smtClean="0"/>
              <a:pPr/>
              <a:t>7</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-Some may contain children elements that are required!! </a:t>
            </a:r>
          </a:p>
          <a:p>
            <a:r>
              <a:rPr lang="en-US" dirty="0" smtClean="0"/>
              <a:t>-“Item” seems to be used a lot but I don’t see anywhere that it is required,</a:t>
            </a:r>
            <a:r>
              <a:rPr lang="en-US" baseline="0" dirty="0" smtClean="0"/>
              <a:t> but it has required children. Multiple “item” is allowed.  </a:t>
            </a:r>
          </a:p>
          <a:p>
            <a:r>
              <a:rPr lang="en-US" dirty="0" smtClean="0"/>
              <a:t>-All elements of an item are optional, however at least one of title or description must be present.</a:t>
            </a:r>
          </a:p>
          <a:p>
            <a:r>
              <a:rPr lang="en-US" dirty="0" smtClean="0"/>
              <a:t>-</a:t>
            </a:r>
            <a:r>
              <a:rPr lang="en-US" dirty="0" err="1" smtClean="0"/>
              <a:t>rss</a:t>
            </a:r>
            <a:r>
              <a:rPr lang="en-US" dirty="0" smtClean="0"/>
              <a:t> version</a:t>
            </a:r>
            <a:r>
              <a:rPr lang="en-US" baseline="0" dirty="0" smtClean="0"/>
              <a:t> attribute required. </a:t>
            </a:r>
            <a:endParaRPr lang="en-US" dirty="0"/>
          </a:p>
        </p:txBody>
      </p:sp>
      <p:sp>
        <p:nvSpPr>
          <p:cNvPr id="4" name="Slide Number Placeholder 3"/>
          <p:cNvSpPr>
            <a:spLocks noGrp="1"/>
          </p:cNvSpPr>
          <p:nvPr>
            <p:ph type="sldNum" sz="quarter" idx="10"/>
          </p:nvPr>
        </p:nvSpPr>
        <p:spPr/>
        <p:txBody>
          <a:bodyPr/>
          <a:lstStyle/>
          <a:p>
            <a:fld id="{442E2AF1-562D-410D-8ADD-0D17803A3087}" type="slidenum">
              <a:rPr lang="en-US" smtClean="0"/>
              <a:pPr/>
              <a:t>8</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May show this in XML Editor.</a:t>
            </a:r>
            <a:r>
              <a:rPr lang="en-US" baseline="0" dirty="0" smtClean="0"/>
              <a:t> </a:t>
            </a:r>
            <a:endParaRPr lang="en-US" dirty="0"/>
          </a:p>
        </p:txBody>
      </p:sp>
      <p:sp>
        <p:nvSpPr>
          <p:cNvPr id="4" name="Slide Number Placeholder 3"/>
          <p:cNvSpPr>
            <a:spLocks noGrp="1"/>
          </p:cNvSpPr>
          <p:nvPr>
            <p:ph type="sldNum" sz="quarter" idx="10"/>
          </p:nvPr>
        </p:nvSpPr>
        <p:spPr/>
        <p:txBody>
          <a:bodyPr/>
          <a:lstStyle/>
          <a:p>
            <a:fld id="{442E2AF1-562D-410D-8ADD-0D17803A3087}" type="slidenum">
              <a:rPr lang="en-US" smtClean="0"/>
              <a:pPr/>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2/20/2018 12:06 PM</a:t>
            </a:fld>
            <a:endParaRPr lang="en-US"/>
          </a:p>
        </p:txBody>
      </p:sp>
      <p:sp>
        <p:nvSpPr>
          <p:cNvPr id="6" name="Footer Placeholder 5"/>
          <p:cNvSpPr>
            <a:spLocks noGrp="1"/>
          </p:cNvSpPr>
          <p:nvPr>
            <p:ph type="ftr" sz="quarter" idx="12"/>
          </p:nvPr>
        </p:nvSpPr>
        <p:spPr/>
        <p:txBody>
          <a:bodyPr/>
          <a:lstStyle/>
          <a:p>
            <a:r>
              <a:rPr lang="en-US" smtClean="0">
                <a:solidFill>
                  <a:srgbClr val="000000"/>
                </a:solidFill>
              </a:rPr>
              <a:t>© 2007 Microsoft Corporation. All rights reserved. Microsoft, Windows, Windows Vista and other product names are or may be registered trademarks and/or trademarks in the U.S. and/or other countries.</a:t>
            </a:r>
          </a:p>
          <a:p>
            <a:r>
              <a:rPr lang="en-US"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solidFill>
                  <a:srgbClr val="000000"/>
                </a:solidFill>
              </a:rPr>
            </a:br>
            <a:r>
              <a:rPr lang="en-US" smtClean="0">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10</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Source: http://www.atomenabled.org/developers/syndication/#requiredFeedElements</a:t>
            </a:r>
          </a:p>
          <a:p>
            <a:r>
              <a:rPr lang="en-US" dirty="0" smtClean="0"/>
              <a:t>-Name</a:t>
            </a:r>
            <a:r>
              <a:rPr lang="en-US" baseline="0" dirty="0" smtClean="0"/>
              <a:t>space required in Atom, unlike RSS. </a:t>
            </a:r>
            <a:endParaRPr lang="en-US" dirty="0"/>
          </a:p>
        </p:txBody>
      </p:sp>
      <p:sp>
        <p:nvSpPr>
          <p:cNvPr id="4" name="Slide Number Placeholder 3"/>
          <p:cNvSpPr>
            <a:spLocks noGrp="1"/>
          </p:cNvSpPr>
          <p:nvPr>
            <p:ph type="sldNum" sz="quarter" idx="10"/>
          </p:nvPr>
        </p:nvSpPr>
        <p:spPr/>
        <p:txBody>
          <a:bodyPr/>
          <a:lstStyle/>
          <a:p>
            <a:fld id="{442E2AF1-562D-410D-8ADD-0D17803A3087}" type="slidenum">
              <a:rPr lang="en-US" smtClean="0"/>
              <a:pPr/>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Couldn’t find that</a:t>
            </a:r>
            <a:r>
              <a:rPr lang="en-US" baseline="0" dirty="0" smtClean="0"/>
              <a:t> entry is required but it would be pointless without it. </a:t>
            </a:r>
          </a:p>
          <a:p>
            <a:r>
              <a:rPr lang="en-US" baseline="0" dirty="0" smtClean="0"/>
              <a:t>-multiple entry is allowed. </a:t>
            </a:r>
          </a:p>
          <a:p>
            <a:r>
              <a:rPr lang="en-US" baseline="0" dirty="0" smtClean="0"/>
              <a:t>-</a:t>
            </a:r>
            <a:r>
              <a:rPr lang="en-US" dirty="0" smtClean="0"/>
              <a:t>A feed may have multiple author elements. A feed must contain at least one author element unless </a:t>
            </a:r>
            <a:r>
              <a:rPr lang="en-US" b="1" dirty="0" smtClean="0"/>
              <a:t>all</a:t>
            </a:r>
            <a:r>
              <a:rPr lang="en-US" dirty="0" smtClean="0"/>
              <a:t> of the entry elements contain at least one author element.</a:t>
            </a:r>
          </a:p>
          <a:p>
            <a:r>
              <a:rPr lang="en-US" dirty="0" smtClean="0"/>
              <a:t>-A feed may have multiple category elements.</a:t>
            </a:r>
          </a:p>
          <a:p>
            <a:r>
              <a:rPr lang="en-US" dirty="0" smtClean="0"/>
              <a:t>-A feed may have multiple contributor elements</a:t>
            </a:r>
          </a:p>
          <a:p>
            <a:r>
              <a:rPr lang="en-US" dirty="0" smtClean="0"/>
              <a:t>-</a:t>
            </a:r>
            <a:r>
              <a:rPr lang="en-US" baseline="0" dirty="0" smtClean="0"/>
              <a:t>for &lt;entry&gt;, &lt;</a:t>
            </a:r>
            <a:r>
              <a:rPr lang="en-US" dirty="0" smtClean="0"/>
              <a:t>Content&gt; must be provided if there is no alternate link, and should be provided if there is no summary.</a:t>
            </a:r>
            <a:endParaRPr lang="en-US" dirty="0"/>
          </a:p>
        </p:txBody>
      </p:sp>
      <p:sp>
        <p:nvSpPr>
          <p:cNvPr id="4" name="Slide Number Placeholder 3"/>
          <p:cNvSpPr>
            <a:spLocks noGrp="1"/>
          </p:cNvSpPr>
          <p:nvPr>
            <p:ph type="sldNum" sz="quarter" idx="10"/>
          </p:nvPr>
        </p:nvSpPr>
        <p:spPr/>
        <p:txBody>
          <a:bodyPr/>
          <a:lstStyle/>
          <a:p>
            <a:fld id="{5D02DC67-C434-444F-9788-90976544AD11}" type="slidenum">
              <a:rPr lang="en-US" smtClean="0"/>
              <a:pPr/>
              <a:t>12</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2/20/2018 12:06 PM</a:t>
            </a:fld>
            <a:endParaRPr lang="en-US" dirty="0"/>
          </a:p>
        </p:txBody>
      </p:sp>
      <p:sp>
        <p:nvSpPr>
          <p:cNvPr id="6" name="Footer Placeholder 5"/>
          <p:cNvSpPr>
            <a:spLocks noGrp="1"/>
          </p:cNvSpPr>
          <p:nvPr>
            <p:ph type="ftr" sz="quarter" idx="12"/>
          </p:nvPr>
        </p:nvSpPr>
        <p:spPr/>
        <p:txBody>
          <a:bodyPr/>
          <a:lstStyle/>
          <a:p>
            <a:r>
              <a:rPr lang="en-US" dirty="0" smtClean="0">
                <a:solidFill>
                  <a:srgbClr val="000000"/>
                </a:solidFill>
              </a:rPr>
              <a:t>© 2007 Microsoft Corporation. All rights reserved. Microsoft, Windows, Windows Vista and other product names are or may be registered trademarks and/or trademarks in the U.S. and/or other countries.</a:t>
            </a:r>
          </a:p>
          <a:p>
            <a:r>
              <a:rPr lang="en-US" dirty="0"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smtClean="0">
                <a:solidFill>
                  <a:srgbClr val="000000"/>
                </a:solidFill>
              </a:rPr>
            </a:br>
            <a:r>
              <a:rPr lang="en-US" dirty="0" smtClean="0">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14</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2/20/2018 12:06 PM</a:t>
            </a:fld>
            <a:endParaRPr lang="en-US" dirty="0"/>
          </a:p>
        </p:txBody>
      </p:sp>
      <p:sp>
        <p:nvSpPr>
          <p:cNvPr id="6" name="Footer Placeholder 5"/>
          <p:cNvSpPr>
            <a:spLocks noGrp="1"/>
          </p:cNvSpPr>
          <p:nvPr>
            <p:ph type="ftr" sz="quarter" idx="12"/>
          </p:nvPr>
        </p:nvSpPr>
        <p:spPr/>
        <p:txBody>
          <a:bodyPr/>
          <a:lstStyle/>
          <a:p>
            <a:r>
              <a:rPr lang="en-US" dirty="0" smtClean="0">
                <a:solidFill>
                  <a:srgbClr val="000000"/>
                </a:solidFill>
              </a:rPr>
              <a:t>© 2007 Microsoft Corporation. All rights reserved. Microsoft, Windows, Windows Vista and other product names are or may be registered trademarks and/or trademarks in the U.S. and/or other countries.</a:t>
            </a:r>
          </a:p>
          <a:p>
            <a:r>
              <a:rPr lang="en-US" dirty="0"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smtClean="0">
                <a:solidFill>
                  <a:srgbClr val="000000"/>
                </a:solidFill>
              </a:rPr>
            </a:br>
            <a:r>
              <a:rPr lang="en-US" dirty="0" smtClean="0">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16</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30250" y="1905000"/>
            <a:ext cx="7681913" cy="1523495"/>
          </a:xfrm>
        </p:spPr>
        <p:txBody>
          <a:bodyPr>
            <a:noAutofit/>
          </a:bodyPr>
          <a:lstStyle>
            <a:lvl1pPr>
              <a:lnSpc>
                <a:spcPct val="90000"/>
              </a:lnSpc>
              <a:defRPr sz="5400">
                <a:latin typeface="+mj-lt"/>
              </a:defRPr>
            </a:lvl1pPr>
          </a:lstStyle>
          <a:p>
            <a:r>
              <a:rPr lang="en-US" smtClean="0"/>
              <a:t>Click to edit Master title style</a:t>
            </a:r>
            <a:endParaRPr lang="en-US" dirty="0"/>
          </a:p>
        </p:txBody>
      </p:sp>
      <p:sp>
        <p:nvSpPr>
          <p:cNvPr id="3" name="Subtitle 2"/>
          <p:cNvSpPr>
            <a:spLocks noGrp="1"/>
          </p:cNvSpPr>
          <p:nvPr>
            <p:ph type="subTitle" idx="1"/>
          </p:nvPr>
        </p:nvSpPr>
        <p:spPr>
          <a:xfrm>
            <a:off x="730249" y="4344988"/>
            <a:ext cx="7681913"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722049" y="2355850"/>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FF9929">
                        <a:lumMod val="20000"/>
                        <a:lumOff val="80000"/>
                      </a:srgbClr>
                    </a:gs>
                    <a:gs pos="28000">
                      <a:srgbClr val="F8F57B"/>
                    </a:gs>
                    <a:gs pos="62000">
                      <a:srgbClr val="D5B953"/>
                    </a:gs>
                    <a:gs pos="88000">
                      <a:srgbClr val="D1943B"/>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smtClean="0"/>
              <a:t>click to…</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381000" y="1411552"/>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381000" y="1412875"/>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11553"/>
            <a:ext cx="4114800" cy="2129814"/>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411553"/>
            <a:ext cx="4114800" cy="2129814"/>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381000" y="1411553"/>
            <a:ext cx="4114800"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80999" y="2174875"/>
            <a:ext cx="41148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981" y="1411553"/>
            <a:ext cx="4117019"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117974"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Title and Content">
    <p:bg bwMode="black">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Title and Content">
    <p:bg bwMode="black">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0" y="6238875"/>
            <a:ext cx="9144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smtClean="0"/>
              <a:t>Click to edit Master text styles</a:t>
            </a: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722049" y="2355850"/>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FF9929">
                        <a:lumMod val="20000"/>
                        <a:lumOff val="80000"/>
                      </a:srgbClr>
                    </a:gs>
                    <a:gs pos="28000">
                      <a:srgbClr val="F8F57B"/>
                    </a:gs>
                    <a:gs pos="62000">
                      <a:srgbClr val="D5B953"/>
                    </a:gs>
                    <a:gs pos="88000">
                      <a:srgbClr val="D1943B"/>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smtClean="0"/>
              <a:t>click to…</a:t>
            </a:r>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722313" y="1905000"/>
            <a:ext cx="8040688" cy="22098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30250" y="1905000"/>
            <a:ext cx="7681913" cy="1523495"/>
          </a:xfrm>
        </p:spPr>
        <p:txBody>
          <a:bodyPr>
            <a:noAutofit/>
          </a:bodyPr>
          <a:lstStyle>
            <a:lvl1pPr>
              <a:lnSpc>
                <a:spcPct val="90000"/>
              </a:lnSpc>
              <a:defRPr sz="5400">
                <a:latin typeface="+mj-lt"/>
              </a:defRPr>
            </a:lvl1pPr>
          </a:lstStyle>
          <a:p>
            <a:r>
              <a:rPr lang="en-US" smtClean="0"/>
              <a:t>Click to edit Master title style</a:t>
            </a:r>
            <a:endParaRPr lang="en-US" dirty="0"/>
          </a:p>
        </p:txBody>
      </p:sp>
      <p:sp>
        <p:nvSpPr>
          <p:cNvPr id="3" name="Subtitle 2"/>
          <p:cNvSpPr>
            <a:spLocks noGrp="1"/>
          </p:cNvSpPr>
          <p:nvPr>
            <p:ph type="subTitle" idx="1"/>
          </p:nvPr>
        </p:nvSpPr>
        <p:spPr>
          <a:xfrm>
            <a:off x="730249" y="4344988"/>
            <a:ext cx="7681913"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381000" y="1411552"/>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5DCDB0F-7AD7-480A-A393-0AF012E29B14}" type="datetimeFigureOut">
              <a:rPr lang="en-US" smtClean="0"/>
              <a:pPr/>
              <a:t>2/20/2018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B99D77-DDA0-475F-9897-6DFF29C1C887}"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DCDB0F-7AD7-480A-A393-0AF012E29B14}" type="datetimeFigureOut">
              <a:rPr lang="en-US" smtClean="0"/>
              <a:pPr/>
              <a:t>2/20/2018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B99D77-DDA0-475F-9897-6DFF29C1C887}"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5DCDB0F-7AD7-480A-A393-0AF012E29B14}" type="datetimeFigureOut">
              <a:rPr lang="en-US" smtClean="0"/>
              <a:pPr/>
              <a:t>2/20/2018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B99D77-DDA0-475F-9897-6DFF29C1C887}"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5DCDB0F-7AD7-480A-A393-0AF012E29B14}" type="datetimeFigureOut">
              <a:rPr lang="en-US" smtClean="0"/>
              <a:pPr/>
              <a:t>2/20/2018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B99D77-DDA0-475F-9897-6DFF29C1C887}"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5DCDB0F-7AD7-480A-A393-0AF012E29B14}" type="datetimeFigureOut">
              <a:rPr lang="en-US" smtClean="0"/>
              <a:pPr/>
              <a:t>2/20/2018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B99D77-DDA0-475F-9897-6DFF29C1C887}"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5DCDB0F-7AD7-480A-A393-0AF012E29B14}" type="datetimeFigureOut">
              <a:rPr lang="en-US" smtClean="0"/>
              <a:pPr/>
              <a:t>2/20/2018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B99D77-DDA0-475F-9897-6DFF29C1C887}"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DCDB0F-7AD7-480A-A393-0AF012E29B14}" type="datetimeFigureOut">
              <a:rPr lang="en-US" smtClean="0"/>
              <a:pPr/>
              <a:t>2/20/2018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B99D77-DDA0-475F-9897-6DFF29C1C887}"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5DCDB0F-7AD7-480A-A393-0AF012E29B14}" type="datetimeFigureOut">
              <a:rPr lang="en-US" smtClean="0"/>
              <a:pPr/>
              <a:t>2/20/2018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B99D77-DDA0-475F-9897-6DFF29C1C887}" type="slidenum">
              <a:rPr lang="en-US" smtClean="0"/>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5DCDB0F-7AD7-480A-A393-0AF012E29B14}" type="datetimeFigureOut">
              <a:rPr lang="en-US" smtClean="0"/>
              <a:pPr/>
              <a:t>2/20/2018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B99D77-DDA0-475F-9897-6DFF29C1C887}" type="slidenum">
              <a:rPr lang="en-US" smtClean="0"/>
              <a:pPr/>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DCDB0F-7AD7-480A-A393-0AF012E29B14}" type="datetimeFigureOut">
              <a:rPr lang="en-US" smtClean="0"/>
              <a:pPr/>
              <a:t>2/20/2018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B99D77-DDA0-475F-9897-6DFF29C1C887}" type="slidenum">
              <a:rPr lang="en-US" smtClean="0"/>
              <a:pPr/>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DCDB0F-7AD7-480A-A393-0AF012E29B14}" type="datetimeFigureOut">
              <a:rPr lang="en-US" smtClean="0"/>
              <a:pPr/>
              <a:t>2/20/2018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B99D77-DDA0-475F-9897-6DFF29C1C887}" type="slidenum">
              <a:rPr lang="en-US" smtClean="0"/>
              <a:pPr/>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381000" y="1411552"/>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4.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heme" Target="../theme/theme3.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381000" y="1412875"/>
            <a:ext cx="8382000" cy="2135969"/>
          </a:xfrm>
          <a:prstGeom prst="rect">
            <a:avLst/>
          </a:prstGeom>
        </p:spPr>
        <p:txBody>
          <a:bodyPr vert="horz"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dk1" tx1="lt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61" r:id="rId12"/>
  </p:sldLayoutIdLst>
  <p:transition>
    <p:fade/>
  </p:transition>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15"/>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6"/>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6"/>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6"/>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6"/>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6" cstate="print">
            <a:lum/>
          </a:blip>
          <a:srcRect/>
          <a:stretch>
            <a:fillRect/>
          </a:stretch>
        </a:blipFill>
        <a:effectLst/>
      </p:bgPr>
    </p:bg>
    <p:spTree>
      <p:nvGrpSpPr>
        <p:cNvPr id="1" name=""/>
        <p:cNvGrpSpPr/>
        <p:nvPr/>
      </p:nvGrpSpPr>
      <p:grpSpPr>
        <a:xfrm>
          <a:off x="0" y="0"/>
          <a:ext cx="0" cy="0"/>
          <a:chOff x="0" y="0"/>
          <a:chExt cx="0" cy="0"/>
        </a:xfrm>
      </p:grpSpPr>
      <p:pic>
        <p:nvPicPr>
          <p:cNvPr id="4" name="Picture 3" descr="white rectangle.png"/>
          <p:cNvPicPr>
            <a:picLocks noChangeAspect="1"/>
          </p:cNvPicPr>
          <p:nvPr/>
        </p:nvPicPr>
        <p:blipFill>
          <a:blip r:embed="rId7" cstate="print"/>
          <a:srcRect b="10453"/>
          <a:stretch>
            <a:fillRect/>
          </a:stretch>
        </p:blipFill>
        <p:spPr>
          <a:xfrm>
            <a:off x="0" y="1299706"/>
            <a:ext cx="9144000" cy="5558294"/>
          </a:xfrm>
          <a:prstGeom prst="rect">
            <a:avLst/>
          </a:prstGeom>
        </p:spPr>
      </p:pic>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722312" y="1905000"/>
            <a:ext cx="8040688" cy="2108269"/>
          </a:xfrm>
          <a:prstGeom prst="rect">
            <a:avLst/>
          </a:prstGeom>
        </p:spPr>
        <p:txBody>
          <a:bodyPr vert="horz" wrap="square" lIns="0" tIns="0" rIns="0" bIns="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Lst>
  <p:transition>
    <p:fade/>
  </p:transition>
  <p:txStyles>
    <p:titleStyle>
      <a:lvl1pPr algn="l" defTabSz="914363" rtl="0" eaLnBrk="1" latinLnBrk="0" hangingPunct="1">
        <a:lnSpc>
          <a:spcPct val="90000"/>
        </a:lnSpc>
        <a:spcBef>
          <a:spcPct val="0"/>
        </a:spcBef>
        <a:buNone/>
        <a:defRPr lang="en-US" sz="4800" b="0" kern="1200" cap="none" spc="-125"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0" indent="0" algn="l" defTabSz="914363" rtl="0" eaLnBrk="1" latinLnBrk="0" hangingPunct="1">
        <a:lnSpc>
          <a:spcPct val="90000"/>
        </a:lnSpc>
        <a:spcBef>
          <a:spcPct val="20000"/>
        </a:spcBef>
        <a:buFont typeface="Arial" pitchFamily="34" charset="0"/>
        <a:buNone/>
        <a:defRPr sz="3000" b="1" kern="1200">
          <a:solidFill>
            <a:schemeClr val="tx1"/>
          </a:solidFill>
          <a:latin typeface="Courier New" pitchFamily="49" charset="0"/>
          <a:ea typeface="+mn-ea"/>
          <a:cs typeface="Courier New" pitchFamily="49" charset="0"/>
        </a:defRPr>
      </a:lvl1pPr>
      <a:lvl2pPr marL="384954" indent="-7937" algn="l" defTabSz="914363" rtl="0" eaLnBrk="1" latinLnBrk="0" hangingPunct="1">
        <a:lnSpc>
          <a:spcPct val="90000"/>
        </a:lnSpc>
        <a:spcBef>
          <a:spcPct val="20000"/>
        </a:spcBef>
        <a:buFont typeface="Arial" pitchFamily="34" charset="0"/>
        <a:buNone/>
        <a:defRPr sz="2800" b="1" kern="1200">
          <a:solidFill>
            <a:schemeClr val="tx1"/>
          </a:solidFill>
          <a:latin typeface="Courier New" pitchFamily="49" charset="0"/>
          <a:ea typeface="+mn-ea"/>
          <a:cs typeface="Courier New" pitchFamily="49" charset="0"/>
        </a:defRPr>
      </a:lvl2pPr>
      <a:lvl3pPr marL="761970" indent="-7937"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3pPr>
      <a:lvl4pPr marL="1094009" indent="7937"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4pPr>
      <a:lvl5pPr marL="1426047" indent="0"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DCDB0F-7AD7-480A-A393-0AF012E29B14}" type="datetimeFigureOut">
              <a:rPr lang="en-US" smtClean="0"/>
              <a:pPr/>
              <a:t>2/20/2018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B99D77-DDA0-475F-9897-6DFF29C1C88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transition>
    <p:fade/>
  </p:transition>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hyperlink" Target="http://www.w3.org/2005/Atom" TargetMode="External"/><Relationship Id="rId2" Type="http://schemas.openxmlformats.org/officeDocument/2006/relationships/notesSlide" Target="../notesSlides/notesSlide9.xml"/><Relationship Id="rId1" Type="http://schemas.openxmlformats.org/officeDocument/2006/relationships/slideLayout" Target="../slideLayouts/slideLayout23.xml"/><Relationship Id="rId5" Type="http://schemas.openxmlformats.org/officeDocument/2006/relationships/hyperlink" Target="http://www.w3.org/TR/xmlbase/" TargetMode="External"/><Relationship Id="rId4" Type="http://schemas.openxmlformats.org/officeDocument/2006/relationships/hyperlink" Target="http://www.w3.org/TR/REC-xml/"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smtClean="0"/>
              <a:t>Syndication</a:t>
            </a:r>
            <a:br>
              <a:rPr lang="en-US" dirty="0" smtClean="0"/>
            </a:br>
            <a:r>
              <a:rPr lang="en-US" dirty="0" smtClean="0"/>
              <a:t>(RSS &amp; ATOM)</a:t>
            </a:r>
            <a:endParaRPr lang="en-US" dirty="0"/>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RSS</a:t>
            </a:r>
            <a:endParaRPr lang="en-US" dirty="0"/>
          </a:p>
        </p:txBody>
      </p:sp>
      <p:pic>
        <p:nvPicPr>
          <p:cNvPr id="4" name="Content Placeholder 3" descr="outlook_rss07.png"/>
          <p:cNvPicPr>
            <a:picLocks noGrp="1" noChangeAspect="1"/>
          </p:cNvPicPr>
          <p:nvPr>
            <p:ph idx="1"/>
          </p:nvPr>
        </p:nvPicPr>
        <p:blipFill>
          <a:blip r:embed="rId2"/>
          <a:stretch>
            <a:fillRect/>
          </a:stretch>
        </p:blipFill>
        <p:spPr>
          <a:xfrm>
            <a:off x="914400" y="1524001"/>
            <a:ext cx="7696200" cy="4876800"/>
          </a:xfrm>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52400"/>
            <a:ext cx="8229600" cy="838200"/>
          </a:xfrm>
        </p:spPr>
        <p:txBody>
          <a:bodyPr/>
          <a:lstStyle/>
          <a:p>
            <a:r>
              <a:rPr lang="en-US" dirty="0" smtClean="0"/>
              <a:t>Syndication</a:t>
            </a:r>
            <a:endParaRPr lang="en-US" dirty="0"/>
          </a:p>
        </p:txBody>
      </p:sp>
      <p:sp>
        <p:nvSpPr>
          <p:cNvPr id="4" name="Content Placeholder 3"/>
          <p:cNvSpPr>
            <a:spLocks noGrp="1"/>
          </p:cNvSpPr>
          <p:nvPr>
            <p:ph idx="1"/>
          </p:nvPr>
        </p:nvSpPr>
        <p:spPr>
          <a:xfrm>
            <a:off x="228600" y="1143000"/>
            <a:ext cx="8763000" cy="5410200"/>
          </a:xfrm>
        </p:spPr>
        <p:txBody>
          <a:bodyPr>
            <a:noAutofit/>
          </a:bodyPr>
          <a:lstStyle/>
          <a:p>
            <a:r>
              <a:rPr lang="en-US" sz="2300" i="1" dirty="0" smtClean="0"/>
              <a:t>Content syndication </a:t>
            </a:r>
            <a:r>
              <a:rPr lang="en-US" sz="2300" dirty="0" smtClean="0"/>
              <a:t>provides citizens convenient access to new content and headlines from government via RSS (Really Simple Syndication) and other online syndication standards.</a:t>
            </a:r>
          </a:p>
          <a:p>
            <a:r>
              <a:rPr lang="en-US" sz="2300" dirty="0" smtClean="0"/>
              <a:t>Dynamically presenting “what’s new” on the top of the web site. </a:t>
            </a:r>
          </a:p>
          <a:p>
            <a:r>
              <a:rPr lang="en-US" sz="2300" dirty="0" smtClean="0"/>
              <a:t>allows a government to control a small window of content across web sites that choose to display the government’s headlines. </a:t>
            </a:r>
          </a:p>
          <a:p>
            <a:r>
              <a:rPr lang="en-US" sz="2300" dirty="0" smtClean="0"/>
              <a:t>Portals can automatically aggregate and combine headlines and/or</a:t>
            </a:r>
          </a:p>
          <a:p>
            <a:r>
              <a:rPr lang="en-US" sz="2300" dirty="0" smtClean="0"/>
              <a:t>lengthier content from across multiple agency web sites. </a:t>
            </a:r>
          </a:p>
          <a:p>
            <a:r>
              <a:rPr lang="en-US" sz="2300" dirty="0" smtClean="0"/>
              <a:t>This allows the value of distributed effort to be shared, which is more sustainable. </a:t>
            </a:r>
          </a:p>
          <a:p>
            <a:r>
              <a:rPr lang="en-US" sz="2300" dirty="0" smtClean="0"/>
              <a:t>Press releases may be aggregated automatically from different systems, as long as they all are required to offer an RSS feed with content tagged with similar metadata. </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609600"/>
            <a:ext cx="9144000" cy="369332"/>
          </a:xfrm>
          <a:prstGeom prst="rect">
            <a:avLst/>
          </a:prstGeom>
          <a:noFill/>
        </p:spPr>
        <p:txBody>
          <a:bodyPr wrap="square" rtlCol="0">
            <a:spAutoFit/>
          </a:bodyPr>
          <a:lstStyle/>
          <a:p>
            <a:pPr algn="ctr"/>
            <a:r>
              <a:rPr lang="en-US" b="1" dirty="0" smtClean="0"/>
              <a:t>What is RSS and Atom all about? </a:t>
            </a:r>
            <a:endParaRPr lang="en-US" b="1" dirty="0"/>
          </a:p>
        </p:txBody>
      </p:sp>
      <p:sp>
        <p:nvSpPr>
          <p:cNvPr id="16" name="TextBox 15"/>
          <p:cNvSpPr txBox="1"/>
          <p:nvPr/>
        </p:nvSpPr>
        <p:spPr>
          <a:xfrm>
            <a:off x="990600" y="1371600"/>
            <a:ext cx="7162800" cy="646331"/>
          </a:xfrm>
          <a:prstGeom prst="rect">
            <a:avLst/>
          </a:prstGeom>
          <a:noFill/>
        </p:spPr>
        <p:txBody>
          <a:bodyPr wrap="square" rtlCol="0">
            <a:spAutoFit/>
          </a:bodyPr>
          <a:lstStyle/>
          <a:p>
            <a:pPr marL="119063" indent="-119063"/>
            <a:r>
              <a:rPr lang="en-US" dirty="0" smtClean="0"/>
              <a:t>- They are a form of communication using XML documents to broadcast information updates to a large group of subscribers.  </a:t>
            </a:r>
            <a:endParaRPr lang="en-US" dirty="0"/>
          </a:p>
        </p:txBody>
      </p:sp>
      <p:sp>
        <p:nvSpPr>
          <p:cNvPr id="17" name="TextBox 16"/>
          <p:cNvSpPr txBox="1"/>
          <p:nvPr/>
        </p:nvSpPr>
        <p:spPr>
          <a:xfrm>
            <a:off x="0" y="2667000"/>
            <a:ext cx="9144000" cy="369332"/>
          </a:xfrm>
          <a:prstGeom prst="rect">
            <a:avLst/>
          </a:prstGeom>
          <a:noFill/>
        </p:spPr>
        <p:txBody>
          <a:bodyPr wrap="square" rtlCol="0">
            <a:spAutoFit/>
          </a:bodyPr>
          <a:lstStyle/>
          <a:p>
            <a:pPr algn="ctr"/>
            <a:r>
              <a:rPr lang="en-US" b="1" dirty="0" smtClean="0"/>
              <a:t>How it works and its benefit.</a:t>
            </a:r>
            <a:endParaRPr lang="en-US" b="1" dirty="0"/>
          </a:p>
        </p:txBody>
      </p:sp>
      <p:sp>
        <p:nvSpPr>
          <p:cNvPr id="18" name="TextBox 17"/>
          <p:cNvSpPr txBox="1"/>
          <p:nvPr/>
        </p:nvSpPr>
        <p:spPr>
          <a:xfrm>
            <a:off x="3352800" y="3429000"/>
            <a:ext cx="2157770" cy="369332"/>
          </a:xfrm>
          <a:prstGeom prst="rect">
            <a:avLst/>
          </a:prstGeom>
          <a:noFill/>
        </p:spPr>
        <p:txBody>
          <a:bodyPr wrap="none" rtlCol="0">
            <a:spAutoFit/>
          </a:bodyPr>
          <a:lstStyle/>
          <a:p>
            <a:pPr algn="ctr"/>
            <a:r>
              <a:rPr lang="en-US" dirty="0" smtClean="0"/>
              <a:t>Before RSS and Atom</a:t>
            </a:r>
            <a:endParaRPr lang="en-US" dirty="0"/>
          </a:p>
        </p:txBody>
      </p:sp>
      <p:pic>
        <p:nvPicPr>
          <p:cNvPr id="1026" name="Picture 2"/>
          <p:cNvPicPr>
            <a:picLocks noChangeAspect="1" noChangeArrowheads="1"/>
          </p:cNvPicPr>
          <p:nvPr/>
        </p:nvPicPr>
        <p:blipFill>
          <a:blip r:embed="rId3" cstate="print"/>
          <a:srcRect/>
          <a:stretch>
            <a:fillRect/>
          </a:stretch>
        </p:blipFill>
        <p:spPr bwMode="auto">
          <a:xfrm>
            <a:off x="2133601" y="4419602"/>
            <a:ext cx="1197523" cy="1190679"/>
          </a:xfrm>
          <a:prstGeom prst="rect">
            <a:avLst/>
          </a:prstGeom>
          <a:noFill/>
          <a:ln w="9525">
            <a:noFill/>
            <a:miter lim="800000"/>
            <a:headEnd/>
            <a:tailEnd/>
          </a:ln>
        </p:spPr>
      </p:pic>
      <p:cxnSp>
        <p:nvCxnSpPr>
          <p:cNvPr id="21" name="Straight Arrow Connector 20"/>
          <p:cNvCxnSpPr/>
          <p:nvPr/>
        </p:nvCxnSpPr>
        <p:spPr>
          <a:xfrm flipV="1">
            <a:off x="3429000" y="4343400"/>
            <a:ext cx="1828800" cy="457200"/>
          </a:xfrm>
          <a:prstGeom prst="straightConnector1">
            <a:avLst/>
          </a:prstGeom>
          <a:ln w="12700" cap="rnd">
            <a:tailEnd type="arrow" w="lg" len="lg"/>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724400" y="4114802"/>
            <a:ext cx="2514600" cy="307777"/>
          </a:xfrm>
          <a:prstGeom prst="rect">
            <a:avLst/>
          </a:prstGeom>
          <a:noFill/>
        </p:spPr>
        <p:txBody>
          <a:bodyPr wrap="square" rtlCol="0">
            <a:spAutoFit/>
          </a:bodyPr>
          <a:lstStyle/>
          <a:p>
            <a:pPr algn="ctr"/>
            <a:r>
              <a:rPr lang="en-US" sz="1400" dirty="0" smtClean="0"/>
              <a:t>Favorite website A </a:t>
            </a:r>
            <a:endParaRPr lang="en-US" sz="1400" dirty="0"/>
          </a:p>
        </p:txBody>
      </p:sp>
      <p:sp>
        <p:nvSpPr>
          <p:cNvPr id="23" name="TextBox 22"/>
          <p:cNvSpPr txBox="1"/>
          <p:nvPr/>
        </p:nvSpPr>
        <p:spPr>
          <a:xfrm>
            <a:off x="5334000" y="4724402"/>
            <a:ext cx="2514600" cy="307777"/>
          </a:xfrm>
          <a:prstGeom prst="rect">
            <a:avLst/>
          </a:prstGeom>
          <a:noFill/>
        </p:spPr>
        <p:txBody>
          <a:bodyPr wrap="square" rtlCol="0">
            <a:spAutoFit/>
          </a:bodyPr>
          <a:lstStyle/>
          <a:p>
            <a:pPr algn="ctr"/>
            <a:r>
              <a:rPr lang="en-US" sz="1400" dirty="0" smtClean="0"/>
              <a:t>Favorite website B </a:t>
            </a:r>
            <a:endParaRPr lang="en-US" sz="1400" dirty="0"/>
          </a:p>
        </p:txBody>
      </p:sp>
      <p:sp>
        <p:nvSpPr>
          <p:cNvPr id="24" name="TextBox 23"/>
          <p:cNvSpPr txBox="1"/>
          <p:nvPr/>
        </p:nvSpPr>
        <p:spPr>
          <a:xfrm>
            <a:off x="4114800" y="5257802"/>
            <a:ext cx="2514600" cy="307777"/>
          </a:xfrm>
          <a:prstGeom prst="rect">
            <a:avLst/>
          </a:prstGeom>
          <a:noFill/>
        </p:spPr>
        <p:txBody>
          <a:bodyPr wrap="square" rtlCol="0">
            <a:spAutoFit/>
          </a:bodyPr>
          <a:lstStyle/>
          <a:p>
            <a:pPr algn="ctr"/>
            <a:r>
              <a:rPr lang="en-US" sz="1400" dirty="0" smtClean="0"/>
              <a:t>Favorite website C </a:t>
            </a:r>
            <a:endParaRPr lang="en-US" sz="1400" dirty="0"/>
          </a:p>
        </p:txBody>
      </p:sp>
      <p:cxnSp>
        <p:nvCxnSpPr>
          <p:cNvPr id="29" name="Straight Arrow Connector 28"/>
          <p:cNvCxnSpPr/>
          <p:nvPr/>
        </p:nvCxnSpPr>
        <p:spPr>
          <a:xfrm flipV="1">
            <a:off x="3505200" y="4876800"/>
            <a:ext cx="2362200" cy="76200"/>
          </a:xfrm>
          <a:prstGeom prst="straightConnector1">
            <a:avLst/>
          </a:prstGeom>
          <a:ln w="12700">
            <a:tailEnd type="arrow" w="lg"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3505200" y="5181600"/>
            <a:ext cx="1143000" cy="228600"/>
          </a:xfrm>
          <a:prstGeom prst="straightConnector1">
            <a:avLst/>
          </a:prstGeom>
          <a:ln w="12700">
            <a:tailEnd type="arrow" w="lg" len="lg"/>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52804" y="457200"/>
            <a:ext cx="2012922" cy="369332"/>
          </a:xfrm>
          <a:prstGeom prst="rect">
            <a:avLst/>
          </a:prstGeom>
          <a:noFill/>
        </p:spPr>
        <p:txBody>
          <a:bodyPr wrap="none" rtlCol="0">
            <a:spAutoFit/>
          </a:bodyPr>
          <a:lstStyle/>
          <a:p>
            <a:pPr algn="ctr"/>
            <a:r>
              <a:rPr lang="en-US" dirty="0" smtClean="0"/>
              <a:t>After RSS and Atom</a:t>
            </a:r>
            <a:endParaRPr lang="en-US" dirty="0"/>
          </a:p>
        </p:txBody>
      </p:sp>
      <p:pic>
        <p:nvPicPr>
          <p:cNvPr id="3" name="Picture 2"/>
          <p:cNvPicPr>
            <a:picLocks noChangeAspect="1" noChangeArrowheads="1"/>
          </p:cNvPicPr>
          <p:nvPr/>
        </p:nvPicPr>
        <p:blipFill>
          <a:blip r:embed="rId3" cstate="print"/>
          <a:srcRect/>
          <a:stretch>
            <a:fillRect/>
          </a:stretch>
        </p:blipFill>
        <p:spPr bwMode="auto">
          <a:xfrm>
            <a:off x="707477" y="1219202"/>
            <a:ext cx="1197523" cy="1190679"/>
          </a:xfrm>
          <a:prstGeom prst="rect">
            <a:avLst/>
          </a:prstGeom>
          <a:noFill/>
          <a:ln w="9525">
            <a:noFill/>
            <a:miter lim="800000"/>
            <a:headEnd/>
            <a:tailEnd/>
          </a:ln>
        </p:spPr>
      </p:pic>
      <p:cxnSp>
        <p:nvCxnSpPr>
          <p:cNvPr id="4" name="Straight Arrow Connector 3"/>
          <p:cNvCxnSpPr/>
          <p:nvPr/>
        </p:nvCxnSpPr>
        <p:spPr>
          <a:xfrm rot="10800000" flipV="1">
            <a:off x="5105400" y="1295400"/>
            <a:ext cx="1524000" cy="304800"/>
          </a:xfrm>
          <a:prstGeom prst="straightConnector1">
            <a:avLst/>
          </a:prstGeom>
          <a:ln w="12700" cap="rnd">
            <a:tailEnd type="arrow" w="lg" len="lg"/>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6096000" y="1143002"/>
            <a:ext cx="2514600" cy="307777"/>
          </a:xfrm>
          <a:prstGeom prst="rect">
            <a:avLst/>
          </a:prstGeom>
          <a:noFill/>
        </p:spPr>
        <p:txBody>
          <a:bodyPr wrap="square" rtlCol="0">
            <a:spAutoFit/>
          </a:bodyPr>
          <a:lstStyle/>
          <a:p>
            <a:pPr algn="ctr"/>
            <a:r>
              <a:rPr lang="en-US" sz="1400" dirty="0" smtClean="0"/>
              <a:t>Favorite website A </a:t>
            </a:r>
            <a:endParaRPr lang="en-US" sz="1400" dirty="0"/>
          </a:p>
        </p:txBody>
      </p:sp>
      <p:sp>
        <p:nvSpPr>
          <p:cNvPr id="6" name="TextBox 5"/>
          <p:cNvSpPr txBox="1"/>
          <p:nvPr/>
        </p:nvSpPr>
        <p:spPr>
          <a:xfrm>
            <a:off x="6858000" y="1752602"/>
            <a:ext cx="2133600" cy="307777"/>
          </a:xfrm>
          <a:prstGeom prst="rect">
            <a:avLst/>
          </a:prstGeom>
          <a:noFill/>
        </p:spPr>
        <p:txBody>
          <a:bodyPr wrap="square" rtlCol="0">
            <a:spAutoFit/>
          </a:bodyPr>
          <a:lstStyle/>
          <a:p>
            <a:pPr algn="ctr"/>
            <a:r>
              <a:rPr lang="en-US" sz="1400" dirty="0" smtClean="0"/>
              <a:t>Favorite website B </a:t>
            </a:r>
            <a:endParaRPr lang="en-US" sz="1400" dirty="0"/>
          </a:p>
        </p:txBody>
      </p:sp>
      <p:sp>
        <p:nvSpPr>
          <p:cNvPr id="7" name="TextBox 6"/>
          <p:cNvSpPr txBox="1"/>
          <p:nvPr/>
        </p:nvSpPr>
        <p:spPr>
          <a:xfrm>
            <a:off x="5486400" y="2286002"/>
            <a:ext cx="2514600" cy="307777"/>
          </a:xfrm>
          <a:prstGeom prst="rect">
            <a:avLst/>
          </a:prstGeom>
          <a:noFill/>
        </p:spPr>
        <p:txBody>
          <a:bodyPr wrap="square" rtlCol="0">
            <a:spAutoFit/>
          </a:bodyPr>
          <a:lstStyle/>
          <a:p>
            <a:pPr algn="ctr"/>
            <a:r>
              <a:rPr lang="en-US" sz="1400" dirty="0" smtClean="0"/>
              <a:t>Favorite website C </a:t>
            </a:r>
            <a:endParaRPr lang="en-US" sz="1400" dirty="0"/>
          </a:p>
        </p:txBody>
      </p:sp>
      <p:cxnSp>
        <p:nvCxnSpPr>
          <p:cNvPr id="8" name="Straight Arrow Connector 7"/>
          <p:cNvCxnSpPr/>
          <p:nvPr/>
        </p:nvCxnSpPr>
        <p:spPr>
          <a:xfrm rot="10800000">
            <a:off x="5105400" y="1905000"/>
            <a:ext cx="2133600" cy="1588"/>
          </a:xfrm>
          <a:prstGeom prst="straightConnector1">
            <a:avLst/>
          </a:prstGeom>
          <a:ln w="12700">
            <a:tailEnd type="arrow"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10800000">
            <a:off x="5105400" y="2133600"/>
            <a:ext cx="914400" cy="304800"/>
          </a:xfrm>
          <a:prstGeom prst="straightConnector1">
            <a:avLst/>
          </a:prstGeom>
          <a:ln w="12700">
            <a:tailEnd type="arrow" w="lg" len="lg"/>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2836742" y="1524002"/>
            <a:ext cx="2192460" cy="646331"/>
          </a:xfrm>
          <a:prstGeom prst="rect">
            <a:avLst/>
          </a:prstGeom>
          <a:noFill/>
          <a:ln w="19050" cmpd="sng">
            <a:solidFill>
              <a:schemeClr val="accent4">
                <a:lumMod val="60000"/>
                <a:lumOff val="40000"/>
              </a:schemeClr>
            </a:solidFill>
            <a:miter lim="800000"/>
          </a:ln>
        </p:spPr>
        <p:txBody>
          <a:bodyPr wrap="none" rtlCol="0">
            <a:spAutoFit/>
          </a:bodyPr>
          <a:lstStyle/>
          <a:p>
            <a:pPr algn="ctr"/>
            <a:r>
              <a:rPr lang="en-US" dirty="0" smtClean="0"/>
              <a:t>Reader or Aggregator</a:t>
            </a:r>
          </a:p>
          <a:p>
            <a:pPr algn="ctr"/>
            <a:r>
              <a:rPr lang="en-US" dirty="0" smtClean="0"/>
              <a:t>Application</a:t>
            </a:r>
          </a:p>
        </p:txBody>
      </p:sp>
      <p:sp>
        <p:nvSpPr>
          <p:cNvPr id="32" name="TextBox 31"/>
          <p:cNvSpPr txBox="1"/>
          <p:nvPr/>
        </p:nvSpPr>
        <p:spPr>
          <a:xfrm>
            <a:off x="914402" y="2743200"/>
            <a:ext cx="2192460" cy="2438400"/>
          </a:xfrm>
          <a:prstGeom prst="rect">
            <a:avLst/>
          </a:prstGeom>
          <a:noFill/>
          <a:ln w="19050" cmpd="sng">
            <a:solidFill>
              <a:schemeClr val="accent4">
                <a:lumMod val="60000"/>
                <a:lumOff val="40000"/>
              </a:schemeClr>
            </a:solidFill>
            <a:miter lim="800000"/>
          </a:ln>
        </p:spPr>
        <p:txBody>
          <a:bodyPr wrap="square" rtlCol="0">
            <a:noAutofit/>
          </a:bodyPr>
          <a:lstStyle/>
          <a:p>
            <a:pPr algn="ctr"/>
            <a:r>
              <a:rPr lang="en-US" dirty="0" smtClean="0"/>
              <a:t>-Web Based-</a:t>
            </a:r>
          </a:p>
          <a:p>
            <a:pPr algn="ctr">
              <a:buFont typeface="Wingdings" pitchFamily="2" charset="2"/>
              <a:buChar char="Ø"/>
            </a:pPr>
            <a:r>
              <a:rPr lang="en-US" dirty="0" smtClean="0"/>
              <a:t> Google Reader</a:t>
            </a:r>
          </a:p>
          <a:p>
            <a:pPr algn="ctr">
              <a:buFont typeface="Wingdings" pitchFamily="2" charset="2"/>
              <a:buChar char="Ø"/>
            </a:pPr>
            <a:r>
              <a:rPr lang="en-US" dirty="0" smtClean="0"/>
              <a:t> </a:t>
            </a:r>
            <a:r>
              <a:rPr lang="en-US" dirty="0" err="1" smtClean="0"/>
              <a:t>Netvibes</a:t>
            </a:r>
            <a:endParaRPr lang="en-US" dirty="0" smtClean="0"/>
          </a:p>
          <a:p>
            <a:pPr algn="ctr">
              <a:buFont typeface="Wingdings" pitchFamily="2" charset="2"/>
              <a:buChar char="Ø"/>
            </a:pPr>
            <a:r>
              <a:rPr lang="en-US" dirty="0" smtClean="0"/>
              <a:t> </a:t>
            </a:r>
            <a:r>
              <a:rPr lang="en-US" dirty="0" err="1" smtClean="0"/>
              <a:t>Pageflakes</a:t>
            </a:r>
            <a:endParaRPr lang="en-US" dirty="0" smtClean="0"/>
          </a:p>
          <a:p>
            <a:pPr algn="ctr">
              <a:buFont typeface="Wingdings" pitchFamily="2" charset="2"/>
              <a:buChar char="Ø"/>
            </a:pPr>
            <a:r>
              <a:rPr lang="en-US" dirty="0" smtClean="0"/>
              <a:t> My Yahoo!</a:t>
            </a:r>
          </a:p>
          <a:p>
            <a:pPr algn="ctr">
              <a:buFont typeface="Wingdings" pitchFamily="2" charset="2"/>
              <a:buChar char="Ø"/>
            </a:pPr>
            <a:r>
              <a:rPr lang="en-US" dirty="0" smtClean="0"/>
              <a:t> </a:t>
            </a:r>
            <a:r>
              <a:rPr lang="en-US" dirty="0" err="1" smtClean="0"/>
              <a:t>Bloglines</a:t>
            </a:r>
            <a:endParaRPr lang="en-US" dirty="0" smtClean="0"/>
          </a:p>
          <a:p>
            <a:pPr algn="ctr">
              <a:buFont typeface="Wingdings" pitchFamily="2" charset="2"/>
              <a:buChar char="Ø"/>
            </a:pPr>
            <a:r>
              <a:rPr lang="en-US" dirty="0" smtClean="0"/>
              <a:t> </a:t>
            </a:r>
            <a:r>
              <a:rPr lang="en-US" dirty="0" err="1" smtClean="0"/>
              <a:t>NewsGator</a:t>
            </a:r>
            <a:endParaRPr lang="en-US" dirty="0" smtClean="0"/>
          </a:p>
          <a:p>
            <a:pPr algn="ctr">
              <a:buFont typeface="Wingdings" pitchFamily="2" charset="2"/>
              <a:buChar char="Ø"/>
            </a:pPr>
            <a:r>
              <a:rPr lang="en-US" dirty="0" smtClean="0"/>
              <a:t> </a:t>
            </a:r>
            <a:r>
              <a:rPr lang="en-US" dirty="0" err="1" smtClean="0"/>
              <a:t>Fwicki</a:t>
            </a:r>
            <a:endParaRPr lang="en-US" dirty="0" smtClean="0"/>
          </a:p>
          <a:p>
            <a:pPr algn="ctr"/>
            <a:endParaRPr lang="en-US" dirty="0" smtClean="0"/>
          </a:p>
        </p:txBody>
      </p:sp>
      <p:sp>
        <p:nvSpPr>
          <p:cNvPr id="33" name="TextBox 32"/>
          <p:cNvSpPr txBox="1"/>
          <p:nvPr/>
        </p:nvSpPr>
        <p:spPr>
          <a:xfrm>
            <a:off x="3429000" y="2819400"/>
            <a:ext cx="1981200" cy="1676400"/>
          </a:xfrm>
          <a:prstGeom prst="rect">
            <a:avLst/>
          </a:prstGeom>
          <a:noFill/>
          <a:ln w="19050" cmpd="sng">
            <a:solidFill>
              <a:schemeClr val="accent4">
                <a:lumMod val="60000"/>
                <a:lumOff val="40000"/>
              </a:schemeClr>
            </a:solidFill>
            <a:miter lim="800000"/>
          </a:ln>
        </p:spPr>
        <p:txBody>
          <a:bodyPr wrap="square" rtlCol="0">
            <a:noAutofit/>
          </a:bodyPr>
          <a:lstStyle/>
          <a:p>
            <a:pPr algn="ctr"/>
            <a:r>
              <a:rPr lang="en-US" dirty="0" smtClean="0"/>
              <a:t>-Non-Web Based-</a:t>
            </a:r>
          </a:p>
          <a:p>
            <a:pPr algn="ctr">
              <a:buFont typeface="Wingdings" pitchFamily="2" charset="2"/>
              <a:buChar char="Ø"/>
            </a:pPr>
            <a:r>
              <a:rPr lang="en-US" dirty="0" smtClean="0"/>
              <a:t> </a:t>
            </a:r>
            <a:r>
              <a:rPr lang="en-US" dirty="0" err="1" smtClean="0"/>
              <a:t>RssReader</a:t>
            </a:r>
            <a:endParaRPr lang="en-US" dirty="0" smtClean="0"/>
          </a:p>
          <a:p>
            <a:pPr algn="ctr">
              <a:buFont typeface="Wingdings" pitchFamily="2" charset="2"/>
              <a:buChar char="Ø"/>
            </a:pPr>
            <a:r>
              <a:rPr lang="en-US" dirty="0" smtClean="0"/>
              <a:t> RSS Bandit</a:t>
            </a:r>
          </a:p>
          <a:p>
            <a:pPr algn="ctr">
              <a:buFont typeface="Wingdings" pitchFamily="2" charset="2"/>
              <a:buChar char="Ø"/>
            </a:pPr>
            <a:r>
              <a:rPr lang="en-US" dirty="0" smtClean="0"/>
              <a:t> </a:t>
            </a:r>
            <a:r>
              <a:rPr lang="en-US" dirty="0" err="1" smtClean="0"/>
              <a:t>RSSOwl</a:t>
            </a:r>
            <a:endParaRPr lang="en-US" dirty="0" smtClean="0"/>
          </a:p>
          <a:p>
            <a:pPr algn="ctr">
              <a:buFont typeface="Wingdings" pitchFamily="2" charset="2"/>
              <a:buChar char="Ø"/>
            </a:pPr>
            <a:r>
              <a:rPr lang="en-US" dirty="0" smtClean="0"/>
              <a:t> Thunderbird</a:t>
            </a:r>
          </a:p>
        </p:txBody>
      </p:sp>
      <p:cxnSp>
        <p:nvCxnSpPr>
          <p:cNvPr id="38" name="Straight Arrow Connector 37"/>
          <p:cNvCxnSpPr/>
          <p:nvPr/>
        </p:nvCxnSpPr>
        <p:spPr>
          <a:xfrm>
            <a:off x="1981200" y="19050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096000" y="2895601"/>
            <a:ext cx="2514600" cy="3139321"/>
          </a:xfrm>
          <a:prstGeom prst="rect">
            <a:avLst/>
          </a:prstGeom>
          <a:noFill/>
        </p:spPr>
        <p:txBody>
          <a:bodyPr wrap="square" rtlCol="0">
            <a:spAutoFit/>
          </a:bodyPr>
          <a:lstStyle/>
          <a:p>
            <a:pPr algn="ctr"/>
            <a:r>
              <a:rPr lang="en-US" b="1" dirty="0" smtClean="0"/>
              <a:t>The Benefit?</a:t>
            </a:r>
          </a:p>
          <a:p>
            <a:pPr algn="ctr"/>
            <a:r>
              <a:rPr lang="en-US" dirty="0" smtClean="0"/>
              <a:t>Is to organize news, highlights, and information in one handy location, saving the user valuable time from having to checkout all their favorite websites for new information on a weekly, daily, hourly… bases.  </a:t>
            </a:r>
            <a:endParaRPr lang="en-US" dirty="0"/>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30189"/>
            <a:ext cx="8382000" cy="912811"/>
          </a:xfrm>
        </p:spPr>
        <p:txBody>
          <a:bodyPr>
            <a:normAutofit/>
          </a:bodyPr>
          <a:lstStyle/>
          <a:p>
            <a:r>
              <a:rPr lang="en-US" dirty="0" smtClean="0">
                <a:solidFill>
                  <a:schemeClr val="tx2"/>
                </a:solidFill>
              </a:rPr>
              <a:t>What is RSS 2.0?</a:t>
            </a:r>
            <a:endParaRPr lang="en-US" dirty="0">
              <a:solidFill>
                <a:schemeClr val="tx2"/>
              </a:solidFill>
            </a:endParaRPr>
          </a:p>
        </p:txBody>
      </p:sp>
      <p:sp>
        <p:nvSpPr>
          <p:cNvPr id="3" name="Text Placeholder 2"/>
          <p:cNvSpPr>
            <a:spLocks noGrp="1"/>
          </p:cNvSpPr>
          <p:nvPr>
            <p:ph type="body" sz="quarter" idx="10"/>
          </p:nvPr>
        </p:nvSpPr>
        <p:spPr>
          <a:xfrm>
            <a:off x="381000" y="1143000"/>
            <a:ext cx="8382000" cy="5334000"/>
          </a:xfrm>
        </p:spPr>
        <p:txBody>
          <a:bodyPr>
            <a:normAutofit fontScale="92500" lnSpcReduction="10000"/>
          </a:bodyPr>
          <a:lstStyle/>
          <a:p>
            <a:r>
              <a:rPr lang="en-US" sz="2800" dirty="0" smtClean="0"/>
              <a:t>RSS stands for Really Simple Syndication is a family of web feed formats used to publish frequently updated works—such as blog entries, news headlines, audio, and video—in a standardized format. </a:t>
            </a:r>
          </a:p>
          <a:p>
            <a:r>
              <a:rPr lang="en-US" sz="2800" dirty="0" smtClean="0"/>
              <a:t>An RSS document includes full or summarized text, plus metadata such as publishing dates and authorship. Web feeds benefit publishers by letting them syndicate content automatically. </a:t>
            </a:r>
          </a:p>
          <a:p>
            <a:r>
              <a:rPr lang="en-US" sz="2800" dirty="0" smtClean="0"/>
              <a:t>They benefit readers who want to subscribe to timely updates from favored web sites or to aggregate feeds from many sites into one place. </a:t>
            </a:r>
          </a:p>
          <a:p>
            <a:r>
              <a:rPr lang="en-US" sz="2800" dirty="0" smtClean="0"/>
              <a:t>The user subscribes to a feed by entering the feed’s URL</a:t>
            </a:r>
          </a:p>
          <a:p>
            <a:r>
              <a:rPr lang="en-US" sz="2800" dirty="0" smtClean="0"/>
              <a:t>RSS is written in the Internet coding language known as XML (</a:t>
            </a:r>
            <a:r>
              <a:rPr lang="en-US" sz="2800" dirty="0" err="1" smtClean="0"/>
              <a:t>eXtensible</a:t>
            </a:r>
            <a:r>
              <a:rPr lang="en-US" sz="2800" dirty="0" smtClean="0"/>
              <a:t> Markup Language).</a:t>
            </a:r>
          </a:p>
          <a:p>
            <a:endParaRPr lang="en-US" dirty="0" smtClean="0"/>
          </a:p>
          <a:p>
            <a:pPr lvl="1"/>
            <a:endParaRPr lang="en-US" b="1" dirty="0" smtClean="0"/>
          </a:p>
          <a:p>
            <a:pPr lvl="1"/>
            <a:endParaRPr lang="en-US" b="1" dirty="0" smtClean="0"/>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533400"/>
            <a:ext cx="3048000" cy="5724644"/>
          </a:xfrm>
          <a:prstGeom prst="rect">
            <a:avLst/>
          </a:prstGeom>
          <a:noFill/>
        </p:spPr>
        <p:txBody>
          <a:bodyPr wrap="square" rtlCol="0">
            <a:spAutoFit/>
          </a:bodyPr>
          <a:lstStyle/>
          <a:p>
            <a:pPr marL="174625" indent="-174625">
              <a:buFont typeface="Wingdings" pitchFamily="2" charset="2"/>
              <a:buChar char="Ø"/>
            </a:pPr>
            <a:r>
              <a:rPr lang="en-US" dirty="0" smtClean="0"/>
              <a:t> RSS must be the root element followed by one channel element.  </a:t>
            </a:r>
          </a:p>
          <a:p>
            <a:endParaRPr lang="en-US" sz="1600" dirty="0" smtClean="0"/>
          </a:p>
          <a:p>
            <a:endParaRPr lang="en-US" sz="1600" dirty="0" smtClean="0"/>
          </a:p>
          <a:p>
            <a:pPr>
              <a:buFont typeface="Wingdings" pitchFamily="2" charset="2"/>
              <a:buChar char="Ø"/>
            </a:pPr>
            <a:r>
              <a:rPr lang="en-US" dirty="0" smtClean="0"/>
              <a:t> Required channel elements:</a:t>
            </a:r>
          </a:p>
          <a:p>
            <a:pPr>
              <a:buFont typeface="Wingdings" pitchFamily="2" charset="2"/>
              <a:buChar char="ü"/>
            </a:pPr>
            <a:endParaRPr lang="en-US" sz="1600" dirty="0" smtClean="0"/>
          </a:p>
          <a:p>
            <a:pPr algn="r">
              <a:buFont typeface="Wingdings" pitchFamily="2" charset="2"/>
              <a:buChar char="ü"/>
            </a:pPr>
            <a:r>
              <a:rPr lang="en-US" dirty="0" smtClean="0"/>
              <a:t>title</a:t>
            </a:r>
          </a:p>
          <a:p>
            <a:pPr algn="r">
              <a:buFont typeface="Wingdings" pitchFamily="2" charset="2"/>
              <a:buChar char="ü"/>
            </a:pPr>
            <a:endParaRPr lang="en-US" sz="1600" dirty="0" smtClean="0"/>
          </a:p>
          <a:p>
            <a:pPr algn="r">
              <a:buFont typeface="Wingdings" pitchFamily="2" charset="2"/>
              <a:buChar char="ü"/>
            </a:pPr>
            <a:endParaRPr lang="en-US" sz="1600" dirty="0" smtClean="0"/>
          </a:p>
          <a:p>
            <a:pPr algn="r">
              <a:buFont typeface="Wingdings" pitchFamily="2" charset="2"/>
              <a:buChar char="ü"/>
            </a:pPr>
            <a:endParaRPr lang="en-US" sz="1600" dirty="0" smtClean="0"/>
          </a:p>
          <a:p>
            <a:pPr algn="r">
              <a:buFont typeface="Wingdings" pitchFamily="2" charset="2"/>
              <a:buChar char="ü"/>
            </a:pPr>
            <a:endParaRPr lang="en-US" sz="1600" dirty="0" smtClean="0"/>
          </a:p>
          <a:p>
            <a:pPr algn="r">
              <a:buFont typeface="Wingdings" pitchFamily="2" charset="2"/>
              <a:buChar char="ü"/>
            </a:pPr>
            <a:endParaRPr lang="en-US" sz="1600" dirty="0" smtClean="0"/>
          </a:p>
          <a:p>
            <a:pPr algn="r">
              <a:buFont typeface="Wingdings" pitchFamily="2" charset="2"/>
              <a:buChar char="ü"/>
            </a:pPr>
            <a:endParaRPr lang="en-US" sz="1600" dirty="0" smtClean="0"/>
          </a:p>
          <a:p>
            <a:pPr algn="r">
              <a:buFont typeface="Wingdings" pitchFamily="2" charset="2"/>
              <a:buChar char="ü"/>
            </a:pPr>
            <a:endParaRPr lang="en-US" sz="1600" dirty="0" smtClean="0"/>
          </a:p>
          <a:p>
            <a:pPr algn="r">
              <a:buFont typeface="Wingdings" pitchFamily="2" charset="2"/>
              <a:buChar char="ü"/>
            </a:pPr>
            <a:endParaRPr lang="en-US" sz="1600" dirty="0" smtClean="0"/>
          </a:p>
          <a:p>
            <a:pPr algn="r">
              <a:buFont typeface="Wingdings" pitchFamily="2" charset="2"/>
              <a:buChar char="ü"/>
            </a:pPr>
            <a:r>
              <a:rPr lang="en-US" dirty="0" smtClean="0"/>
              <a:t>link</a:t>
            </a:r>
          </a:p>
          <a:p>
            <a:pPr algn="r"/>
            <a:endParaRPr lang="en-US" sz="1600" dirty="0" smtClean="0"/>
          </a:p>
          <a:p>
            <a:pPr algn="r"/>
            <a:endParaRPr lang="en-US" sz="1600" dirty="0" smtClean="0"/>
          </a:p>
          <a:p>
            <a:pPr algn="r"/>
            <a:endParaRPr lang="en-US" sz="1600" dirty="0" smtClean="0"/>
          </a:p>
          <a:p>
            <a:pPr algn="r">
              <a:buFont typeface="Wingdings" pitchFamily="2" charset="2"/>
              <a:buChar char="ü"/>
            </a:pPr>
            <a:endParaRPr lang="en-US" sz="1600" dirty="0" smtClean="0"/>
          </a:p>
          <a:p>
            <a:pPr algn="r">
              <a:buFont typeface="Wingdings" pitchFamily="2" charset="2"/>
              <a:buChar char="ü"/>
            </a:pPr>
            <a:r>
              <a:rPr lang="en-US" dirty="0" smtClean="0"/>
              <a:t>description</a:t>
            </a:r>
            <a:endParaRPr lang="en-US" dirty="0"/>
          </a:p>
        </p:txBody>
      </p:sp>
      <p:sp>
        <p:nvSpPr>
          <p:cNvPr id="5" name="Rectangle 4"/>
          <p:cNvSpPr/>
          <p:nvPr/>
        </p:nvSpPr>
        <p:spPr>
          <a:xfrm>
            <a:off x="3886200" y="2373868"/>
            <a:ext cx="4572000" cy="1477328"/>
          </a:xfrm>
          <a:prstGeom prst="rect">
            <a:avLst/>
          </a:prstGeom>
        </p:spPr>
        <p:txBody>
          <a:bodyPr>
            <a:spAutoFit/>
          </a:bodyPr>
          <a:lstStyle/>
          <a:p>
            <a:r>
              <a:rPr lang="en-US" dirty="0" smtClean="0"/>
              <a:t>The name of the channel. It's how people refer to your service. If you have an HTML website that contains the same information as your RSS file, the title of your channel should be the same as the title of your website.</a:t>
            </a:r>
            <a:endParaRPr lang="en-US" dirty="0"/>
          </a:p>
        </p:txBody>
      </p:sp>
      <p:sp>
        <p:nvSpPr>
          <p:cNvPr id="6" name="Rectangle 5"/>
          <p:cNvSpPr/>
          <p:nvPr/>
        </p:nvSpPr>
        <p:spPr>
          <a:xfrm>
            <a:off x="3886200" y="4583668"/>
            <a:ext cx="4572000" cy="646331"/>
          </a:xfrm>
          <a:prstGeom prst="rect">
            <a:avLst/>
          </a:prstGeom>
        </p:spPr>
        <p:txBody>
          <a:bodyPr>
            <a:spAutoFit/>
          </a:bodyPr>
          <a:lstStyle/>
          <a:p>
            <a:r>
              <a:rPr lang="en-US" dirty="0" smtClean="0"/>
              <a:t>The URL to the HTML website corresponding to the channel.</a:t>
            </a:r>
            <a:endParaRPr lang="en-US" dirty="0"/>
          </a:p>
        </p:txBody>
      </p:sp>
      <p:sp>
        <p:nvSpPr>
          <p:cNvPr id="7" name="Rectangle 6"/>
          <p:cNvSpPr/>
          <p:nvPr/>
        </p:nvSpPr>
        <p:spPr>
          <a:xfrm>
            <a:off x="3886200" y="5867400"/>
            <a:ext cx="4210063" cy="369332"/>
          </a:xfrm>
          <a:prstGeom prst="rect">
            <a:avLst/>
          </a:prstGeom>
        </p:spPr>
        <p:txBody>
          <a:bodyPr wrap="none">
            <a:spAutoFit/>
          </a:bodyPr>
          <a:lstStyle/>
          <a:p>
            <a:r>
              <a:rPr lang="en-US" dirty="0" smtClean="0"/>
              <a:t>Phrase or sentence describing the channel.</a:t>
            </a:r>
            <a:endParaRPr lang="en-US" dirty="0"/>
          </a:p>
        </p:txBody>
      </p:sp>
      <p:sp>
        <p:nvSpPr>
          <p:cNvPr id="8" name="TextBox 7"/>
          <p:cNvSpPr txBox="1"/>
          <p:nvPr/>
        </p:nvSpPr>
        <p:spPr>
          <a:xfrm>
            <a:off x="4038600" y="300335"/>
            <a:ext cx="1108188" cy="461665"/>
          </a:xfrm>
          <a:prstGeom prst="rect">
            <a:avLst/>
          </a:prstGeom>
          <a:noFill/>
        </p:spPr>
        <p:txBody>
          <a:bodyPr wrap="none" rtlCol="0">
            <a:spAutoFit/>
          </a:bodyPr>
          <a:lstStyle/>
          <a:p>
            <a:r>
              <a:rPr lang="en-US" sz="2400" b="1" dirty="0" smtClean="0"/>
              <a:t>RSS 2.0</a:t>
            </a:r>
            <a:endParaRPr lang="en-US" sz="2400" b="1" dirty="0"/>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1238310"/>
            <a:ext cx="1829475" cy="5324535"/>
          </a:xfrm>
          <a:prstGeom prst="rect">
            <a:avLst/>
          </a:prstGeom>
          <a:noFill/>
        </p:spPr>
        <p:txBody>
          <a:bodyPr wrap="none" rtlCol="0">
            <a:spAutoFit/>
          </a:bodyPr>
          <a:lstStyle/>
          <a:p>
            <a:r>
              <a:rPr lang="en-US" sz="2000" dirty="0" smtClean="0"/>
              <a:t>language</a:t>
            </a:r>
          </a:p>
          <a:p>
            <a:r>
              <a:rPr lang="en-US" sz="2000" dirty="0" smtClean="0"/>
              <a:t>Copyright</a:t>
            </a:r>
          </a:p>
          <a:p>
            <a:r>
              <a:rPr lang="en-US" sz="2000" dirty="0" smtClean="0"/>
              <a:t>item</a:t>
            </a:r>
          </a:p>
          <a:p>
            <a:r>
              <a:rPr lang="en-US" sz="2000" dirty="0" smtClean="0"/>
              <a:t>managingEditor</a:t>
            </a:r>
          </a:p>
          <a:p>
            <a:r>
              <a:rPr lang="en-US" sz="2000" dirty="0" smtClean="0"/>
              <a:t>webMaster</a:t>
            </a:r>
          </a:p>
          <a:p>
            <a:r>
              <a:rPr lang="en-US" sz="2000" dirty="0" smtClean="0"/>
              <a:t>pubDate</a:t>
            </a:r>
          </a:p>
          <a:p>
            <a:r>
              <a:rPr lang="en-US" sz="2000" dirty="0" smtClean="0"/>
              <a:t>lastBuildDate</a:t>
            </a:r>
          </a:p>
          <a:p>
            <a:r>
              <a:rPr lang="en-US" sz="2000" dirty="0" smtClean="0"/>
              <a:t>category</a:t>
            </a:r>
          </a:p>
          <a:p>
            <a:r>
              <a:rPr lang="en-US" sz="2000" dirty="0" smtClean="0"/>
              <a:t>generator</a:t>
            </a:r>
          </a:p>
          <a:p>
            <a:r>
              <a:rPr lang="en-US" sz="2000" dirty="0" smtClean="0"/>
              <a:t>docs</a:t>
            </a:r>
          </a:p>
          <a:p>
            <a:r>
              <a:rPr lang="en-US" sz="2000" dirty="0" smtClean="0"/>
              <a:t>cloud</a:t>
            </a:r>
          </a:p>
          <a:p>
            <a:r>
              <a:rPr lang="en-US" sz="2000" dirty="0" smtClean="0"/>
              <a:t>ttl</a:t>
            </a:r>
          </a:p>
          <a:p>
            <a:r>
              <a:rPr lang="en-US" sz="2000" dirty="0" smtClean="0"/>
              <a:t>image</a:t>
            </a:r>
          </a:p>
          <a:p>
            <a:r>
              <a:rPr lang="en-US" sz="2000" dirty="0" smtClean="0"/>
              <a:t>rating</a:t>
            </a:r>
          </a:p>
          <a:p>
            <a:r>
              <a:rPr lang="en-US" sz="2000" dirty="0" smtClean="0"/>
              <a:t>textInput</a:t>
            </a:r>
          </a:p>
          <a:p>
            <a:r>
              <a:rPr lang="en-US" sz="2000" dirty="0" smtClean="0"/>
              <a:t>skipHours</a:t>
            </a:r>
          </a:p>
          <a:p>
            <a:r>
              <a:rPr lang="en-US" sz="2000" dirty="0" smtClean="0"/>
              <a:t>skipDays</a:t>
            </a:r>
            <a:endParaRPr lang="en-US" sz="2000" dirty="0"/>
          </a:p>
        </p:txBody>
      </p:sp>
      <p:sp>
        <p:nvSpPr>
          <p:cNvPr id="3" name="TextBox 2"/>
          <p:cNvSpPr txBox="1"/>
          <p:nvPr/>
        </p:nvSpPr>
        <p:spPr>
          <a:xfrm>
            <a:off x="76200" y="838200"/>
            <a:ext cx="3305392" cy="400110"/>
          </a:xfrm>
          <a:prstGeom prst="rect">
            <a:avLst/>
          </a:prstGeom>
          <a:noFill/>
        </p:spPr>
        <p:txBody>
          <a:bodyPr wrap="none" rtlCol="0">
            <a:spAutoFit/>
          </a:bodyPr>
          <a:lstStyle/>
          <a:p>
            <a:r>
              <a:rPr lang="en-US" sz="2000" u="sng" dirty="0" smtClean="0"/>
              <a:t>Optional &lt;channel &gt; Elements</a:t>
            </a:r>
            <a:endParaRPr lang="en-US" sz="2000" u="sng" dirty="0"/>
          </a:p>
        </p:txBody>
      </p:sp>
      <p:sp>
        <p:nvSpPr>
          <p:cNvPr id="4" name="TextBox 3"/>
          <p:cNvSpPr txBox="1"/>
          <p:nvPr/>
        </p:nvSpPr>
        <p:spPr>
          <a:xfrm>
            <a:off x="4038600" y="300335"/>
            <a:ext cx="1266372" cy="523220"/>
          </a:xfrm>
          <a:prstGeom prst="rect">
            <a:avLst/>
          </a:prstGeom>
          <a:noFill/>
        </p:spPr>
        <p:txBody>
          <a:bodyPr wrap="none" rtlCol="0">
            <a:spAutoFit/>
          </a:bodyPr>
          <a:lstStyle/>
          <a:p>
            <a:r>
              <a:rPr lang="en-US" sz="2800" b="1" dirty="0" smtClean="0"/>
              <a:t>RSS 2.0</a:t>
            </a:r>
            <a:endParaRPr lang="en-US" sz="2800" b="1" dirty="0"/>
          </a:p>
        </p:txBody>
      </p:sp>
      <p:sp>
        <p:nvSpPr>
          <p:cNvPr id="5" name="TextBox 4"/>
          <p:cNvSpPr txBox="1"/>
          <p:nvPr/>
        </p:nvSpPr>
        <p:spPr>
          <a:xfrm>
            <a:off x="3352800" y="933510"/>
            <a:ext cx="2286000" cy="3124200"/>
          </a:xfrm>
          <a:prstGeom prst="rect">
            <a:avLst/>
          </a:prstGeom>
          <a:noFill/>
          <a:ln w="19050" cmpd="sng">
            <a:solidFill>
              <a:schemeClr val="accent4">
                <a:lumMod val="60000"/>
                <a:lumOff val="40000"/>
              </a:schemeClr>
            </a:solidFill>
            <a:miter lim="800000"/>
          </a:ln>
        </p:spPr>
        <p:txBody>
          <a:bodyPr wrap="square" rtlCol="0">
            <a:noAutofit/>
          </a:bodyPr>
          <a:lstStyle/>
          <a:p>
            <a:pPr algn="ctr"/>
            <a:r>
              <a:rPr lang="en-US" u="sng" dirty="0" smtClean="0"/>
              <a:t>Elements for Item</a:t>
            </a:r>
          </a:p>
          <a:p>
            <a:pPr algn="ctr"/>
            <a:r>
              <a:rPr lang="en-US" dirty="0" smtClean="0"/>
              <a:t>title</a:t>
            </a:r>
          </a:p>
          <a:p>
            <a:pPr algn="ctr"/>
            <a:r>
              <a:rPr lang="en-US" dirty="0" smtClean="0"/>
              <a:t>link</a:t>
            </a:r>
          </a:p>
          <a:p>
            <a:pPr algn="ctr"/>
            <a:r>
              <a:rPr lang="en-US" dirty="0" smtClean="0"/>
              <a:t>description</a:t>
            </a:r>
          </a:p>
          <a:p>
            <a:pPr algn="ctr"/>
            <a:r>
              <a:rPr lang="en-US" dirty="0" smtClean="0"/>
              <a:t>author</a:t>
            </a:r>
          </a:p>
          <a:p>
            <a:pPr algn="ctr"/>
            <a:r>
              <a:rPr lang="en-US" dirty="0" smtClean="0"/>
              <a:t>category</a:t>
            </a:r>
          </a:p>
          <a:p>
            <a:pPr algn="ctr"/>
            <a:r>
              <a:rPr lang="en-US" dirty="0" smtClean="0"/>
              <a:t>comments</a:t>
            </a:r>
          </a:p>
          <a:p>
            <a:pPr algn="ctr"/>
            <a:r>
              <a:rPr lang="en-US" dirty="0" smtClean="0"/>
              <a:t>enclosure</a:t>
            </a:r>
          </a:p>
          <a:p>
            <a:pPr algn="ctr"/>
            <a:r>
              <a:rPr lang="en-US" dirty="0" err="1" smtClean="0"/>
              <a:t>guid</a:t>
            </a:r>
            <a:endParaRPr lang="en-US" dirty="0" smtClean="0"/>
          </a:p>
          <a:p>
            <a:pPr algn="ctr"/>
            <a:r>
              <a:rPr lang="en-US" dirty="0" err="1" smtClean="0"/>
              <a:t>pubData</a:t>
            </a:r>
            <a:endParaRPr lang="en-US" dirty="0" smtClean="0"/>
          </a:p>
          <a:p>
            <a:pPr algn="ctr"/>
            <a:r>
              <a:rPr lang="en-US" dirty="0" smtClean="0"/>
              <a:t>source</a:t>
            </a:r>
          </a:p>
        </p:txBody>
      </p:sp>
      <p:sp>
        <p:nvSpPr>
          <p:cNvPr id="6" name="TextBox 5"/>
          <p:cNvSpPr txBox="1"/>
          <p:nvPr/>
        </p:nvSpPr>
        <p:spPr>
          <a:xfrm>
            <a:off x="6477000" y="1085910"/>
            <a:ext cx="2286000" cy="685800"/>
          </a:xfrm>
          <a:prstGeom prst="rect">
            <a:avLst/>
          </a:prstGeom>
          <a:noFill/>
          <a:ln w="19050" cmpd="sng">
            <a:solidFill>
              <a:schemeClr val="accent4">
                <a:lumMod val="60000"/>
                <a:lumOff val="40000"/>
              </a:schemeClr>
            </a:solidFill>
            <a:miter lim="800000"/>
          </a:ln>
        </p:spPr>
        <p:txBody>
          <a:bodyPr wrap="square" rtlCol="0">
            <a:noAutofit/>
          </a:bodyPr>
          <a:lstStyle/>
          <a:p>
            <a:pPr algn="ctr"/>
            <a:r>
              <a:rPr lang="en-US" dirty="0" smtClean="0"/>
              <a:t>Is the email address for the author.</a:t>
            </a:r>
          </a:p>
        </p:txBody>
      </p:sp>
      <p:sp>
        <p:nvSpPr>
          <p:cNvPr id="7" name="TextBox 6"/>
          <p:cNvSpPr txBox="1"/>
          <p:nvPr/>
        </p:nvSpPr>
        <p:spPr>
          <a:xfrm>
            <a:off x="3276600" y="4286310"/>
            <a:ext cx="3581400" cy="685800"/>
          </a:xfrm>
          <a:prstGeom prst="rect">
            <a:avLst/>
          </a:prstGeom>
          <a:noFill/>
          <a:ln w="19050" cmpd="sng">
            <a:solidFill>
              <a:schemeClr val="accent4">
                <a:lumMod val="60000"/>
                <a:lumOff val="40000"/>
              </a:schemeClr>
            </a:solidFill>
            <a:miter lim="800000"/>
          </a:ln>
        </p:spPr>
        <p:txBody>
          <a:bodyPr wrap="square" rtlCol="0">
            <a:noAutofit/>
          </a:bodyPr>
          <a:lstStyle/>
          <a:p>
            <a:pPr algn="ctr"/>
            <a:r>
              <a:rPr lang="en-US" dirty="0" smtClean="0"/>
              <a:t>Has three required elements, along with optional ones.</a:t>
            </a:r>
          </a:p>
          <a:p>
            <a:pPr algn="ctr"/>
            <a:endParaRPr lang="en-US" dirty="0" smtClean="0"/>
          </a:p>
          <a:p>
            <a:pPr algn="ctr"/>
            <a:endParaRPr lang="en-US" dirty="0" smtClean="0"/>
          </a:p>
          <a:p>
            <a:pPr algn="ctr"/>
            <a:endParaRPr lang="en-US" dirty="0" smtClean="0"/>
          </a:p>
        </p:txBody>
      </p:sp>
      <p:sp>
        <p:nvSpPr>
          <p:cNvPr id="9" name="TextBox 8"/>
          <p:cNvSpPr txBox="1"/>
          <p:nvPr/>
        </p:nvSpPr>
        <p:spPr>
          <a:xfrm>
            <a:off x="3505200" y="5276910"/>
            <a:ext cx="1371600" cy="1219200"/>
          </a:xfrm>
          <a:prstGeom prst="rect">
            <a:avLst/>
          </a:prstGeom>
          <a:noFill/>
          <a:ln w="19050" cmpd="sng">
            <a:solidFill>
              <a:schemeClr val="accent4">
                <a:lumMod val="60000"/>
                <a:lumOff val="40000"/>
              </a:schemeClr>
            </a:solidFill>
            <a:miter lim="800000"/>
          </a:ln>
        </p:spPr>
        <p:txBody>
          <a:bodyPr wrap="square" rtlCol="0">
            <a:noAutofit/>
          </a:bodyPr>
          <a:lstStyle/>
          <a:p>
            <a:pPr algn="ctr"/>
            <a:r>
              <a:rPr lang="en-US" dirty="0" smtClean="0"/>
              <a:t>-Required-</a:t>
            </a:r>
          </a:p>
          <a:p>
            <a:pPr algn="ctr">
              <a:buFont typeface="Arial" pitchFamily="34" charset="0"/>
              <a:buChar char="•"/>
            </a:pPr>
            <a:r>
              <a:rPr lang="en-US" dirty="0" smtClean="0"/>
              <a:t> </a:t>
            </a:r>
            <a:r>
              <a:rPr lang="en-US" dirty="0" err="1" smtClean="0"/>
              <a:t>url</a:t>
            </a:r>
            <a:endParaRPr lang="en-US" dirty="0" smtClean="0"/>
          </a:p>
          <a:p>
            <a:pPr algn="ctr">
              <a:buFont typeface="Arial" pitchFamily="34" charset="0"/>
              <a:buChar char="•"/>
            </a:pPr>
            <a:r>
              <a:rPr lang="en-US" dirty="0" smtClean="0"/>
              <a:t> title</a:t>
            </a:r>
          </a:p>
          <a:p>
            <a:pPr algn="ctr">
              <a:buFont typeface="Arial" pitchFamily="34" charset="0"/>
              <a:buChar char="•"/>
            </a:pPr>
            <a:r>
              <a:rPr lang="en-US" dirty="0" smtClean="0"/>
              <a:t> link</a:t>
            </a:r>
          </a:p>
          <a:p>
            <a:pPr algn="ctr"/>
            <a:endParaRPr lang="en-US" dirty="0" smtClean="0"/>
          </a:p>
          <a:p>
            <a:pPr algn="ctr"/>
            <a:endParaRPr lang="en-US" dirty="0" smtClean="0"/>
          </a:p>
          <a:p>
            <a:pPr algn="ctr"/>
            <a:endParaRPr lang="en-US" dirty="0" smtClean="0"/>
          </a:p>
        </p:txBody>
      </p:sp>
      <p:sp>
        <p:nvSpPr>
          <p:cNvPr id="10" name="TextBox 9"/>
          <p:cNvSpPr txBox="1"/>
          <p:nvPr/>
        </p:nvSpPr>
        <p:spPr>
          <a:xfrm>
            <a:off x="5334000" y="5276910"/>
            <a:ext cx="1371600" cy="1219200"/>
          </a:xfrm>
          <a:prstGeom prst="rect">
            <a:avLst/>
          </a:prstGeom>
          <a:noFill/>
          <a:ln w="19050" cmpd="sng">
            <a:solidFill>
              <a:schemeClr val="accent4">
                <a:lumMod val="60000"/>
                <a:lumOff val="40000"/>
              </a:schemeClr>
            </a:solidFill>
            <a:miter lim="800000"/>
          </a:ln>
        </p:spPr>
        <p:txBody>
          <a:bodyPr wrap="square" rtlCol="0">
            <a:noAutofit/>
          </a:bodyPr>
          <a:lstStyle/>
          <a:p>
            <a:pPr algn="ctr"/>
            <a:r>
              <a:rPr lang="en-US" dirty="0" smtClean="0"/>
              <a:t>-Optional-</a:t>
            </a:r>
          </a:p>
          <a:p>
            <a:pPr algn="ctr">
              <a:buFont typeface="Arial" pitchFamily="34" charset="0"/>
              <a:buChar char="•"/>
            </a:pPr>
            <a:r>
              <a:rPr lang="en-US" dirty="0" smtClean="0"/>
              <a:t> width</a:t>
            </a:r>
          </a:p>
          <a:p>
            <a:pPr algn="ctr">
              <a:buFont typeface="Arial" pitchFamily="34" charset="0"/>
              <a:buChar char="•"/>
            </a:pPr>
            <a:r>
              <a:rPr lang="en-US" dirty="0" smtClean="0"/>
              <a:t> height</a:t>
            </a:r>
          </a:p>
          <a:p>
            <a:pPr algn="ctr"/>
            <a:endParaRPr lang="en-US" dirty="0" smtClean="0"/>
          </a:p>
          <a:p>
            <a:pPr algn="ctr"/>
            <a:endParaRPr lang="en-US" dirty="0" smtClean="0"/>
          </a:p>
        </p:txBody>
      </p:sp>
      <p:cxnSp>
        <p:nvCxnSpPr>
          <p:cNvPr id="12" name="Straight Arrow Connector 11"/>
          <p:cNvCxnSpPr/>
          <p:nvPr/>
        </p:nvCxnSpPr>
        <p:spPr>
          <a:xfrm flipV="1">
            <a:off x="1295400" y="2057400"/>
            <a:ext cx="1905000" cy="191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4876800" y="1466910"/>
            <a:ext cx="1524000" cy="7428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1524000" y="4667310"/>
            <a:ext cx="1676400" cy="4380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Down Arrow 17"/>
          <p:cNvSpPr/>
          <p:nvPr/>
        </p:nvSpPr>
        <p:spPr>
          <a:xfrm>
            <a:off x="4191000" y="5048310"/>
            <a:ext cx="45719" cy="152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own Arrow 18"/>
          <p:cNvSpPr/>
          <p:nvPr/>
        </p:nvSpPr>
        <p:spPr>
          <a:xfrm>
            <a:off x="5943600" y="5048310"/>
            <a:ext cx="45719" cy="152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6324600" y="3295710"/>
            <a:ext cx="2667000" cy="685800"/>
          </a:xfrm>
          <a:prstGeom prst="rect">
            <a:avLst/>
          </a:prstGeom>
          <a:noFill/>
          <a:ln w="19050" cmpd="sng">
            <a:solidFill>
              <a:schemeClr val="accent4">
                <a:lumMod val="60000"/>
                <a:lumOff val="40000"/>
              </a:schemeClr>
            </a:solidFill>
            <a:miter lim="800000"/>
          </a:ln>
        </p:spPr>
        <p:txBody>
          <a:bodyPr wrap="square" rtlCol="0">
            <a:noAutofit/>
          </a:bodyPr>
          <a:lstStyle/>
          <a:p>
            <a:pPr algn="ctr"/>
            <a:r>
              <a:rPr lang="en-US" dirty="0" smtClean="0"/>
              <a:t>Has three required attributes. </a:t>
            </a:r>
          </a:p>
        </p:txBody>
      </p:sp>
      <p:sp>
        <p:nvSpPr>
          <p:cNvPr id="22" name="TextBox 21"/>
          <p:cNvSpPr txBox="1"/>
          <p:nvPr/>
        </p:nvSpPr>
        <p:spPr>
          <a:xfrm>
            <a:off x="7543800" y="4286310"/>
            <a:ext cx="1371600" cy="1219200"/>
          </a:xfrm>
          <a:prstGeom prst="rect">
            <a:avLst/>
          </a:prstGeom>
          <a:noFill/>
          <a:ln w="19050" cmpd="sng">
            <a:solidFill>
              <a:schemeClr val="accent4">
                <a:lumMod val="60000"/>
                <a:lumOff val="40000"/>
              </a:schemeClr>
            </a:solidFill>
            <a:miter lim="800000"/>
          </a:ln>
        </p:spPr>
        <p:txBody>
          <a:bodyPr wrap="square" rtlCol="0">
            <a:noAutofit/>
          </a:bodyPr>
          <a:lstStyle/>
          <a:p>
            <a:pPr algn="ctr"/>
            <a:r>
              <a:rPr lang="en-US" dirty="0" smtClean="0"/>
              <a:t>-Required-</a:t>
            </a:r>
          </a:p>
          <a:p>
            <a:pPr algn="ctr">
              <a:buFont typeface="Arial" pitchFamily="34" charset="0"/>
              <a:buChar char="•"/>
            </a:pPr>
            <a:r>
              <a:rPr lang="en-US" dirty="0" smtClean="0"/>
              <a:t> </a:t>
            </a:r>
            <a:r>
              <a:rPr lang="en-US" dirty="0" err="1" smtClean="0"/>
              <a:t>url</a:t>
            </a:r>
            <a:endParaRPr lang="en-US" dirty="0" smtClean="0"/>
          </a:p>
          <a:p>
            <a:pPr algn="ctr">
              <a:buFont typeface="Arial" pitchFamily="34" charset="0"/>
              <a:buChar char="•"/>
            </a:pPr>
            <a:r>
              <a:rPr lang="en-US" dirty="0" smtClean="0"/>
              <a:t> length</a:t>
            </a:r>
          </a:p>
          <a:p>
            <a:pPr algn="ctr">
              <a:buFont typeface="Arial" pitchFamily="34" charset="0"/>
              <a:buChar char="•"/>
            </a:pPr>
            <a:r>
              <a:rPr lang="en-US" dirty="0" smtClean="0"/>
              <a:t> type</a:t>
            </a:r>
          </a:p>
          <a:p>
            <a:pPr algn="ctr"/>
            <a:endParaRPr lang="en-US" dirty="0" smtClean="0"/>
          </a:p>
          <a:p>
            <a:pPr algn="ctr"/>
            <a:endParaRPr lang="en-US" dirty="0" smtClean="0"/>
          </a:p>
          <a:p>
            <a:pPr algn="ctr"/>
            <a:endParaRPr lang="en-US" dirty="0" smtClean="0"/>
          </a:p>
        </p:txBody>
      </p:sp>
      <p:sp>
        <p:nvSpPr>
          <p:cNvPr id="23" name="Down Arrow 22"/>
          <p:cNvSpPr/>
          <p:nvPr/>
        </p:nvSpPr>
        <p:spPr>
          <a:xfrm>
            <a:off x="8229600" y="4057710"/>
            <a:ext cx="45719" cy="152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5943600" y="2076510"/>
            <a:ext cx="2667000" cy="914400"/>
          </a:xfrm>
          <a:prstGeom prst="rect">
            <a:avLst/>
          </a:prstGeom>
          <a:noFill/>
          <a:ln w="19050" cmpd="sng">
            <a:solidFill>
              <a:schemeClr val="accent4">
                <a:lumMod val="60000"/>
                <a:lumOff val="40000"/>
              </a:schemeClr>
            </a:solidFill>
            <a:miter lim="800000"/>
          </a:ln>
        </p:spPr>
        <p:txBody>
          <a:bodyPr wrap="square" rtlCol="0">
            <a:noAutofit/>
          </a:bodyPr>
          <a:lstStyle/>
          <a:p>
            <a:pPr algn="ctr"/>
            <a:r>
              <a:rPr lang="en-US" dirty="0" smtClean="0"/>
              <a:t>It has one optional attribute consisting of “domain”. </a:t>
            </a:r>
          </a:p>
          <a:p>
            <a:pPr algn="ctr"/>
            <a:endParaRPr lang="en-US" dirty="0" smtClean="0"/>
          </a:p>
        </p:txBody>
      </p:sp>
      <p:cxnSp>
        <p:nvCxnSpPr>
          <p:cNvPr id="36" name="Straight Arrow Connector 35"/>
          <p:cNvCxnSpPr/>
          <p:nvPr/>
        </p:nvCxnSpPr>
        <p:spPr>
          <a:xfrm flipV="1">
            <a:off x="4953000" y="2459098"/>
            <a:ext cx="914400" cy="555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5029200" y="3048000"/>
            <a:ext cx="12192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76200" y="6604084"/>
            <a:ext cx="3991798" cy="253916"/>
          </a:xfrm>
          <a:prstGeom prst="rect">
            <a:avLst/>
          </a:prstGeom>
          <a:noFill/>
        </p:spPr>
        <p:txBody>
          <a:bodyPr wrap="none" rtlCol="0">
            <a:spAutoFit/>
          </a:bodyPr>
          <a:lstStyle/>
          <a:p>
            <a:r>
              <a:rPr lang="en-US" sz="1050" dirty="0" smtClean="0"/>
              <a:t>Note: Not all required and optional elements or attributes are shown!</a:t>
            </a:r>
            <a:endParaRPr lang="en-US" sz="1050" dirty="0"/>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038600" y="2971800"/>
            <a:ext cx="184731" cy="369332"/>
          </a:xfrm>
          <a:prstGeom prst="rect">
            <a:avLst/>
          </a:prstGeom>
          <a:noFill/>
        </p:spPr>
        <p:txBody>
          <a:bodyPr wrap="none" rtlCol="0">
            <a:spAutoFit/>
          </a:bodyPr>
          <a:lstStyle/>
          <a:p>
            <a:endParaRPr lang="en-US" dirty="0"/>
          </a:p>
        </p:txBody>
      </p:sp>
      <p:sp>
        <p:nvSpPr>
          <p:cNvPr id="9" name="Rectangle 8"/>
          <p:cNvSpPr/>
          <p:nvPr/>
        </p:nvSpPr>
        <p:spPr>
          <a:xfrm>
            <a:off x="381000" y="228600"/>
            <a:ext cx="8534400" cy="6248400"/>
          </a:xfrm>
          <a:prstGeom prst="rect">
            <a:avLst/>
          </a:prstGeom>
        </p:spPr>
        <p:txBody>
          <a:bodyPr>
            <a:normAutofit fontScale="85000" lnSpcReduction="20000"/>
          </a:bodyPr>
          <a:lstStyle/>
          <a:p>
            <a:r>
              <a:rPr lang="en-US" dirty="0" smtClean="0"/>
              <a:t>&lt;?xml version="1.0"?&gt;</a:t>
            </a:r>
          </a:p>
          <a:p>
            <a:r>
              <a:rPr lang="en-US" dirty="0" smtClean="0"/>
              <a:t>&lt;</a:t>
            </a:r>
            <a:r>
              <a:rPr lang="en-US" dirty="0" err="1" smtClean="0"/>
              <a:t>rss</a:t>
            </a:r>
            <a:r>
              <a:rPr lang="en-US" dirty="0" smtClean="0"/>
              <a:t> version="2.0"&gt;</a:t>
            </a:r>
          </a:p>
          <a:p>
            <a:r>
              <a:rPr lang="en-US" dirty="0" smtClean="0"/>
              <a:t>   &lt;channel&gt;</a:t>
            </a:r>
          </a:p>
          <a:p>
            <a:r>
              <a:rPr lang="en-US" dirty="0" smtClean="0"/>
              <a:t>      &lt;title&gt;Liftoff News&lt;/title&gt;</a:t>
            </a:r>
          </a:p>
          <a:p>
            <a:r>
              <a:rPr lang="en-US" dirty="0" smtClean="0"/>
              <a:t>      &lt;link&gt;http://liftoff.msfc.nasa.gov/&lt;/link&gt;</a:t>
            </a:r>
          </a:p>
          <a:p>
            <a:r>
              <a:rPr lang="en-US" dirty="0" smtClean="0"/>
              <a:t>      &lt;description&gt;Liftoff to Space Exploration.&lt;/description&gt;</a:t>
            </a:r>
          </a:p>
          <a:p>
            <a:r>
              <a:rPr lang="en-US" dirty="0" smtClean="0"/>
              <a:t>      &lt;language&gt;en-us&lt;/language&gt;</a:t>
            </a:r>
          </a:p>
          <a:p>
            <a:r>
              <a:rPr lang="en-US" dirty="0" smtClean="0"/>
              <a:t>      &lt;</a:t>
            </a:r>
            <a:r>
              <a:rPr lang="en-US" dirty="0" err="1" smtClean="0"/>
              <a:t>pubDate</a:t>
            </a:r>
            <a:r>
              <a:rPr lang="en-US" dirty="0" smtClean="0"/>
              <a:t>&gt;Tue, 10 Jun 2003 04:00:00 GMT&lt;/</a:t>
            </a:r>
            <a:r>
              <a:rPr lang="en-US" dirty="0" err="1" smtClean="0"/>
              <a:t>pubDate</a:t>
            </a:r>
            <a:r>
              <a:rPr lang="en-US" dirty="0" smtClean="0"/>
              <a:t>&gt;</a:t>
            </a:r>
          </a:p>
          <a:p>
            <a:r>
              <a:rPr lang="en-US" dirty="0" smtClean="0"/>
              <a:t>      &lt;</a:t>
            </a:r>
            <a:r>
              <a:rPr lang="en-US" dirty="0" err="1" smtClean="0"/>
              <a:t>lastBuildDate</a:t>
            </a:r>
            <a:r>
              <a:rPr lang="en-US" dirty="0" smtClean="0"/>
              <a:t>&gt;Tue, 10 Jun 2003 09:41:01 GMT&lt;/</a:t>
            </a:r>
            <a:r>
              <a:rPr lang="en-US" dirty="0" err="1" smtClean="0"/>
              <a:t>lastBuildDate</a:t>
            </a:r>
            <a:r>
              <a:rPr lang="en-US" dirty="0" smtClean="0"/>
              <a:t>&gt;</a:t>
            </a:r>
          </a:p>
          <a:p>
            <a:r>
              <a:rPr lang="en-US" dirty="0" smtClean="0"/>
              <a:t>      &lt;docs&gt;http://blogs.law.harvard.edu/tech/rss&lt;/docs&gt;</a:t>
            </a:r>
          </a:p>
          <a:p>
            <a:r>
              <a:rPr lang="en-US" dirty="0" smtClean="0"/>
              <a:t>      &lt;generator&gt;Weblog Editor 2.0&lt;/generator&gt;</a:t>
            </a:r>
          </a:p>
          <a:p>
            <a:r>
              <a:rPr lang="en-US" dirty="0" smtClean="0"/>
              <a:t>      &lt;</a:t>
            </a:r>
            <a:r>
              <a:rPr lang="en-US" dirty="0" err="1" smtClean="0"/>
              <a:t>managingEditor</a:t>
            </a:r>
            <a:r>
              <a:rPr lang="en-US" dirty="0" smtClean="0"/>
              <a:t>&gt;editor@example.com&lt;/</a:t>
            </a:r>
            <a:r>
              <a:rPr lang="en-US" dirty="0" err="1" smtClean="0"/>
              <a:t>managingEditor</a:t>
            </a:r>
            <a:r>
              <a:rPr lang="en-US" dirty="0" smtClean="0"/>
              <a:t>&gt;</a:t>
            </a:r>
          </a:p>
          <a:p>
            <a:r>
              <a:rPr lang="en-US" dirty="0" smtClean="0"/>
              <a:t>      &lt;</a:t>
            </a:r>
            <a:r>
              <a:rPr lang="en-US" dirty="0" err="1" smtClean="0"/>
              <a:t>webMaster</a:t>
            </a:r>
            <a:r>
              <a:rPr lang="en-US" dirty="0" smtClean="0"/>
              <a:t>&gt;webmaster@example.com&lt;/</a:t>
            </a:r>
            <a:r>
              <a:rPr lang="en-US" dirty="0" err="1" smtClean="0"/>
              <a:t>webMaster</a:t>
            </a:r>
            <a:r>
              <a:rPr lang="en-US" dirty="0" smtClean="0"/>
              <a:t>&gt;</a:t>
            </a:r>
          </a:p>
          <a:p>
            <a:r>
              <a:rPr lang="en-US" dirty="0" smtClean="0"/>
              <a:t>      &lt;item&gt;</a:t>
            </a:r>
          </a:p>
          <a:p>
            <a:r>
              <a:rPr lang="en-US" dirty="0" smtClean="0"/>
              <a:t>         &lt;title&gt;Star City&lt;/title&gt;</a:t>
            </a:r>
          </a:p>
          <a:p>
            <a:r>
              <a:rPr lang="en-US" dirty="0" smtClean="0"/>
              <a:t>         &lt;link&gt;http://liftoff.msfc.nasa.gov/news/2003/news-starcity.asp&lt;/link&gt;</a:t>
            </a:r>
          </a:p>
          <a:p>
            <a:r>
              <a:rPr lang="en-US" dirty="0" smtClean="0"/>
              <a:t>         &lt;description&gt;How do Americans get ready to work with Russians aboard the International </a:t>
            </a:r>
            <a:r>
              <a:rPr lang="en-US" dirty="0" err="1" smtClean="0"/>
              <a:t>Spac</a:t>
            </a:r>
            <a:r>
              <a:rPr lang="en-US" dirty="0" smtClean="0"/>
              <a:t> </a:t>
            </a:r>
          </a:p>
          <a:p>
            <a:r>
              <a:rPr lang="en-US" dirty="0" smtClean="0"/>
              <a:t>	Station? They    take a crash course in culture, language and protocol at Russia's &amp;</a:t>
            </a:r>
            <a:r>
              <a:rPr lang="en-US" dirty="0" err="1" smtClean="0"/>
              <a:t>lt;a</a:t>
            </a:r>
            <a:r>
              <a:rPr lang="en-US" dirty="0" smtClean="0"/>
              <a:t>                                                                           </a:t>
            </a:r>
          </a:p>
          <a:p>
            <a:r>
              <a:rPr lang="en-US" dirty="0" smtClean="0"/>
              <a:t>	</a:t>
            </a:r>
            <a:r>
              <a:rPr lang="en-US" dirty="0" err="1" smtClean="0"/>
              <a:t>href</a:t>
            </a:r>
            <a:r>
              <a:rPr lang="en-US" dirty="0" smtClean="0"/>
              <a:t>="http://howe.iki.rssi.ru/GCTC/gctc_e.htm"&amp;gt;Star </a:t>
            </a:r>
            <a:r>
              <a:rPr lang="en-US" dirty="0" err="1" smtClean="0"/>
              <a:t>City&amp;lt</a:t>
            </a:r>
            <a:r>
              <a:rPr lang="en-US" dirty="0" smtClean="0"/>
              <a:t>;/</a:t>
            </a:r>
            <a:r>
              <a:rPr lang="en-US" dirty="0" err="1" smtClean="0"/>
              <a:t>a&amp;gt</a:t>
            </a:r>
            <a:r>
              <a:rPr lang="en-US" dirty="0" smtClean="0"/>
              <a:t>;.</a:t>
            </a:r>
          </a:p>
          <a:p>
            <a:r>
              <a:rPr lang="en-US" dirty="0" smtClean="0"/>
              <a:t>         &lt;/description&gt;</a:t>
            </a:r>
          </a:p>
          <a:p>
            <a:r>
              <a:rPr lang="en-US" dirty="0" smtClean="0"/>
              <a:t>         &lt;</a:t>
            </a:r>
            <a:r>
              <a:rPr lang="en-US" dirty="0" err="1" smtClean="0"/>
              <a:t>pubDate</a:t>
            </a:r>
            <a:r>
              <a:rPr lang="en-US" dirty="0" smtClean="0"/>
              <a:t>&gt;Tue, 03 Jun 2003 09:39:21 GMT&lt;/</a:t>
            </a:r>
            <a:r>
              <a:rPr lang="en-US" dirty="0" err="1" smtClean="0"/>
              <a:t>pubDate</a:t>
            </a:r>
            <a:r>
              <a:rPr lang="en-US" dirty="0" smtClean="0"/>
              <a:t>&gt;</a:t>
            </a:r>
          </a:p>
          <a:p>
            <a:r>
              <a:rPr lang="en-US" dirty="0" smtClean="0"/>
              <a:t>         &lt;</a:t>
            </a:r>
            <a:r>
              <a:rPr lang="en-US" dirty="0" err="1" smtClean="0"/>
              <a:t>guid</a:t>
            </a:r>
            <a:r>
              <a:rPr lang="en-US" dirty="0" smtClean="0"/>
              <a:t>&gt;http://liftoff.msfc.nasa.gov/2003/06/03.html#item573&lt;/guid&gt;</a:t>
            </a:r>
          </a:p>
          <a:p>
            <a:r>
              <a:rPr lang="en-US" dirty="0" smtClean="0"/>
              <a:t>       &lt;item&gt;</a:t>
            </a:r>
          </a:p>
          <a:p>
            <a:r>
              <a:rPr lang="en-US" dirty="0" smtClean="0"/>
              <a:t>         &lt;title&gt;The Engine That Does More&lt;/title&gt;</a:t>
            </a:r>
          </a:p>
          <a:p>
            <a:r>
              <a:rPr lang="en-US" dirty="0" smtClean="0"/>
              <a:t>         &lt;link&gt;http://liftoff.msfc.nasa.gov/news/2003/news-VASIMR.asp&lt;/link&gt;</a:t>
            </a:r>
          </a:p>
          <a:p>
            <a:r>
              <a:rPr lang="en-US" dirty="0" smtClean="0"/>
              <a:t>         &lt;description&gt;Before man travels to Mars, NASA hopes to design new engines that will let us fly                 </a:t>
            </a:r>
          </a:p>
          <a:p>
            <a:r>
              <a:rPr lang="en-US" dirty="0" smtClean="0"/>
              <a:t>                     through the Solar System more quickly.  The proposed VASIMR engine would do that.</a:t>
            </a:r>
          </a:p>
          <a:p>
            <a:r>
              <a:rPr lang="en-US" dirty="0" smtClean="0"/>
              <a:t>         &lt;/description&gt;</a:t>
            </a:r>
          </a:p>
          <a:p>
            <a:r>
              <a:rPr lang="en-US" dirty="0" smtClean="0"/>
              <a:t>         &lt;</a:t>
            </a:r>
            <a:r>
              <a:rPr lang="en-US" dirty="0" err="1" smtClean="0"/>
              <a:t>pubDate</a:t>
            </a:r>
            <a:r>
              <a:rPr lang="en-US" dirty="0" smtClean="0"/>
              <a:t>&gt;Tue, 27 May 2003 08:37:32 GMT&lt;/</a:t>
            </a:r>
            <a:r>
              <a:rPr lang="en-US" dirty="0" err="1" smtClean="0"/>
              <a:t>pubDate</a:t>
            </a:r>
            <a:r>
              <a:rPr lang="en-US" dirty="0" smtClean="0"/>
              <a:t>&gt;</a:t>
            </a:r>
          </a:p>
          <a:p>
            <a:r>
              <a:rPr lang="en-US" dirty="0" smtClean="0"/>
              <a:t>         &lt;</a:t>
            </a:r>
            <a:r>
              <a:rPr lang="en-US" dirty="0" err="1" smtClean="0"/>
              <a:t>guid</a:t>
            </a:r>
            <a:r>
              <a:rPr lang="en-US" dirty="0" smtClean="0"/>
              <a:t>&gt;http://liftoff.msfc.nasa.gov/2003/05/27.html#item571&lt;/guid&gt;</a:t>
            </a:r>
          </a:p>
          <a:p>
            <a:r>
              <a:rPr lang="en-US" dirty="0" smtClean="0"/>
              <a:t>      &lt;/item&gt;</a:t>
            </a:r>
          </a:p>
          <a:p>
            <a:r>
              <a:rPr lang="en-US" dirty="0" smtClean="0"/>
              <a:t>&lt;/channel&gt;</a:t>
            </a:r>
          </a:p>
          <a:p>
            <a:r>
              <a:rPr lang="en-US" dirty="0" smtClean="0"/>
              <a:t>&lt;/</a:t>
            </a:r>
            <a:r>
              <a:rPr lang="en-US" dirty="0" err="1" smtClean="0"/>
              <a:t>rss</a:t>
            </a:r>
            <a:r>
              <a:rPr lang="en-US" dirty="0" smtClean="0"/>
              <a:t>&gt;</a:t>
            </a:r>
            <a:endParaRPr lang="en-US" dirty="0"/>
          </a:p>
        </p:txBody>
      </p:sp>
      <p:sp>
        <p:nvSpPr>
          <p:cNvPr id="11" name="TextBox 10"/>
          <p:cNvSpPr txBox="1"/>
          <p:nvPr/>
        </p:nvSpPr>
        <p:spPr>
          <a:xfrm>
            <a:off x="3517514" y="300335"/>
            <a:ext cx="2121286" cy="461665"/>
          </a:xfrm>
          <a:prstGeom prst="rect">
            <a:avLst/>
          </a:prstGeom>
          <a:noFill/>
        </p:spPr>
        <p:txBody>
          <a:bodyPr wrap="none" rtlCol="0">
            <a:spAutoFit/>
          </a:bodyPr>
          <a:lstStyle/>
          <a:p>
            <a:r>
              <a:rPr lang="en-US" sz="2400" b="1" dirty="0" smtClean="0"/>
              <a:t>RSS 2.0 Sample</a:t>
            </a:r>
            <a:endParaRPr lang="en-US" sz="2400" b="1" dirty="0"/>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30189"/>
            <a:ext cx="8382000" cy="912811"/>
          </a:xfrm>
        </p:spPr>
        <p:txBody>
          <a:bodyPr>
            <a:normAutofit/>
          </a:bodyPr>
          <a:lstStyle/>
          <a:p>
            <a:r>
              <a:rPr lang="en-US" dirty="0" smtClean="0">
                <a:solidFill>
                  <a:schemeClr val="tx2"/>
                </a:solidFill>
              </a:rPr>
              <a:t>What is ATOM 1.0 ?</a:t>
            </a:r>
            <a:endParaRPr lang="en-US" dirty="0">
              <a:solidFill>
                <a:schemeClr val="tx2"/>
              </a:solidFill>
            </a:endParaRPr>
          </a:p>
        </p:txBody>
      </p:sp>
      <p:sp>
        <p:nvSpPr>
          <p:cNvPr id="3" name="Text Placeholder 2"/>
          <p:cNvSpPr>
            <a:spLocks noGrp="1"/>
          </p:cNvSpPr>
          <p:nvPr>
            <p:ph type="body" sz="quarter" idx="10"/>
          </p:nvPr>
        </p:nvSpPr>
        <p:spPr>
          <a:xfrm>
            <a:off x="381000" y="1143000"/>
            <a:ext cx="8382000" cy="5334000"/>
          </a:xfrm>
        </p:spPr>
        <p:txBody>
          <a:bodyPr>
            <a:normAutofit/>
          </a:bodyPr>
          <a:lstStyle/>
          <a:p>
            <a:endParaRPr lang="en-US" sz="2800" dirty="0" smtClean="0"/>
          </a:p>
          <a:p>
            <a:r>
              <a:rPr lang="en-US" sz="2400" dirty="0" smtClean="0"/>
              <a:t>ATOM – The Atom Syndication Format is the next generation of XML-based file formats, designed to allow information--the contents of web pages, for example--to be syndicated between applications. </a:t>
            </a:r>
          </a:p>
          <a:p>
            <a:endParaRPr lang="en-US" sz="2400" dirty="0" smtClean="0"/>
          </a:p>
          <a:p>
            <a:pPr lvl="1"/>
            <a:endParaRPr lang="en-US" b="1" dirty="0" smtClean="0"/>
          </a:p>
          <a:p>
            <a:pPr lvl="1"/>
            <a:endParaRPr lang="en-US" b="1" dirty="0" smtClean="0"/>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1371600"/>
            <a:ext cx="3200400" cy="4708981"/>
          </a:xfrm>
          <a:prstGeom prst="rect">
            <a:avLst/>
          </a:prstGeom>
          <a:noFill/>
        </p:spPr>
        <p:txBody>
          <a:bodyPr wrap="square" rtlCol="0">
            <a:spAutoFit/>
          </a:bodyPr>
          <a:lstStyle/>
          <a:p>
            <a:pPr marL="231775" indent="-231775">
              <a:buFont typeface="Wingdings" pitchFamily="2" charset="2"/>
              <a:buChar char="Ø"/>
            </a:pPr>
            <a:r>
              <a:rPr lang="en-US" dirty="0" smtClean="0"/>
              <a:t>In Atom, &lt;feed&gt; is used for the root element.  </a:t>
            </a:r>
          </a:p>
          <a:p>
            <a:endParaRPr lang="en-US" sz="1600" dirty="0" smtClean="0"/>
          </a:p>
          <a:p>
            <a:endParaRPr lang="en-US" sz="1600" dirty="0" smtClean="0"/>
          </a:p>
          <a:p>
            <a:endParaRPr lang="en-US" sz="1600" dirty="0" smtClean="0"/>
          </a:p>
          <a:p>
            <a:pPr>
              <a:buFont typeface="Wingdings" pitchFamily="2" charset="2"/>
              <a:buChar char="Ø"/>
            </a:pPr>
            <a:r>
              <a:rPr lang="en-US" dirty="0" smtClean="0"/>
              <a:t> Required &lt;feed&gt; elements:</a:t>
            </a:r>
          </a:p>
          <a:p>
            <a:pPr>
              <a:buFont typeface="Wingdings" pitchFamily="2" charset="2"/>
              <a:buChar char="ü"/>
            </a:pPr>
            <a:endParaRPr lang="en-US" sz="1600" dirty="0" smtClean="0"/>
          </a:p>
          <a:p>
            <a:pPr algn="r">
              <a:buFont typeface="Wingdings" pitchFamily="2" charset="2"/>
              <a:buChar char="ü"/>
            </a:pPr>
            <a:r>
              <a:rPr lang="en-US" dirty="0" smtClean="0"/>
              <a:t>id</a:t>
            </a:r>
          </a:p>
          <a:p>
            <a:pPr algn="r">
              <a:buFont typeface="Wingdings" pitchFamily="2" charset="2"/>
              <a:buChar char="ü"/>
            </a:pPr>
            <a:endParaRPr lang="en-US" sz="1600" dirty="0" smtClean="0"/>
          </a:p>
          <a:p>
            <a:pPr algn="r">
              <a:buFont typeface="Wingdings" pitchFamily="2" charset="2"/>
              <a:buChar char="ü"/>
            </a:pPr>
            <a:endParaRPr lang="en-US" sz="1600" dirty="0" smtClean="0"/>
          </a:p>
          <a:p>
            <a:pPr algn="r">
              <a:buFont typeface="Wingdings" pitchFamily="2" charset="2"/>
              <a:buChar char="ü"/>
            </a:pPr>
            <a:endParaRPr lang="en-US" sz="1600" dirty="0" smtClean="0"/>
          </a:p>
          <a:p>
            <a:pPr algn="r">
              <a:buFont typeface="Wingdings" pitchFamily="2" charset="2"/>
              <a:buChar char="ü"/>
            </a:pPr>
            <a:endParaRPr lang="en-US" sz="1600" dirty="0" smtClean="0"/>
          </a:p>
          <a:p>
            <a:pPr algn="r">
              <a:buFont typeface="Wingdings" pitchFamily="2" charset="2"/>
              <a:buChar char="ü"/>
            </a:pPr>
            <a:r>
              <a:rPr lang="en-US" dirty="0" smtClean="0"/>
              <a:t>title</a:t>
            </a:r>
          </a:p>
          <a:p>
            <a:pPr algn="r"/>
            <a:endParaRPr lang="en-US" sz="1600" dirty="0" smtClean="0"/>
          </a:p>
          <a:p>
            <a:pPr algn="r"/>
            <a:endParaRPr lang="en-US" sz="1600" dirty="0" smtClean="0"/>
          </a:p>
          <a:p>
            <a:pPr algn="r"/>
            <a:endParaRPr lang="en-US" sz="1600" dirty="0" smtClean="0"/>
          </a:p>
          <a:p>
            <a:pPr algn="r">
              <a:buFont typeface="Wingdings" pitchFamily="2" charset="2"/>
              <a:buChar char="ü"/>
            </a:pPr>
            <a:endParaRPr lang="en-US" sz="1600" dirty="0" smtClean="0"/>
          </a:p>
          <a:p>
            <a:pPr algn="r">
              <a:buFont typeface="Wingdings" pitchFamily="2" charset="2"/>
              <a:buChar char="ü"/>
            </a:pPr>
            <a:r>
              <a:rPr lang="en-US" dirty="0" smtClean="0"/>
              <a:t>updated</a:t>
            </a:r>
            <a:endParaRPr lang="en-US" dirty="0"/>
          </a:p>
        </p:txBody>
      </p:sp>
      <p:sp>
        <p:nvSpPr>
          <p:cNvPr id="3" name="Rectangle 2"/>
          <p:cNvSpPr/>
          <p:nvPr/>
        </p:nvSpPr>
        <p:spPr>
          <a:xfrm>
            <a:off x="4114800" y="3175337"/>
            <a:ext cx="4572000" cy="923330"/>
          </a:xfrm>
          <a:prstGeom prst="rect">
            <a:avLst/>
          </a:prstGeom>
        </p:spPr>
        <p:txBody>
          <a:bodyPr>
            <a:spAutoFit/>
          </a:bodyPr>
          <a:lstStyle/>
          <a:p>
            <a:r>
              <a:rPr lang="en-US" dirty="0" smtClean="0"/>
              <a:t>A unique identifier, which can be as simple as the URI of a blog entry or other Web resource represented by an entry.</a:t>
            </a:r>
            <a:endParaRPr lang="en-US" dirty="0"/>
          </a:p>
        </p:txBody>
      </p:sp>
      <p:sp>
        <p:nvSpPr>
          <p:cNvPr id="5" name="Rectangle 4"/>
          <p:cNvSpPr/>
          <p:nvPr/>
        </p:nvSpPr>
        <p:spPr>
          <a:xfrm>
            <a:off x="4114800" y="5689937"/>
            <a:ext cx="4572000" cy="923330"/>
          </a:xfrm>
          <a:prstGeom prst="rect">
            <a:avLst/>
          </a:prstGeom>
        </p:spPr>
        <p:txBody>
          <a:bodyPr>
            <a:spAutoFit/>
          </a:bodyPr>
          <a:lstStyle/>
          <a:p>
            <a:r>
              <a:rPr lang="en-US" dirty="0" smtClean="0"/>
              <a:t>A timestamp which indicates when the last update occurred. </a:t>
            </a:r>
          </a:p>
          <a:p>
            <a:r>
              <a:rPr lang="en-US" dirty="0" smtClean="0"/>
              <a:t>(Must conform to RFC 3339)</a:t>
            </a:r>
          </a:p>
        </p:txBody>
      </p:sp>
      <p:sp>
        <p:nvSpPr>
          <p:cNvPr id="6" name="TextBox 5"/>
          <p:cNvSpPr txBox="1"/>
          <p:nvPr/>
        </p:nvSpPr>
        <p:spPr>
          <a:xfrm>
            <a:off x="4031939" y="300335"/>
            <a:ext cx="997261" cy="523220"/>
          </a:xfrm>
          <a:prstGeom prst="rect">
            <a:avLst/>
          </a:prstGeom>
          <a:noFill/>
        </p:spPr>
        <p:txBody>
          <a:bodyPr wrap="none" rtlCol="0">
            <a:spAutoFit/>
          </a:bodyPr>
          <a:lstStyle/>
          <a:p>
            <a:r>
              <a:rPr lang="en-US" sz="2800" b="1" dirty="0" smtClean="0"/>
              <a:t>Atom</a:t>
            </a:r>
            <a:endParaRPr lang="en-US" sz="2800" b="1" dirty="0"/>
          </a:p>
        </p:txBody>
      </p:sp>
      <p:sp>
        <p:nvSpPr>
          <p:cNvPr id="7" name="Rectangle 6"/>
          <p:cNvSpPr/>
          <p:nvPr/>
        </p:nvSpPr>
        <p:spPr>
          <a:xfrm>
            <a:off x="4114800" y="4431268"/>
            <a:ext cx="4572000" cy="923330"/>
          </a:xfrm>
          <a:prstGeom prst="rect">
            <a:avLst/>
          </a:prstGeom>
        </p:spPr>
        <p:txBody>
          <a:bodyPr>
            <a:spAutoFit/>
          </a:bodyPr>
          <a:lstStyle/>
          <a:p>
            <a:r>
              <a:rPr lang="en-US" dirty="0" smtClean="0"/>
              <a:t>Contains a human readable title for the feed. Often the same as the title of the associated website.</a:t>
            </a:r>
            <a:endParaRPr lang="en-US" dirty="0"/>
          </a:p>
        </p:txBody>
      </p:sp>
      <p:sp>
        <p:nvSpPr>
          <p:cNvPr id="8" name="TextBox 7"/>
          <p:cNvSpPr txBox="1"/>
          <p:nvPr/>
        </p:nvSpPr>
        <p:spPr>
          <a:xfrm>
            <a:off x="3733800" y="864275"/>
            <a:ext cx="5257800" cy="2031325"/>
          </a:xfrm>
          <a:prstGeom prst="rect">
            <a:avLst/>
          </a:prstGeom>
          <a:noFill/>
          <a:ln w="6350">
            <a:solidFill>
              <a:schemeClr val="accent1"/>
            </a:solidFill>
          </a:ln>
        </p:spPr>
        <p:txBody>
          <a:bodyPr wrap="square" rtlCol="0">
            <a:spAutoFit/>
          </a:bodyPr>
          <a:lstStyle/>
          <a:p>
            <a:r>
              <a:rPr lang="en-US" dirty="0" smtClean="0"/>
              <a:t>General considerations:</a:t>
            </a:r>
          </a:p>
          <a:p>
            <a:pPr marL="115888" indent="-115888">
              <a:buFont typeface="Arial" pitchFamily="34" charset="0"/>
              <a:buChar char="•"/>
            </a:pPr>
            <a:r>
              <a:rPr lang="en-US" dirty="0" smtClean="0"/>
              <a:t>All elements described in Atom must be in the </a:t>
            </a:r>
            <a:r>
              <a:rPr lang="en-US" dirty="0" smtClean="0">
                <a:hlinkClick r:id="rId3"/>
              </a:rPr>
              <a:t>http://www.w3.org/2005/Atom</a:t>
            </a:r>
            <a:r>
              <a:rPr lang="en-US" dirty="0" smtClean="0"/>
              <a:t> namespace.</a:t>
            </a:r>
          </a:p>
          <a:p>
            <a:pPr marL="115888" indent="-115888">
              <a:buFont typeface="Arial" pitchFamily="34" charset="0"/>
              <a:buChar char="•"/>
            </a:pPr>
            <a:r>
              <a:rPr lang="en-US" dirty="0" err="1" smtClean="0">
                <a:hlinkClick r:id="rId4"/>
              </a:rPr>
              <a:t>xml:lang</a:t>
            </a:r>
            <a:r>
              <a:rPr lang="en-US" dirty="0" smtClean="0"/>
              <a:t> may be used to identify the language of any human readable text.</a:t>
            </a:r>
          </a:p>
          <a:p>
            <a:pPr marL="115888" indent="-115888">
              <a:buFont typeface="Arial" pitchFamily="34" charset="0"/>
              <a:buChar char="•"/>
            </a:pPr>
            <a:r>
              <a:rPr lang="en-US" dirty="0" err="1" smtClean="0">
                <a:hlinkClick r:id="rId5"/>
              </a:rPr>
              <a:t>xml:base</a:t>
            </a:r>
            <a:r>
              <a:rPr lang="en-US" dirty="0" smtClean="0"/>
              <a:t> may be used to control how relative URIs are resolved.</a:t>
            </a:r>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48510" y="300335"/>
            <a:ext cx="997261" cy="523220"/>
          </a:xfrm>
          <a:prstGeom prst="rect">
            <a:avLst/>
          </a:prstGeom>
          <a:noFill/>
        </p:spPr>
        <p:txBody>
          <a:bodyPr wrap="none" rtlCol="0">
            <a:spAutoFit/>
          </a:bodyPr>
          <a:lstStyle/>
          <a:p>
            <a:r>
              <a:rPr lang="en-US" sz="2800" b="1" dirty="0" smtClean="0"/>
              <a:t>Atom</a:t>
            </a:r>
            <a:endParaRPr lang="en-US" sz="2800" b="1" dirty="0"/>
          </a:p>
        </p:txBody>
      </p:sp>
      <p:sp>
        <p:nvSpPr>
          <p:cNvPr id="9" name="TextBox 8"/>
          <p:cNvSpPr txBox="1"/>
          <p:nvPr/>
        </p:nvSpPr>
        <p:spPr>
          <a:xfrm>
            <a:off x="914086" y="1238310"/>
            <a:ext cx="1371914" cy="4401205"/>
          </a:xfrm>
          <a:prstGeom prst="rect">
            <a:avLst/>
          </a:prstGeom>
          <a:noFill/>
        </p:spPr>
        <p:txBody>
          <a:bodyPr wrap="none" rtlCol="0">
            <a:spAutoFit/>
          </a:bodyPr>
          <a:lstStyle/>
          <a:p>
            <a:r>
              <a:rPr lang="en-US" sz="2000" dirty="0" smtClean="0"/>
              <a:t>category</a:t>
            </a:r>
          </a:p>
          <a:p>
            <a:r>
              <a:rPr lang="en-US" sz="2000" dirty="0" smtClean="0"/>
              <a:t>contributor</a:t>
            </a:r>
          </a:p>
          <a:p>
            <a:r>
              <a:rPr lang="en-US" sz="2000" dirty="0" smtClean="0"/>
              <a:t>entry</a:t>
            </a:r>
          </a:p>
          <a:p>
            <a:r>
              <a:rPr lang="en-US" sz="2000" dirty="0" smtClean="0"/>
              <a:t>published</a:t>
            </a:r>
          </a:p>
          <a:p>
            <a:r>
              <a:rPr lang="en-US" sz="2000" dirty="0" smtClean="0"/>
              <a:t>contributor</a:t>
            </a:r>
          </a:p>
          <a:p>
            <a:r>
              <a:rPr lang="en-US" sz="2000" dirty="0" smtClean="0"/>
              <a:t>generator</a:t>
            </a:r>
          </a:p>
          <a:p>
            <a:r>
              <a:rPr lang="en-US" sz="2000" dirty="0" smtClean="0"/>
              <a:t>icon</a:t>
            </a:r>
          </a:p>
          <a:p>
            <a:r>
              <a:rPr lang="en-US" sz="2000" dirty="0" smtClean="0"/>
              <a:t>logo</a:t>
            </a:r>
          </a:p>
          <a:p>
            <a:r>
              <a:rPr lang="en-US" sz="2000" dirty="0" smtClean="0"/>
              <a:t>source</a:t>
            </a:r>
          </a:p>
          <a:p>
            <a:r>
              <a:rPr lang="en-US" sz="2000" dirty="0" smtClean="0"/>
              <a:t>rights</a:t>
            </a:r>
          </a:p>
          <a:p>
            <a:r>
              <a:rPr lang="en-US" sz="2000" dirty="0" smtClean="0"/>
              <a:t>subtitle</a:t>
            </a:r>
          </a:p>
          <a:p>
            <a:r>
              <a:rPr lang="en-US" sz="2000" dirty="0" smtClean="0"/>
              <a:t>author</a:t>
            </a:r>
          </a:p>
          <a:p>
            <a:r>
              <a:rPr lang="en-US" sz="2000" dirty="0" smtClean="0"/>
              <a:t>link</a:t>
            </a:r>
          </a:p>
          <a:p>
            <a:endParaRPr lang="en-US" sz="2000" dirty="0" smtClean="0"/>
          </a:p>
        </p:txBody>
      </p:sp>
      <p:sp>
        <p:nvSpPr>
          <p:cNvPr id="10" name="TextBox 9"/>
          <p:cNvSpPr txBox="1"/>
          <p:nvPr/>
        </p:nvSpPr>
        <p:spPr>
          <a:xfrm>
            <a:off x="381000" y="838200"/>
            <a:ext cx="2887009" cy="400110"/>
          </a:xfrm>
          <a:prstGeom prst="rect">
            <a:avLst/>
          </a:prstGeom>
          <a:noFill/>
        </p:spPr>
        <p:txBody>
          <a:bodyPr wrap="none" rtlCol="0">
            <a:spAutoFit/>
          </a:bodyPr>
          <a:lstStyle/>
          <a:p>
            <a:r>
              <a:rPr lang="en-US" sz="2000" u="sng" dirty="0" smtClean="0"/>
              <a:t>Optional &lt;feed&gt; Elements</a:t>
            </a:r>
            <a:endParaRPr lang="en-US" sz="2000" u="sng" dirty="0"/>
          </a:p>
        </p:txBody>
      </p:sp>
      <p:cxnSp>
        <p:nvCxnSpPr>
          <p:cNvPr id="13" name="Straight Arrow Connector 12"/>
          <p:cNvCxnSpPr/>
          <p:nvPr/>
        </p:nvCxnSpPr>
        <p:spPr>
          <a:xfrm flipV="1">
            <a:off x="1676400" y="1524000"/>
            <a:ext cx="2667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76200" y="6604084"/>
            <a:ext cx="3991798" cy="253916"/>
          </a:xfrm>
          <a:prstGeom prst="rect">
            <a:avLst/>
          </a:prstGeom>
          <a:noFill/>
        </p:spPr>
        <p:txBody>
          <a:bodyPr wrap="none" rtlCol="0">
            <a:spAutoFit/>
          </a:bodyPr>
          <a:lstStyle/>
          <a:p>
            <a:r>
              <a:rPr lang="en-US" sz="1050" dirty="0" smtClean="0"/>
              <a:t>Note: Not all required and optional elements or attributes are shown!</a:t>
            </a:r>
            <a:endParaRPr lang="en-US" sz="1050" dirty="0"/>
          </a:p>
        </p:txBody>
      </p:sp>
      <p:sp>
        <p:nvSpPr>
          <p:cNvPr id="16" name="TextBox 15"/>
          <p:cNvSpPr txBox="1"/>
          <p:nvPr/>
        </p:nvSpPr>
        <p:spPr>
          <a:xfrm>
            <a:off x="4495800" y="1219200"/>
            <a:ext cx="3581400" cy="685800"/>
          </a:xfrm>
          <a:prstGeom prst="rect">
            <a:avLst/>
          </a:prstGeom>
          <a:noFill/>
          <a:ln w="19050" cmpd="sng">
            <a:solidFill>
              <a:schemeClr val="accent4">
                <a:lumMod val="60000"/>
                <a:lumOff val="40000"/>
              </a:schemeClr>
            </a:solidFill>
            <a:miter lim="800000"/>
          </a:ln>
        </p:spPr>
        <p:txBody>
          <a:bodyPr wrap="square" rtlCol="0">
            <a:noAutofit/>
          </a:bodyPr>
          <a:lstStyle/>
          <a:p>
            <a:pPr algn="ctr"/>
            <a:r>
              <a:rPr lang="en-US" dirty="0" smtClean="0"/>
              <a:t>Has three required elements, along with optional ones.</a:t>
            </a:r>
          </a:p>
          <a:p>
            <a:pPr algn="ctr"/>
            <a:endParaRPr lang="en-US" dirty="0" smtClean="0"/>
          </a:p>
          <a:p>
            <a:pPr algn="ctr"/>
            <a:endParaRPr lang="en-US" dirty="0" smtClean="0"/>
          </a:p>
          <a:p>
            <a:pPr algn="ctr"/>
            <a:endParaRPr lang="en-US" dirty="0" smtClean="0"/>
          </a:p>
        </p:txBody>
      </p:sp>
      <p:sp>
        <p:nvSpPr>
          <p:cNvPr id="17" name="TextBox 16"/>
          <p:cNvSpPr txBox="1"/>
          <p:nvPr/>
        </p:nvSpPr>
        <p:spPr>
          <a:xfrm>
            <a:off x="4648200" y="2209800"/>
            <a:ext cx="1371600" cy="1219200"/>
          </a:xfrm>
          <a:prstGeom prst="rect">
            <a:avLst/>
          </a:prstGeom>
          <a:noFill/>
          <a:ln w="19050" cmpd="sng">
            <a:solidFill>
              <a:schemeClr val="accent4">
                <a:lumMod val="60000"/>
                <a:lumOff val="40000"/>
              </a:schemeClr>
            </a:solidFill>
            <a:miter lim="800000"/>
          </a:ln>
        </p:spPr>
        <p:txBody>
          <a:bodyPr wrap="square" rtlCol="0">
            <a:noAutofit/>
          </a:bodyPr>
          <a:lstStyle/>
          <a:p>
            <a:pPr algn="ctr"/>
            <a:r>
              <a:rPr lang="en-US" dirty="0" smtClean="0"/>
              <a:t>-Required-</a:t>
            </a:r>
          </a:p>
          <a:p>
            <a:pPr algn="ctr">
              <a:buFont typeface="Arial" pitchFamily="34" charset="0"/>
              <a:buChar char="•"/>
            </a:pPr>
            <a:r>
              <a:rPr lang="en-US" dirty="0" smtClean="0"/>
              <a:t> id</a:t>
            </a:r>
          </a:p>
          <a:p>
            <a:pPr algn="ctr">
              <a:buFont typeface="Arial" pitchFamily="34" charset="0"/>
              <a:buChar char="•"/>
            </a:pPr>
            <a:r>
              <a:rPr lang="en-US" dirty="0" smtClean="0"/>
              <a:t> title</a:t>
            </a:r>
          </a:p>
          <a:p>
            <a:pPr algn="ctr">
              <a:buFont typeface="Arial" pitchFamily="34" charset="0"/>
              <a:buChar char="•"/>
            </a:pPr>
            <a:r>
              <a:rPr lang="en-US" dirty="0" smtClean="0"/>
              <a:t> update</a:t>
            </a:r>
          </a:p>
          <a:p>
            <a:pPr algn="ctr"/>
            <a:endParaRPr lang="en-US" dirty="0" smtClean="0"/>
          </a:p>
          <a:p>
            <a:pPr algn="ctr"/>
            <a:endParaRPr lang="en-US" dirty="0" smtClean="0"/>
          </a:p>
          <a:p>
            <a:pPr algn="ctr"/>
            <a:endParaRPr lang="en-US" dirty="0" smtClean="0"/>
          </a:p>
        </p:txBody>
      </p:sp>
      <p:sp>
        <p:nvSpPr>
          <p:cNvPr id="18" name="TextBox 17"/>
          <p:cNvSpPr txBox="1"/>
          <p:nvPr/>
        </p:nvSpPr>
        <p:spPr>
          <a:xfrm>
            <a:off x="6781800" y="2209800"/>
            <a:ext cx="1371600" cy="2895600"/>
          </a:xfrm>
          <a:prstGeom prst="rect">
            <a:avLst/>
          </a:prstGeom>
          <a:noFill/>
          <a:ln w="19050" cmpd="sng">
            <a:solidFill>
              <a:schemeClr val="accent4">
                <a:lumMod val="60000"/>
                <a:lumOff val="40000"/>
              </a:schemeClr>
            </a:solidFill>
            <a:miter lim="800000"/>
          </a:ln>
        </p:spPr>
        <p:txBody>
          <a:bodyPr wrap="square" rtlCol="0">
            <a:noAutofit/>
          </a:bodyPr>
          <a:lstStyle/>
          <a:p>
            <a:pPr algn="ctr"/>
            <a:r>
              <a:rPr lang="en-US" dirty="0" smtClean="0"/>
              <a:t>-Optional-</a:t>
            </a:r>
          </a:p>
          <a:p>
            <a:pPr algn="ctr">
              <a:buFont typeface="Arial" pitchFamily="34" charset="0"/>
              <a:buChar char="•"/>
            </a:pPr>
            <a:r>
              <a:rPr lang="en-US" dirty="0" smtClean="0"/>
              <a:t> author</a:t>
            </a:r>
          </a:p>
          <a:p>
            <a:pPr algn="ctr">
              <a:buFont typeface="Arial" pitchFamily="34" charset="0"/>
              <a:buChar char="•"/>
            </a:pPr>
            <a:r>
              <a:rPr lang="en-US" dirty="0" smtClean="0"/>
              <a:t> content</a:t>
            </a:r>
          </a:p>
          <a:p>
            <a:pPr algn="ctr">
              <a:buFont typeface="Arial" pitchFamily="34" charset="0"/>
              <a:buChar char="•"/>
            </a:pPr>
            <a:r>
              <a:rPr lang="en-US" dirty="0" smtClean="0"/>
              <a:t>link</a:t>
            </a:r>
          </a:p>
          <a:p>
            <a:pPr algn="ctr">
              <a:buFont typeface="Arial" pitchFamily="34" charset="0"/>
              <a:buChar char="•"/>
            </a:pPr>
            <a:r>
              <a:rPr lang="en-US" dirty="0" smtClean="0"/>
              <a:t>summary</a:t>
            </a:r>
          </a:p>
          <a:p>
            <a:pPr algn="ctr">
              <a:buFont typeface="Arial" pitchFamily="34" charset="0"/>
              <a:buChar char="•"/>
            </a:pPr>
            <a:r>
              <a:rPr lang="en-US" dirty="0" smtClean="0"/>
              <a:t>category</a:t>
            </a:r>
          </a:p>
          <a:p>
            <a:pPr algn="ctr">
              <a:buFont typeface="Arial" pitchFamily="34" charset="0"/>
              <a:buChar char="•"/>
            </a:pPr>
            <a:r>
              <a:rPr lang="en-US" dirty="0" smtClean="0"/>
              <a:t>contributor</a:t>
            </a:r>
          </a:p>
          <a:p>
            <a:pPr algn="ctr">
              <a:buFont typeface="Arial" pitchFamily="34" charset="0"/>
              <a:buChar char="•"/>
            </a:pPr>
            <a:r>
              <a:rPr lang="en-US" dirty="0" smtClean="0"/>
              <a:t>published</a:t>
            </a:r>
          </a:p>
          <a:p>
            <a:pPr algn="ctr">
              <a:buFont typeface="Arial" pitchFamily="34" charset="0"/>
              <a:buChar char="•"/>
            </a:pPr>
            <a:r>
              <a:rPr lang="en-US" dirty="0" smtClean="0"/>
              <a:t>source</a:t>
            </a:r>
          </a:p>
          <a:p>
            <a:pPr algn="ctr">
              <a:buFont typeface="Arial" pitchFamily="34" charset="0"/>
              <a:buChar char="•"/>
            </a:pPr>
            <a:r>
              <a:rPr lang="en-US" dirty="0" smtClean="0"/>
              <a:t>rights</a:t>
            </a:r>
          </a:p>
          <a:p>
            <a:pPr algn="ctr"/>
            <a:endParaRPr lang="en-US" dirty="0" smtClean="0"/>
          </a:p>
          <a:p>
            <a:pPr algn="ctr"/>
            <a:endParaRPr lang="en-US" dirty="0" smtClean="0"/>
          </a:p>
        </p:txBody>
      </p:sp>
      <p:sp>
        <p:nvSpPr>
          <p:cNvPr id="19" name="Down Arrow 18"/>
          <p:cNvSpPr/>
          <p:nvPr/>
        </p:nvSpPr>
        <p:spPr>
          <a:xfrm>
            <a:off x="5334000" y="1981200"/>
            <a:ext cx="45719" cy="152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p:cNvSpPr/>
          <p:nvPr/>
        </p:nvSpPr>
        <p:spPr>
          <a:xfrm>
            <a:off x="7391400" y="1981200"/>
            <a:ext cx="45719" cy="152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2895600" y="4572000"/>
            <a:ext cx="3581400" cy="685800"/>
          </a:xfrm>
          <a:prstGeom prst="rect">
            <a:avLst/>
          </a:prstGeom>
          <a:noFill/>
          <a:ln w="19050" cmpd="sng">
            <a:solidFill>
              <a:schemeClr val="accent4">
                <a:lumMod val="60000"/>
                <a:lumOff val="40000"/>
              </a:schemeClr>
            </a:solidFill>
            <a:miter lim="800000"/>
          </a:ln>
        </p:spPr>
        <p:txBody>
          <a:bodyPr wrap="square" rtlCol="0">
            <a:noAutofit/>
          </a:bodyPr>
          <a:lstStyle/>
          <a:p>
            <a:pPr algn="ctr"/>
            <a:r>
              <a:rPr lang="en-US" dirty="0" smtClean="0"/>
              <a:t>Has the required element &lt;name&gt;, along with two optional ones.</a:t>
            </a:r>
          </a:p>
          <a:p>
            <a:pPr algn="ctr"/>
            <a:endParaRPr lang="en-US" dirty="0" smtClean="0"/>
          </a:p>
          <a:p>
            <a:pPr algn="ctr"/>
            <a:endParaRPr lang="en-US" dirty="0" smtClean="0"/>
          </a:p>
          <a:p>
            <a:pPr algn="ctr"/>
            <a:endParaRPr lang="en-US" dirty="0" smtClean="0"/>
          </a:p>
        </p:txBody>
      </p:sp>
      <p:sp>
        <p:nvSpPr>
          <p:cNvPr id="23" name="TextBox 22"/>
          <p:cNvSpPr txBox="1"/>
          <p:nvPr/>
        </p:nvSpPr>
        <p:spPr>
          <a:xfrm>
            <a:off x="3962400" y="5638800"/>
            <a:ext cx="1371600" cy="914400"/>
          </a:xfrm>
          <a:prstGeom prst="rect">
            <a:avLst/>
          </a:prstGeom>
          <a:noFill/>
          <a:ln w="19050" cmpd="sng">
            <a:solidFill>
              <a:schemeClr val="accent4">
                <a:lumMod val="60000"/>
                <a:lumOff val="40000"/>
              </a:schemeClr>
            </a:solidFill>
            <a:miter lim="800000"/>
          </a:ln>
        </p:spPr>
        <p:txBody>
          <a:bodyPr wrap="square" rtlCol="0">
            <a:noAutofit/>
          </a:bodyPr>
          <a:lstStyle/>
          <a:p>
            <a:pPr algn="ctr"/>
            <a:r>
              <a:rPr lang="en-US" dirty="0" smtClean="0"/>
              <a:t>-Optional-</a:t>
            </a:r>
          </a:p>
          <a:p>
            <a:pPr algn="ctr">
              <a:buFont typeface="Arial" pitchFamily="34" charset="0"/>
              <a:buChar char="•"/>
            </a:pPr>
            <a:r>
              <a:rPr lang="en-US" dirty="0" smtClean="0"/>
              <a:t> </a:t>
            </a:r>
            <a:r>
              <a:rPr lang="en-US" dirty="0" err="1" smtClean="0"/>
              <a:t>uri</a:t>
            </a:r>
            <a:endParaRPr lang="en-US" dirty="0" smtClean="0"/>
          </a:p>
          <a:p>
            <a:pPr algn="ctr">
              <a:buFont typeface="Arial" pitchFamily="34" charset="0"/>
              <a:buChar char="•"/>
            </a:pPr>
            <a:r>
              <a:rPr lang="en-US" dirty="0" smtClean="0"/>
              <a:t> email</a:t>
            </a:r>
          </a:p>
          <a:p>
            <a:pPr algn="ctr"/>
            <a:endParaRPr lang="en-US" dirty="0" smtClean="0"/>
          </a:p>
          <a:p>
            <a:pPr algn="ctr"/>
            <a:endParaRPr lang="en-US" dirty="0" smtClean="0"/>
          </a:p>
        </p:txBody>
      </p:sp>
      <p:sp>
        <p:nvSpPr>
          <p:cNvPr id="24" name="Down Arrow 23"/>
          <p:cNvSpPr/>
          <p:nvPr/>
        </p:nvSpPr>
        <p:spPr>
          <a:xfrm>
            <a:off x="4648200" y="5410200"/>
            <a:ext cx="45719" cy="152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p:cNvCxnSpPr/>
          <p:nvPr/>
        </p:nvCxnSpPr>
        <p:spPr>
          <a:xfrm>
            <a:off x="1752600" y="4800600"/>
            <a:ext cx="1066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rot="5400000">
            <a:off x="4839494" y="2856706"/>
            <a:ext cx="1751012" cy="1371600"/>
          </a:xfrm>
          <a:prstGeom prst="bentConnector3">
            <a:avLst>
              <a:gd name="adj1" fmla="val 6322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6400800" y="2667000"/>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09600" y="609600"/>
            <a:ext cx="8153400" cy="6019800"/>
          </a:xfrm>
          <a:prstGeom prst="rect">
            <a:avLst/>
          </a:prstGeom>
          <a:noFill/>
        </p:spPr>
        <p:txBody>
          <a:bodyPr wrap="square" rtlCol="0">
            <a:normAutofit fontScale="70000" lnSpcReduction="20000"/>
          </a:bodyPr>
          <a:lstStyle/>
          <a:p>
            <a:r>
              <a:rPr lang="en-US" dirty="0" smtClean="0"/>
              <a:t>&lt;?xml version="1.0"?&gt;</a:t>
            </a:r>
          </a:p>
          <a:p>
            <a:endParaRPr lang="en-US" dirty="0" smtClean="0"/>
          </a:p>
          <a:p>
            <a:r>
              <a:rPr lang="en-US" dirty="0" smtClean="0"/>
              <a:t>&lt;feed xmlns="http://www.w3.org/2005/Atom"&gt;</a:t>
            </a:r>
          </a:p>
          <a:p>
            <a:r>
              <a:rPr lang="en-US" dirty="0" smtClean="0"/>
              <a:t>   &lt;link rel="self" href="http://example.org/blog/index.atom"/&gt;</a:t>
            </a:r>
          </a:p>
          <a:p>
            <a:r>
              <a:rPr lang="en-US" dirty="0" smtClean="0"/>
              <a:t>   &lt;id&gt;http://example.org/blog/index.atom&lt;/id&gt;</a:t>
            </a:r>
          </a:p>
          <a:p>
            <a:r>
              <a:rPr lang="en-US" dirty="0" smtClean="0"/>
              <a:t>   &lt;icon&gt;../favicon.ico&lt;/icon&gt;</a:t>
            </a:r>
          </a:p>
          <a:p>
            <a:r>
              <a:rPr lang="en-US" dirty="0" smtClean="0"/>
              <a:t>   &lt;title&gt;An Atom Sampler&lt;/title&gt;</a:t>
            </a:r>
          </a:p>
          <a:p>
            <a:r>
              <a:rPr lang="en-US" dirty="0" smtClean="0"/>
              <a:t>   &lt;subtitle&gt;No Splitting&lt;/subtitle&gt;</a:t>
            </a:r>
          </a:p>
          <a:p>
            <a:r>
              <a:rPr lang="en-US" dirty="0" smtClean="0"/>
              <a:t>   &lt;author&gt;</a:t>
            </a:r>
          </a:p>
          <a:p>
            <a:r>
              <a:rPr lang="en-US" dirty="0" smtClean="0"/>
              <a:t>      &lt;name&gt;Ernie Rutherford &lt;/name&gt;</a:t>
            </a:r>
          </a:p>
          <a:p>
            <a:r>
              <a:rPr lang="en-US" dirty="0" smtClean="0"/>
              <a:t>      &lt;email&gt;ernie@example.org&lt;/email&gt;</a:t>
            </a:r>
          </a:p>
          <a:p>
            <a:r>
              <a:rPr lang="en-US" dirty="0" smtClean="0"/>
              <a:t>      &lt;uri&gt;.&lt;/uri&gt;</a:t>
            </a:r>
          </a:p>
          <a:p>
            <a:r>
              <a:rPr lang="en-US" dirty="0" smtClean="0"/>
              <a:t>   &lt;/author&gt;</a:t>
            </a:r>
          </a:p>
          <a:p>
            <a:r>
              <a:rPr lang="en-US" dirty="0" smtClean="0"/>
              <a:t>   &lt;updated&gt;2006-10-25T03:38:08-04:00&lt;/updated&gt;</a:t>
            </a:r>
          </a:p>
          <a:p>
            <a:r>
              <a:rPr lang="en-US" dirty="0" smtClean="0"/>
              <a:t>   &lt;link href="."/&gt;</a:t>
            </a:r>
          </a:p>
          <a:p>
            <a:r>
              <a:rPr lang="en-US" dirty="0" smtClean="0"/>
              <a:t>   &lt;entry&gt;</a:t>
            </a:r>
          </a:p>
          <a:p>
            <a:r>
              <a:rPr lang="en-US" dirty="0" smtClean="0"/>
              <a:t>      &lt;id&gt;tag:example.org,2004:2417&lt;/id&gt;</a:t>
            </a:r>
          </a:p>
          <a:p>
            <a:r>
              <a:rPr lang="en-US" dirty="0" smtClean="0"/>
              <a:t>      &lt;link href="2006/10/23/moonshine"/&gt;</a:t>
            </a:r>
          </a:p>
          <a:p>
            <a:r>
              <a:rPr lang="en-US" dirty="0" smtClean="0"/>
              <a:t>      &lt;title&gt;Moonshine&lt;/title&gt;</a:t>
            </a:r>
          </a:p>
          <a:p>
            <a:r>
              <a:rPr lang="en-US" dirty="0" smtClean="0"/>
              <a:t>      &lt;content type="text"&gt;</a:t>
            </a:r>
          </a:p>
          <a:p>
            <a:r>
              <a:rPr lang="en-US" dirty="0" smtClean="0"/>
              <a:t>           Anyone who expects a source of power from the transformation of the atom is talking moonshine.</a:t>
            </a:r>
          </a:p>
          <a:p>
            <a:r>
              <a:rPr lang="en-US" dirty="0" smtClean="0"/>
              <a:t>      &lt;/content&gt;</a:t>
            </a:r>
          </a:p>
          <a:p>
            <a:r>
              <a:rPr lang="en-US" dirty="0" smtClean="0"/>
              <a:t>      &lt;published&gt;2006-10-23T15:33:00-04:00&lt;/published&gt;</a:t>
            </a:r>
          </a:p>
          <a:p>
            <a:r>
              <a:rPr lang="en-US" dirty="0" smtClean="0"/>
              <a:t>      &lt;updated&gt;2006-10-23T15:47:31-04:00&lt;/updated&gt;</a:t>
            </a:r>
          </a:p>
          <a:p>
            <a:r>
              <a:rPr lang="en-US" dirty="0" smtClean="0"/>
              <a:t>   &lt;/entry&gt;</a:t>
            </a:r>
          </a:p>
          <a:p>
            <a:r>
              <a:rPr lang="en-US" dirty="0" smtClean="0"/>
              <a:t>   &lt;entry&gt;</a:t>
            </a:r>
          </a:p>
          <a:p>
            <a:r>
              <a:rPr lang="en-US" dirty="0" smtClean="0"/>
              <a:t>      &lt;id&gt;&gt;tag:example.org,2004:2416&lt;/id&gt;</a:t>
            </a:r>
          </a:p>
          <a:p>
            <a:r>
              <a:rPr lang="en-US" dirty="0" smtClean="0"/>
              <a:t>      &lt;link href="2006/10/21/think"/&gt;</a:t>
            </a:r>
          </a:p>
          <a:p>
            <a:r>
              <a:rPr lang="en-US" dirty="0" smtClean="0"/>
              <a:t>      &lt;title type="html"&gt;&amp;lt;strong&amp;gt;Think!&amp;lt;/strong&amp;gt;&lt;/title&gt;</a:t>
            </a:r>
          </a:p>
          <a:p>
            <a:r>
              <a:rPr lang="en-US" dirty="0" smtClean="0"/>
              <a:t>      &lt;content type="xhtml"&gt;</a:t>
            </a:r>
          </a:p>
          <a:p>
            <a:r>
              <a:rPr lang="en-US" dirty="0" smtClean="0"/>
              <a:t>         &lt;div xmlns="http://www.w3.org/1999/xhtml"&gt;</a:t>
            </a:r>
          </a:p>
          <a:p>
            <a:r>
              <a:rPr lang="en-US" dirty="0" smtClean="0"/>
              <a:t>            &lt;p&gt;We haven't got the money, so we've got to think!&lt;/p&gt;</a:t>
            </a:r>
          </a:p>
          <a:p>
            <a:r>
              <a:rPr lang="en-US" dirty="0" smtClean="0"/>
              <a:t>         &lt;/div&gt;</a:t>
            </a:r>
          </a:p>
          <a:p>
            <a:r>
              <a:rPr lang="en-US" dirty="0" smtClean="0"/>
              <a:t>      &lt;/content&gt;</a:t>
            </a:r>
          </a:p>
          <a:p>
            <a:r>
              <a:rPr lang="en-US" dirty="0" smtClean="0"/>
              <a:t>      &lt;updated&gt;2006-10-21T06:02:39-04:00&lt;/updated&gt;</a:t>
            </a:r>
          </a:p>
          <a:p>
            <a:r>
              <a:rPr lang="en-US" dirty="0" smtClean="0"/>
              <a:t>   &lt;/entry&gt;</a:t>
            </a:r>
          </a:p>
          <a:p>
            <a:r>
              <a:rPr lang="en-US" dirty="0" smtClean="0"/>
              <a:t>&lt;/feed&gt;</a:t>
            </a:r>
            <a:endParaRPr lang="en-US" dirty="0"/>
          </a:p>
        </p:txBody>
      </p:sp>
      <p:sp>
        <p:nvSpPr>
          <p:cNvPr id="5" name="TextBox 4"/>
          <p:cNvSpPr txBox="1"/>
          <p:nvPr/>
        </p:nvSpPr>
        <p:spPr>
          <a:xfrm>
            <a:off x="3668812" y="300335"/>
            <a:ext cx="1893788" cy="461665"/>
          </a:xfrm>
          <a:prstGeom prst="rect">
            <a:avLst/>
          </a:prstGeom>
          <a:noFill/>
        </p:spPr>
        <p:txBody>
          <a:bodyPr wrap="none" rtlCol="0">
            <a:spAutoFit/>
          </a:bodyPr>
          <a:lstStyle/>
          <a:p>
            <a:r>
              <a:rPr lang="en-US" sz="2400" b="1" dirty="0" smtClean="0"/>
              <a:t>Atom Sample</a:t>
            </a:r>
            <a:endParaRPr lang="en-US" sz="2400" b="1" dirty="0"/>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30189"/>
            <a:ext cx="8382000" cy="912811"/>
          </a:xfrm>
        </p:spPr>
        <p:txBody>
          <a:bodyPr>
            <a:normAutofit/>
          </a:bodyPr>
          <a:lstStyle/>
          <a:p>
            <a:r>
              <a:rPr lang="en-US" dirty="0"/>
              <a:t>History</a:t>
            </a:r>
            <a:endParaRPr lang="en-US" dirty="0">
              <a:solidFill>
                <a:schemeClr val="tx2"/>
              </a:solidFill>
            </a:endParaRPr>
          </a:p>
        </p:txBody>
      </p:sp>
      <p:sp>
        <p:nvSpPr>
          <p:cNvPr id="3" name="Text Placeholder 2"/>
          <p:cNvSpPr>
            <a:spLocks noGrp="1"/>
          </p:cNvSpPr>
          <p:nvPr>
            <p:ph type="body" sz="quarter" idx="10"/>
          </p:nvPr>
        </p:nvSpPr>
        <p:spPr>
          <a:xfrm>
            <a:off x="381000" y="1143000"/>
            <a:ext cx="8382000" cy="5715000"/>
          </a:xfrm>
        </p:spPr>
        <p:txBody>
          <a:bodyPr>
            <a:normAutofit/>
          </a:bodyPr>
          <a:lstStyle/>
          <a:p>
            <a:r>
              <a:rPr lang="en-US" dirty="0" smtClean="0"/>
              <a:t>ATOM </a:t>
            </a:r>
          </a:p>
          <a:p>
            <a:pPr lvl="1"/>
            <a:r>
              <a:rPr lang="en-US" sz="2400" dirty="0" smtClean="0"/>
              <a:t>Before the development of ATOM, RSS was the used format for web content syndication. People  using RSS 2.0 felt there were considerable deficiencies in the format. RSS 2.0 was frozen and not changed. </a:t>
            </a:r>
            <a:endParaRPr lang="en-US" sz="2400" b="1" dirty="0" smtClean="0"/>
          </a:p>
          <a:p>
            <a:pPr lvl="1"/>
            <a:endParaRPr lang="en-US" sz="2400" dirty="0" smtClean="0"/>
          </a:p>
          <a:p>
            <a:pPr lvl="1"/>
            <a:r>
              <a:rPr lang="en-US" sz="2400" dirty="0" smtClean="0"/>
              <a:t>Sam Ruby put together a wiki for discussions on what makes, “a well- formed log entry”. The wiki soon had discussions on a new syndication format addressing RSS’s shortcomings. It was coming obvious that such tools maybe used such as, the Blogger API and LiveJournal XML-RPC Client/Server Protocol. June  2003.</a:t>
            </a:r>
          </a:p>
          <a:p>
            <a:pPr lvl="1">
              <a:buNone/>
            </a:pPr>
            <a:r>
              <a:rPr lang="en-US" sz="2400" dirty="0" smtClean="0"/>
              <a:t>  </a:t>
            </a:r>
          </a:p>
          <a:p>
            <a:pPr lvl="1"/>
            <a:endParaRPr lang="en-US" dirty="0" smtClean="0"/>
          </a:p>
          <a:p>
            <a:pPr lvl="1"/>
            <a:endParaRPr lang="en-US" b="1" dirty="0" smtClean="0"/>
          </a:p>
          <a:p>
            <a:pPr lvl="1"/>
            <a:endParaRPr lang="en-US" b="1" dirty="0" smtClean="0"/>
          </a:p>
          <a:p>
            <a:pPr lvl="1"/>
            <a:endParaRPr lang="en-US" b="1" dirty="0" smtClean="0"/>
          </a:p>
          <a:p>
            <a:pPr lvl="1"/>
            <a:endParaRPr lang="en-US" b="1" dirty="0" smtClean="0"/>
          </a:p>
          <a:p>
            <a:pPr lvl="1"/>
            <a:endParaRPr lang="en-US" b="1" dirty="0" smtClean="0"/>
          </a:p>
        </p:txBody>
      </p:sp>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Atom publishing protocol</a:t>
            </a:r>
            <a:endParaRPr lang="en-US" dirty="0"/>
          </a:p>
        </p:txBody>
      </p:sp>
      <p:sp>
        <p:nvSpPr>
          <p:cNvPr id="5" name="Content Placeholder 4"/>
          <p:cNvSpPr>
            <a:spLocks noGrp="1"/>
          </p:cNvSpPr>
          <p:nvPr>
            <p:ph idx="1"/>
          </p:nvPr>
        </p:nvSpPr>
        <p:spPr>
          <a:xfrm>
            <a:off x="457200" y="1600200"/>
            <a:ext cx="8229600" cy="4724400"/>
          </a:xfrm>
        </p:spPr>
        <p:txBody>
          <a:bodyPr>
            <a:normAutofit fontScale="77500" lnSpcReduction="20000"/>
          </a:bodyPr>
          <a:lstStyle/>
          <a:p>
            <a:r>
              <a:rPr lang="en-US" dirty="0" smtClean="0"/>
              <a:t>is a simple HTTP-based protocol for creating and updating web resources, sometimes known as web feeds. </a:t>
            </a:r>
          </a:p>
          <a:p>
            <a:r>
              <a:rPr lang="en-US" dirty="0" smtClean="0"/>
              <a:t>Web feeds allow software programs to check for updates published on a web site</a:t>
            </a:r>
          </a:p>
          <a:p>
            <a:r>
              <a:rPr lang="en-US" dirty="0" smtClean="0"/>
              <a:t>The feed can then be downloaded by web sites that syndicate content from the feed, or by feed reader programs that allow Internet users to subscribe to feeds and view their content. </a:t>
            </a:r>
          </a:p>
          <a:p>
            <a:r>
              <a:rPr lang="en-US" dirty="0" smtClean="0"/>
              <a:t>A feed contains entries, which may be headlines, full-text articles, excerpts, summaries, and/or links to content on a web site, along with various metadata.</a:t>
            </a:r>
          </a:p>
          <a:p>
            <a:r>
              <a:rPr lang="en-US" dirty="0" smtClean="0"/>
              <a:t>The Atom format was developed as an alternative to RSS.</a:t>
            </a:r>
            <a:endParaRPr lang="en-US"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30189"/>
            <a:ext cx="8382000" cy="912811"/>
          </a:xfrm>
        </p:spPr>
        <p:txBody>
          <a:bodyPr>
            <a:normAutofit/>
          </a:bodyPr>
          <a:lstStyle/>
          <a:p>
            <a:r>
              <a:rPr lang="en-US" dirty="0"/>
              <a:t>History</a:t>
            </a:r>
            <a:endParaRPr lang="en-US" dirty="0">
              <a:solidFill>
                <a:schemeClr val="tx2"/>
              </a:solidFill>
            </a:endParaRPr>
          </a:p>
        </p:txBody>
      </p:sp>
      <p:sp>
        <p:nvSpPr>
          <p:cNvPr id="3" name="Text Placeholder 2"/>
          <p:cNvSpPr>
            <a:spLocks noGrp="1"/>
          </p:cNvSpPr>
          <p:nvPr>
            <p:ph type="body" sz="quarter" idx="10"/>
          </p:nvPr>
        </p:nvSpPr>
        <p:spPr>
          <a:xfrm>
            <a:off x="381000" y="1143000"/>
            <a:ext cx="8382000" cy="5715000"/>
          </a:xfrm>
        </p:spPr>
        <p:txBody>
          <a:bodyPr>
            <a:normAutofit fontScale="85000" lnSpcReduction="20000"/>
          </a:bodyPr>
          <a:lstStyle/>
          <a:p>
            <a:r>
              <a:rPr lang="en-US" sz="3800" dirty="0" smtClean="0"/>
              <a:t>ATOM </a:t>
            </a:r>
          </a:p>
          <a:p>
            <a:pPr lvl="1"/>
            <a:r>
              <a:rPr lang="en-US" b="1" dirty="0" smtClean="0"/>
              <a:t>ATOM 1.0 and IETF Standardization - </a:t>
            </a:r>
            <a:r>
              <a:rPr lang="en-US" dirty="0" smtClean="0"/>
              <a:t>In 2004, discussions began about moving the project to a standards body such as the World Wide Web Consortium or the Internet Engineering Task Force (IETF). The group eventually chose the IETF and the ATOMpub working group[ was formally set up in June 2004, finally giving the project a charter and process. The ATOMpub working group is co-chaired by Tim Bray (the co-editor of the XML specification) and Paul Hoffman. Initial development was focused on the syndication format.   </a:t>
            </a:r>
          </a:p>
          <a:p>
            <a:pPr lvl="1"/>
            <a:endParaRPr lang="en-US" b="1" dirty="0" smtClean="0"/>
          </a:p>
          <a:p>
            <a:pPr lvl="1"/>
            <a:r>
              <a:rPr lang="en-US" dirty="0" smtClean="0"/>
              <a:t>The ATOM Syndication Format was issued as a Proposed Standard in IETF RFC 4287 in December 2005. The co-editors were Mark Nottingham and Robert Sayre. This document is known as atompub-format in IETF's terminology. The ATOM Publishing Protocol was issued as a Proposed Standard in IETF RFC 5023 in October 2007. Two other drafts have not been standardized. </a:t>
            </a:r>
          </a:p>
          <a:p>
            <a:pPr lvl="1"/>
            <a:endParaRPr lang="en-US" b="1" dirty="0" smtClean="0"/>
          </a:p>
          <a:p>
            <a:pPr lvl="1"/>
            <a:endParaRPr lang="en-US" b="1" dirty="0" smtClean="0"/>
          </a:p>
          <a:p>
            <a:pPr lvl="1"/>
            <a:endParaRPr lang="en-US" b="1" dirty="0" smtClean="0"/>
          </a:p>
          <a:p>
            <a:pPr lvl="1"/>
            <a:endParaRPr lang="en-US" b="1" dirty="0" smtClean="0"/>
          </a:p>
          <a:p>
            <a:pPr lvl="1"/>
            <a:endParaRPr lang="en-US" b="1" dirty="0" smtClean="0"/>
          </a:p>
          <a:p>
            <a:pPr lvl="1"/>
            <a:endParaRPr lang="en-US" b="1" dirty="0" smtClean="0"/>
          </a:p>
          <a:p>
            <a:pPr lvl="1"/>
            <a:endParaRPr lang="en-US" b="1" dirty="0" smtClean="0"/>
          </a:p>
        </p:txBody>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1_Blue and ribbons template Segoe">
  <a:themeElements>
    <a:clrScheme name="Blue Template-Template">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2.xml><?xml version="1.0" encoding="utf-8"?>
<a:theme xmlns:a="http://schemas.openxmlformats.org/drawingml/2006/main" name="White with Courier font for code slides">
  <a:themeElements>
    <a:clrScheme name="Blue Template-Template">
      <a:dk1>
        <a:srgbClr val="000000"/>
      </a:dk1>
      <a:lt1>
        <a:srgbClr val="FFFFFF"/>
      </a:lt1>
      <a:dk2>
        <a:srgbClr val="050595"/>
      </a:dk2>
      <a:lt2>
        <a:srgbClr val="FFFFFF"/>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109728" tIns="54864" rIns="109728" bIns="54864" numCol="1" rtlCol="0" anchor="ctr" anchorCtr="0" compatLnSpc="1">
        <a:prstTxWarp prst="textNoShape">
          <a:avLst/>
        </a:prstTxWarp>
      </a:bodyPr>
      <a:lstStyle>
        <a:defPPr marL="0" marR="0" indent="0" algn="ctr" defTabSz="1096963" rtl="0" eaLnBrk="1" fontAlgn="base" latinLnBrk="0" hangingPunct="1">
          <a:lnSpc>
            <a:spcPct val="100000"/>
          </a:lnSpc>
          <a:spcBef>
            <a:spcPct val="0"/>
          </a:spcBef>
          <a:spcAft>
            <a:spcPct val="0"/>
          </a:spcAft>
          <a:buClrTx/>
          <a:buSzTx/>
          <a:buFontTx/>
          <a:buNone/>
          <a:tabLst/>
          <a:defRPr kumimoji="0" sz="2800" b="0" i="0" u="none" strike="noStrike" cap="none" normalizeH="0" baseline="0" dirty="0" smtClean="0">
            <a:solidFill>
              <a:schemeClr val="tx1"/>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30" ma:contentTypeDescription="Create a new document." ma:contentTypeScope="" ma:versionID="b6358c8e9ccf10d22debe3a56dce56ac"/>
</file>

<file path=customXml/itemProps1.xml><?xml version="1.0" encoding="utf-8"?>
<ds:datastoreItem xmlns:ds="http://schemas.openxmlformats.org/officeDocument/2006/customXml" ds:itemID="{99608EE9-BC9B-48A0-9915-52B7EE8658E2}">
  <ds:schemaRefs>
    <ds:schemaRef ds:uri="http://schemas.microsoft.com/sharepoint/v3/contenttype/forms"/>
  </ds:schemaRefs>
</ds:datastoreItem>
</file>

<file path=customXml/itemProps2.xml><?xml version="1.0" encoding="utf-8"?>
<ds:datastoreItem xmlns:ds="http://schemas.openxmlformats.org/officeDocument/2006/customXml" ds:itemID="{52FDDDB0-FD28-422B-90EE-B646792CDE0C}">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FB1D360-2A3A-42B6-ABBA-016176F467A1}">
  <ds:schemaRefs>
    <ds:schemaRef ds:uri="http://schemas.microsoft.com/office/2006/metadata/contentType"/>
    <ds:schemaRef ds:uri="http://schemas.microsoft.com/office/2006/metadata/properties/metaAttributes"/>
  </ds:schemaRefs>
</ds:datastoreItem>
</file>

<file path=docProps/app.xml><?xml version="1.0" encoding="utf-8"?>
<Properties xmlns="http://schemas.openxmlformats.org/officeDocument/2006/extended-properties" xmlns:vt="http://schemas.openxmlformats.org/officeDocument/2006/docPropsVTypes">
  <Template>1_Blue and ribbons template Segoe</Template>
  <TotalTime>1093</TotalTime>
  <Words>2385</Words>
  <Application>Microsoft Office PowerPoint</Application>
  <PresentationFormat>On-screen Show (4:3)</PresentationFormat>
  <Paragraphs>329</Paragraphs>
  <Slides>16</Slides>
  <Notes>12</Notes>
  <HiddenSlides>0</HiddenSlides>
  <MMClips>0</MMClips>
  <ScaleCrop>false</ScaleCrop>
  <HeadingPairs>
    <vt:vector size="4" baseType="variant">
      <vt:variant>
        <vt:lpstr>Theme</vt:lpstr>
      </vt:variant>
      <vt:variant>
        <vt:i4>3</vt:i4>
      </vt:variant>
      <vt:variant>
        <vt:lpstr>Slide Titles</vt:lpstr>
      </vt:variant>
      <vt:variant>
        <vt:i4>16</vt:i4>
      </vt:variant>
    </vt:vector>
  </HeadingPairs>
  <TitlesOfParts>
    <vt:vector size="19" baseType="lpstr">
      <vt:lpstr>1_Blue and ribbons template Segoe</vt:lpstr>
      <vt:lpstr>White with Courier font for code slides</vt:lpstr>
      <vt:lpstr>Office Theme</vt:lpstr>
      <vt:lpstr>Syndication (RSS &amp; ATOM)</vt:lpstr>
      <vt:lpstr>RSS</vt:lpstr>
      <vt:lpstr>Syndication</vt:lpstr>
      <vt:lpstr>Slide 4</vt:lpstr>
      <vt:lpstr>Slide 5</vt:lpstr>
      <vt:lpstr>What is RSS 2.0?</vt:lpstr>
      <vt:lpstr>Slide 7</vt:lpstr>
      <vt:lpstr>Slide 8</vt:lpstr>
      <vt:lpstr>Slide 9</vt:lpstr>
      <vt:lpstr>What is ATOM 1.0 ?</vt:lpstr>
      <vt:lpstr>Slide 11</vt:lpstr>
      <vt:lpstr>Slide 12</vt:lpstr>
      <vt:lpstr>Slide 13</vt:lpstr>
      <vt:lpstr>History</vt:lpstr>
      <vt:lpstr>Atom publishing protocol</vt:lpstr>
      <vt:lpstr>History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RSS &amp; ATOM</dc:title>
  <dc:creator>Tom Morrow</dc:creator>
  <cp:lastModifiedBy>Sachin</cp:lastModifiedBy>
  <cp:revision>127</cp:revision>
  <dcterms:created xsi:type="dcterms:W3CDTF">2010-06-15T17:36:18Z</dcterms:created>
  <dcterms:modified xsi:type="dcterms:W3CDTF">2018-02-20T06:48:18Z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TC102867059990</vt:lpwstr>
  </property>
</Properties>
</file>