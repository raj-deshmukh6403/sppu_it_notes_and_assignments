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9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Click to edit the notes format</a:t>
            </a:r>
            <a:endParaRPr/>
          </a:p>
        </p:txBody>
      </p:sp>
      <p:sp>
        <p:nvSpPr>
          <p:cNvPr id="82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&lt;header&gt;</a:t>
            </a:r>
            <a:endParaRPr/>
          </a:p>
        </p:txBody>
      </p:sp>
      <p:sp>
        <p:nvSpPr>
          <p:cNvPr id="83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/>
            <a:r>
              <a:rPr lang="en-IN"/>
              <a:t>&lt;date/time&gt;</a:t>
            </a:r>
            <a:endParaRPr/>
          </a:p>
        </p:txBody>
      </p:sp>
      <p:sp>
        <p:nvSpPr>
          <p:cNvPr id="84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r>
              <a:rPr lang="en-IN"/>
              <a:t>&lt;footer&gt;</a:t>
            </a:r>
            <a:endParaRPr/>
          </a:p>
        </p:txBody>
      </p:sp>
      <p:sp>
        <p:nvSpPr>
          <p:cNvPr id="85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pPr algn="r"/>
            <a:fld id="{8E8AC5C4-3C18-4AC0-90F7-B448BBF1CB8B}" type="slidenum">
              <a:rPr lang="en-IN"/>
              <a:pPr algn="r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5752FF9C-F203-4E06-878A-D79AE0C892C0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</a:t>
            </a:fld>
            <a:endParaRPr/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55D9882F-7DA7-4B5A-B69F-CAB63904AB86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2</a:t>
            </a:fld>
            <a:endParaRPr/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03FA5AC-D509-4556-9357-229E00D9D5BB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3</a:t>
            </a:fld>
            <a:endParaRPr/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779A102-D3FA-4236-9C61-7F202F0194B0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4</a:t>
            </a:fld>
            <a:endParaRPr/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94CFE6AA-1D83-4C3D-969B-6F77E7514100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5</a:t>
            </a:fld>
            <a:endParaRPr/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4E45AE9E-4153-42D0-B1ED-46C89A5ABA72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6</a:t>
            </a:fld>
            <a:endParaRPr/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98E5B6A-ADAF-4E22-997D-01B5FC71A8AC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7</a:t>
            </a:fld>
            <a:endParaRPr/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56F0183E-9BBC-455A-A96E-0883E104357B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8</a:t>
            </a:fld>
            <a:endParaRPr/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C0B92D2D-C943-418C-9461-389949902907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9</a:t>
            </a:fld>
            <a:endParaRPr/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C9F9EBF-624E-4D7E-B4B6-B1ABF23EA85A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10</a:t>
            </a:fld>
            <a:endParaRPr/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6FE6FF52-EF35-4110-B54A-E55525AD4FE3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11</a:t>
            </a:fld>
            <a:endParaRPr/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1749FBA-7D26-49F2-A3BE-E2C10C814467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12</a:t>
            </a:fld>
            <a:endParaRPr/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1749FBA-7D26-49F2-A3BE-E2C10C814467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13</a:t>
            </a:fld>
            <a:endParaRPr/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D02A519E-04AB-4F78-99C3-C41EFB13CC86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14</a:t>
            </a:fld>
            <a:endParaRPr/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3DBDE100-FB52-44DD-AF74-5593667C2F48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15</a:t>
            </a:fld>
            <a:endParaRPr/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CB966A5-340F-4AE7-ACD4-7CCC374235DB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16</a:t>
            </a:fld>
            <a:endParaRPr/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DFEAD1DA-416A-488B-AE2E-A78579590C07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17</a:t>
            </a:fld>
            <a:endParaRPr/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74667833-6BEC-40B3-A7CB-985405796A3E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18</a:t>
            </a:fld>
            <a:endParaRPr/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AEAFE647-AE0C-4B48-B556-E4EE88E8A72D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19</a:t>
            </a:fld>
            <a:endParaRPr/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A9AED97-669F-4EE2-804A-208753E921B2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20</a:t>
            </a:fld>
            <a:endParaRPr/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4280040" y="10156680"/>
            <a:ext cx="3277440" cy="532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7A3B1FE7-F175-44A3-B3E4-483E6D11B449}" type="slidenum">
              <a:rPr lang="en-IN" sz="1400">
                <a:solidFill>
                  <a:srgbClr val="000000"/>
                </a:solidFill>
                <a:latin typeface="Times New Roman"/>
                <a:ea typeface="DejaVu Sans"/>
              </a:rPr>
              <a:pPr algn="r">
                <a:lnSpc>
                  <a:spcPct val="93000"/>
                </a:lnSpc>
              </a:pPr>
              <a:t>21</a:t>
            </a:fld>
            <a:endParaRPr/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755640" y="5078520"/>
            <a:ext cx="6047640" cy="48110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39" name="Picture 38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40" name="Picture 39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pic>
        <p:nvPicPr>
          <p:cNvPr id="79" name="Picture 78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  <p:pic>
        <p:nvPicPr>
          <p:cNvPr id="80" name="Picture 79"/>
          <p:cNvPicPr/>
          <p:nvPr/>
        </p:nvPicPr>
        <p:blipFill>
          <a:blip r:embed="rId2"/>
          <a:stretch>
            <a:fillRect/>
          </a:stretch>
        </p:blipFill>
        <p:spPr>
          <a:xfrm>
            <a:off x="2079360" y="1604160"/>
            <a:ext cx="498420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-9360" y="-7920"/>
            <a:ext cx="9162360" cy="1040760"/>
          </a:xfrm>
          <a:prstGeom prst="rect">
            <a:avLst/>
          </a:prstGeom>
          <a:gradFill>
            <a:gsLst>
              <a:gs pos="0">
                <a:srgbClr val="0074A0"/>
              </a:gs>
              <a:gs pos="100000">
                <a:srgbClr val="00C4CD"/>
              </a:gs>
            </a:gsLst>
            <a:lin ang="5400000"/>
          </a:gradFill>
          <a:ln w="9360">
            <a:noFill/>
          </a:ln>
        </p:spPr>
      </p:sp>
      <p:sp>
        <p:nvSpPr>
          <p:cNvPr id="8" name="CustomShape 2"/>
          <p:cNvSpPr/>
          <p:nvPr/>
        </p:nvSpPr>
        <p:spPr>
          <a:xfrm>
            <a:off x="4381560" y="-7920"/>
            <a:ext cx="4761720" cy="637560"/>
          </a:xfrm>
          <a:prstGeom prst="rect">
            <a:avLst/>
          </a:prstGeom>
          <a:gradFill>
            <a:gsLst>
              <a:gs pos="0">
                <a:srgbClr val="00A0A8"/>
              </a:gs>
              <a:gs pos="100000">
                <a:srgbClr val="008ABF"/>
              </a:gs>
            </a:gsLst>
            <a:lin ang="5400000"/>
          </a:gradFill>
          <a:ln w="9360">
            <a:noFill/>
          </a:ln>
        </p:spPr>
      </p:sp>
      <p:sp>
        <p:nvSpPr>
          <p:cNvPr id="2" name="CustomShape 3"/>
          <p:cNvSpPr/>
          <p:nvPr/>
        </p:nvSpPr>
        <p:spPr>
          <a:xfrm rot="21420000">
            <a:off x="-19080" y="202680"/>
            <a:ext cx="9160920" cy="646920"/>
          </a:xfrm>
          <a:prstGeom prst="rect">
            <a:avLst/>
          </a:prstGeom>
          <a:noFill/>
          <a:ln w="10800">
            <a:solidFill>
              <a:srgbClr val="09B7BF"/>
            </a:solidFill>
            <a:round/>
          </a:ln>
        </p:spPr>
      </p:sp>
      <p:sp>
        <p:nvSpPr>
          <p:cNvPr id="3" name="CustomShape 4"/>
          <p:cNvSpPr/>
          <p:nvPr/>
        </p:nvSpPr>
        <p:spPr>
          <a:xfrm rot="21420000">
            <a:off x="-15840" y="276120"/>
            <a:ext cx="9173520" cy="527760"/>
          </a:xfrm>
          <a:prstGeom prst="rect">
            <a:avLst/>
          </a:prstGeom>
          <a:noFill/>
          <a:ln w="9360">
            <a:solidFill>
              <a:srgbClr val="0F6FC6"/>
            </a:solidFill>
            <a:round/>
          </a:ln>
        </p:spPr>
      </p:sp>
      <p:sp>
        <p:nvSpPr>
          <p:cNvPr id="4" name="CustomShape 5"/>
          <p:cNvSpPr/>
          <p:nvPr/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9360">
            <a:noFill/>
          </a:ln>
        </p:spPr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r>
              <a:rPr lang="en-IN"/>
              <a:t>Click to edit the title text format</a:t>
            </a:r>
            <a:endParaRPr/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25000"/>
              <a:buFont typeface="StarSymbol"/>
              <a:buChar char=""/>
            </a:pPr>
            <a:r>
              <a:rPr lang="en-IN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IN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IN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IN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IN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IN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IN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-9360" y="-7200"/>
            <a:ext cx="9162360" cy="1040760"/>
          </a:xfrm>
          <a:prstGeom prst="rect">
            <a:avLst/>
          </a:prstGeom>
          <a:gradFill>
            <a:gsLst>
              <a:gs pos="0">
                <a:srgbClr val="0074A0"/>
              </a:gs>
              <a:gs pos="100000">
                <a:srgbClr val="00C4CD"/>
              </a:gs>
            </a:gsLst>
            <a:lin ang="5400000"/>
          </a:gradFill>
          <a:ln w="9360">
            <a:noFill/>
          </a:ln>
        </p:spPr>
      </p:sp>
      <p:sp>
        <p:nvSpPr>
          <p:cNvPr id="42" name="CustomShape 2"/>
          <p:cNvSpPr/>
          <p:nvPr/>
        </p:nvSpPr>
        <p:spPr>
          <a:xfrm>
            <a:off x="4381560" y="-7200"/>
            <a:ext cx="4761720" cy="637560"/>
          </a:xfrm>
          <a:prstGeom prst="rect">
            <a:avLst/>
          </a:prstGeom>
          <a:gradFill>
            <a:gsLst>
              <a:gs pos="0">
                <a:srgbClr val="008ABF"/>
              </a:gs>
              <a:gs pos="100000">
                <a:srgbClr val="00A0A8"/>
              </a:gs>
            </a:gsLst>
            <a:lin ang="16200000"/>
          </a:gradFill>
          <a:ln w="9360">
            <a:noFill/>
          </a:ln>
        </p:spPr>
      </p:sp>
      <p:sp>
        <p:nvSpPr>
          <p:cNvPr id="43" name="CustomShape 3"/>
          <p:cNvSpPr/>
          <p:nvPr/>
        </p:nvSpPr>
        <p:spPr>
          <a:xfrm rot="21435600">
            <a:off x="-18720" y="201600"/>
            <a:ext cx="9162360" cy="648360"/>
          </a:xfrm>
          <a:prstGeom prst="rect">
            <a:avLst/>
          </a:prstGeom>
          <a:noFill/>
          <a:ln w="10800">
            <a:solidFill>
              <a:srgbClr val="09B7BF"/>
            </a:solidFill>
            <a:round/>
          </a:ln>
        </p:spPr>
      </p:sp>
      <p:sp>
        <p:nvSpPr>
          <p:cNvPr id="44" name="CustomShape 4"/>
          <p:cNvSpPr/>
          <p:nvPr/>
        </p:nvSpPr>
        <p:spPr>
          <a:xfrm rot="21435600">
            <a:off x="-14040" y="275040"/>
            <a:ext cx="9174960" cy="529560"/>
          </a:xfrm>
          <a:prstGeom prst="rect">
            <a:avLst/>
          </a:prstGeom>
          <a:noFill/>
          <a:ln w="9360">
            <a:solidFill>
              <a:srgbClr val="0F6FC6"/>
            </a:solidFill>
            <a:round/>
          </a:ln>
        </p:spPr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r>
              <a:rPr lang="en-IN"/>
              <a:t>Click to edit the title text format</a:t>
            </a:r>
            <a:endParaRPr/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25000"/>
              <a:buFont typeface="StarSymbol"/>
              <a:buChar char=""/>
            </a:pPr>
            <a:r>
              <a:rPr lang="en-IN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IN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IN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IN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IN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IN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IN"/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NUL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533520" y="1371600"/>
            <a:ext cx="7850880" cy="1828080"/>
          </a:xfrm>
          <a:prstGeom prst="rect">
            <a:avLst/>
          </a:prstGeom>
          <a:noFill/>
          <a:ln>
            <a:noFill/>
          </a:ln>
        </p:spPr>
        <p:txBody>
          <a:bodyPr lIns="0" tIns="0" rIns="18360" bIns="0" anchor="b"/>
          <a:lstStyle/>
          <a:p>
            <a:pPr algn="r">
              <a:lnSpc>
                <a:spcPct val="100000"/>
              </a:lnSpc>
            </a:pPr>
            <a:r>
              <a:rPr lang="en-IN" sz="5600" b="1">
                <a:solidFill>
                  <a:srgbClr val="50E0EA"/>
                </a:solidFill>
                <a:latin typeface="Calibri"/>
                <a:ea typeface="Droid Sans Fallback"/>
              </a:rPr>
              <a:t>Basic Concepts and Terminology</a:t>
            </a:r>
            <a:endParaRPr/>
          </a:p>
        </p:txBody>
      </p:sp>
      <p:sp>
        <p:nvSpPr>
          <p:cNvPr id="87" name="CustomShape 2"/>
          <p:cNvSpPr/>
          <p:nvPr/>
        </p:nvSpPr>
        <p:spPr>
          <a:xfrm>
            <a:off x="533520" y="3228840"/>
            <a:ext cx="7854120" cy="1751760"/>
          </a:xfrm>
          <a:prstGeom prst="rect">
            <a:avLst/>
          </a:prstGeom>
          <a:noFill/>
          <a:ln>
            <a:noFill/>
          </a:ln>
        </p:spPr>
        <p:txBody>
          <a:bodyPr lIns="0" tIns="45000" rIns="18360" bIns="45000" anchor="b"/>
          <a:lstStyle/>
          <a:p>
            <a:pPr algn="r">
              <a:lnSpc>
                <a:spcPct val="100000"/>
              </a:lnSpc>
            </a:pPr>
            <a:r>
              <a:rPr lang="en-IN">
                <a:solidFill>
                  <a:srgbClr val="FFFFFF"/>
                </a:solidFill>
                <a:latin typeface="Constantia"/>
                <a:ea typeface="Droid Sans Fallback"/>
              </a:rPr>
              <a:t>Unit 1  :  part II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</a:t>
            </a:r>
            <a:endParaRPr/>
          </a:p>
        </p:txBody>
      </p:sp>
      <p:pic>
        <p:nvPicPr>
          <p:cNvPr id="89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066680" y="1981080"/>
            <a:ext cx="6803280" cy="460152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IT Resources and corresponding symbols</a:t>
            </a:r>
            <a:endParaRPr/>
          </a:p>
        </p:txBody>
      </p:sp>
      <p:pic>
        <p:nvPicPr>
          <p:cNvPr id="91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641520" y="3336840"/>
            <a:ext cx="7860600" cy="15850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Holding Resources</a:t>
            </a:r>
            <a:endParaRPr/>
          </a:p>
        </p:txBody>
      </p:sp>
      <p:sp>
        <p:nvSpPr>
          <p:cNvPr id="93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Virtual servers:? , Cloud Services: ? , Storage Devices: ? 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9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2667000"/>
            <a:ext cx="7085880" cy="357588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On-Premise</a:t>
            </a:r>
            <a:endParaRPr/>
          </a:p>
        </p:txBody>
      </p:sp>
      <p:sp>
        <p:nvSpPr>
          <p:cNvPr id="96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On-Premise : An IT resource located within premises of organization and is not cloud based.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An on-premise IT resource can access and interact with a cloud-based IT resource.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An on-premise IT resource can be moved to a cloud.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Redundant deployments of an IT source can exist in both places.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Consumer and Cloud Provider</a:t>
            </a:r>
            <a:endParaRPr/>
          </a:p>
        </p:txBody>
      </p:sp>
      <p:sp>
        <p:nvSpPr>
          <p:cNvPr id="98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Provider: A party that provides cloud-based IT resources is the cloud provider.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Consumer: A party which that uses cloud-based IT resources is the cloud consumer.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Horizontal Scaling </a:t>
            </a:r>
            <a:endParaRPr/>
          </a:p>
        </p:txBody>
      </p:sp>
      <p:sp>
        <p:nvSpPr>
          <p:cNvPr id="100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Horizontal Scaling: The allocating or releasing of IT resources that are of same type.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Horizontal Scaling: Scaling out and scaling in.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101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19320" y="3352680"/>
            <a:ext cx="7085880" cy="325044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Vertical Scaling</a:t>
            </a:r>
            <a:endParaRPr/>
          </a:p>
        </p:txBody>
      </p:sp>
      <p:sp>
        <p:nvSpPr>
          <p:cNvPr id="103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Vertical Scaling: Existing resource is replaced by another with higher or lower capacity.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Vertical Scaling: Scaling up and scaling down.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10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990720" y="3505320"/>
            <a:ext cx="7390800" cy="31233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Comparison</a:t>
            </a:r>
            <a:endParaRPr/>
          </a:p>
        </p:txBody>
      </p:sp>
      <p:graphicFrame>
        <p:nvGraphicFramePr>
          <p:cNvPr id="106" name="Table 2"/>
          <p:cNvGraphicFramePr/>
          <p:nvPr/>
        </p:nvGraphicFramePr>
        <p:xfrm>
          <a:off x="457200" y="1935000"/>
          <a:ext cx="8230320" cy="2981880"/>
        </p:xfrm>
        <a:graphic>
          <a:graphicData uri="http://schemas.openxmlformats.org/drawingml/2006/table">
            <a:tbl>
              <a:tblPr/>
              <a:tblGrid>
                <a:gridCol w="4115880"/>
                <a:gridCol w="4114440"/>
              </a:tblGrid>
              <a:tr h="366480">
                <a:tc>
                  <a:txBody>
                    <a:bodyPr/>
                    <a:lstStyle/>
                    <a:p>
                      <a:pPr algn="ctr">
                        <a:lnSpc>
                          <a:spcPct val="97000"/>
                        </a:lnSpc>
                      </a:pPr>
                      <a:r>
                        <a:rPr lang="en-IN" b="1">
                          <a:solidFill>
                            <a:schemeClr val="tx1"/>
                          </a:solidFill>
                          <a:latin typeface="Constantia"/>
                          <a:ea typeface="Droid Sans Fallback"/>
                        </a:rPr>
                        <a:t>Horizontal </a:t>
                      </a:r>
                      <a:r>
                        <a:rPr lang="en-IN" b="1" smtClean="0">
                          <a:solidFill>
                            <a:schemeClr val="tx1"/>
                          </a:solidFill>
                          <a:latin typeface="Constantia"/>
                          <a:ea typeface="Droid Sans Fallback"/>
                        </a:rPr>
                        <a:t>Scaling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7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Constantia"/>
                          <a:ea typeface="Droid Sans Fallback"/>
                        </a:rPr>
                        <a:t>Vertical Scaling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27480"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Less expensive (commodity hardware)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More expensive (specialized servers)</a:t>
                      </a:r>
                      <a:endParaRPr/>
                    </a:p>
                  </a:txBody>
                  <a:tcPr/>
                </a:tc>
              </a:tr>
              <a:tr h="627480"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 dirty="0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IT resources instantly available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IT resources normally instantly available</a:t>
                      </a:r>
                      <a:endParaRPr/>
                    </a:p>
                  </a:txBody>
                  <a:tcPr/>
                </a:tc>
              </a:tr>
              <a:tr h="627480"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Resource replication and automated scaling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Additional setup is normally needed</a:t>
                      </a:r>
                      <a:endParaRPr/>
                    </a:p>
                  </a:txBody>
                  <a:tcPr/>
                </a:tc>
              </a:tr>
              <a:tr h="366480"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Additional IT resources needed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No additional IT resources needed</a:t>
                      </a:r>
                      <a:endParaRPr/>
                    </a:p>
                  </a:txBody>
                  <a:tcPr/>
                </a:tc>
              </a:tr>
              <a:tr h="366480"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Not limited by H/W capacity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7000"/>
                        </a:lnSpc>
                      </a:pPr>
                      <a:r>
                        <a:rPr lang="en-IN">
                          <a:solidFill>
                            <a:srgbClr val="000000"/>
                          </a:solidFill>
                          <a:latin typeface="Constantia"/>
                          <a:ea typeface="Droid Sans Fallback"/>
                        </a:rPr>
                        <a:t>Limited by max H/W capacity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Service</a:t>
            </a:r>
            <a:endParaRPr/>
          </a:p>
        </p:txBody>
      </p:sp>
      <p:sp>
        <p:nvSpPr>
          <p:cNvPr id="108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A cloud service  is any IT resource that is made remotely accessible via a cloud.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Although , not all resources can be made available for remote access. 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A DB or physical server deployed within a cloud may only be accessible only by those who lie within the same cloud.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Service…</a:t>
            </a:r>
            <a:endParaRPr/>
          </a:p>
        </p:txBody>
      </p:sp>
      <p:sp>
        <p:nvSpPr>
          <p:cNvPr id="110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Draw a diagram with the help of IT resources to represent the following: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i)Remotely accessed web service acting as a cloud service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ii)Remotely accessed virtual server acting as a cloud service.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Goals and Benefits</a:t>
            </a:r>
            <a:endParaRPr/>
          </a:p>
        </p:txBody>
      </p:sp>
      <p:sp>
        <p:nvSpPr>
          <p:cNvPr id="112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 Reduced </a:t>
            </a:r>
            <a:r>
              <a:rPr lang="en-IN" sz="2000" dirty="0">
                <a:solidFill>
                  <a:srgbClr val="000000"/>
                </a:solidFill>
                <a:latin typeface="Constantia"/>
                <a:ea typeface="Droid Sans Fallback"/>
              </a:rPr>
              <a:t>Investments and Proportional Costs</a:t>
            </a:r>
            <a:endParaRPr sz="1400"/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On-demand access to pay-as-you-go computing resources on a short-term basis (such as processors by the hour), and the ability to release these computing resources when they are no longer needed.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• The perception of having unlimited computing resources that are available on demand, thereby reducing the need to prepare for provisioning.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• The ability to add or remove IT resources at a fine-grained level, such as modifying available storage disk space by single gigabyte increments</a:t>
            </a:r>
            <a:r>
              <a:rPr lang="en-US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.</a:t>
            </a:r>
            <a:endParaRPr lang="en-IN" sz="2000" dirty="0">
              <a:solidFill>
                <a:srgbClr val="000000"/>
              </a:solidFill>
              <a:latin typeface="Constantia"/>
              <a:ea typeface="Droid Sans Fallb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Goals and Benefits</a:t>
            </a:r>
            <a:endParaRPr/>
          </a:p>
        </p:txBody>
      </p:sp>
      <p:sp>
        <p:nvSpPr>
          <p:cNvPr id="112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000" dirty="0" smtClean="0">
                <a:solidFill>
                  <a:srgbClr val="000000"/>
                </a:solidFill>
                <a:latin typeface="Constantia"/>
                <a:ea typeface="Droid Sans Fallback"/>
              </a:rPr>
              <a:t> </a:t>
            </a:r>
            <a:r>
              <a:rPr lang="en-US" sz="2000" dirty="0" smtClean="0"/>
              <a:t>Abstraction </a:t>
            </a:r>
            <a:r>
              <a:rPr lang="en-US" sz="2000" dirty="0" smtClean="0"/>
              <a:t>of the infrastructure so applications are not locked into devices </a:t>
            </a:r>
            <a:r>
              <a:rPr lang="en-US" sz="2000" dirty="0" smtClean="0"/>
              <a:t>or locations </a:t>
            </a:r>
            <a:r>
              <a:rPr lang="en-US" sz="2000" dirty="0" smtClean="0"/>
              <a:t>and can be easily moved if </a:t>
            </a:r>
            <a:r>
              <a:rPr lang="en-US" sz="2000" dirty="0" smtClean="0"/>
              <a:t>needed.</a:t>
            </a:r>
          </a:p>
          <a:p>
            <a:r>
              <a:rPr lang="en-US" sz="2000" dirty="0" smtClean="0"/>
              <a:t>Using 100 servers for one hour costs the same</a:t>
            </a:r>
          </a:p>
          <a:p>
            <a:r>
              <a:rPr lang="en-US" sz="2000" dirty="0" smtClean="0"/>
              <a:t>as using one server for 100 hours. This “elasticity” of IT resources, </a:t>
            </a:r>
            <a:r>
              <a:rPr lang="en-US" sz="2000" smtClean="0"/>
              <a:t>achieved </a:t>
            </a:r>
            <a:r>
              <a:rPr lang="en-US" sz="2000" smtClean="0"/>
              <a:t>without requiring </a:t>
            </a:r>
            <a:r>
              <a:rPr lang="en-US" sz="2000" dirty="0" smtClean="0"/>
              <a:t>steep initial investments to create a large-scale computing infrastructure</a:t>
            </a:r>
            <a:r>
              <a:rPr lang="en-US" sz="2000" smtClean="0"/>
              <a:t>, </a:t>
            </a:r>
            <a:r>
              <a:rPr lang="en-US" sz="2000" smtClean="0"/>
              <a:t>can be </a:t>
            </a:r>
            <a:r>
              <a:rPr lang="en-US" sz="2000" dirty="0" smtClean="0"/>
              <a:t>extremely compelling.</a:t>
            </a:r>
            <a:endParaRPr lang="en-IN" sz="2000" dirty="0">
              <a:solidFill>
                <a:srgbClr val="000000"/>
              </a:solidFill>
              <a:latin typeface="Constantia"/>
              <a:ea typeface="Droid Sans Fallb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Goals and Benefits…</a:t>
            </a:r>
            <a:endParaRPr/>
          </a:p>
        </p:txBody>
      </p:sp>
      <p:sp>
        <p:nvSpPr>
          <p:cNvPr id="114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Increased Scalability: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Cloud consumer’s direct configuration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Dynamic allocation of IT resources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The Lag and Match strategy 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Increased  Availability and Reliability: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	Outages limit the time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	Limits the revenue generation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	Unexpected failures </a:t>
            </a:r>
            <a:endParaRPr/>
          </a:p>
          <a:p>
            <a:pPr>
              <a:lnSpc>
                <a:spcPct val="100000"/>
              </a:lnSpc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	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Risk and Challenges</a:t>
            </a:r>
            <a:endParaRPr/>
          </a:p>
        </p:txBody>
      </p:sp>
      <p:sp>
        <p:nvSpPr>
          <p:cNvPr id="116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Increased Security Vulnerabilities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Data security becomes shared responsibility with cloud owner.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Compatible security framework- </a:t>
            </a:r>
            <a:r>
              <a:rPr lang="en-IN" sz="2400" b="1">
                <a:solidFill>
                  <a:srgbClr val="000000"/>
                </a:solidFill>
                <a:latin typeface="Constantia"/>
                <a:ea typeface="Droid Sans Fallback"/>
              </a:rPr>
              <a:t>Unlikely</a:t>
            </a: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 with public cloud.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Overlapping trust boundaries: cloud provider’s privileged access to cloud consumer data.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Opportunity for malicious cloud consumers due to overlapping.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Multitenancy: a big </a:t>
            </a:r>
            <a:r>
              <a:rPr lang="en-IN" sz="3600" b="1">
                <a:solidFill>
                  <a:srgbClr val="000000"/>
                </a:solidFill>
                <a:latin typeface="Constantia"/>
                <a:ea typeface="Droid Sans Fallback"/>
              </a:rPr>
              <a:t>BIG</a:t>
            </a: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 problem 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Risk and Challenges</a:t>
            </a:r>
            <a:endParaRPr/>
          </a:p>
        </p:txBody>
      </p:sp>
      <p:sp>
        <p:nvSpPr>
          <p:cNvPr id="118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Reduced Operational Governance Control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Level of Governance Control: It is lower than that over on premise IT resources.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External connections between cloud and consumer required for communication may get intercepted.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  <a:ea typeface="Droid Sans Fallback"/>
              </a:rPr>
              <a:t>Additional network hops , fluctuating latency and potential bandwidth constraints.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Risk and Challenges</a:t>
            </a:r>
            <a:endParaRPr/>
          </a:p>
        </p:txBody>
      </p:sp>
      <p:sp>
        <p:nvSpPr>
          <p:cNvPr id="120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 dirty="0">
                <a:solidFill>
                  <a:srgbClr val="000000"/>
                </a:solidFill>
                <a:latin typeface="Constantia"/>
                <a:ea typeface="Droid Sans Fallback"/>
              </a:rPr>
              <a:t>Limited portability between cloud Providers: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Many Cloud consumers have custom built solutions with dependencies on proprietary environments which makes it difficult to move from one cloud provider to another.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Portability is the measure used to determine the impact of moving consumer IT resources and data between clouds.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Risk and Challenges</a:t>
            </a:r>
            <a:endParaRPr/>
          </a:p>
        </p:txBody>
      </p:sp>
      <p:sp>
        <p:nvSpPr>
          <p:cNvPr id="122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 dirty="0">
                <a:solidFill>
                  <a:srgbClr val="000000"/>
                </a:solidFill>
                <a:latin typeface="Constantia"/>
                <a:ea typeface="Droid Sans Fallback"/>
              </a:rPr>
              <a:t>Multi-Regional Compliance and Legal Issues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Data </a:t>
            </a:r>
            <a:r>
              <a:rPr lang="en-IN" sz="2400" dirty="0" smtClean="0">
                <a:solidFill>
                  <a:srgbClr val="000000"/>
                </a:solidFill>
                <a:latin typeface="Constantia"/>
                <a:ea typeface="Droid Sans Fallback"/>
              </a:rPr>
              <a:t>centres </a:t>
            </a: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are at convenient geographical locations.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Serious concerns due to government regulations.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Data of UK citizen must be in UK,  as per UK law.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 Some country’s law makes it mandatory to disclose it to certain government agencies.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 dirty="0">
                <a:solidFill>
                  <a:srgbClr val="000000"/>
                </a:solidFill>
                <a:latin typeface="Constantia"/>
                <a:ea typeface="Droid Sans Fallback"/>
              </a:rPr>
              <a:t>European cloud consumer’s data  can be accessed easily in US due to US Patriot Act than data located in many European Union Countries.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Roles and Boundaries</a:t>
            </a:r>
            <a:endParaRPr/>
          </a:p>
        </p:txBody>
      </p:sp>
      <p:sp>
        <p:nvSpPr>
          <p:cNvPr id="124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Provider</a:t>
            </a:r>
            <a:endParaRPr/>
          </a:p>
          <a:p>
            <a:pPr lvl="1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000">
                <a:solidFill>
                  <a:srgbClr val="000000"/>
                </a:solidFill>
                <a:latin typeface="Constantia"/>
                <a:ea typeface="Droid Sans Fallback"/>
              </a:rPr>
              <a:t>The</a:t>
            </a:r>
            <a:r>
              <a:rPr lang="en-IN" sz="2100">
                <a:solidFill>
                  <a:srgbClr val="000000"/>
                </a:solidFill>
                <a:latin typeface="Constantia"/>
                <a:ea typeface="Droid Sans Fallback"/>
              </a:rPr>
              <a:t> Organization that provides cloud based IT resources is the cloud provider.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Consumer</a:t>
            </a:r>
            <a:endParaRPr/>
          </a:p>
          <a:p>
            <a:pPr lvl="1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000">
                <a:solidFill>
                  <a:srgbClr val="000000"/>
                </a:solidFill>
                <a:latin typeface="Constantia"/>
                <a:ea typeface="Droid Sans Fallback"/>
              </a:rPr>
              <a:t>It is an Organization or a human that has formal contract or arrangement with a cloud provider to use  IT resources made available by the cloud provider.</a:t>
            </a:r>
            <a:endParaRPr/>
          </a:p>
          <a:p>
            <a:pPr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Service Owner</a:t>
            </a:r>
            <a:endParaRPr/>
          </a:p>
          <a:p>
            <a:pPr lvl="1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000">
                <a:solidFill>
                  <a:srgbClr val="000000"/>
                </a:solidFill>
                <a:latin typeface="Constantia"/>
                <a:ea typeface="Droid Sans Fallback"/>
              </a:rPr>
              <a:t>It is an Organization or a human that legally owns a cloud service is called </a:t>
            </a:r>
            <a:r>
              <a:rPr lang="en-IN" sz="2000" i="1">
                <a:solidFill>
                  <a:srgbClr val="000000"/>
                </a:solidFill>
                <a:latin typeface="Constantia"/>
                <a:ea typeface="Droid Sans Fallback"/>
              </a:rPr>
              <a:t>Cloud service Owner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Roles and Boundaries</a:t>
            </a:r>
            <a:endParaRPr/>
          </a:p>
        </p:txBody>
      </p:sp>
      <p:sp>
        <p:nvSpPr>
          <p:cNvPr id="126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 dirty="0">
                <a:solidFill>
                  <a:srgbClr val="000000"/>
                </a:solidFill>
                <a:latin typeface="Constantia"/>
                <a:ea typeface="Droid Sans Fallback"/>
              </a:rPr>
              <a:t>Cloud Resource Administrator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100" dirty="0">
                <a:solidFill>
                  <a:srgbClr val="000000"/>
                </a:solidFill>
                <a:latin typeface="Constantia"/>
                <a:ea typeface="Droid Sans Fallback"/>
              </a:rPr>
              <a:t>A Cloud resource administrator is the person or organization responsible for administrating a cloud based IT resource. It can be a cloud consumer or provider within which cloud services reside.</a:t>
            </a:r>
            <a:endParaRPr/>
          </a:p>
          <a:p>
            <a:pPr>
              <a:lnSpc>
                <a:spcPct val="100000"/>
              </a:lnSpc>
            </a:pPr>
            <a:r>
              <a:rPr lang="en-IN" sz="2600" dirty="0">
                <a:solidFill>
                  <a:srgbClr val="000000"/>
                </a:solidFill>
                <a:latin typeface="Constantia"/>
                <a:ea typeface="Droid Sans Fallback"/>
              </a:rPr>
              <a:t> Organizational Boundary</a:t>
            </a:r>
            <a:endParaRPr/>
          </a:p>
          <a:p>
            <a:pPr lvl="1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100" dirty="0">
                <a:solidFill>
                  <a:srgbClr val="000000"/>
                </a:solidFill>
                <a:latin typeface="Constantia"/>
                <a:ea typeface="Droid Sans Fallback"/>
              </a:rPr>
              <a:t>Physical Perimeter that surrounds a set of IT resources that are owned and governed by an organization.</a:t>
            </a:r>
            <a:endParaRPr/>
          </a:p>
          <a:p>
            <a:pPr algn="just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Additional Roles</a:t>
            </a:r>
            <a:endParaRPr/>
          </a:p>
        </p:txBody>
      </p:sp>
      <p:sp>
        <p:nvSpPr>
          <p:cNvPr id="128" name="CustomShape 2"/>
          <p:cNvSpPr/>
          <p:nvPr/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Auditor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100">
                <a:solidFill>
                  <a:srgbClr val="000000"/>
                </a:solidFill>
                <a:latin typeface="Constantia"/>
                <a:ea typeface="Droid Sans Fallback"/>
              </a:rPr>
              <a:t>A third party that conducts independent assessments of cloud environments assumes the role of the cloud auditor.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Broker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100">
                <a:solidFill>
                  <a:srgbClr val="000000"/>
                </a:solidFill>
                <a:latin typeface="Constantia"/>
                <a:ea typeface="Droid Sans Fallback"/>
              </a:rPr>
              <a:t>Assumes the responsibility of managing and negotiating the usage of cloud services between consumer and provider.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" charset="2"/>
              <a:buChar char=""/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Cloud Carrier</a:t>
            </a:r>
            <a:endParaRPr/>
          </a:p>
          <a:p>
            <a:pPr lvl="1" algn="just">
              <a:lnSpc>
                <a:spcPct val="100000"/>
              </a:lnSpc>
              <a:buSzPct val="25000"/>
              <a:buFont typeface="Symbol"/>
              <a:buChar char=""/>
            </a:pPr>
            <a:r>
              <a:rPr lang="en-IN" sz="2100">
                <a:solidFill>
                  <a:srgbClr val="000000"/>
                </a:solidFill>
                <a:latin typeface="Constantia"/>
                <a:ea typeface="Droid Sans Fallback"/>
              </a:rPr>
              <a:t>Wire level connectivity between consumer and provider</a:t>
            </a:r>
            <a:endParaRPr/>
          </a:p>
          <a:p>
            <a:pPr>
              <a:lnSpc>
                <a:spcPct val="100000"/>
              </a:lnSpc>
            </a:pPr>
            <a:r>
              <a:rPr lang="en-IN" sz="2600">
                <a:solidFill>
                  <a:srgbClr val="000000"/>
                </a:solidFill>
                <a:latin typeface="Constantia"/>
                <a:ea typeface="Droid Sans Fallback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Characteristics</a:t>
            </a:r>
            <a:endParaRPr/>
          </a:p>
        </p:txBody>
      </p:sp>
      <p:sp>
        <p:nvSpPr>
          <p:cNvPr id="130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Six characteristics common to majority of environments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On-demand usage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Ubiquitous access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Multitenancy 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Elasticity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Measured Usage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Resiliency: During failover, processing is automatically handed over to another redundant resource.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31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5000">
                <a:solidFill>
                  <a:srgbClr val="04617B"/>
                </a:solidFill>
                <a:latin typeface="Calibri"/>
              </a:rPr>
              <a:t>Cloud Delivery Models</a:t>
            </a:r>
            <a:endParaRPr/>
          </a:p>
        </p:txBody>
      </p:sp>
      <p:sp>
        <p:nvSpPr>
          <p:cNvPr id="133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Infrastructure-as-a-Service (IaaS)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Platform-as-a-Service(PaaS)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Software-as-a-Service(SaaS)</a:t>
            </a:r>
            <a:endParaRPr/>
          </a:p>
          <a:p>
            <a:pPr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600">
                <a:solidFill>
                  <a:srgbClr val="000000"/>
                </a:solidFill>
                <a:latin typeface="Constantia"/>
              </a:rPr>
              <a:t>Specialized variations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Storage-as-a-Service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Database-as-a-Service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Security-as-a-Service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Communication-as-a-Service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Integration-as-a-Service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Testing-as-a-Service</a:t>
            </a:r>
            <a:endParaRPr/>
          </a:p>
          <a:p>
            <a:pPr lvl="1">
              <a:lnSpc>
                <a:spcPct val="100000"/>
              </a:lnSpc>
              <a:buSzPct val="25000"/>
              <a:buFont typeface="Wingdings 2" charset="2"/>
              <a:buChar char=""/>
            </a:pPr>
            <a:r>
              <a:rPr lang="en-IN" sz="2400">
                <a:solidFill>
                  <a:srgbClr val="000000"/>
                </a:solidFill>
                <a:latin typeface="Constantia"/>
              </a:rPr>
              <a:t>Process-as-a-Service</a:t>
            </a:r>
            <a:endParaRPr/>
          </a:p>
        </p:txBody>
      </p:sp>
      <p:sp>
        <p:nvSpPr>
          <p:cNvPr id="134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>
                <a:solidFill>
                  <a:srgbClr val="04617B"/>
                </a:solidFill>
                <a:latin typeface="Calibri"/>
              </a:rPr>
              <a:t>Infrastructure-as-a-Service</a:t>
            </a:r>
            <a:r>
              <a:rPr lang="en-IN" sz="3600">
                <a:solidFill>
                  <a:srgbClr val="000000"/>
                </a:solidFill>
                <a:latin typeface="Constantia"/>
              </a:rPr>
              <a:t> (IaaS)</a:t>
            </a:r>
            <a:endParaRPr/>
          </a:p>
        </p:txBody>
      </p:sp>
      <p:sp>
        <p:nvSpPr>
          <p:cNvPr id="136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600">
                <a:latin typeface="Constantia"/>
              </a:rPr>
              <a:t>Represents a self-contained IT environment comprised of infrastructure-centric IT resources.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600">
                <a:latin typeface="Constantia"/>
              </a:rPr>
              <a:t>These are managed and accessed via cloud based services and tools.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600">
                <a:latin typeface="Constantia"/>
              </a:rPr>
              <a:t>IaaS environment contains H/W, network, connectivity, O.S. and other “Raw” IT resources.</a:t>
            </a:r>
            <a:endParaRPr/>
          </a:p>
        </p:txBody>
      </p:sp>
      <p:sp>
        <p:nvSpPr>
          <p:cNvPr id="137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>
                <a:solidFill>
                  <a:srgbClr val="04617B"/>
                </a:solidFill>
                <a:latin typeface="Calibri"/>
              </a:rPr>
              <a:t>Infrastructure-as-a-Service</a:t>
            </a:r>
            <a:r>
              <a:rPr lang="en-IN" sz="3600">
                <a:solidFill>
                  <a:srgbClr val="000000"/>
                </a:solidFill>
                <a:latin typeface="Constantia"/>
              </a:rPr>
              <a:t> (IaaS)</a:t>
            </a:r>
            <a:endParaRPr/>
          </a:p>
        </p:txBody>
      </p:sp>
      <p:pic>
        <p:nvPicPr>
          <p:cNvPr id="139" name="Picture 138"/>
          <p:cNvPicPr/>
          <p:nvPr/>
        </p:nvPicPr>
        <p:blipFill>
          <a:blip r:embed="rId2"/>
          <a:stretch>
            <a:fillRect/>
          </a:stretch>
        </p:blipFill>
        <p:spPr>
          <a:xfrm>
            <a:off x="2088000" y="1935000"/>
            <a:ext cx="4607640" cy="3536640"/>
          </a:xfrm>
          <a:prstGeom prst="rect">
            <a:avLst/>
          </a:prstGeom>
          <a:ln>
            <a:noFill/>
          </a:ln>
        </p:spPr>
      </p:pic>
      <p:sp>
        <p:nvSpPr>
          <p:cNvPr id="140" name="CustomShape 2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>
                <a:solidFill>
                  <a:srgbClr val="04617B"/>
                </a:solidFill>
                <a:latin typeface="Calibri"/>
              </a:rPr>
              <a:t>Platform-as-a-Service</a:t>
            </a:r>
            <a:r>
              <a:rPr lang="en-IN" sz="3600">
                <a:solidFill>
                  <a:srgbClr val="000000"/>
                </a:solidFill>
                <a:latin typeface="Constantia"/>
              </a:rPr>
              <a:t> (PaaS)</a:t>
            </a:r>
            <a:endParaRPr/>
          </a:p>
        </p:txBody>
      </p:sp>
      <p:sp>
        <p:nvSpPr>
          <p:cNvPr id="142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>
                <a:latin typeface="Constantia"/>
              </a:rPr>
              <a:t>Represents a pre-defined “ready-to-use” environment.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>
                <a:latin typeface="Constantia"/>
              </a:rPr>
              <a:t>IT resources are already configured and deployed along with pre-packaged products and tools.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>
                <a:latin typeface="Constantia"/>
              </a:rPr>
              <a:t>Common reasons Consumer would use and invest in PaaS :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>
                <a:latin typeface="Constantia"/>
              </a:rPr>
              <a:t>Extend On-Premise environments into cloud for Scalability and economic purposes.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>
                <a:latin typeface="Constantia"/>
              </a:rPr>
              <a:t>Availability of readymade environment to substitute on-premise environment.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43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 dirty="0">
                <a:solidFill>
                  <a:srgbClr val="04617B"/>
                </a:solidFill>
                <a:latin typeface="Calibri"/>
              </a:rPr>
              <a:t>Platform-as-a-Service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 (</a:t>
            </a:r>
            <a:r>
              <a:rPr lang="en-IN" sz="3600" dirty="0" err="1">
                <a:solidFill>
                  <a:srgbClr val="000000"/>
                </a:solidFill>
                <a:latin typeface="Constantia"/>
              </a:rPr>
              <a:t>PaaS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)</a:t>
            </a:r>
            <a:endParaRPr/>
          </a:p>
        </p:txBody>
      </p:sp>
      <p:pic>
        <p:nvPicPr>
          <p:cNvPr id="145" name="Picture 144"/>
          <p:cNvPicPr/>
          <p:nvPr/>
        </p:nvPicPr>
        <p:blipFill>
          <a:blip r:embed="rId2"/>
          <a:stretch>
            <a:fillRect/>
          </a:stretch>
        </p:blipFill>
        <p:spPr>
          <a:xfrm>
            <a:off x="1800000" y="2172240"/>
            <a:ext cx="5255640" cy="3803400"/>
          </a:xfrm>
          <a:prstGeom prst="rect">
            <a:avLst/>
          </a:prstGeom>
          <a:ln>
            <a:noFill/>
          </a:ln>
        </p:spPr>
      </p:pic>
      <p:sp>
        <p:nvSpPr>
          <p:cNvPr id="146" name="CustomShape 2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 dirty="0">
                <a:solidFill>
                  <a:srgbClr val="04617B"/>
                </a:solidFill>
                <a:latin typeface="Calibri"/>
              </a:rPr>
              <a:t>Software-as-a-Service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 (</a:t>
            </a:r>
            <a:r>
              <a:rPr lang="en-IN" sz="3600" dirty="0" err="1">
                <a:solidFill>
                  <a:srgbClr val="000000"/>
                </a:solidFill>
                <a:latin typeface="Constantia"/>
              </a:rPr>
              <a:t>PaaS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)</a:t>
            </a:r>
            <a:endParaRPr/>
          </a:p>
        </p:txBody>
      </p:sp>
      <p:sp>
        <p:nvSpPr>
          <p:cNvPr id="148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 dirty="0">
                <a:latin typeface="Constantia"/>
              </a:rPr>
              <a:t>A software program positioned as a shared cloud service and made available as a “product”.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IN" sz="2400" dirty="0">
                <a:latin typeface="Constantia"/>
              </a:rPr>
              <a:t>A cloud consumer while working with </a:t>
            </a:r>
            <a:r>
              <a:rPr lang="en-IN" sz="2400" dirty="0" err="1">
                <a:latin typeface="Constantia"/>
              </a:rPr>
              <a:t>PaaS</a:t>
            </a:r>
            <a:r>
              <a:rPr lang="en-IN" sz="2400" dirty="0">
                <a:latin typeface="Constantia"/>
              </a:rPr>
              <a:t> environment can build a service and decides to deploy it in same environment as </a:t>
            </a:r>
            <a:r>
              <a:rPr lang="en-IN" sz="2400" dirty="0" err="1">
                <a:latin typeface="Constantia"/>
              </a:rPr>
              <a:t>SaaS</a:t>
            </a:r>
            <a:r>
              <a:rPr lang="en-IN" sz="2400" dirty="0">
                <a:latin typeface="Constantia"/>
              </a:rPr>
              <a:t> offering. 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49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 dirty="0">
                <a:solidFill>
                  <a:srgbClr val="04617B"/>
                </a:solidFill>
                <a:latin typeface="Calibri"/>
              </a:rPr>
              <a:t>Software-as-a-Service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 </a:t>
            </a:r>
            <a:r>
              <a:rPr lang="en-IN" sz="3600" dirty="0" smtClean="0">
                <a:solidFill>
                  <a:srgbClr val="000000"/>
                </a:solidFill>
                <a:latin typeface="Constantia"/>
              </a:rPr>
              <a:t>(</a:t>
            </a:r>
            <a:r>
              <a:rPr lang="en-IN" sz="3600" dirty="0" err="1" smtClean="0">
                <a:solidFill>
                  <a:srgbClr val="000000"/>
                </a:solidFill>
                <a:latin typeface="Constantia"/>
              </a:rPr>
              <a:t>SaaS</a:t>
            </a:r>
            <a:r>
              <a:rPr lang="en-IN" sz="3600" dirty="0">
                <a:solidFill>
                  <a:srgbClr val="000000"/>
                </a:solidFill>
                <a:latin typeface="Constantia"/>
              </a:rPr>
              <a:t>)		</a:t>
            </a:r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52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pic>
        <p:nvPicPr>
          <p:cNvPr id="153" name="Picture 152"/>
          <p:cNvPicPr/>
          <p:nvPr/>
        </p:nvPicPr>
        <p:blipFill>
          <a:blip r:embed="rId2"/>
          <a:stretch>
            <a:fillRect/>
          </a:stretch>
        </p:blipFill>
        <p:spPr>
          <a:xfrm>
            <a:off x="1872000" y="2170440"/>
            <a:ext cx="5327640" cy="4453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 dirty="0" smtClean="0"/>
              <a:t>Comparison </a:t>
            </a:r>
            <a:r>
              <a:rPr lang="en-IN" sz="3600" dirty="0"/>
              <a:t>of cloud delivery model</a:t>
            </a:r>
            <a:endParaRPr/>
          </a:p>
        </p:txBody>
      </p:sp>
      <p:sp>
        <p:nvSpPr>
          <p:cNvPr id="155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56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pic>
        <p:nvPicPr>
          <p:cNvPr id="157" name="Picture 156"/>
          <p:cNvPicPr/>
          <p:nvPr/>
        </p:nvPicPr>
        <p:blipFill>
          <a:blip r:embed="rId2"/>
          <a:stretch>
            <a:fillRect/>
          </a:stretch>
        </p:blipFill>
        <p:spPr>
          <a:xfrm>
            <a:off x="1008000" y="2143800"/>
            <a:ext cx="7152840" cy="404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2600"/>
              <a:t>Activities carried out by cloud consumers and providers</a:t>
            </a:r>
            <a:endParaRPr/>
          </a:p>
        </p:txBody>
      </p:sp>
      <p:sp>
        <p:nvSpPr>
          <p:cNvPr id="159" name="CustomShape 2"/>
          <p:cNvSpPr/>
          <p:nvPr/>
        </p:nvSpPr>
        <p:spPr>
          <a:xfrm>
            <a:off x="648000" y="2088000"/>
            <a:ext cx="7992000" cy="4392000"/>
          </a:xfrm>
          <a:prstGeom prst="rect">
            <a:avLst/>
          </a:prstGeom>
          <a:blipFill>
            <a:blip r:embed="rId2"/>
            <a:tile/>
          </a:blip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60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 algn="ctr">
              <a:lnSpc>
                <a:spcPct val="100000"/>
              </a:lnSpc>
            </a:pPr>
            <a:r>
              <a:rPr lang="en-IN" sz="3600"/>
              <a:t>Combining Cloud delivery models IaaS + PaaS</a:t>
            </a:r>
            <a:endParaRPr/>
          </a:p>
        </p:txBody>
      </p:sp>
      <p:sp>
        <p:nvSpPr>
          <p:cNvPr id="162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63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pic>
        <p:nvPicPr>
          <p:cNvPr id="164" name="Picture 163"/>
          <p:cNvPicPr/>
          <p:nvPr/>
        </p:nvPicPr>
        <p:blipFill>
          <a:blip r:embed="rId2"/>
          <a:stretch>
            <a:fillRect/>
          </a:stretch>
        </p:blipFill>
        <p:spPr>
          <a:xfrm>
            <a:off x="1008000" y="2088000"/>
            <a:ext cx="7344000" cy="4731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/>
          <a:lstStyle/>
          <a:p>
            <a:pPr>
              <a:lnSpc>
                <a:spcPct val="100000"/>
              </a:lnSpc>
            </a:pPr>
            <a:r>
              <a:rPr lang="en-IN" sz="3600" dirty="0"/>
              <a:t>Cloud Deployment Models</a:t>
            </a:r>
            <a:endParaRPr/>
          </a:p>
        </p:txBody>
      </p:sp>
      <p:sp>
        <p:nvSpPr>
          <p:cNvPr id="166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2400">
                <a:latin typeface="Constantia"/>
              </a:rPr>
              <a:t>1) Public Cloud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2400">
                <a:latin typeface="Constantia"/>
              </a:rPr>
              <a:t>2) Community Cloud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2400">
                <a:latin typeface="Constantia"/>
              </a:rPr>
              <a:t>3) Private Cloud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2400">
                <a:latin typeface="Constantia"/>
              </a:rPr>
              <a:t>4) Hybrid Cloud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67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70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71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r>
              <a:rPr lang="en-IN" sz="3600" dirty="0"/>
              <a:t>Public </a:t>
            </a:r>
            <a:r>
              <a:rPr lang="en-IN" sz="3600" dirty="0" smtClean="0"/>
              <a:t>Cloud</a:t>
            </a:r>
            <a:endParaRPr lang="en-IN" sz="3600" dirty="0"/>
          </a:p>
        </p:txBody>
      </p:sp>
      <p:sp>
        <p:nvSpPr>
          <p:cNvPr id="172" name="TextShape 5"/>
          <p:cNvSpPr txBox="1"/>
          <p:nvPr/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 algn="just">
              <a:buSzPct val="25000"/>
              <a:buFont typeface="StarSymbol"/>
              <a:buChar char=""/>
            </a:pPr>
            <a:r>
              <a:rPr lang="en-IN" sz="2400" dirty="0">
                <a:latin typeface="Constantia" pitchFamily="18" charset="0"/>
              </a:rPr>
              <a:t>A Public Cloud is a publicly accessible cloud environment </a:t>
            </a:r>
            <a:endParaRPr lang="en-IN" sz="2400" dirty="0" smtClean="0">
              <a:latin typeface="Constantia" pitchFamily="18" charset="0"/>
            </a:endParaRPr>
          </a:p>
          <a:p>
            <a:pPr algn="just">
              <a:buSzPct val="25000"/>
              <a:buFont typeface="StarSymbol"/>
              <a:buChar char=""/>
            </a:pPr>
            <a:r>
              <a:rPr lang="en-IN" sz="2400" dirty="0" smtClean="0">
                <a:latin typeface="Constantia" pitchFamily="18" charset="0"/>
              </a:rPr>
              <a:t> owned </a:t>
            </a:r>
            <a:r>
              <a:rPr lang="en-IN" sz="2400" dirty="0">
                <a:latin typeface="Constantia" pitchFamily="18" charset="0"/>
              </a:rPr>
              <a:t>by </a:t>
            </a:r>
            <a:r>
              <a:rPr lang="en-IN" sz="2400" dirty="0" smtClean="0">
                <a:latin typeface="Constantia" pitchFamily="18" charset="0"/>
              </a:rPr>
              <a:t>a third-party </a:t>
            </a:r>
            <a:r>
              <a:rPr lang="en-IN" sz="2400" dirty="0">
                <a:latin typeface="Constantia" pitchFamily="18" charset="0"/>
              </a:rPr>
              <a:t>cloud provider.</a:t>
            </a:r>
            <a:endParaRPr sz="2400">
              <a:latin typeface="Constantia" pitchFamily="18" charset="0"/>
            </a:endParaRPr>
          </a:p>
          <a:p>
            <a:pPr algn="just">
              <a:buSzPct val="25000"/>
              <a:buFont typeface="StarSymbol"/>
              <a:buChar char=""/>
            </a:pPr>
            <a:r>
              <a:rPr lang="en-IN" sz="2400" dirty="0">
                <a:latin typeface="Constantia" pitchFamily="18" charset="0"/>
              </a:rPr>
              <a:t>Cloud Provider is responsible for the creation and </a:t>
            </a:r>
            <a:r>
              <a:rPr lang="en-IN" sz="2400" dirty="0" smtClean="0">
                <a:latin typeface="Constantia" pitchFamily="18" charset="0"/>
              </a:rPr>
              <a:t>on-going</a:t>
            </a:r>
          </a:p>
          <a:p>
            <a:pPr algn="just">
              <a:buSzPct val="25000"/>
              <a:buFont typeface="StarSymbol"/>
              <a:buChar char=""/>
            </a:pPr>
            <a:r>
              <a:rPr lang="en-IN" sz="2400" dirty="0" smtClean="0">
                <a:latin typeface="Constantia" pitchFamily="18" charset="0"/>
              </a:rPr>
              <a:t> </a:t>
            </a:r>
            <a:r>
              <a:rPr lang="en-IN" sz="2400" dirty="0" err="1">
                <a:latin typeface="Constantia" pitchFamily="18" charset="0"/>
              </a:rPr>
              <a:t>maintaince</a:t>
            </a:r>
            <a:r>
              <a:rPr lang="en-IN" sz="2400" dirty="0">
                <a:latin typeface="Constantia" pitchFamily="18" charset="0"/>
              </a:rPr>
              <a:t> of the public cloud and its IT resources.</a:t>
            </a:r>
            <a:endParaRPr sz="240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</p:spPr>
      </p:sp>
      <p:sp>
        <p:nvSpPr>
          <p:cNvPr id="174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75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76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3600" dirty="0"/>
              <a:t>Public Cloud</a:t>
            </a:r>
            <a:endParaRPr sz="3600"/>
          </a:p>
        </p:txBody>
      </p:sp>
      <p:pic>
        <p:nvPicPr>
          <p:cNvPr id="177" name="Picture 176"/>
          <p:cNvPicPr/>
          <p:nvPr/>
        </p:nvPicPr>
        <p:blipFill>
          <a:blip r:embed="rId2"/>
          <a:stretch>
            <a:fillRect/>
          </a:stretch>
        </p:blipFill>
        <p:spPr>
          <a:xfrm>
            <a:off x="2498760" y="1604160"/>
            <a:ext cx="4145760" cy="3976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80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81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3600" dirty="0"/>
              <a:t>Community Clouds</a:t>
            </a:r>
            <a:endParaRPr sz="3600"/>
          </a:p>
        </p:txBody>
      </p:sp>
      <p:sp>
        <p:nvSpPr>
          <p:cNvPr id="182" name="TextShape 5"/>
          <p:cNvSpPr txBox="1"/>
          <p:nvPr/>
        </p:nvSpPr>
        <p:spPr>
          <a:xfrm>
            <a:off x="457200" y="1604520"/>
            <a:ext cx="822924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25000"/>
              <a:buFont typeface="Courier New" pitchFamily="49" charset="0"/>
              <a:buChar char="o"/>
            </a:pPr>
            <a:r>
              <a:rPr lang="en-IN" sz="2400" dirty="0" smtClean="0">
                <a:latin typeface="Constantia"/>
              </a:rPr>
              <a:t> A </a:t>
            </a:r>
            <a:r>
              <a:rPr lang="en-IN" sz="2400" dirty="0">
                <a:latin typeface="Constantia"/>
              </a:rPr>
              <a:t>community cloud is similar to Public Cloud except </a:t>
            </a:r>
            <a:r>
              <a:rPr lang="en-IN" sz="2400" dirty="0" smtClean="0">
                <a:latin typeface="Constantia"/>
              </a:rPr>
              <a:t>access</a:t>
            </a:r>
          </a:p>
          <a:p>
            <a:pPr lvl="1">
              <a:buSzPct val="25000"/>
              <a:buFont typeface="Courier New" pitchFamily="49" charset="0"/>
              <a:buChar char="o"/>
            </a:pPr>
            <a:r>
              <a:rPr lang="en-IN" sz="2400" dirty="0" smtClean="0">
                <a:latin typeface="Constantia"/>
              </a:rPr>
              <a:t>is </a:t>
            </a:r>
            <a:r>
              <a:rPr lang="en-IN" sz="2400" dirty="0">
                <a:latin typeface="Constantia"/>
              </a:rPr>
              <a:t>limited to a specific community of cloud consumers</a:t>
            </a:r>
            <a:r>
              <a:rPr lang="en-IN" sz="2400" dirty="0" smtClean="0">
                <a:latin typeface="Constantia"/>
              </a:rPr>
              <a:t>.</a:t>
            </a:r>
          </a:p>
          <a:p>
            <a:pPr>
              <a:buSzPct val="25000"/>
              <a:buFont typeface="Courier New" pitchFamily="49" charset="0"/>
              <a:buChar char="o"/>
            </a:pPr>
            <a:r>
              <a:rPr lang="en-IN" sz="2400" dirty="0">
                <a:latin typeface="Constantia"/>
              </a:rPr>
              <a:t>Community may be jointly owned by the </a:t>
            </a:r>
            <a:r>
              <a:rPr lang="en-IN" sz="2400" dirty="0" smtClean="0">
                <a:latin typeface="Constantia"/>
              </a:rPr>
              <a:t>community</a:t>
            </a:r>
          </a:p>
          <a:p>
            <a:pPr>
              <a:buSzPct val="25000"/>
            </a:pPr>
            <a:r>
              <a:rPr lang="en-IN" sz="2400" dirty="0" smtClean="0">
                <a:latin typeface="Constantia"/>
              </a:rPr>
              <a:t> 	members </a:t>
            </a:r>
            <a:r>
              <a:rPr lang="en-IN" sz="2400" dirty="0">
                <a:latin typeface="Constantia"/>
              </a:rPr>
              <a:t>or a third party cloud provider</a:t>
            </a:r>
            <a:r>
              <a:rPr lang="en-IN" sz="2400" dirty="0" smtClean="0">
                <a:latin typeface="Constantia"/>
              </a:rPr>
              <a:t>.</a:t>
            </a:r>
            <a:endParaRPr lang="en-IN" sz="2400" dirty="0">
              <a:latin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85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86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3600" dirty="0"/>
              <a:t>Community Cloud</a:t>
            </a:r>
            <a:endParaRPr sz="3600"/>
          </a:p>
        </p:txBody>
      </p:sp>
      <p:pic>
        <p:nvPicPr>
          <p:cNvPr id="187" name="Picture 186"/>
          <p:cNvPicPr/>
          <p:nvPr/>
        </p:nvPicPr>
        <p:blipFill>
          <a:blip r:embed="rId2"/>
          <a:stretch>
            <a:fillRect/>
          </a:stretch>
        </p:blipFill>
        <p:spPr>
          <a:xfrm>
            <a:off x="864000" y="1584000"/>
            <a:ext cx="7680240" cy="468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Private Cloud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382000" cy="3976920"/>
          </a:xfrm>
        </p:spPr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Constantia" pitchFamily="18" charset="0"/>
              </a:rPr>
              <a:t>A Private cloud is owned by a single organization.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Constantia" pitchFamily="18" charset="0"/>
              </a:rPr>
              <a:t>Private cloud is a means of centralizing access to IT resources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onstantia" pitchFamily="18" charset="0"/>
              </a:rPr>
              <a:t>by different parts , locations or departments of the organization.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Constantia" pitchFamily="18" charset="0"/>
              </a:rPr>
              <a:t>Same organization is technically both the cloud consumer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Constantia" pitchFamily="18" charset="0"/>
              </a:rPr>
              <a:t>and cloud provider. </a:t>
            </a:r>
            <a:endParaRPr lang="en-US" sz="2400" dirty="0">
              <a:latin typeface="Constantia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>
              <a:latin typeface="Constant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85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86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IN" sz="3600" dirty="0" smtClean="0"/>
              <a:t>Private </a:t>
            </a:r>
            <a:r>
              <a:rPr lang="en-IN" sz="3600" dirty="0"/>
              <a:t>Cloud</a:t>
            </a:r>
            <a:endParaRPr sz="3600"/>
          </a:p>
        </p:txBody>
      </p:sp>
      <p:pic>
        <p:nvPicPr>
          <p:cNvPr id="7" name="Picture 6" descr="4_19 cloud service consumer in the organization's on-premise environment accesses a cloud 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6248400" cy="4724400"/>
          </a:xfrm>
          <a:prstGeom prst="rect">
            <a:avLst/>
          </a:prstGeom>
        </p:spPr>
      </p:pic>
      <p:pic>
        <p:nvPicPr>
          <p:cNvPr id="8" name="Picture 7" descr="4_19 cloud service consumer in the organization's on-premise environment accesses a cloud serv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447800"/>
            <a:ext cx="571500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Hybrid Cloud	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Hybrid Cloud is comprised of two or more cloud deployment.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For </a:t>
            </a:r>
            <a:r>
              <a:rPr lang="en-US" sz="2400" dirty="0" err="1" smtClean="0"/>
              <a:t>eg</a:t>
            </a:r>
            <a:r>
              <a:rPr lang="en-US" sz="2400" dirty="0" smtClean="0"/>
              <a:t>. A cloud consumer may choose to deploy cloud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Services processing sensitive data to a private cloud and other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Less sensitive to a public cloud.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CustomShape 2"/>
          <p:cNvSpPr/>
          <p:nvPr/>
        </p:nvSpPr>
        <p:spPr>
          <a:xfrm>
            <a:off x="457200" y="1935360"/>
            <a:ext cx="8228880" cy="438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85" name="CustomShape 3"/>
          <p:cNvSpPr/>
          <p:nvPr/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en-IN" sz="1200">
                <a:solidFill>
                  <a:srgbClr val="035C75"/>
                </a:solidFill>
                <a:latin typeface="Arial"/>
              </a:rPr>
              <a:t>27/12/17</a:t>
            </a:r>
            <a:endParaRPr/>
          </a:p>
        </p:txBody>
      </p:sp>
      <p:sp>
        <p:nvSpPr>
          <p:cNvPr id="186" name="TextShape 4"/>
          <p:cNvSpPr txBox="1"/>
          <p:nvPr/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lang="en-US" sz="3600" dirty="0" smtClean="0"/>
              <a:t>Hybrid Cloud</a:t>
            </a:r>
            <a:endParaRPr sz="3600"/>
          </a:p>
        </p:txBody>
      </p:sp>
      <p:pic>
        <p:nvPicPr>
          <p:cNvPr id="8" name="Picture 7" descr="4_20 organization using hybrid 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7010400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 smtClean="0"/>
              <a:t>Cloud Enabling Technology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 smtClean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sz="2400" dirty="0"/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Broadband Networks and Internet Architecture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Data Center Technology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Virtualization Technology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Web Technology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Multitenant Technology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Service Technology</a:t>
            </a:r>
          </a:p>
          <a:p>
            <a:pPr>
              <a:buFont typeface="Wingdings" pitchFamily="2" charset="2"/>
              <a:buChar char="§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1384</Words>
  <PresentationFormat>On-screen Show (4:3)</PresentationFormat>
  <Paragraphs>267</Paragraphs>
  <Slides>42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Private Cloud</vt:lpstr>
      <vt:lpstr>Slide 39</vt:lpstr>
      <vt:lpstr>Hybrid Cloud </vt:lpstr>
      <vt:lpstr>Slide 41</vt:lpstr>
      <vt:lpstr>Cloud Enabling Technology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staff-29</cp:lastModifiedBy>
  <cp:revision>46</cp:revision>
  <dcterms:modified xsi:type="dcterms:W3CDTF">2018-12-24T06:40:21Z</dcterms:modified>
</cp:coreProperties>
</file>