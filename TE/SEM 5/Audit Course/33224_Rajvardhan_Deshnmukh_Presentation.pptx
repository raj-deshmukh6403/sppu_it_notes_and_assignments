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11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7E04367-0CBF-445A-9F97-2D281AC9AB3F}">
          <p14:sldIdLst>
            <p14:sldId id="265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60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IN" sz="1800" b="0" strike="noStrike" spc="-1">
                <a:solidFill>
                  <a:srgbClr val="000000"/>
                </a:solidFill>
                <a:latin typeface="Calibri"/>
              </a:rPr>
              <a:t>Click to move the slide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8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19ED0F8-F0C4-43EE-9C79-0AE6C6F3D29E}" type="slidenum"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ED86F0B-6173-48CC-B44C-33EE72375D17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en-IN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7931B1A-4E4D-4340-86D1-BE43E269DB51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en-IN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9899C69-C2A6-4A9D-B0B4-4691E94D0642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en-IN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ECCA5FE-5CAA-47FF-8525-466911F1726E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en-IN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F9FC9DB-CD58-4523-B280-8AF78CD022B2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en-IN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12ACF70-B56A-420F-8D11-FC350FAA226C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7</a:t>
            </a:fld>
            <a:endParaRPr lang="en-IN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6D668D1-0B57-4D8B-9E64-CE775A77AF71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lang="en-IN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>
              <a:lnSpc>
                <a:spcPct val="100000"/>
              </a:lnSpc>
              <a:buNone/>
              <a:defRPr lang="en-US" sz="18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8D11F43-70ED-4275-8073-7A3370901E64}" type="slidenum">
              <a:rPr lang="en-US" sz="1800" b="0" strike="noStrike" spc="-1">
                <a:solidFill>
                  <a:srgbClr val="000000"/>
                </a:solidFill>
                <a:latin typeface="+mn-lt"/>
                <a:ea typeface="+mn-ea"/>
              </a:rPr>
              <a:t>9</a:t>
            </a:fld>
            <a:endParaRPr lang="en-IN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8A5B-2286-04AC-E549-AD9E2DEF5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C5930D-1D91-793E-86DF-DCEC0EA67416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480057-D02F-F51B-A388-F6DA91D67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30400" cy="822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28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13811">
            <a:solidFill>
              <a:srgbClr val="E5E0D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Text 2"/>
          <p:cNvSpPr/>
          <p:nvPr/>
        </p:nvSpPr>
        <p:spPr>
          <a:xfrm>
            <a:off x="1540440" y="3767760"/>
            <a:ext cx="8473320" cy="69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5468"/>
              </a:lnSpc>
              <a:tabLst>
                <a:tab pos="0" algn="l"/>
              </a:tabLst>
            </a:pPr>
            <a:r>
              <a:rPr lang="en-US" sz="4370" b="1" strike="noStrike" spc="-131">
                <a:solidFill>
                  <a:srgbClr val="000000"/>
                </a:solidFill>
                <a:latin typeface="Calibri"/>
                <a:ea typeface="Inter"/>
              </a:rPr>
              <a:t>Definition of Startup Ecosystems</a:t>
            </a:r>
            <a:endParaRPr lang="en-IN" sz="43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1656000" y="4746600"/>
            <a:ext cx="10554120" cy="10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2200" b="0" strike="noStrike" spc="-35" dirty="0">
                <a:solidFill>
                  <a:srgbClr val="272525"/>
                </a:solidFill>
                <a:latin typeface="Calibri"/>
                <a:ea typeface="Inter"/>
              </a:rPr>
              <a:t>Startup ecosystems are thriving networks of interconnected institutions, organizations, and individuals that support the creation and growth of startups. They provide a nurturing environment for entrepreneurs and facilitate collaboration, knowledge sharing, and resource access.</a:t>
            </a:r>
            <a:endParaRPr lang="en-IN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Picture 8"/>
          <p:cNvPicPr/>
          <p:nvPr/>
        </p:nvPicPr>
        <p:blipFill>
          <a:blip r:embed="rId3"/>
          <a:srcRect t="13894" b="11578"/>
          <a:stretch/>
        </p:blipFill>
        <p:spPr>
          <a:xfrm>
            <a:off x="0" y="0"/>
            <a:ext cx="14630040" cy="3474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13811">
            <a:solidFill>
              <a:srgbClr val="E5E0D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3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94" name="Shape 2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>
              <a:alpha val="8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Text 3"/>
          <p:cNvSpPr/>
          <p:nvPr/>
        </p:nvSpPr>
        <p:spPr>
          <a:xfrm>
            <a:off x="2037960" y="1414440"/>
            <a:ext cx="10523520" cy="69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5468"/>
              </a:lnSpc>
              <a:tabLst>
                <a:tab pos="0" algn="l"/>
              </a:tabLst>
            </a:pPr>
            <a:r>
              <a:rPr lang="en-US" sz="4370" b="1" strike="noStrike" spc="-131">
                <a:solidFill>
                  <a:srgbClr val="000000"/>
                </a:solidFill>
                <a:latin typeface="Calibri"/>
                <a:ea typeface="Inter"/>
              </a:rPr>
              <a:t>Key Components of a Startup Ecosystem</a:t>
            </a:r>
            <a:endParaRPr lang="en-IN" sz="43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"/>
          <p:cNvSpPr/>
          <p:nvPr/>
        </p:nvSpPr>
        <p:spPr>
          <a:xfrm>
            <a:off x="2037960" y="2615400"/>
            <a:ext cx="499680" cy="499680"/>
          </a:xfrm>
          <a:prstGeom prst="roundRect">
            <a:avLst>
              <a:gd name="adj" fmla="val 20000"/>
            </a:avLst>
          </a:prstGeom>
          <a:solidFill>
            <a:srgbClr val="DADBF1"/>
          </a:solidFill>
          <a:ln w="13811">
            <a:solidFill>
              <a:srgbClr val="B5B7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Text 5"/>
          <p:cNvSpPr/>
          <p:nvPr/>
        </p:nvSpPr>
        <p:spPr>
          <a:xfrm>
            <a:off x="2206440" y="2657160"/>
            <a:ext cx="162720" cy="41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ctr">
              <a:lnSpc>
                <a:spcPts val="3280"/>
              </a:lnSpc>
              <a:tabLst>
                <a:tab pos="0" algn="l"/>
              </a:tabLst>
            </a:pPr>
            <a:r>
              <a:rPr lang="en-US" sz="2620" b="1" strike="noStrike" spc="-35">
                <a:solidFill>
                  <a:srgbClr val="272525"/>
                </a:solidFill>
                <a:latin typeface="Inter"/>
                <a:ea typeface="Inter"/>
              </a:rPr>
              <a:t>1</a:t>
            </a:r>
            <a:endParaRPr lang="en-IN" sz="26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2760120" y="2691720"/>
            <a:ext cx="222156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2733"/>
              </a:lnSpc>
              <a:tabLst>
                <a:tab pos="0" algn="l"/>
              </a:tabLst>
            </a:pPr>
            <a:r>
              <a:rPr lang="en-US" sz="2190" b="1" strike="noStrike" spc="-66">
                <a:solidFill>
                  <a:srgbClr val="272525"/>
                </a:solidFill>
                <a:latin typeface="Inter"/>
                <a:ea typeface="Inter"/>
              </a:rPr>
              <a:t>Talent Pool </a:t>
            </a:r>
            <a:r>
              <a:rPr lang="en-US" sz="2190" b="1" strike="noStrike" spc="-66">
                <a:solidFill>
                  <a:srgbClr val="000000"/>
                </a:solidFill>
                <a:latin typeface="Inter"/>
                <a:ea typeface="Inter"/>
              </a:rPr>
              <a:t>👥</a:t>
            </a:r>
            <a:endParaRPr lang="en-IN" sz="21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2760120" y="3261240"/>
            <a:ext cx="2647440" cy="284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An abundance of skilled individuals is vital for a thriving startup ecosystem. Access to talented entrepreneurs, engineers, designers, and marketers is essential for startup success.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8"/>
          <p:cNvSpPr/>
          <p:nvPr/>
        </p:nvSpPr>
        <p:spPr>
          <a:xfrm>
            <a:off x="5630400" y="2615400"/>
            <a:ext cx="499680" cy="499680"/>
          </a:xfrm>
          <a:prstGeom prst="roundRect">
            <a:avLst>
              <a:gd name="adj" fmla="val 20000"/>
            </a:avLst>
          </a:prstGeom>
          <a:solidFill>
            <a:srgbClr val="DADBF1"/>
          </a:solidFill>
          <a:ln w="13811">
            <a:solidFill>
              <a:srgbClr val="B5B7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5779440" y="2657160"/>
            <a:ext cx="200880" cy="41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ctr">
              <a:lnSpc>
                <a:spcPts val="3280"/>
              </a:lnSpc>
              <a:tabLst>
                <a:tab pos="0" algn="l"/>
              </a:tabLst>
            </a:pPr>
            <a:r>
              <a:rPr lang="en-US" sz="2620" b="1" strike="noStrike" spc="-35">
                <a:solidFill>
                  <a:srgbClr val="272525"/>
                </a:solidFill>
                <a:latin typeface="Inter"/>
                <a:ea typeface="Inter"/>
              </a:rPr>
              <a:t>2</a:t>
            </a:r>
            <a:endParaRPr lang="en-IN" sz="26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6352200" y="2691720"/>
            <a:ext cx="26074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2733"/>
              </a:lnSpc>
              <a:tabLst>
                <a:tab pos="0" algn="l"/>
              </a:tabLst>
            </a:pPr>
            <a:r>
              <a:rPr lang="en-US" sz="2190" b="1" strike="noStrike" spc="-66">
                <a:solidFill>
                  <a:srgbClr val="272525"/>
                </a:solidFill>
                <a:latin typeface="Inter"/>
                <a:ea typeface="Inter"/>
              </a:rPr>
              <a:t>Access to Capital </a:t>
            </a:r>
            <a:r>
              <a:rPr lang="en-US" sz="2190" b="1" strike="noStrike" spc="-66">
                <a:solidFill>
                  <a:srgbClr val="000000"/>
                </a:solidFill>
                <a:latin typeface="Inter"/>
                <a:ea typeface="Inter"/>
              </a:rPr>
              <a:t>💰</a:t>
            </a:r>
            <a:endParaRPr lang="en-IN" sz="21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1"/>
          <p:cNvSpPr/>
          <p:nvPr/>
        </p:nvSpPr>
        <p:spPr>
          <a:xfrm>
            <a:off x="6352200" y="3261240"/>
            <a:ext cx="2647440" cy="355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From angel investors to venture capitalists, a robust network of funding sources fuels the growth of startups. Investment opportunities, crowdfunding platforms, and startup competitions are also integral to the ecosystem.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2"/>
          <p:cNvSpPr/>
          <p:nvPr/>
        </p:nvSpPr>
        <p:spPr>
          <a:xfrm>
            <a:off x="9222480" y="2615400"/>
            <a:ext cx="499680" cy="499680"/>
          </a:xfrm>
          <a:prstGeom prst="roundRect">
            <a:avLst>
              <a:gd name="adj" fmla="val 20000"/>
            </a:avLst>
          </a:prstGeom>
          <a:solidFill>
            <a:srgbClr val="DADBF1"/>
          </a:solidFill>
          <a:ln w="13811">
            <a:solidFill>
              <a:srgbClr val="B5B7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9367920" y="2657160"/>
            <a:ext cx="208440" cy="41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ctr">
              <a:lnSpc>
                <a:spcPts val="3280"/>
              </a:lnSpc>
              <a:tabLst>
                <a:tab pos="0" algn="l"/>
              </a:tabLst>
            </a:pPr>
            <a:r>
              <a:rPr lang="en-US" sz="2620" b="1" strike="noStrike" spc="-35">
                <a:solidFill>
                  <a:srgbClr val="272525"/>
                </a:solidFill>
                <a:latin typeface="Inter"/>
                <a:ea typeface="Inter"/>
              </a:rPr>
              <a:t>3</a:t>
            </a:r>
            <a:endParaRPr lang="en-IN" sz="26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4"/>
          <p:cNvSpPr/>
          <p:nvPr/>
        </p:nvSpPr>
        <p:spPr>
          <a:xfrm>
            <a:off x="9944640" y="2691720"/>
            <a:ext cx="2647440" cy="69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33"/>
              </a:lnSpc>
              <a:tabLst>
                <a:tab pos="0" algn="l"/>
              </a:tabLst>
            </a:pPr>
            <a:r>
              <a:rPr lang="en-US" sz="2190" b="1" strike="noStrike" spc="-66">
                <a:solidFill>
                  <a:srgbClr val="272525"/>
                </a:solidFill>
                <a:latin typeface="Inter"/>
                <a:ea typeface="Inter"/>
              </a:rPr>
              <a:t>Supportive Infrastructure </a:t>
            </a:r>
            <a:r>
              <a:rPr lang="en-US" sz="2190" b="1" strike="noStrike" spc="-66">
                <a:solidFill>
                  <a:srgbClr val="000000"/>
                </a:solidFill>
                <a:latin typeface="Inter"/>
                <a:ea typeface="Inter"/>
              </a:rPr>
              <a:t>🏢</a:t>
            </a:r>
            <a:endParaRPr lang="en-IN" sz="21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5"/>
          <p:cNvSpPr/>
          <p:nvPr/>
        </p:nvSpPr>
        <p:spPr>
          <a:xfrm>
            <a:off x="9944640" y="3608280"/>
            <a:ext cx="2647440" cy="284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Physical and digital infrastructure, such as co-working spaces, technology hubs, and high-speed internet, provide startups with the necessary tools and resources to flourish.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13811">
            <a:solidFill>
              <a:srgbClr val="E5E0D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2037960" y="2181960"/>
            <a:ext cx="7503480" cy="69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5468"/>
              </a:lnSpc>
              <a:tabLst>
                <a:tab pos="0" algn="l"/>
              </a:tabLst>
            </a:pPr>
            <a:r>
              <a:rPr lang="en-US" sz="4370" b="1" strike="noStrike" spc="-131">
                <a:solidFill>
                  <a:srgbClr val="000000"/>
                </a:solidFill>
                <a:latin typeface="Inter"/>
                <a:ea typeface="Inter"/>
              </a:rPr>
              <a:t>Funding Sources for Startups</a:t>
            </a:r>
            <a:endParaRPr lang="en-IN" sz="43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2037960" y="3431880"/>
            <a:ext cx="2665800" cy="41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3280"/>
              </a:lnSpc>
              <a:tabLst>
                <a:tab pos="0" algn="l"/>
              </a:tabLst>
            </a:pPr>
            <a:r>
              <a:rPr lang="en-US" sz="2620" b="1" strike="noStrike" spc="-80">
                <a:solidFill>
                  <a:srgbClr val="000000"/>
                </a:solidFill>
                <a:latin typeface="Inter"/>
                <a:ea typeface="Inter"/>
              </a:rPr>
              <a:t>Angel Investors</a:t>
            </a:r>
            <a:endParaRPr lang="en-IN" sz="26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2037960" y="4070520"/>
            <a:ext cx="3156120" cy="177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Individuals who provide capital to startups in exchange for equity. They often offer valuable advice and mentorship.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5743800" y="3431880"/>
            <a:ext cx="2956680" cy="41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3280"/>
              </a:lnSpc>
              <a:tabLst>
                <a:tab pos="0" algn="l"/>
              </a:tabLst>
            </a:pPr>
            <a:r>
              <a:rPr lang="en-US" sz="2620" b="1" strike="noStrike" spc="-80">
                <a:solidFill>
                  <a:srgbClr val="000000"/>
                </a:solidFill>
                <a:latin typeface="Inter"/>
                <a:ea typeface="Inter"/>
              </a:rPr>
              <a:t>Venture Capitalists</a:t>
            </a:r>
            <a:endParaRPr lang="en-IN" sz="26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5743800" y="4070520"/>
            <a:ext cx="3156120" cy="177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Firms that invest in startups with high growth potential. They provide funding and expertise to scale up operations.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7"/>
          <p:cNvSpPr/>
          <p:nvPr/>
        </p:nvSpPr>
        <p:spPr>
          <a:xfrm>
            <a:off x="9450000" y="3431880"/>
            <a:ext cx="2665800" cy="41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3280"/>
              </a:lnSpc>
              <a:tabLst>
                <a:tab pos="0" algn="l"/>
              </a:tabLst>
            </a:pPr>
            <a:r>
              <a:rPr lang="en-US" sz="2620" b="1" strike="noStrike" spc="-80">
                <a:solidFill>
                  <a:srgbClr val="000000"/>
                </a:solidFill>
                <a:latin typeface="Inter"/>
                <a:ea typeface="Inter"/>
              </a:rPr>
              <a:t>Crowdfunding</a:t>
            </a:r>
            <a:endParaRPr lang="en-IN" sz="26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9450000" y="4070520"/>
            <a:ext cx="3156120" cy="177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An alternative way for startups to raise capital by collecting small amounts from a large number of individuals via online platforms.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13811">
            <a:solidFill>
              <a:srgbClr val="E5E0D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2037960" y="624240"/>
            <a:ext cx="10554120" cy="138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5468"/>
              </a:lnSpc>
              <a:tabLst>
                <a:tab pos="0" algn="l"/>
              </a:tabLst>
            </a:pPr>
            <a:r>
              <a:rPr lang="en-US" sz="4370" b="1" strike="noStrike" spc="-131">
                <a:solidFill>
                  <a:srgbClr val="000000"/>
                </a:solidFill>
                <a:latin typeface="Inter"/>
                <a:ea typeface="Inter"/>
              </a:rPr>
              <a:t>Role of Government in Supporting Startup Ecosystems</a:t>
            </a:r>
            <a:endParaRPr lang="en-IN" sz="43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2037960" y="2457360"/>
            <a:ext cx="5165640" cy="2462400"/>
          </a:xfrm>
          <a:prstGeom prst="roundRect">
            <a:avLst>
              <a:gd name="adj" fmla="val 4060"/>
            </a:avLst>
          </a:prstGeom>
          <a:solidFill>
            <a:srgbClr val="DADBF1"/>
          </a:solidFill>
          <a:ln w="13811">
            <a:solidFill>
              <a:srgbClr val="B5B7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2274120" y="2693160"/>
            <a:ext cx="27882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2733"/>
              </a:lnSpc>
              <a:tabLst>
                <a:tab pos="0" algn="l"/>
              </a:tabLst>
            </a:pPr>
            <a:r>
              <a:rPr lang="en-US" sz="2190" b="1" strike="noStrike" spc="-66">
                <a:solidFill>
                  <a:srgbClr val="272525"/>
                </a:solidFill>
                <a:latin typeface="Inter"/>
                <a:ea typeface="Inter"/>
              </a:rPr>
              <a:t>Policies &amp; Regulations</a:t>
            </a:r>
            <a:endParaRPr lang="en-IN" sz="21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5"/>
          <p:cNvSpPr/>
          <p:nvPr/>
        </p:nvSpPr>
        <p:spPr>
          <a:xfrm>
            <a:off x="2274120" y="3262680"/>
            <a:ext cx="4693680" cy="14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Creating an enabling environment through favorable policies, tax incentives, and streamlined regulations that foster innovation and entrepreneurship.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6"/>
          <p:cNvSpPr/>
          <p:nvPr/>
        </p:nvSpPr>
        <p:spPr>
          <a:xfrm>
            <a:off x="7426440" y="2457360"/>
            <a:ext cx="5165640" cy="2462400"/>
          </a:xfrm>
          <a:prstGeom prst="roundRect">
            <a:avLst>
              <a:gd name="adj" fmla="val 4060"/>
            </a:avLst>
          </a:prstGeom>
          <a:solidFill>
            <a:srgbClr val="DADBF1"/>
          </a:solidFill>
          <a:ln w="13811">
            <a:solidFill>
              <a:srgbClr val="B5B7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7662240" y="2693160"/>
            <a:ext cx="398772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2733"/>
              </a:lnSpc>
              <a:tabLst>
                <a:tab pos="0" algn="l"/>
              </a:tabLst>
            </a:pPr>
            <a:r>
              <a:rPr lang="en-US" sz="2190" b="1" strike="noStrike" spc="-66">
                <a:solidFill>
                  <a:srgbClr val="272525"/>
                </a:solidFill>
                <a:latin typeface="Inter"/>
                <a:ea typeface="Inter"/>
              </a:rPr>
              <a:t>Access to Government Funding</a:t>
            </a:r>
            <a:endParaRPr lang="en-IN" sz="21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7662240" y="3262680"/>
            <a:ext cx="4693680" cy="10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Providing grants, loans, and support programs to startups, particularly in sectors prioritized for economic development.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9"/>
          <p:cNvSpPr/>
          <p:nvPr/>
        </p:nvSpPr>
        <p:spPr>
          <a:xfrm>
            <a:off x="2037960" y="5142600"/>
            <a:ext cx="5165640" cy="2462400"/>
          </a:xfrm>
          <a:prstGeom prst="roundRect">
            <a:avLst>
              <a:gd name="adj" fmla="val 4060"/>
            </a:avLst>
          </a:prstGeom>
          <a:solidFill>
            <a:srgbClr val="DADBF1"/>
          </a:solidFill>
          <a:ln w="13811">
            <a:solidFill>
              <a:srgbClr val="B5B7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2274120" y="5378400"/>
            <a:ext cx="379584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2733"/>
              </a:lnSpc>
              <a:tabLst>
                <a:tab pos="0" algn="l"/>
              </a:tabLst>
            </a:pPr>
            <a:r>
              <a:rPr lang="en-US" sz="2190" b="1" strike="noStrike" spc="-66">
                <a:solidFill>
                  <a:srgbClr val="272525"/>
                </a:solidFill>
                <a:latin typeface="Inter"/>
                <a:ea typeface="Inter"/>
              </a:rPr>
              <a:t>Ecosystem Building Initiatives</a:t>
            </a:r>
            <a:endParaRPr lang="en-IN" sz="21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1"/>
          <p:cNvSpPr/>
          <p:nvPr/>
        </p:nvSpPr>
        <p:spPr>
          <a:xfrm>
            <a:off x="2274120" y="5947920"/>
            <a:ext cx="4693680" cy="10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Establishing startup hubs, incubators, and accelerators to nurture local startup ecosystems and attract talent and capital.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2"/>
          <p:cNvSpPr/>
          <p:nvPr/>
        </p:nvSpPr>
        <p:spPr>
          <a:xfrm>
            <a:off x="7426440" y="5142600"/>
            <a:ext cx="5165640" cy="2462400"/>
          </a:xfrm>
          <a:prstGeom prst="roundRect">
            <a:avLst>
              <a:gd name="adj" fmla="val 4060"/>
            </a:avLst>
          </a:prstGeom>
          <a:solidFill>
            <a:srgbClr val="DADBF1"/>
          </a:solidFill>
          <a:ln w="13811">
            <a:solidFill>
              <a:srgbClr val="B5B7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Text 13"/>
          <p:cNvSpPr/>
          <p:nvPr/>
        </p:nvSpPr>
        <p:spPr>
          <a:xfrm>
            <a:off x="7662240" y="5378400"/>
            <a:ext cx="349416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2733"/>
              </a:lnSpc>
              <a:tabLst>
                <a:tab pos="0" algn="l"/>
              </a:tabLst>
            </a:pPr>
            <a:r>
              <a:rPr lang="en-US" sz="2190" b="1" strike="noStrike" spc="-66">
                <a:solidFill>
                  <a:srgbClr val="272525"/>
                </a:solidFill>
                <a:latin typeface="Inter"/>
                <a:ea typeface="Inter"/>
              </a:rPr>
              <a:t>Networking &amp; Collaboration</a:t>
            </a:r>
            <a:endParaRPr lang="en-IN" sz="21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4"/>
          <p:cNvSpPr/>
          <p:nvPr/>
        </p:nvSpPr>
        <p:spPr>
          <a:xfrm>
            <a:off x="7662240" y="5947920"/>
            <a:ext cx="4693680" cy="14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Facilitating connections between entrepreneurs, mentors, investors, and industry experts through events, conferences, and networking platforms.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13811">
            <a:solidFill>
              <a:srgbClr val="E5E0D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2037960" y="1037160"/>
            <a:ext cx="9352800" cy="69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5468"/>
              </a:lnSpc>
              <a:tabLst>
                <a:tab pos="0" algn="l"/>
              </a:tabLst>
            </a:pPr>
            <a:r>
              <a:rPr lang="en-US" sz="4370" b="1" strike="noStrike" spc="-131">
                <a:solidFill>
                  <a:srgbClr val="000000"/>
                </a:solidFill>
                <a:latin typeface="Inter"/>
                <a:ea typeface="Inter"/>
              </a:rPr>
              <a:t>Startup Incubators and Accelerators</a:t>
            </a:r>
            <a:endParaRPr lang="en-IN" sz="437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Image 0" descr="preencoded.png"/>
          <p:cNvPicPr/>
          <p:nvPr/>
        </p:nvPicPr>
        <p:blipFill>
          <a:blip r:embed="rId3"/>
          <a:stretch/>
        </p:blipFill>
        <p:spPr>
          <a:xfrm>
            <a:off x="2037960" y="2175840"/>
            <a:ext cx="3295440" cy="2036520"/>
          </a:xfrm>
          <a:prstGeom prst="rect">
            <a:avLst/>
          </a:prstGeom>
          <a:ln w="0">
            <a:noFill/>
          </a:ln>
        </p:spPr>
      </p:pic>
      <p:sp>
        <p:nvSpPr>
          <p:cNvPr id="136" name="Text 3"/>
          <p:cNvSpPr/>
          <p:nvPr/>
        </p:nvSpPr>
        <p:spPr>
          <a:xfrm>
            <a:off x="2037960" y="4490280"/>
            <a:ext cx="222156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2733"/>
              </a:lnSpc>
              <a:tabLst>
                <a:tab pos="0" algn="l"/>
              </a:tabLst>
            </a:pPr>
            <a:r>
              <a:rPr lang="en-US" sz="2190" b="1" strike="noStrike" spc="-66">
                <a:solidFill>
                  <a:srgbClr val="000000"/>
                </a:solidFill>
                <a:latin typeface="Inter"/>
                <a:ea typeface="Inter"/>
              </a:rPr>
              <a:t>Incubators</a:t>
            </a:r>
            <a:endParaRPr lang="en-IN" sz="21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4"/>
          <p:cNvSpPr/>
          <p:nvPr/>
        </p:nvSpPr>
        <p:spPr>
          <a:xfrm>
            <a:off x="2037960" y="5059800"/>
            <a:ext cx="3295440" cy="213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Support early-stage startups by providing mentorship, workspace, access to experts, and resources to help them develop their ideas into viable businesses.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Image 1" descr="preencoded.png"/>
          <p:cNvPicPr/>
          <p:nvPr/>
        </p:nvPicPr>
        <p:blipFill>
          <a:blip r:embed="rId4"/>
          <a:stretch/>
        </p:blipFill>
        <p:spPr>
          <a:xfrm>
            <a:off x="5667120" y="2175840"/>
            <a:ext cx="3295800" cy="2036520"/>
          </a:xfrm>
          <a:prstGeom prst="rect">
            <a:avLst/>
          </a:prstGeom>
          <a:ln w="0">
            <a:noFill/>
          </a:ln>
        </p:spPr>
      </p:pic>
      <p:sp>
        <p:nvSpPr>
          <p:cNvPr id="139" name="Text 5"/>
          <p:cNvSpPr/>
          <p:nvPr/>
        </p:nvSpPr>
        <p:spPr>
          <a:xfrm>
            <a:off x="5667120" y="4490640"/>
            <a:ext cx="222156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2733"/>
              </a:lnSpc>
              <a:tabLst>
                <a:tab pos="0" algn="l"/>
              </a:tabLst>
            </a:pPr>
            <a:r>
              <a:rPr lang="en-US" sz="2190" b="1" strike="noStrike" spc="-66">
                <a:solidFill>
                  <a:srgbClr val="000000"/>
                </a:solidFill>
                <a:latin typeface="Inter"/>
                <a:ea typeface="Inter"/>
              </a:rPr>
              <a:t>Accelerators</a:t>
            </a:r>
            <a:endParaRPr lang="en-IN" sz="21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5667120" y="5059800"/>
            <a:ext cx="3295800" cy="177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Intensive programs that mentor startups for a fixed period, typically 3-6 months, with the aim of rapidly scaling and preparing them for investment.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Image 2" descr="preencoded.png"/>
          <p:cNvPicPr/>
          <p:nvPr/>
        </p:nvPicPr>
        <p:blipFill>
          <a:blip r:embed="rId5"/>
          <a:stretch/>
        </p:blipFill>
        <p:spPr>
          <a:xfrm>
            <a:off x="9296280" y="2175840"/>
            <a:ext cx="3295800" cy="2036520"/>
          </a:xfrm>
          <a:prstGeom prst="rect">
            <a:avLst/>
          </a:prstGeom>
          <a:ln w="0">
            <a:noFill/>
          </a:ln>
        </p:spPr>
      </p:pic>
      <p:sp>
        <p:nvSpPr>
          <p:cNvPr id="142" name="Text 7"/>
          <p:cNvSpPr/>
          <p:nvPr/>
        </p:nvSpPr>
        <p:spPr>
          <a:xfrm>
            <a:off x="9296280" y="4490640"/>
            <a:ext cx="222156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2733"/>
              </a:lnSpc>
              <a:tabLst>
                <a:tab pos="0" algn="l"/>
              </a:tabLst>
            </a:pPr>
            <a:r>
              <a:rPr lang="en-US" sz="2190" b="1" strike="noStrike" spc="-66">
                <a:solidFill>
                  <a:srgbClr val="000000"/>
                </a:solidFill>
                <a:latin typeface="Inter"/>
                <a:ea typeface="Inter"/>
              </a:rPr>
              <a:t>Startup Hubs</a:t>
            </a:r>
            <a:endParaRPr lang="en-IN" sz="21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9296280" y="5059800"/>
            <a:ext cx="3295800" cy="213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Physical spaces that bring together startups, investors, corporations, and other ecosystem stakeholders to foster collaboration and knowledge exchange.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13335">
            <a:solidFill>
              <a:srgbClr val="E5E0D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Text 2"/>
          <p:cNvSpPr/>
          <p:nvPr/>
        </p:nvSpPr>
        <p:spPr>
          <a:xfrm>
            <a:off x="2244600" y="587520"/>
            <a:ext cx="913860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5253"/>
              </a:lnSpc>
              <a:tabLst>
                <a:tab pos="0" algn="l"/>
              </a:tabLst>
            </a:pPr>
            <a:r>
              <a:rPr lang="en-US" sz="4200" b="1" strike="noStrike" spc="-126">
                <a:solidFill>
                  <a:srgbClr val="000000"/>
                </a:solidFill>
                <a:latin typeface="Inter"/>
                <a:ea typeface="Inter"/>
              </a:rPr>
              <a:t>Key Players in the Startup Ecosystem</a:t>
            </a:r>
            <a:endParaRPr lang="en-IN" sz="4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3"/>
          <p:cNvSpPr/>
          <p:nvPr/>
        </p:nvSpPr>
        <p:spPr>
          <a:xfrm>
            <a:off x="7293960" y="1681560"/>
            <a:ext cx="42120" cy="5960160"/>
          </a:xfrm>
          <a:prstGeom prst="rect">
            <a:avLst/>
          </a:prstGeom>
          <a:solidFill>
            <a:srgbClr val="B5B7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Shape 4"/>
          <p:cNvSpPr/>
          <p:nvPr/>
        </p:nvSpPr>
        <p:spPr>
          <a:xfrm>
            <a:off x="7555320" y="2067120"/>
            <a:ext cx="747000" cy="42120"/>
          </a:xfrm>
          <a:prstGeom prst="rect">
            <a:avLst/>
          </a:prstGeom>
          <a:solidFill>
            <a:srgbClr val="B5B7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20" rIns="90000" bIns="-252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Shape 5"/>
          <p:cNvSpPr/>
          <p:nvPr/>
        </p:nvSpPr>
        <p:spPr>
          <a:xfrm>
            <a:off x="7075080" y="1848240"/>
            <a:ext cx="479880" cy="479880"/>
          </a:xfrm>
          <a:prstGeom prst="roundRect">
            <a:avLst>
              <a:gd name="adj" fmla="val 20003"/>
            </a:avLst>
          </a:prstGeom>
          <a:solidFill>
            <a:srgbClr val="DADBF1"/>
          </a:solidFill>
          <a:ln w="13335">
            <a:solidFill>
              <a:srgbClr val="B5B7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Text 6"/>
          <p:cNvSpPr/>
          <p:nvPr/>
        </p:nvSpPr>
        <p:spPr>
          <a:xfrm>
            <a:off x="7241040" y="1888200"/>
            <a:ext cx="147960" cy="39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ctr">
              <a:lnSpc>
                <a:spcPts val="3152"/>
              </a:lnSpc>
              <a:tabLst>
                <a:tab pos="0" algn="l"/>
              </a:tabLst>
            </a:pPr>
            <a:r>
              <a:rPr lang="en-US" sz="2520" b="1" strike="noStrike" spc="-35">
                <a:solidFill>
                  <a:srgbClr val="272525"/>
                </a:solidFill>
                <a:latin typeface="Inter"/>
                <a:ea typeface="Inter"/>
              </a:rPr>
              <a:t>1</a:t>
            </a:r>
            <a:endParaRPr lang="en-IN" sz="25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8489520" y="1895040"/>
            <a:ext cx="213444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2628"/>
              </a:lnSpc>
              <a:tabLst>
                <a:tab pos="0" algn="l"/>
              </a:tabLst>
            </a:pPr>
            <a:r>
              <a:rPr lang="en-US" sz="2100" b="1" strike="noStrike" spc="-63">
                <a:solidFill>
                  <a:srgbClr val="272525"/>
                </a:solidFill>
                <a:latin typeface="Inter"/>
                <a:ea typeface="Inter"/>
              </a:rPr>
              <a:t>Entrepreneurs</a:t>
            </a:r>
            <a:endParaRPr lang="en-IN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8489520" y="2441880"/>
            <a:ext cx="3895920" cy="102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690"/>
              </a:lnSpc>
              <a:tabLst>
                <a:tab pos="0" algn="l"/>
              </a:tabLst>
            </a:pPr>
            <a:r>
              <a:rPr lang="en-US" sz="1679" b="0" strike="noStrike" spc="-35">
                <a:solidFill>
                  <a:srgbClr val="272525"/>
                </a:solidFill>
                <a:latin typeface="Inter"/>
                <a:ea typeface="Inter"/>
              </a:rPr>
              <a:t>Creative and ambitious individuals who drive innovation and take risks to bring their ideas to life in the form of startups.</a:t>
            </a:r>
            <a:endParaRPr lang="en-IN" sz="167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9"/>
          <p:cNvSpPr/>
          <p:nvPr/>
        </p:nvSpPr>
        <p:spPr>
          <a:xfrm>
            <a:off x="6327720" y="3134520"/>
            <a:ext cx="747000" cy="42120"/>
          </a:xfrm>
          <a:prstGeom prst="rect">
            <a:avLst/>
          </a:prstGeom>
          <a:solidFill>
            <a:srgbClr val="B5B7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20" rIns="90000" bIns="-252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Shape 10"/>
          <p:cNvSpPr/>
          <p:nvPr/>
        </p:nvSpPr>
        <p:spPr>
          <a:xfrm>
            <a:off x="7075080" y="2915640"/>
            <a:ext cx="479880" cy="479880"/>
          </a:xfrm>
          <a:prstGeom prst="roundRect">
            <a:avLst>
              <a:gd name="adj" fmla="val 20003"/>
            </a:avLst>
          </a:prstGeom>
          <a:solidFill>
            <a:srgbClr val="DADBF1"/>
          </a:solidFill>
          <a:ln w="13335">
            <a:solidFill>
              <a:srgbClr val="B5B7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Text 11"/>
          <p:cNvSpPr/>
          <p:nvPr/>
        </p:nvSpPr>
        <p:spPr>
          <a:xfrm>
            <a:off x="7218000" y="2955600"/>
            <a:ext cx="193680" cy="39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ctr">
              <a:lnSpc>
                <a:spcPts val="3152"/>
              </a:lnSpc>
              <a:tabLst>
                <a:tab pos="0" algn="l"/>
              </a:tabLst>
            </a:pPr>
            <a:r>
              <a:rPr lang="en-US" sz="2520" b="1" strike="noStrike" spc="-35">
                <a:solidFill>
                  <a:srgbClr val="272525"/>
                </a:solidFill>
                <a:latin typeface="Inter"/>
                <a:ea typeface="Inter"/>
              </a:rPr>
              <a:t>2</a:t>
            </a:r>
            <a:endParaRPr lang="en-IN" sz="25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4006080" y="2962440"/>
            <a:ext cx="213444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r">
              <a:lnSpc>
                <a:spcPts val="2628"/>
              </a:lnSpc>
              <a:tabLst>
                <a:tab pos="0" algn="l"/>
              </a:tabLst>
            </a:pPr>
            <a:r>
              <a:rPr lang="en-US" sz="2100" b="1" strike="noStrike" spc="-63">
                <a:solidFill>
                  <a:srgbClr val="272525"/>
                </a:solidFill>
                <a:latin typeface="Inter"/>
                <a:ea typeface="Inter"/>
              </a:rPr>
              <a:t>Investors</a:t>
            </a:r>
            <a:endParaRPr lang="en-IN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2244600" y="3509280"/>
            <a:ext cx="3895920" cy="136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ts val="2690"/>
              </a:lnSpc>
              <a:tabLst>
                <a:tab pos="0" algn="l"/>
              </a:tabLst>
            </a:pPr>
            <a:r>
              <a:rPr lang="en-US" sz="1679" b="0" strike="noStrike" spc="-35">
                <a:solidFill>
                  <a:srgbClr val="272525"/>
                </a:solidFill>
                <a:latin typeface="Inter"/>
                <a:ea typeface="Inter"/>
              </a:rPr>
              <a:t>Angel investors, venture capitalists, and corporate investors who provide financial resources and expertise to fuel startup growth.</a:t>
            </a:r>
            <a:endParaRPr lang="en-IN" sz="167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4"/>
          <p:cNvSpPr/>
          <p:nvPr/>
        </p:nvSpPr>
        <p:spPr>
          <a:xfrm>
            <a:off x="7555320" y="4411080"/>
            <a:ext cx="747000" cy="42120"/>
          </a:xfrm>
          <a:prstGeom prst="rect">
            <a:avLst/>
          </a:prstGeom>
          <a:solidFill>
            <a:srgbClr val="B5B7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20" rIns="90000" bIns="-252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Shape 15"/>
          <p:cNvSpPr/>
          <p:nvPr/>
        </p:nvSpPr>
        <p:spPr>
          <a:xfrm>
            <a:off x="7075080" y="4192200"/>
            <a:ext cx="479880" cy="479880"/>
          </a:xfrm>
          <a:prstGeom prst="roundRect">
            <a:avLst>
              <a:gd name="adj" fmla="val 20003"/>
            </a:avLst>
          </a:prstGeom>
          <a:solidFill>
            <a:srgbClr val="DADBF1"/>
          </a:solidFill>
          <a:ln w="13335">
            <a:solidFill>
              <a:srgbClr val="B5B7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Text 16"/>
          <p:cNvSpPr/>
          <p:nvPr/>
        </p:nvSpPr>
        <p:spPr>
          <a:xfrm>
            <a:off x="7214400" y="4232160"/>
            <a:ext cx="201240" cy="39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ctr">
              <a:lnSpc>
                <a:spcPts val="3152"/>
              </a:lnSpc>
              <a:tabLst>
                <a:tab pos="0" algn="l"/>
              </a:tabLst>
            </a:pPr>
            <a:r>
              <a:rPr lang="en-US" sz="2520" b="1" strike="noStrike" spc="-35">
                <a:solidFill>
                  <a:srgbClr val="272525"/>
                </a:solidFill>
                <a:latin typeface="Inter"/>
                <a:ea typeface="Inter"/>
              </a:rPr>
              <a:t>3</a:t>
            </a:r>
            <a:endParaRPr lang="en-IN" sz="25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7"/>
          <p:cNvSpPr/>
          <p:nvPr/>
        </p:nvSpPr>
        <p:spPr>
          <a:xfrm>
            <a:off x="8489520" y="4239000"/>
            <a:ext cx="27576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2628"/>
              </a:lnSpc>
              <a:tabLst>
                <a:tab pos="0" algn="l"/>
              </a:tabLst>
            </a:pPr>
            <a:r>
              <a:rPr lang="en-US" sz="2100" b="1" strike="noStrike" spc="-63">
                <a:solidFill>
                  <a:srgbClr val="272525"/>
                </a:solidFill>
                <a:latin typeface="Inter"/>
                <a:ea typeface="Inter"/>
              </a:rPr>
              <a:t>Support Organizations</a:t>
            </a:r>
            <a:endParaRPr lang="en-IN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8"/>
          <p:cNvSpPr/>
          <p:nvPr/>
        </p:nvSpPr>
        <p:spPr>
          <a:xfrm>
            <a:off x="8489520" y="4785840"/>
            <a:ext cx="3895920" cy="136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690"/>
              </a:lnSpc>
              <a:tabLst>
                <a:tab pos="0" algn="l"/>
              </a:tabLst>
            </a:pPr>
            <a:r>
              <a:rPr lang="en-US" sz="1679" b="0" strike="noStrike" spc="-35">
                <a:solidFill>
                  <a:srgbClr val="272525"/>
                </a:solidFill>
                <a:latin typeface="Inter"/>
                <a:ea typeface="Inter"/>
              </a:rPr>
              <a:t>Incubators, accelerators, co-working spaces, and business support providers that facilitate startup development and success.</a:t>
            </a:r>
            <a:endParaRPr lang="en-IN" sz="167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9"/>
          <p:cNvSpPr/>
          <p:nvPr/>
        </p:nvSpPr>
        <p:spPr>
          <a:xfrm>
            <a:off x="6327720" y="5687640"/>
            <a:ext cx="747000" cy="42120"/>
          </a:xfrm>
          <a:prstGeom prst="rect">
            <a:avLst/>
          </a:prstGeom>
          <a:solidFill>
            <a:srgbClr val="B5B7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20" rIns="90000" bIns="-252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Shape 20"/>
          <p:cNvSpPr/>
          <p:nvPr/>
        </p:nvSpPr>
        <p:spPr>
          <a:xfrm>
            <a:off x="7075080" y="5469120"/>
            <a:ext cx="479880" cy="479880"/>
          </a:xfrm>
          <a:prstGeom prst="roundRect">
            <a:avLst>
              <a:gd name="adj" fmla="val 20003"/>
            </a:avLst>
          </a:prstGeom>
          <a:solidFill>
            <a:srgbClr val="DADBF1"/>
          </a:solidFill>
          <a:ln w="13335">
            <a:solidFill>
              <a:srgbClr val="B5B7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Text 21"/>
          <p:cNvSpPr/>
          <p:nvPr/>
        </p:nvSpPr>
        <p:spPr>
          <a:xfrm>
            <a:off x="7206840" y="5509080"/>
            <a:ext cx="216360" cy="39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ctr">
              <a:lnSpc>
                <a:spcPts val="3152"/>
              </a:lnSpc>
              <a:tabLst>
                <a:tab pos="0" algn="l"/>
              </a:tabLst>
            </a:pPr>
            <a:r>
              <a:rPr lang="en-US" sz="2520" b="1" strike="noStrike" spc="-35">
                <a:solidFill>
                  <a:srgbClr val="272525"/>
                </a:solidFill>
                <a:latin typeface="Inter"/>
                <a:ea typeface="Inter"/>
              </a:rPr>
              <a:t>4</a:t>
            </a:r>
            <a:endParaRPr lang="en-IN" sz="25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22"/>
          <p:cNvSpPr/>
          <p:nvPr/>
        </p:nvSpPr>
        <p:spPr>
          <a:xfrm>
            <a:off x="3830760" y="5515560"/>
            <a:ext cx="23101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r">
              <a:lnSpc>
                <a:spcPts val="2628"/>
              </a:lnSpc>
              <a:tabLst>
                <a:tab pos="0" algn="l"/>
              </a:tabLst>
            </a:pPr>
            <a:r>
              <a:rPr lang="en-US" sz="2100" b="1" strike="noStrike" spc="-63">
                <a:solidFill>
                  <a:srgbClr val="272525"/>
                </a:solidFill>
                <a:latin typeface="Inter"/>
                <a:ea typeface="Inter"/>
              </a:rPr>
              <a:t>Tech Communities</a:t>
            </a:r>
            <a:endParaRPr lang="en-IN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23"/>
          <p:cNvSpPr/>
          <p:nvPr/>
        </p:nvSpPr>
        <p:spPr>
          <a:xfrm>
            <a:off x="2244600" y="6062760"/>
            <a:ext cx="3895920" cy="136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ts val="2690"/>
              </a:lnSpc>
              <a:tabLst>
                <a:tab pos="0" algn="l"/>
              </a:tabLst>
            </a:pPr>
            <a:r>
              <a:rPr lang="en-US" sz="1679" b="0" strike="noStrike" spc="-35">
                <a:solidFill>
                  <a:srgbClr val="272525"/>
                </a:solidFill>
                <a:latin typeface="Inter"/>
                <a:ea typeface="Inter"/>
              </a:rPr>
              <a:t>Online and offline communities where like-minded individuals share knowledge, collaborate, and provide support to fellow entrepreneurs.</a:t>
            </a:r>
            <a:endParaRPr lang="en-IN" sz="1679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13811">
            <a:solidFill>
              <a:srgbClr val="E5E0D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4490640" y="1204560"/>
            <a:ext cx="8793360" cy="69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5468"/>
              </a:lnSpc>
              <a:tabLst>
                <a:tab pos="0" algn="l"/>
              </a:tabLst>
            </a:pPr>
            <a:r>
              <a:rPr lang="en-US" sz="4370" b="1" strike="noStrike" spc="-131">
                <a:solidFill>
                  <a:srgbClr val="000000"/>
                </a:solidFill>
                <a:latin typeface="Inter"/>
                <a:ea typeface="Inter"/>
              </a:rPr>
              <a:t>Success Stories and Case Studies</a:t>
            </a:r>
            <a:endParaRPr lang="en-IN" sz="43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3"/>
          <p:cNvSpPr/>
          <p:nvPr/>
        </p:nvSpPr>
        <p:spPr>
          <a:xfrm>
            <a:off x="4490640" y="2232360"/>
            <a:ext cx="4541760" cy="2818080"/>
          </a:xfrm>
          <a:prstGeom prst="roundRect">
            <a:avLst>
              <a:gd name="adj" fmla="val 3548"/>
            </a:avLst>
          </a:prstGeom>
          <a:solidFill>
            <a:srgbClr val="DADBF1"/>
          </a:solidFill>
          <a:ln w="13811">
            <a:solidFill>
              <a:srgbClr val="B5B7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4726800" y="2468160"/>
            <a:ext cx="222156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2733"/>
              </a:lnSpc>
              <a:tabLst>
                <a:tab pos="0" algn="l"/>
              </a:tabLst>
            </a:pPr>
            <a:r>
              <a:rPr lang="en-US" sz="2190" b="1" strike="noStrike" spc="-66">
                <a:solidFill>
                  <a:srgbClr val="272525"/>
                </a:solidFill>
                <a:latin typeface="Inter"/>
                <a:ea typeface="Inter"/>
              </a:rPr>
              <a:t>Uber</a:t>
            </a:r>
            <a:endParaRPr lang="en-IN" sz="21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5"/>
          <p:cNvSpPr/>
          <p:nvPr/>
        </p:nvSpPr>
        <p:spPr>
          <a:xfrm>
            <a:off x="4726800" y="3037680"/>
            <a:ext cx="4069800" cy="177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Uber disrupted the transportation industry with its innovative ride-hailing service, revolutionizing the way people travel and creating a global phenomenon.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6"/>
          <p:cNvSpPr/>
          <p:nvPr/>
        </p:nvSpPr>
        <p:spPr>
          <a:xfrm>
            <a:off x="9255240" y="2232360"/>
            <a:ext cx="4541760" cy="2818080"/>
          </a:xfrm>
          <a:prstGeom prst="roundRect">
            <a:avLst>
              <a:gd name="adj" fmla="val 3548"/>
            </a:avLst>
          </a:prstGeom>
          <a:solidFill>
            <a:srgbClr val="DADBF1"/>
          </a:solidFill>
          <a:ln w="13811">
            <a:solidFill>
              <a:srgbClr val="B5B7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Text 7"/>
          <p:cNvSpPr/>
          <p:nvPr/>
        </p:nvSpPr>
        <p:spPr>
          <a:xfrm>
            <a:off x="9491040" y="2468160"/>
            <a:ext cx="222156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2733"/>
              </a:lnSpc>
              <a:tabLst>
                <a:tab pos="0" algn="l"/>
              </a:tabLst>
            </a:pPr>
            <a:r>
              <a:rPr lang="en-US" sz="2190" b="1" strike="noStrike" spc="-66">
                <a:solidFill>
                  <a:srgbClr val="272525"/>
                </a:solidFill>
                <a:latin typeface="Inter"/>
                <a:ea typeface="Inter"/>
              </a:rPr>
              <a:t>Spotify</a:t>
            </a:r>
            <a:endParaRPr lang="en-IN" sz="21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8"/>
          <p:cNvSpPr/>
          <p:nvPr/>
        </p:nvSpPr>
        <p:spPr>
          <a:xfrm>
            <a:off x="9491040" y="3037680"/>
            <a:ext cx="4069800" cy="14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Spotify's music streaming platform changed the way people access and discover music, transforming the music industry and empowering artists.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9"/>
          <p:cNvSpPr/>
          <p:nvPr/>
        </p:nvSpPr>
        <p:spPr>
          <a:xfrm>
            <a:off x="4490640" y="5272920"/>
            <a:ext cx="9306000" cy="1751760"/>
          </a:xfrm>
          <a:prstGeom prst="roundRect">
            <a:avLst>
              <a:gd name="adj" fmla="val 5707"/>
            </a:avLst>
          </a:prstGeom>
          <a:solidFill>
            <a:srgbClr val="DADBF1"/>
          </a:solidFill>
          <a:ln w="13811">
            <a:solidFill>
              <a:srgbClr val="B5B7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Text 10"/>
          <p:cNvSpPr/>
          <p:nvPr/>
        </p:nvSpPr>
        <p:spPr>
          <a:xfrm>
            <a:off x="4726800" y="5508720"/>
            <a:ext cx="222156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2733"/>
              </a:lnSpc>
              <a:tabLst>
                <a:tab pos="0" algn="l"/>
              </a:tabLst>
            </a:pPr>
            <a:r>
              <a:rPr lang="en-US" sz="2190" b="1" strike="noStrike" spc="-66">
                <a:solidFill>
                  <a:srgbClr val="272525"/>
                </a:solidFill>
                <a:latin typeface="Inter"/>
                <a:ea typeface="Inter"/>
              </a:rPr>
              <a:t>Airbnb</a:t>
            </a:r>
            <a:endParaRPr lang="en-IN" sz="219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1"/>
          <p:cNvSpPr/>
          <p:nvPr/>
        </p:nvSpPr>
        <p:spPr>
          <a:xfrm>
            <a:off x="4726800" y="6078240"/>
            <a:ext cx="8834040" cy="71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Airbnb disrupted the hospitality industry by connecting travelers with unique accommodations worldwide, opening up new opportunities for hosts and travelers.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3657240" cy="8229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6F4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13811">
            <a:solidFill>
              <a:srgbClr val="E5E0D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" name="Text 2"/>
          <p:cNvSpPr/>
          <p:nvPr/>
        </p:nvSpPr>
        <p:spPr>
          <a:xfrm>
            <a:off x="2037960" y="1626480"/>
            <a:ext cx="10554120" cy="138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5468"/>
              </a:lnSpc>
              <a:tabLst>
                <a:tab pos="0" algn="l"/>
              </a:tabLst>
            </a:pPr>
            <a:r>
              <a:rPr lang="en-US" sz="4370" b="1" strike="noStrike" spc="-131">
                <a:solidFill>
                  <a:srgbClr val="000000"/>
                </a:solidFill>
                <a:latin typeface="Inter"/>
                <a:ea typeface="Inter"/>
              </a:rPr>
              <a:t>Challenges and Future Trends in Startup Ecosystems</a:t>
            </a:r>
            <a:endParaRPr lang="en-IN" sz="43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2037960" y="3570840"/>
            <a:ext cx="2665800" cy="41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ts val="3280"/>
              </a:lnSpc>
              <a:tabLst>
                <a:tab pos="0" algn="l"/>
              </a:tabLst>
            </a:pPr>
            <a:r>
              <a:rPr lang="en-US" sz="2620" b="1" strike="noStrike" spc="-80">
                <a:solidFill>
                  <a:srgbClr val="000000"/>
                </a:solidFill>
                <a:latin typeface="Inter"/>
                <a:ea typeface="Inter"/>
              </a:rPr>
              <a:t>Talent Retention</a:t>
            </a:r>
            <a:endParaRPr lang="en-IN" sz="26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2037960" y="4209480"/>
            <a:ext cx="3156120" cy="14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Retaining top talent in the face of increasing competition and attracting entrepreneurial immigrants to fuel innovation.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5743800" y="3570840"/>
            <a:ext cx="3156120" cy="83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3280"/>
              </a:lnSpc>
              <a:tabLst>
                <a:tab pos="0" algn="l"/>
              </a:tabLst>
            </a:pPr>
            <a:r>
              <a:rPr lang="en-US" sz="2620" b="1" strike="noStrike" spc="-80">
                <a:solidFill>
                  <a:srgbClr val="000000"/>
                </a:solidFill>
                <a:latin typeface="Inter"/>
                <a:ea typeface="Inter"/>
              </a:rPr>
              <a:t>Funding Accessibility</a:t>
            </a:r>
            <a:endParaRPr lang="en-IN" sz="26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5743800" y="4626000"/>
            <a:ext cx="3156120" cy="14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Ensuring equitable access to funding for entrepreneurs from diverse backgrounds and regions.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7"/>
          <p:cNvSpPr/>
          <p:nvPr/>
        </p:nvSpPr>
        <p:spPr>
          <a:xfrm>
            <a:off x="9450000" y="3570840"/>
            <a:ext cx="3156120" cy="83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3280"/>
              </a:lnSpc>
              <a:tabLst>
                <a:tab pos="0" algn="l"/>
              </a:tabLst>
            </a:pPr>
            <a:r>
              <a:rPr lang="en-US" sz="2620" b="1" strike="noStrike" spc="-80">
                <a:solidFill>
                  <a:srgbClr val="000000"/>
                </a:solidFill>
                <a:latin typeface="Inter"/>
                <a:ea typeface="Inter"/>
              </a:rPr>
              <a:t>Regulatory Landscape</a:t>
            </a:r>
            <a:endParaRPr lang="en-IN" sz="26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8"/>
          <p:cNvSpPr/>
          <p:nvPr/>
        </p:nvSpPr>
        <p:spPr>
          <a:xfrm>
            <a:off x="9450000" y="4626000"/>
            <a:ext cx="3156120" cy="177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ts val="2798"/>
              </a:lnSpc>
              <a:tabLst>
                <a:tab pos="0" algn="l"/>
              </a:tabLst>
            </a:pPr>
            <a:r>
              <a:rPr lang="en-US" sz="1750" b="0" strike="noStrike" spc="-35">
                <a:solidFill>
                  <a:srgbClr val="272525"/>
                </a:solidFill>
                <a:latin typeface="Inter"/>
                <a:ea typeface="Inter"/>
              </a:rPr>
              <a:t>Adapting regulations to support emerging technologies and business models while addressing concerns around security and privacy.</a:t>
            </a:r>
            <a:endParaRPr lang="en-IN" sz="1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642</Words>
  <Application>Microsoft Office PowerPoint</Application>
  <PresentationFormat>Custom</PresentationFormat>
  <Paragraphs>70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Inter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Rajvardhan Deshmukh</cp:lastModifiedBy>
  <cp:revision>8</cp:revision>
  <dcterms:created xsi:type="dcterms:W3CDTF">2023-10-24T17:12:51Z</dcterms:created>
  <dcterms:modified xsi:type="dcterms:W3CDTF">2024-10-18T07:00:46Z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Custom</vt:lpwstr>
  </property>
  <property fmtid="{D5CDD505-2E9C-101B-9397-08002B2CF9AE}" pid="4" name="Slides">
    <vt:i4>9</vt:i4>
  </property>
</Properties>
</file>