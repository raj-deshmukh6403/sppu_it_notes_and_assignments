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293F5-357A-4CDF-B7A4-5F3C5D63C27D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5A553-7F4C-4A4A-AA2F-317323FB5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6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 txBox="1"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itchFamily="18" charset="0"/>
                <a:ea typeface="ＭＳ Ｐゴシック" pitchFamily="34" charset="-128"/>
              </a:rPr>
              <a:t>Until now we have assumed that the training data is labeled.</a:t>
            </a:r>
          </a:p>
          <a:p>
            <a:r>
              <a:rPr lang="en-US" altLang="en-US">
                <a:latin typeface="Times New Roman" pitchFamily="18" charset="0"/>
                <a:ea typeface="ＭＳ Ｐゴシック" pitchFamily="34" charset="-128"/>
              </a:rPr>
              <a:t>Now we look at what can we do with data when we have not labels.</a:t>
            </a:r>
          </a:p>
          <a:p>
            <a:r>
              <a:rPr lang="en-US" altLang="en-US">
                <a:latin typeface="Times New Roman" pitchFamily="18" charset="0"/>
                <a:ea typeface="ＭＳ Ｐゴシック" pitchFamily="34" charset="-128"/>
              </a:rPr>
              <a:t>\item Example: group customer behavior, find similar buying patterns.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Text Box 3"/>
          <p:cNvSpPr txBox="1"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>
                <a:latin typeface="Times New Roman" pitchFamily="18" charset="0"/>
                <a:ea typeface="ＭＳ Ｐゴシック" pitchFamily="34" charset="-128"/>
              </a:rPr>
              <a:t>Data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 txBox="1"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itchFamily="18" charset="0"/>
                <a:ea typeface="ＭＳ Ｐゴシック" pitchFamily="34" charset="-128"/>
              </a:rPr>
              <a:t>Have class break into groups and invent clustering algorithms.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 txBox="1"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itchFamily="18" charset="0"/>
                <a:ea typeface="ＭＳ Ｐゴシック" pitchFamily="34" charset="-128"/>
              </a:rPr>
              <a:t>In this case, the two highly separated subtrees are highly suggestive of two clusters. </a:t>
            </a:r>
            <a:r>
              <a:rPr lang="en-US" altLang="en-US" sz="1100">
                <a:solidFill>
                  <a:schemeClr val="bg2"/>
                </a:solidFill>
                <a:latin typeface="Times New Roman" pitchFamily="18" charset="0"/>
                <a:ea typeface="ＭＳ Ｐゴシック" pitchFamily="34" charset="-128"/>
              </a:rPr>
              <a:t>(Things are rarely this clear cut, unfortunately)</a:t>
            </a:r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0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6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88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2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1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1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9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4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27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4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4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7B1D8-A1EA-4A29-8348-8F2F9E5BC3B0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148D7-9FE9-46C7-8913-6D48B3353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1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wmf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6.jpe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hyperlink" Target="http://images.google.com/imgres?imgurl=www.intheteam.com/images/club/50/brazil_flag.gif&amp;imgrefurl=http://www.intheteam.com/home/home.asp?ClubId=50&amp;h=144&amp;w=216&amp;prev=/images?q=brazil+flag&amp;start=20&amp;svnum=10&amp;hl=en&amp;lr=&amp;ie=UTF-8&amp;oe=UTF-8&amp;sa=N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hyperlink" Target="http://www.theodora.com/maps/australia_maps.html" TargetMode="External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9.png"/><Relationship Id="rId7" Type="http://schemas.openxmlformats.org/officeDocument/2006/relationships/image" Target="../media/image1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 typeface="Futura Bk" charset="0"/>
              <a:buNone/>
              <a:defRPr/>
            </a:pPr>
            <a:r>
              <a:rPr lang="en-US" dirty="0">
                <a:cs typeface="+mj-cs"/>
              </a:rPr>
              <a:t>Why cluster?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Labeling is expensive</a:t>
            </a:r>
          </a:p>
          <a:p>
            <a:pPr eaLnBrk="1" hangingPunct="1"/>
            <a:r>
              <a:rPr lang="en-US" altLang="en-US"/>
              <a:t>Gain insight into the structure of the data</a:t>
            </a:r>
          </a:p>
          <a:p>
            <a:pPr eaLnBrk="1" hangingPunct="1"/>
            <a:r>
              <a:rPr lang="en-US" altLang="en-US"/>
              <a:t>Find prototypes in the data</a:t>
            </a:r>
          </a:p>
        </p:txBody>
      </p:sp>
    </p:spTree>
    <p:extLst>
      <p:ext uri="{BB962C8B-B14F-4D97-AF65-F5344CB8AC3E}">
        <p14:creationId xmlns:p14="http://schemas.microsoft.com/office/powerpoint/2010/main" val="298032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br>
              <a:rPr lang="en-US" altLang="en-US"/>
            </a:br>
            <a:r>
              <a:rPr lang="en-US" altLang="en-US"/>
              <a:t>Goal of Clustering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323975"/>
            <a:ext cx="8262938" cy="501808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Given a set of data points, each described by a set of attributes, find clusters such that:</a:t>
            </a:r>
          </a:p>
          <a:p>
            <a:pPr eaLnBrk="1" hangingPunct="1"/>
            <a:endParaRPr lang="en-US" altLang="en-US"/>
          </a:p>
          <a:p>
            <a:pPr lvl="1" eaLnBrk="1" hangingPunct="1"/>
            <a:r>
              <a:rPr lang="en-US" altLang="en-US"/>
              <a:t>Inter-cluster similarity is </a:t>
            </a:r>
          </a:p>
          <a:p>
            <a:pPr lvl="1" eaLnBrk="1" hangingPunct="1">
              <a:buFont typeface="Times" pitchFamily="-111" charset="0"/>
              <a:buNone/>
            </a:pPr>
            <a:r>
              <a:rPr lang="en-US" altLang="en-US"/>
              <a:t>   maximized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Intra-cluster similarity is </a:t>
            </a:r>
          </a:p>
          <a:p>
            <a:pPr lvl="1" eaLnBrk="1" hangingPunct="1">
              <a:buFont typeface="Times" pitchFamily="-111" charset="0"/>
              <a:buNone/>
            </a:pPr>
            <a:r>
              <a:rPr lang="en-US" altLang="en-US"/>
              <a:t>   minimized 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Requires the definition of a similarity measure</a:t>
            </a:r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>
            <a:off x="5876925" y="2435225"/>
            <a:ext cx="1588" cy="213836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5876925" y="4573588"/>
            <a:ext cx="2438400" cy="158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5133975" y="256540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F1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7553325" y="4767263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F2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6242050" y="28844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6149975" y="2962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6486525" y="29368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6394450" y="30416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6302375" y="31654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xx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6638925" y="2708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6791325" y="28606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6731000" y="3089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6394450" y="28336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7312025" y="35210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7219950" y="3598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7556500" y="35734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88" name="Text Box 20"/>
          <p:cNvSpPr txBox="1">
            <a:spLocks noChangeArrowheads="1"/>
          </p:cNvSpPr>
          <p:nvPr/>
        </p:nvSpPr>
        <p:spPr bwMode="auto">
          <a:xfrm>
            <a:off x="7464425" y="36782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7372350" y="38020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xx</a:t>
            </a:r>
          </a:p>
        </p:txBody>
      </p:sp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7632700" y="38957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7204075" y="37480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7464425" y="3470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5753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193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2171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8197" name="Group 5"/>
          <p:cNvGrpSpPr>
            <a:grpSpLocks/>
          </p:cNvGrpSpPr>
          <p:nvPr/>
        </p:nvGrpSpPr>
        <p:grpSpPr bwMode="auto">
          <a:xfrm>
            <a:off x="57150" y="1019175"/>
            <a:ext cx="9144000" cy="2243138"/>
            <a:chOff x="36" y="642"/>
            <a:chExt cx="5760" cy="1413"/>
          </a:xfrm>
        </p:grpSpPr>
        <p:pic>
          <p:nvPicPr>
            <p:cNvPr id="8201" name="Picture 6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" y="789"/>
              <a:ext cx="513" cy="1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2" name="Picture 7" descr="Principal Seymour  Skinn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" y="828"/>
              <a:ext cx="514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3" name="Rectangle 8"/>
            <p:cNvSpPr>
              <a:spLocks noChangeArrowheads="1"/>
            </p:cNvSpPr>
            <p:nvPr/>
          </p:nvSpPr>
          <p:spPr bwMode="auto">
            <a:xfrm>
              <a:off x="36" y="1365"/>
              <a:ext cx="576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pic>
          <p:nvPicPr>
            <p:cNvPr id="8204" name="Picture 9" descr="Groundskeeper Willi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3" y="920"/>
              <a:ext cx="569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5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9" y="865"/>
              <a:ext cx="635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6" name="Picture 1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" y="753"/>
              <a:ext cx="580" cy="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7" name="Picture 1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" y="806"/>
              <a:ext cx="59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8" name="Picture 1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7" y="1090"/>
              <a:ext cx="454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9" name="Picture 14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1096"/>
              <a:ext cx="306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10" name="Picture 1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" y="642"/>
              <a:ext cx="459" cy="1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8" name="Rectangle 16"/>
          <p:cNvSpPr>
            <a:spLocks noChangeArrowheads="1"/>
          </p:cNvSpPr>
          <p:nvPr/>
        </p:nvSpPr>
        <p:spPr bwMode="auto">
          <a:xfrm>
            <a:off x="2400300" y="3776663"/>
            <a:ext cx="54102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57150" y="180975"/>
            <a:ext cx="7191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What is a natural grouping of these objects?</a:t>
            </a:r>
          </a:p>
        </p:txBody>
      </p:sp>
      <p:sp>
        <p:nvSpPr>
          <p:cNvPr id="8200" name="TextBox 17"/>
          <p:cNvSpPr txBox="1">
            <a:spLocks noChangeArrowheads="1"/>
          </p:cNvSpPr>
          <p:nvPr/>
        </p:nvSpPr>
        <p:spPr bwMode="auto">
          <a:xfrm>
            <a:off x="57150" y="649288"/>
            <a:ext cx="287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from Eamonn Keogh</a:t>
            </a:r>
          </a:p>
        </p:txBody>
      </p:sp>
    </p:spTree>
    <p:extLst>
      <p:ext uri="{BB962C8B-B14F-4D97-AF65-F5344CB8AC3E}">
        <p14:creationId xmlns:p14="http://schemas.microsoft.com/office/powerpoint/2010/main" val="4064709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3530600"/>
            <a:ext cx="9144000" cy="33274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0" y="193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2171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0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9222" name="Group 6"/>
          <p:cNvGrpSpPr>
            <a:grpSpLocks/>
          </p:cNvGrpSpPr>
          <p:nvPr/>
        </p:nvGrpSpPr>
        <p:grpSpPr bwMode="auto">
          <a:xfrm>
            <a:off x="57150" y="1019175"/>
            <a:ext cx="9144000" cy="2243138"/>
            <a:chOff x="36" y="642"/>
            <a:chExt cx="5760" cy="1413"/>
          </a:xfrm>
        </p:grpSpPr>
        <p:pic>
          <p:nvPicPr>
            <p:cNvPr id="9258" name="Picture 7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" y="789"/>
              <a:ext cx="513" cy="1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59" name="Picture 8" descr="Principal Seymour  Skinn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" y="828"/>
              <a:ext cx="514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60" name="Rectangle 9"/>
            <p:cNvSpPr>
              <a:spLocks noChangeArrowheads="1"/>
            </p:cNvSpPr>
            <p:nvPr/>
          </p:nvSpPr>
          <p:spPr bwMode="auto">
            <a:xfrm>
              <a:off x="36" y="1365"/>
              <a:ext cx="576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pic>
          <p:nvPicPr>
            <p:cNvPr id="9261" name="Picture 10" descr="Groundskeeper Willi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3" y="920"/>
              <a:ext cx="569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2" name="Picture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9" y="865"/>
              <a:ext cx="635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3" name="Picture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" y="753"/>
              <a:ext cx="580" cy="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4" name="Picture 1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" y="806"/>
              <a:ext cx="59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5" name="Picture 14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7" y="1090"/>
              <a:ext cx="454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6" name="Picture 15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1096"/>
              <a:ext cx="306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7" name="Picture 16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" y="642"/>
              <a:ext cx="459" cy="1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23" name="Rectangle 18"/>
          <p:cNvSpPr>
            <a:spLocks noChangeArrowheads="1"/>
          </p:cNvSpPr>
          <p:nvPr/>
        </p:nvSpPr>
        <p:spPr bwMode="auto">
          <a:xfrm>
            <a:off x="2400300" y="3776663"/>
            <a:ext cx="54102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9224" name="Group 19"/>
          <p:cNvGrpSpPr>
            <a:grpSpLocks/>
          </p:cNvGrpSpPr>
          <p:nvPr/>
        </p:nvGrpSpPr>
        <p:grpSpPr bwMode="auto">
          <a:xfrm>
            <a:off x="150813" y="3910013"/>
            <a:ext cx="8743950" cy="2481262"/>
            <a:chOff x="96" y="2583"/>
            <a:chExt cx="5508" cy="1563"/>
          </a:xfrm>
        </p:grpSpPr>
        <p:grpSp>
          <p:nvGrpSpPr>
            <p:cNvPr id="9232" name="Group 20"/>
            <p:cNvGrpSpPr>
              <a:grpSpLocks/>
            </p:cNvGrpSpPr>
            <p:nvPr/>
          </p:nvGrpSpPr>
          <p:grpSpPr bwMode="auto">
            <a:xfrm>
              <a:off x="120" y="2802"/>
              <a:ext cx="5484" cy="1344"/>
              <a:chOff x="120" y="2802"/>
              <a:chExt cx="5484" cy="1344"/>
            </a:xfrm>
          </p:grpSpPr>
          <p:grpSp>
            <p:nvGrpSpPr>
              <p:cNvPr id="9252" name="Group 21"/>
              <p:cNvGrpSpPr>
                <a:grpSpLocks/>
              </p:cNvGrpSpPr>
              <p:nvPr/>
            </p:nvGrpSpPr>
            <p:grpSpPr bwMode="auto">
              <a:xfrm>
                <a:off x="120" y="2802"/>
                <a:ext cx="2286" cy="1344"/>
                <a:chOff x="156" y="2634"/>
                <a:chExt cx="2286" cy="1344"/>
              </a:xfrm>
            </p:grpSpPr>
            <p:sp>
              <p:nvSpPr>
                <p:cNvPr id="9256" name="Rectangle 22"/>
                <p:cNvSpPr>
                  <a:spLocks noChangeArrowheads="1"/>
                </p:cNvSpPr>
                <p:nvPr/>
              </p:nvSpPr>
              <p:spPr bwMode="auto">
                <a:xfrm>
                  <a:off x="156" y="2634"/>
                  <a:ext cx="1080" cy="1344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9257" name="Rectangle 23"/>
                <p:cNvSpPr>
                  <a:spLocks noChangeArrowheads="1"/>
                </p:cNvSpPr>
                <p:nvPr/>
              </p:nvSpPr>
              <p:spPr bwMode="auto">
                <a:xfrm>
                  <a:off x="1362" y="2634"/>
                  <a:ext cx="1080" cy="1344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9253" name="Group 24"/>
              <p:cNvGrpSpPr>
                <a:grpSpLocks/>
              </p:cNvGrpSpPr>
              <p:nvPr/>
            </p:nvGrpSpPr>
            <p:grpSpPr bwMode="auto">
              <a:xfrm>
                <a:off x="3318" y="2802"/>
                <a:ext cx="2286" cy="1344"/>
                <a:chOff x="156" y="2634"/>
                <a:chExt cx="2286" cy="1344"/>
              </a:xfrm>
            </p:grpSpPr>
            <p:sp>
              <p:nvSpPr>
                <p:cNvPr id="9254" name="Rectangle 25"/>
                <p:cNvSpPr>
                  <a:spLocks noChangeArrowheads="1"/>
                </p:cNvSpPr>
                <p:nvPr/>
              </p:nvSpPr>
              <p:spPr bwMode="auto">
                <a:xfrm>
                  <a:off x="156" y="2634"/>
                  <a:ext cx="1080" cy="1344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9255" name="Rectangle 26"/>
                <p:cNvSpPr>
                  <a:spLocks noChangeArrowheads="1"/>
                </p:cNvSpPr>
                <p:nvPr/>
              </p:nvSpPr>
              <p:spPr bwMode="auto">
                <a:xfrm>
                  <a:off x="1362" y="2634"/>
                  <a:ext cx="1080" cy="1344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sp>
          <p:nvSpPr>
            <p:cNvPr id="9233" name="Rectangle 27"/>
            <p:cNvSpPr>
              <a:spLocks noChangeArrowheads="1"/>
            </p:cNvSpPr>
            <p:nvPr/>
          </p:nvSpPr>
          <p:spPr bwMode="auto">
            <a:xfrm>
              <a:off x="96" y="2583"/>
              <a:ext cx="3408" cy="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pic>
          <p:nvPicPr>
            <p:cNvPr id="9234" name="Picture 28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" y="3460"/>
              <a:ext cx="303" cy="6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5" name="Picture 29" descr="Principal Seymour  Skinn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2841"/>
              <a:ext cx="304" cy="6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6" name="Picture 30" descr="Groundskeeper Willi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2" y="2859"/>
              <a:ext cx="336" cy="5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7" name="Picture 3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" y="3523"/>
              <a:ext cx="375" cy="5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8" name="Picture 3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" y="2821"/>
              <a:ext cx="343" cy="6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9" name="Picture 3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" y="3033"/>
              <a:ext cx="375" cy="6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0" name="Picture 34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" y="3608"/>
              <a:ext cx="269" cy="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1" name="Picture 35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" y="3702"/>
              <a:ext cx="181" cy="4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2" name="Picture 36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" y="2887"/>
              <a:ext cx="272" cy="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3" name="Picture 37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6" y="2878"/>
              <a:ext cx="303" cy="6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4" name="Picture 38" descr="Principal Seymour  Skinn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8" y="3477"/>
              <a:ext cx="304" cy="6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5" name="Picture 39" descr="Groundskeeper Willi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4" y="3561"/>
              <a:ext cx="336" cy="5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6" name="Picture 4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4" y="2821"/>
              <a:ext cx="375" cy="5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7" name="Picture 41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" y="2833"/>
              <a:ext cx="343" cy="6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8" name="Picture 42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0" y="3524"/>
              <a:ext cx="351" cy="6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9" name="Picture 4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" y="3002"/>
              <a:ext cx="269" cy="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50" name="Picture 4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9" y="3642"/>
              <a:ext cx="181" cy="4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51" name="Picture 4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7" y="2845"/>
              <a:ext cx="272" cy="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25" name="Text Box 46"/>
          <p:cNvSpPr txBox="1">
            <a:spLocks noChangeArrowheads="1"/>
          </p:cNvSpPr>
          <p:nvPr/>
        </p:nvSpPr>
        <p:spPr bwMode="auto">
          <a:xfrm>
            <a:off x="1839913" y="6389688"/>
            <a:ext cx="2276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School Employees</a:t>
            </a:r>
            <a:r>
              <a:rPr lang="en-US" altLang="en-US" sz="1600"/>
              <a:t> </a:t>
            </a:r>
          </a:p>
        </p:txBody>
      </p:sp>
      <p:sp>
        <p:nvSpPr>
          <p:cNvPr id="9226" name="Text Box 47"/>
          <p:cNvSpPr txBox="1">
            <a:spLocks noChangeArrowheads="1"/>
          </p:cNvSpPr>
          <p:nvPr/>
        </p:nvSpPr>
        <p:spPr bwMode="auto">
          <a:xfrm>
            <a:off x="0" y="6364288"/>
            <a:ext cx="2070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600"/>
              <a:t>Simpson's Family</a:t>
            </a:r>
            <a:r>
              <a:rPr lang="en-US" altLang="en-US" sz="2000"/>
              <a:t> </a:t>
            </a:r>
          </a:p>
        </p:txBody>
      </p:sp>
      <p:sp>
        <p:nvSpPr>
          <p:cNvPr id="9227" name="Text Box 48"/>
          <p:cNvSpPr txBox="1">
            <a:spLocks noChangeArrowheads="1"/>
          </p:cNvSpPr>
          <p:nvPr/>
        </p:nvSpPr>
        <p:spPr bwMode="auto">
          <a:xfrm>
            <a:off x="7107238" y="6364288"/>
            <a:ext cx="183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/>
              <a:t>Males</a:t>
            </a:r>
            <a:r>
              <a:rPr lang="en-US" altLang="en-US" sz="1600"/>
              <a:t> </a:t>
            </a:r>
          </a:p>
        </p:txBody>
      </p:sp>
      <p:sp>
        <p:nvSpPr>
          <p:cNvPr id="9228" name="Text Box 49"/>
          <p:cNvSpPr txBox="1">
            <a:spLocks noChangeArrowheads="1"/>
          </p:cNvSpPr>
          <p:nvPr/>
        </p:nvSpPr>
        <p:spPr bwMode="auto">
          <a:xfrm>
            <a:off x="5173663" y="6364288"/>
            <a:ext cx="183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/>
              <a:t>Females</a:t>
            </a:r>
            <a:r>
              <a:rPr lang="en-US" altLang="en-US" sz="1600"/>
              <a:t> </a:t>
            </a:r>
          </a:p>
        </p:txBody>
      </p:sp>
      <p:sp>
        <p:nvSpPr>
          <p:cNvPr id="158770" name="Text Box 50"/>
          <p:cNvSpPr txBox="1">
            <a:spLocks noChangeArrowheads="1"/>
          </p:cNvSpPr>
          <p:nvPr/>
        </p:nvSpPr>
        <p:spPr bwMode="auto">
          <a:xfrm>
            <a:off x="2689225" y="3511550"/>
            <a:ext cx="4476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Clustering is subjective</a:t>
            </a:r>
          </a:p>
        </p:txBody>
      </p:sp>
      <p:sp>
        <p:nvSpPr>
          <p:cNvPr id="158771" name="Text Box 51"/>
          <p:cNvSpPr txBox="1">
            <a:spLocks noChangeArrowheads="1"/>
          </p:cNvSpPr>
          <p:nvPr/>
        </p:nvSpPr>
        <p:spPr bwMode="auto">
          <a:xfrm>
            <a:off x="57150" y="180975"/>
            <a:ext cx="7191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What is a natural grouping of these objects?</a:t>
            </a:r>
          </a:p>
        </p:txBody>
      </p:sp>
      <p:sp>
        <p:nvSpPr>
          <p:cNvPr id="9231" name="TextBox 50"/>
          <p:cNvSpPr txBox="1">
            <a:spLocks noChangeArrowheads="1"/>
          </p:cNvSpPr>
          <p:nvPr/>
        </p:nvSpPr>
        <p:spPr bwMode="auto">
          <a:xfrm>
            <a:off x="57150" y="649288"/>
            <a:ext cx="287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from Eamonn Keogh</a:t>
            </a:r>
          </a:p>
        </p:txBody>
      </p:sp>
    </p:spTree>
    <p:extLst>
      <p:ext uri="{BB962C8B-B14F-4D97-AF65-F5344CB8AC3E}">
        <p14:creationId xmlns:p14="http://schemas.microsoft.com/office/powerpoint/2010/main" val="21098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ChangeArrowheads="1"/>
          </p:cNvSpPr>
          <p:nvPr/>
        </p:nvSpPr>
        <p:spPr bwMode="auto">
          <a:xfrm>
            <a:off x="228600" y="0"/>
            <a:ext cx="81422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What is Similarity?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7473950" y="1752600"/>
            <a:ext cx="167005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600"/>
              <a:t>Similarity is hard to define, but… </a:t>
            </a:r>
          </a:p>
          <a:p>
            <a:r>
              <a:rPr lang="en-US" altLang="en-US" sz="1600"/>
              <a:t>“</a:t>
            </a:r>
            <a:r>
              <a:rPr lang="en-US" altLang="en-US" sz="1600" i="1"/>
              <a:t>We know it when we see it</a:t>
            </a:r>
            <a:r>
              <a:rPr lang="en-US" altLang="en-US" sz="1600"/>
              <a:t>”</a:t>
            </a:r>
          </a:p>
          <a:p>
            <a:endParaRPr lang="en-US" altLang="en-US" sz="1600"/>
          </a:p>
          <a:p>
            <a:r>
              <a:rPr lang="en-US" altLang="en-US" sz="1600"/>
              <a:t>  </a:t>
            </a: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715645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Box 6"/>
          <p:cNvSpPr txBox="1">
            <a:spLocks noChangeArrowheads="1"/>
          </p:cNvSpPr>
          <p:nvPr/>
        </p:nvSpPr>
        <p:spPr bwMode="auto">
          <a:xfrm>
            <a:off x="228600" y="958850"/>
            <a:ext cx="4252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04972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257175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61795" name="Rectangle 3"/>
          <p:cNvSpPr>
            <a:spLocks noChangeArrowheads="1"/>
          </p:cNvSpPr>
          <p:nvPr/>
        </p:nvSpPr>
        <p:spPr bwMode="auto">
          <a:xfrm>
            <a:off x="165100" y="0"/>
            <a:ext cx="829151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Defining Distance Measures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23850" y="1143000"/>
            <a:ext cx="86106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b="1"/>
              <a:t>Definition</a:t>
            </a:r>
            <a:r>
              <a:rPr lang="en-US" altLang="en-US"/>
              <a:t>: Let </a:t>
            </a:r>
            <a:r>
              <a:rPr lang="en-US" altLang="en-US" i="1"/>
              <a:t>O</a:t>
            </a:r>
            <a:r>
              <a:rPr lang="en-US" altLang="en-US" baseline="-25000"/>
              <a:t>1</a:t>
            </a:r>
            <a:r>
              <a:rPr lang="en-US" altLang="en-US"/>
              <a:t> and </a:t>
            </a:r>
            <a:r>
              <a:rPr lang="en-US" altLang="en-US" i="1"/>
              <a:t>O</a:t>
            </a:r>
            <a:r>
              <a:rPr lang="en-US" altLang="en-US" baseline="-25000"/>
              <a:t>2</a:t>
            </a:r>
            <a:r>
              <a:rPr lang="en-US" altLang="en-US"/>
              <a:t> be two objects from the universe of possible objects. The distance (dissimilarity) between </a:t>
            </a:r>
            <a:r>
              <a:rPr lang="en-US" altLang="en-US" i="1"/>
              <a:t>O</a:t>
            </a:r>
            <a:r>
              <a:rPr lang="en-US" altLang="en-US" baseline="-25000"/>
              <a:t>1</a:t>
            </a:r>
            <a:r>
              <a:rPr lang="en-US" altLang="en-US"/>
              <a:t> and </a:t>
            </a:r>
            <a:r>
              <a:rPr lang="en-US" altLang="en-US" i="1"/>
              <a:t>O</a:t>
            </a:r>
            <a:r>
              <a:rPr lang="en-US" altLang="en-US" baseline="-25000"/>
              <a:t>2</a:t>
            </a:r>
            <a:r>
              <a:rPr lang="en-US" altLang="en-US"/>
              <a:t> is a real number denoted by </a:t>
            </a:r>
            <a:r>
              <a:rPr lang="en-US" altLang="en-US" i="1"/>
              <a:t>D</a:t>
            </a:r>
            <a:r>
              <a:rPr lang="en-US" altLang="en-US"/>
              <a:t>(</a:t>
            </a:r>
            <a:r>
              <a:rPr lang="en-US" altLang="en-US" i="1"/>
              <a:t>O</a:t>
            </a:r>
            <a:r>
              <a:rPr lang="en-US" altLang="en-US" baseline="-25000"/>
              <a:t>1</a:t>
            </a:r>
            <a:r>
              <a:rPr lang="en-US" altLang="en-US"/>
              <a:t>,</a:t>
            </a:r>
            <a:r>
              <a:rPr lang="en-US" altLang="en-US" i="1"/>
              <a:t>O</a:t>
            </a:r>
            <a:r>
              <a:rPr lang="en-US" altLang="en-US" baseline="-25000"/>
              <a:t>2</a:t>
            </a:r>
            <a:r>
              <a:rPr lang="en-US" altLang="en-US"/>
              <a:t>)</a:t>
            </a:r>
            <a:endParaRPr lang="en-US" altLang="en-US">
              <a:sym typeface="Symbol" pitchFamily="18" charset="2"/>
            </a:endParaRPr>
          </a:p>
        </p:txBody>
      </p:sp>
      <p:pic>
        <p:nvPicPr>
          <p:cNvPr id="11269" name="Picture 5" descr="C:\WINNT\Profiles\eamonn.000\Desktop\gorilla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684463"/>
            <a:ext cx="1484313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 descr="C:\WINNT\Profiles\eamonn.000\Desktop\chim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798763"/>
            <a:ext cx="1019175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762000" y="4543425"/>
            <a:ext cx="1390650" cy="139065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6981825" y="4543425"/>
            <a:ext cx="1390650" cy="139065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3962400" y="4543425"/>
            <a:ext cx="1390650" cy="139065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61802" name="AutoShape 10"/>
          <p:cNvSpPr>
            <a:spLocks noChangeArrowheads="1"/>
          </p:cNvSpPr>
          <p:nvPr/>
        </p:nvSpPr>
        <p:spPr bwMode="auto">
          <a:xfrm rot="-992687">
            <a:off x="914400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3" name="AutoShape 11"/>
          <p:cNvSpPr>
            <a:spLocks noChangeArrowheads="1"/>
          </p:cNvSpPr>
          <p:nvPr/>
        </p:nvSpPr>
        <p:spPr bwMode="auto">
          <a:xfrm rot="-992687">
            <a:off x="4038600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4" name="AutoShape 12"/>
          <p:cNvSpPr>
            <a:spLocks noChangeArrowheads="1"/>
          </p:cNvSpPr>
          <p:nvPr/>
        </p:nvSpPr>
        <p:spPr bwMode="auto">
          <a:xfrm rot="-992687">
            <a:off x="7134225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5" name="AutoShape 13"/>
          <p:cNvSpPr>
            <a:spLocks noChangeArrowheads="1"/>
          </p:cNvSpPr>
          <p:nvPr/>
        </p:nvSpPr>
        <p:spPr bwMode="auto">
          <a:xfrm rot="992687" flipH="1">
            <a:off x="1905000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6" name="AutoShape 14"/>
          <p:cNvSpPr>
            <a:spLocks noChangeArrowheads="1"/>
          </p:cNvSpPr>
          <p:nvPr/>
        </p:nvSpPr>
        <p:spPr bwMode="auto">
          <a:xfrm rot="992687" flipH="1">
            <a:off x="5138738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7" name="AutoShape 15"/>
          <p:cNvSpPr>
            <a:spLocks noChangeArrowheads="1"/>
          </p:cNvSpPr>
          <p:nvPr/>
        </p:nvSpPr>
        <p:spPr bwMode="auto">
          <a:xfrm rot="992687" flipH="1">
            <a:off x="8124825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1057275" y="6400800"/>
            <a:ext cx="71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0.23</a:t>
            </a:r>
          </a:p>
        </p:txBody>
      </p:sp>
      <p:sp>
        <p:nvSpPr>
          <p:cNvPr id="161809" name="AutoShape 17"/>
          <p:cNvSpPr>
            <a:spLocks noChangeArrowheads="1"/>
          </p:cNvSpPr>
          <p:nvPr/>
        </p:nvSpPr>
        <p:spPr bwMode="auto">
          <a:xfrm rot="21550572" flipH="1">
            <a:off x="1200150" y="6181725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436086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161811" name="AutoShape 19"/>
          <p:cNvSpPr>
            <a:spLocks noChangeArrowheads="1"/>
          </p:cNvSpPr>
          <p:nvPr/>
        </p:nvSpPr>
        <p:spPr bwMode="auto">
          <a:xfrm rot="21550572" flipH="1">
            <a:off x="4400550" y="6181725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7229475" y="6400800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342.7</a:t>
            </a:r>
          </a:p>
        </p:txBody>
      </p:sp>
      <p:sp>
        <p:nvSpPr>
          <p:cNvPr id="161813" name="AutoShape 21"/>
          <p:cNvSpPr>
            <a:spLocks noChangeArrowheads="1"/>
          </p:cNvSpPr>
          <p:nvPr/>
        </p:nvSpPr>
        <p:spPr bwMode="auto">
          <a:xfrm rot="21550572" flipH="1">
            <a:off x="7496175" y="6181725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3429000" y="3430588"/>
            <a:ext cx="1247775" cy="51911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800" b="1">
                <a:latin typeface="Courier New" pitchFamily="49" charset="0"/>
              </a:rPr>
              <a:t>Peter</a:t>
            </a: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4795838" y="3430588"/>
            <a:ext cx="1247775" cy="51911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800" b="1">
                <a:latin typeface="Courier New" pitchFamily="49" charset="0"/>
              </a:rPr>
              <a:t>Piotr</a:t>
            </a:r>
          </a:p>
        </p:txBody>
      </p:sp>
      <p:pic>
        <p:nvPicPr>
          <p:cNvPr id="11288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850" y="2743200"/>
            <a:ext cx="12668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9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2743200"/>
            <a:ext cx="12668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90" name="TextBox 25"/>
          <p:cNvSpPr txBox="1">
            <a:spLocks noChangeArrowheads="1"/>
          </p:cNvSpPr>
          <p:nvPr/>
        </p:nvSpPr>
        <p:spPr bwMode="auto">
          <a:xfrm>
            <a:off x="323850" y="773113"/>
            <a:ext cx="287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from Eamonn Keogh</a:t>
            </a:r>
          </a:p>
        </p:txBody>
      </p:sp>
    </p:spTree>
    <p:extLst>
      <p:ext uri="{BB962C8B-B14F-4D97-AF65-F5344CB8AC3E}">
        <p14:creationId xmlns:p14="http://schemas.microsoft.com/office/powerpoint/2010/main" val="250238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Text Box 3"/>
          <p:cNvSpPr txBox="1">
            <a:spLocks noChangeArrowheads="1"/>
          </p:cNvSpPr>
          <p:nvPr/>
        </p:nvSpPr>
        <p:spPr bwMode="auto">
          <a:xfrm>
            <a:off x="247650" y="685800"/>
            <a:ext cx="8610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lnSpc>
                <a:spcPct val="110000"/>
              </a:lnSpc>
              <a:defRPr/>
            </a:pPr>
            <a:endParaRPr lang="en-US" altLang="en-US"/>
          </a:p>
          <a:p>
            <a:pPr>
              <a:lnSpc>
                <a:spcPct val="110000"/>
              </a:lnSpc>
              <a:defRPr/>
            </a:pPr>
            <a:r>
              <a:rPr lang="en-US" altLang="en-US" sz="3200">
                <a:effectLst>
                  <a:outerShdw blurRad="38100" dist="38100" dir="2700000" algn="tl">
                    <a:srgbClr val="C0C0C0"/>
                  </a:outerShdw>
                </a:effectLst>
              </a:rPr>
              <a:t>What properties should a distance measure have?</a:t>
            </a:r>
          </a:p>
          <a:p>
            <a:pPr>
              <a:lnSpc>
                <a:spcPct val="110000"/>
              </a:lnSpc>
              <a:defRPr/>
            </a:pPr>
            <a:endParaRPr lang="en-US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10000"/>
              </a:lnSpc>
              <a:buFontTx/>
              <a:buChar char="•"/>
              <a:defRPr/>
            </a:pPr>
            <a:r>
              <a:rPr lang="en-US" altLang="en-US" sz="2800"/>
              <a:t> </a:t>
            </a:r>
            <a:r>
              <a:rPr lang="en-US" altLang="en-US" sz="2800" i="1"/>
              <a:t>D</a:t>
            </a:r>
            <a:r>
              <a:rPr lang="en-US" altLang="en-US" sz="2800"/>
              <a:t>(A,B) = </a:t>
            </a:r>
            <a:r>
              <a:rPr lang="en-US" altLang="en-US" sz="2800" i="1"/>
              <a:t>D</a:t>
            </a:r>
            <a:r>
              <a:rPr lang="en-US" altLang="en-US" sz="2800"/>
              <a:t>(B,A)		</a:t>
            </a:r>
            <a:r>
              <a:rPr lang="en-US" altLang="en-US" i="1"/>
              <a:t>Symmetry </a:t>
            </a:r>
            <a:endParaRPr lang="en-US" altLang="en-US" sz="2800"/>
          </a:p>
          <a:p>
            <a:pPr>
              <a:lnSpc>
                <a:spcPct val="110000"/>
              </a:lnSpc>
              <a:buFontTx/>
              <a:buChar char="•"/>
              <a:defRPr/>
            </a:pPr>
            <a:r>
              <a:rPr lang="en-US" altLang="en-US" sz="2800"/>
              <a:t> </a:t>
            </a:r>
            <a:r>
              <a:rPr lang="en-US" altLang="en-US" sz="2800" i="1"/>
              <a:t>D</a:t>
            </a:r>
            <a:r>
              <a:rPr lang="en-US" altLang="en-US" sz="2800"/>
              <a:t>(A,A) = 0			</a:t>
            </a:r>
            <a:r>
              <a:rPr lang="en-US" altLang="en-US" i="1"/>
              <a:t>Constancy of Self-Similarity</a:t>
            </a:r>
            <a:endParaRPr lang="en-US" altLang="en-US" sz="2800"/>
          </a:p>
          <a:p>
            <a:pPr>
              <a:lnSpc>
                <a:spcPct val="110000"/>
              </a:lnSpc>
              <a:buFontTx/>
              <a:buChar char="•"/>
              <a:defRPr/>
            </a:pPr>
            <a:r>
              <a:rPr lang="en-US" altLang="en-US" sz="2800"/>
              <a:t> </a:t>
            </a:r>
            <a:r>
              <a:rPr lang="en-US" altLang="en-US" sz="2800" i="1"/>
              <a:t>D</a:t>
            </a:r>
            <a:r>
              <a:rPr lang="en-US" altLang="en-US" sz="2800"/>
              <a:t>(A,B) = 0 iif A= B 		</a:t>
            </a:r>
            <a:r>
              <a:rPr lang="en-US" altLang="en-US" i="1"/>
              <a:t>Positivity (Separation)</a:t>
            </a:r>
          </a:p>
          <a:p>
            <a:pPr>
              <a:lnSpc>
                <a:spcPct val="110000"/>
              </a:lnSpc>
              <a:buFontTx/>
              <a:buChar char="•"/>
              <a:defRPr/>
            </a:pPr>
            <a:r>
              <a:rPr lang="en-US" altLang="en-US" sz="2800"/>
              <a:t> </a:t>
            </a:r>
            <a:r>
              <a:rPr lang="en-US" altLang="en-US" sz="2800" i="1"/>
              <a:t>D</a:t>
            </a:r>
            <a:r>
              <a:rPr lang="en-US" altLang="en-US" sz="2800"/>
              <a:t>(A,B) </a:t>
            </a:r>
            <a:r>
              <a:rPr lang="en-US" altLang="en-US" sz="2800">
                <a:sym typeface="Symbol" pitchFamily="-111" charset="2"/>
              </a:rPr>
              <a:t> </a:t>
            </a:r>
            <a:r>
              <a:rPr lang="en-US" altLang="en-US" sz="2800" i="1">
                <a:sym typeface="Symbol" pitchFamily="-111" charset="2"/>
              </a:rPr>
              <a:t>D</a:t>
            </a:r>
            <a:r>
              <a:rPr lang="en-US" altLang="en-US" sz="2800">
                <a:sym typeface="Symbol" pitchFamily="-111" charset="2"/>
              </a:rPr>
              <a:t>(A,C) + </a:t>
            </a:r>
            <a:r>
              <a:rPr lang="en-US" altLang="en-US" sz="2800" i="1">
                <a:sym typeface="Symbol" pitchFamily="-111" charset="2"/>
              </a:rPr>
              <a:t>D</a:t>
            </a:r>
            <a:r>
              <a:rPr lang="en-US" altLang="en-US" sz="2800">
                <a:sym typeface="Symbol" pitchFamily="-111" charset="2"/>
              </a:rPr>
              <a:t>(B,C)	</a:t>
            </a:r>
            <a:r>
              <a:rPr lang="en-US" altLang="en-US" i="1"/>
              <a:t>Triangular Inequality</a:t>
            </a:r>
            <a:r>
              <a:rPr lang="en-US" altLang="en-US" sz="2800"/>
              <a:t> </a:t>
            </a:r>
          </a:p>
          <a:p>
            <a:pPr lvl="3">
              <a:lnSpc>
                <a:spcPct val="110000"/>
              </a:lnSpc>
              <a:defRPr/>
            </a:pPr>
            <a:endParaRPr lang="en-US" altLang="en-US">
              <a:sym typeface="Symbol" pitchFamily="-111" charset="2"/>
            </a:endParaRPr>
          </a:p>
        </p:txBody>
      </p:sp>
      <p:sp>
        <p:nvSpPr>
          <p:cNvPr id="12291" name="TextBox 21"/>
          <p:cNvSpPr txBox="1">
            <a:spLocks noChangeArrowheads="1"/>
          </p:cNvSpPr>
          <p:nvPr/>
        </p:nvSpPr>
        <p:spPr bwMode="auto">
          <a:xfrm>
            <a:off x="4605338" y="31591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593723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auto">
          <a:xfrm>
            <a:off x="247650" y="1228725"/>
            <a:ext cx="8210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Intuitions behind desirable distance measure properties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47650" y="2590800"/>
            <a:ext cx="8877300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i="1"/>
              <a:t>D</a:t>
            </a:r>
            <a:r>
              <a:rPr lang="en-US" altLang="en-US"/>
              <a:t>(A,B) = </a:t>
            </a:r>
            <a:r>
              <a:rPr lang="en-US" altLang="en-US" i="1"/>
              <a:t>D</a:t>
            </a:r>
            <a:r>
              <a:rPr lang="en-US" altLang="en-US"/>
              <a:t>(B,A)			</a:t>
            </a:r>
            <a:endParaRPr lang="en-US" altLang="en-US" sz="2000" i="1"/>
          </a:p>
          <a:p>
            <a:pPr>
              <a:lnSpc>
                <a:spcPct val="110000"/>
              </a:lnSpc>
            </a:pPr>
            <a:r>
              <a:rPr lang="en-US" altLang="en-US" sz="2000" i="1"/>
              <a:t>Otherwise you could claim “Alex looks like Bob, but Bob looks nothing like Alex.”</a:t>
            </a:r>
          </a:p>
          <a:p>
            <a:pPr>
              <a:lnSpc>
                <a:spcPct val="110000"/>
              </a:lnSpc>
            </a:pPr>
            <a:endParaRPr lang="en-US" altLang="en-US"/>
          </a:p>
          <a:p>
            <a:pPr>
              <a:lnSpc>
                <a:spcPct val="110000"/>
              </a:lnSpc>
            </a:pPr>
            <a:r>
              <a:rPr lang="en-US" altLang="en-US" i="1"/>
              <a:t>D</a:t>
            </a:r>
            <a:r>
              <a:rPr lang="en-US" altLang="en-US"/>
              <a:t>(A,A) = 0				</a:t>
            </a:r>
            <a:endParaRPr lang="en-US" altLang="en-US" sz="2000" i="1"/>
          </a:p>
          <a:p>
            <a:pPr>
              <a:lnSpc>
                <a:spcPct val="110000"/>
              </a:lnSpc>
            </a:pPr>
            <a:r>
              <a:rPr lang="en-US" altLang="en-US" sz="2000" i="1"/>
              <a:t>Otherwise you could claim “Alex looks more like Bob, than Bob does.”</a:t>
            </a:r>
            <a:endParaRPr lang="en-US" altLang="en-US"/>
          </a:p>
          <a:p>
            <a:pPr>
              <a:lnSpc>
                <a:spcPct val="110000"/>
              </a:lnSpc>
            </a:pPr>
            <a:endParaRPr lang="en-US" altLang="en-US" i="1"/>
          </a:p>
        </p:txBody>
      </p:sp>
      <p:sp>
        <p:nvSpPr>
          <p:cNvPr id="13316" name="TextBox 3"/>
          <p:cNvSpPr txBox="1">
            <a:spLocks noChangeArrowheads="1"/>
          </p:cNvSpPr>
          <p:nvPr/>
        </p:nvSpPr>
        <p:spPr bwMode="auto">
          <a:xfrm>
            <a:off x="4872038" y="13176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47388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auto">
          <a:xfrm>
            <a:off x="247650" y="1228725"/>
            <a:ext cx="8210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Intuitions behind desirable distance measure properties (continued)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47650" y="2590800"/>
            <a:ext cx="8877300" cy="31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i="1"/>
              <a:t>D</a:t>
            </a:r>
            <a:r>
              <a:rPr lang="en-US" altLang="en-US"/>
              <a:t>(A,B) = 0 IIf A=B </a:t>
            </a:r>
            <a:r>
              <a:rPr lang="en-US" altLang="en-US" sz="2800"/>
              <a:t>	</a:t>
            </a:r>
            <a:endParaRPr lang="en-US" altLang="en-US" sz="2000" i="1"/>
          </a:p>
          <a:p>
            <a:pPr>
              <a:lnSpc>
                <a:spcPct val="110000"/>
              </a:lnSpc>
            </a:pPr>
            <a:r>
              <a:rPr lang="en-US" altLang="en-US" sz="1900" i="1"/>
              <a:t>Otherwise there are objects in your world that are different, but you cannot tell apart.</a:t>
            </a:r>
            <a:endParaRPr lang="en-US" altLang="en-US"/>
          </a:p>
          <a:p>
            <a:pPr>
              <a:lnSpc>
                <a:spcPct val="110000"/>
              </a:lnSpc>
            </a:pPr>
            <a:endParaRPr lang="en-US" altLang="en-US" i="1"/>
          </a:p>
          <a:p>
            <a:pPr>
              <a:lnSpc>
                <a:spcPct val="110000"/>
              </a:lnSpc>
            </a:pPr>
            <a:r>
              <a:rPr lang="en-US" altLang="en-US" i="1"/>
              <a:t>D</a:t>
            </a:r>
            <a:r>
              <a:rPr lang="en-US" altLang="en-US"/>
              <a:t>(A,B) </a:t>
            </a:r>
            <a:r>
              <a:rPr lang="en-US" altLang="en-US">
                <a:sym typeface="Symbol" pitchFamily="18" charset="2"/>
              </a:rPr>
              <a:t> </a:t>
            </a:r>
            <a:r>
              <a:rPr lang="en-US" altLang="en-US" i="1">
                <a:sym typeface="Symbol" pitchFamily="18" charset="2"/>
              </a:rPr>
              <a:t>D</a:t>
            </a:r>
            <a:r>
              <a:rPr lang="en-US" altLang="en-US">
                <a:sym typeface="Symbol" pitchFamily="18" charset="2"/>
              </a:rPr>
              <a:t>(A,C) + </a:t>
            </a:r>
            <a:r>
              <a:rPr lang="en-US" altLang="en-US" i="1">
                <a:sym typeface="Symbol" pitchFamily="18" charset="2"/>
              </a:rPr>
              <a:t>D</a:t>
            </a:r>
            <a:r>
              <a:rPr lang="en-US" altLang="en-US">
                <a:sym typeface="Symbol" pitchFamily="18" charset="2"/>
              </a:rPr>
              <a:t>(B,C)	</a:t>
            </a:r>
            <a:endParaRPr lang="en-US" altLang="en-US"/>
          </a:p>
          <a:p>
            <a:pPr>
              <a:lnSpc>
                <a:spcPct val="110000"/>
              </a:lnSpc>
            </a:pPr>
            <a:r>
              <a:rPr lang="en-US" altLang="en-US" sz="2000" i="1"/>
              <a:t>Otherwise you could claim “Alex is very like Bob, and Alex is very like Carl, but Bob is very unlike Carl.”</a:t>
            </a:r>
            <a:endParaRPr lang="en-US" altLang="en-US"/>
          </a:p>
          <a:p>
            <a:pPr lvl="3">
              <a:lnSpc>
                <a:spcPct val="110000"/>
              </a:lnSpc>
            </a:pPr>
            <a:endParaRPr lang="en-US" altLang="en-US">
              <a:sym typeface="Symbol" pitchFamily="18" charset="2"/>
            </a:endParaRP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4872038" y="13176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130973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88" y="304800"/>
            <a:ext cx="8150225" cy="1033463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Two Types of Clustering</a:t>
            </a:r>
          </a:p>
        </p:txBody>
      </p:sp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1066800" y="3276600"/>
            <a:ext cx="2571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Hierarchical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230188" y="1600200"/>
            <a:ext cx="8443912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b="1"/>
              <a:t> Partitional algorithms:</a:t>
            </a:r>
            <a:r>
              <a:rPr lang="en-US" altLang="en-US"/>
              <a:t> Construct various partitions and then evaluate them by some criterion</a:t>
            </a:r>
            <a:endParaRPr lang="en-US" altLang="en-US" sz="2000"/>
          </a:p>
          <a:p>
            <a:pPr>
              <a:buFontTx/>
              <a:buChar char="•"/>
            </a:pPr>
            <a:r>
              <a:rPr lang="en-US" altLang="en-US" b="1"/>
              <a:t> Hierarchical algorithms:</a:t>
            </a:r>
            <a:r>
              <a:rPr lang="en-US" altLang="en-US"/>
              <a:t> Create a hierarchical decomposition of the set of objects using some criterion</a:t>
            </a:r>
          </a:p>
          <a:p>
            <a:endParaRPr lang="en-US" altLang="en-US"/>
          </a:p>
        </p:txBody>
      </p:sp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5919788" y="3225800"/>
            <a:ext cx="2098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Partitional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52400" y="3671888"/>
            <a:ext cx="54102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5367" name="Group 7"/>
          <p:cNvGrpSpPr>
            <a:grpSpLocks/>
          </p:cNvGrpSpPr>
          <p:nvPr/>
        </p:nvGrpSpPr>
        <p:grpSpPr bwMode="auto">
          <a:xfrm>
            <a:off x="5257800" y="4419600"/>
            <a:ext cx="3629025" cy="2133600"/>
            <a:chOff x="120" y="2532"/>
            <a:chExt cx="2286" cy="1344"/>
          </a:xfrm>
        </p:grpSpPr>
        <p:grpSp>
          <p:nvGrpSpPr>
            <p:cNvPr id="15390" name="Group 8"/>
            <p:cNvGrpSpPr>
              <a:grpSpLocks/>
            </p:cNvGrpSpPr>
            <p:nvPr/>
          </p:nvGrpSpPr>
          <p:grpSpPr bwMode="auto">
            <a:xfrm>
              <a:off x="120" y="2532"/>
              <a:ext cx="2286" cy="1344"/>
              <a:chOff x="156" y="2634"/>
              <a:chExt cx="2286" cy="1344"/>
            </a:xfrm>
          </p:grpSpPr>
          <p:sp>
            <p:nvSpPr>
              <p:cNvPr id="15400" name="Rectangle 9"/>
              <p:cNvSpPr>
                <a:spLocks noChangeArrowheads="1"/>
              </p:cNvSpPr>
              <p:nvPr/>
            </p:nvSpPr>
            <p:spPr bwMode="auto">
              <a:xfrm>
                <a:off x="156" y="2634"/>
                <a:ext cx="1080" cy="1344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401" name="Rectangle 10"/>
              <p:cNvSpPr>
                <a:spLocks noChangeArrowheads="1"/>
              </p:cNvSpPr>
              <p:nvPr/>
            </p:nvSpPr>
            <p:spPr bwMode="auto">
              <a:xfrm>
                <a:off x="1362" y="2634"/>
                <a:ext cx="1080" cy="1344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pic>
          <p:nvPicPr>
            <p:cNvPr id="15391" name="Picture 11" descr="Edna Krabappe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" y="3190"/>
              <a:ext cx="303" cy="6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2" name="Picture 12" descr="Principal Seymour  Skinner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2571"/>
              <a:ext cx="304" cy="6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3" name="Picture 13" descr="Groundskeeper Willi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2" y="2589"/>
              <a:ext cx="336" cy="5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4" name="Picture 1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" y="3253"/>
              <a:ext cx="375" cy="5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5" name="Picture 1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" y="2551"/>
              <a:ext cx="343" cy="6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6" name="Picture 1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" y="2763"/>
              <a:ext cx="375" cy="6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7" name="Picture 17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" y="3338"/>
              <a:ext cx="269" cy="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8" name="Picture 18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" y="3432"/>
              <a:ext cx="181" cy="4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9" name="Picture 19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" y="2617"/>
              <a:ext cx="272" cy="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368" name="Group 20"/>
          <p:cNvGrpSpPr>
            <a:grpSpLocks/>
          </p:cNvGrpSpPr>
          <p:nvPr/>
        </p:nvGrpSpPr>
        <p:grpSpPr bwMode="auto">
          <a:xfrm>
            <a:off x="488950" y="3990975"/>
            <a:ext cx="3587750" cy="2549525"/>
            <a:chOff x="98" y="300"/>
            <a:chExt cx="3214" cy="2284"/>
          </a:xfrm>
        </p:grpSpPr>
        <p:pic>
          <p:nvPicPr>
            <p:cNvPr id="15370" name="Picture 21" descr="Edna Krabappe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" y="1440"/>
              <a:ext cx="504" cy="1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1" name="Picture 2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824"/>
              <a:ext cx="308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2" name="Picture 23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78"/>
              <a:ext cx="424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373" name="Group 24"/>
            <p:cNvGrpSpPr>
              <a:grpSpLocks/>
            </p:cNvGrpSpPr>
            <p:nvPr/>
          </p:nvGrpSpPr>
          <p:grpSpPr bwMode="auto">
            <a:xfrm>
              <a:off x="1865" y="1505"/>
              <a:ext cx="1447" cy="1031"/>
              <a:chOff x="252" y="2364"/>
              <a:chExt cx="2258" cy="1608"/>
            </a:xfrm>
          </p:grpSpPr>
          <p:pic>
            <p:nvPicPr>
              <p:cNvPr id="15388" name="Picture 25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389" name="Picture 26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374" name="Line 27"/>
            <p:cNvSpPr>
              <a:spLocks noChangeShapeType="1"/>
            </p:cNvSpPr>
            <p:nvPr/>
          </p:nvSpPr>
          <p:spPr bwMode="auto">
            <a:xfrm flipH="1" flipV="1">
              <a:off x="255" y="444"/>
              <a:ext cx="0" cy="90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Line 28"/>
            <p:cNvSpPr>
              <a:spLocks noChangeShapeType="1"/>
            </p:cNvSpPr>
            <p:nvPr/>
          </p:nvSpPr>
          <p:spPr bwMode="auto">
            <a:xfrm flipH="1" flipV="1">
              <a:off x="2919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Line 29"/>
            <p:cNvSpPr>
              <a:spLocks noChangeShapeType="1"/>
            </p:cNvSpPr>
            <p:nvPr/>
          </p:nvSpPr>
          <p:spPr bwMode="auto">
            <a:xfrm flipH="1" flipV="1">
              <a:off x="2227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Line 30"/>
            <p:cNvSpPr>
              <a:spLocks noChangeShapeType="1"/>
            </p:cNvSpPr>
            <p:nvPr/>
          </p:nvSpPr>
          <p:spPr bwMode="auto">
            <a:xfrm flipH="1">
              <a:off x="2221" y="1167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Line 31"/>
            <p:cNvSpPr>
              <a:spLocks noChangeShapeType="1"/>
            </p:cNvSpPr>
            <p:nvPr/>
          </p:nvSpPr>
          <p:spPr bwMode="auto">
            <a:xfrm flipH="1">
              <a:off x="1193" y="710"/>
              <a:ext cx="1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Line 32"/>
            <p:cNvSpPr>
              <a:spLocks noChangeShapeType="1"/>
            </p:cNvSpPr>
            <p:nvPr/>
          </p:nvSpPr>
          <p:spPr bwMode="auto">
            <a:xfrm rot="5400000" flipH="1">
              <a:off x="2343" y="943"/>
              <a:ext cx="45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Line 33"/>
            <p:cNvSpPr>
              <a:spLocks noChangeShapeType="1"/>
            </p:cNvSpPr>
            <p:nvPr/>
          </p:nvSpPr>
          <p:spPr bwMode="auto">
            <a:xfrm rot="5400000" flipH="1">
              <a:off x="1712" y="574"/>
              <a:ext cx="26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81" name="Group 34"/>
            <p:cNvGrpSpPr>
              <a:grpSpLocks/>
            </p:cNvGrpSpPr>
            <p:nvPr/>
          </p:nvGrpSpPr>
          <p:grpSpPr bwMode="auto">
            <a:xfrm>
              <a:off x="859" y="969"/>
              <a:ext cx="703" cy="377"/>
              <a:chOff x="2112" y="2976"/>
              <a:chExt cx="703" cy="377"/>
            </a:xfrm>
          </p:grpSpPr>
          <p:sp>
            <p:nvSpPr>
              <p:cNvPr id="15385" name="Line 35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6" name="Line 36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7" name="Line 37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82" name="Line 38"/>
            <p:cNvSpPr>
              <a:spLocks noChangeShapeType="1"/>
            </p:cNvSpPr>
            <p:nvPr/>
          </p:nvSpPr>
          <p:spPr bwMode="auto">
            <a:xfrm rot="5400000" flipH="1">
              <a:off x="1065" y="844"/>
              <a:ext cx="25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Line 39"/>
            <p:cNvSpPr>
              <a:spLocks noChangeShapeType="1"/>
            </p:cNvSpPr>
            <p:nvPr/>
          </p:nvSpPr>
          <p:spPr bwMode="auto">
            <a:xfrm flipH="1">
              <a:off x="253" y="446"/>
              <a:ext cx="158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40"/>
            <p:cNvSpPr>
              <a:spLocks noChangeShapeType="1"/>
            </p:cNvSpPr>
            <p:nvPr/>
          </p:nvSpPr>
          <p:spPr bwMode="auto">
            <a:xfrm rot="5400000" flipH="1">
              <a:off x="989" y="370"/>
              <a:ext cx="13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69" name="TextBox 40"/>
          <p:cNvSpPr txBox="1">
            <a:spLocks noChangeArrowheads="1"/>
          </p:cNvSpPr>
          <p:nvPr/>
        </p:nvSpPr>
        <p:spPr bwMode="auto">
          <a:xfrm>
            <a:off x="4711700" y="131763"/>
            <a:ext cx="425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15291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36607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title"/>
          </p:nvPr>
        </p:nvSpPr>
        <p:spPr>
          <a:xfrm>
            <a:off x="203200" y="1025525"/>
            <a:ext cx="8628063" cy="8318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>
                <a:effectLst>
                  <a:outerShdw blurRad="38100" dist="38100" dir="2700000" algn="tl">
                    <a:srgbClr val="C0C0C0"/>
                  </a:outerShdw>
                </a:effectLst>
              </a:rPr>
              <a:t>Dendogram: A Useful Tool for Summarizing Similarity Measurements</a:t>
            </a:r>
            <a:r>
              <a:rPr lang="en-US" altLang="en-US" sz="3200"/>
              <a:t> </a:t>
            </a:r>
          </a:p>
        </p:txBody>
      </p:sp>
      <p:grpSp>
        <p:nvGrpSpPr>
          <p:cNvPr id="16388" name="Group 5"/>
          <p:cNvGrpSpPr>
            <a:grpSpLocks/>
          </p:cNvGrpSpPr>
          <p:nvPr/>
        </p:nvGrpSpPr>
        <p:grpSpPr bwMode="auto">
          <a:xfrm>
            <a:off x="203200" y="3859213"/>
            <a:ext cx="2903538" cy="2760662"/>
            <a:chOff x="114" y="1088"/>
            <a:chExt cx="3296" cy="3133"/>
          </a:xfrm>
        </p:grpSpPr>
        <p:pic>
          <p:nvPicPr>
            <p:cNvPr id="16403" name="Picture 6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" y="2184"/>
              <a:ext cx="662" cy="2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404" name="Group 7"/>
            <p:cNvGrpSpPr>
              <a:grpSpLocks/>
            </p:cNvGrpSpPr>
            <p:nvPr/>
          </p:nvGrpSpPr>
          <p:grpSpPr bwMode="auto">
            <a:xfrm>
              <a:off x="1152" y="2538"/>
              <a:ext cx="2258" cy="1608"/>
              <a:chOff x="252" y="2364"/>
              <a:chExt cx="2258" cy="1608"/>
            </a:xfrm>
          </p:grpSpPr>
          <p:pic>
            <p:nvPicPr>
              <p:cNvPr id="16412" name="Picture 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413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6405" name="Line 10"/>
            <p:cNvSpPr>
              <a:spLocks noChangeShapeType="1"/>
            </p:cNvSpPr>
            <p:nvPr/>
          </p:nvSpPr>
          <p:spPr bwMode="auto">
            <a:xfrm flipH="1" flipV="1">
              <a:off x="636" y="1290"/>
              <a:ext cx="0" cy="100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Line 11"/>
            <p:cNvSpPr>
              <a:spLocks noChangeShapeType="1"/>
            </p:cNvSpPr>
            <p:nvPr/>
          </p:nvSpPr>
          <p:spPr bwMode="auto">
            <a:xfrm flipH="1" flipV="1">
              <a:off x="2796" y="2010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Line 12"/>
            <p:cNvSpPr>
              <a:spLocks noChangeShapeType="1"/>
            </p:cNvSpPr>
            <p:nvPr/>
          </p:nvSpPr>
          <p:spPr bwMode="auto">
            <a:xfrm flipH="1" flipV="1">
              <a:off x="1716" y="2010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Line 13"/>
            <p:cNvSpPr>
              <a:spLocks noChangeShapeType="1"/>
            </p:cNvSpPr>
            <p:nvPr/>
          </p:nvSpPr>
          <p:spPr bwMode="auto">
            <a:xfrm flipH="1">
              <a:off x="1707" y="2010"/>
              <a:ext cx="109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Line 14"/>
            <p:cNvSpPr>
              <a:spLocks noChangeShapeType="1"/>
            </p:cNvSpPr>
            <p:nvPr/>
          </p:nvSpPr>
          <p:spPr bwMode="auto">
            <a:xfrm flipH="1">
              <a:off x="627" y="1297"/>
              <a:ext cx="163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Line 15"/>
            <p:cNvSpPr>
              <a:spLocks noChangeShapeType="1"/>
            </p:cNvSpPr>
            <p:nvPr/>
          </p:nvSpPr>
          <p:spPr bwMode="auto">
            <a:xfrm rot="5400000" flipH="1">
              <a:off x="1898" y="1661"/>
              <a:ext cx="71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Line 16"/>
            <p:cNvSpPr>
              <a:spLocks noChangeShapeType="1"/>
            </p:cNvSpPr>
            <p:nvPr/>
          </p:nvSpPr>
          <p:spPr bwMode="auto">
            <a:xfrm rot="5400000" flipH="1">
              <a:off x="1361" y="1190"/>
              <a:ext cx="2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89" name="Group 17"/>
          <p:cNvGrpSpPr>
            <a:grpSpLocks/>
          </p:cNvGrpSpPr>
          <p:nvPr/>
        </p:nvGrpSpPr>
        <p:grpSpPr bwMode="auto">
          <a:xfrm>
            <a:off x="6103938" y="3859213"/>
            <a:ext cx="2843212" cy="2760662"/>
            <a:chOff x="3845" y="2286"/>
            <a:chExt cx="1791" cy="1739"/>
          </a:xfrm>
        </p:grpSpPr>
        <p:pic>
          <p:nvPicPr>
            <p:cNvPr id="16393" name="Picture 18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5" y="2894"/>
              <a:ext cx="367" cy="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4" name="Picture 1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7" y="3091"/>
              <a:ext cx="499" cy="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5" name="Picture 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3" y="3118"/>
              <a:ext cx="640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6" name="Line 21"/>
            <p:cNvSpPr>
              <a:spLocks noChangeShapeType="1"/>
            </p:cNvSpPr>
            <p:nvPr/>
          </p:nvSpPr>
          <p:spPr bwMode="auto">
            <a:xfrm flipH="1" flipV="1">
              <a:off x="4135" y="2398"/>
              <a:ext cx="0" cy="56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Line 22"/>
            <p:cNvSpPr>
              <a:spLocks noChangeShapeType="1"/>
            </p:cNvSpPr>
            <p:nvPr/>
          </p:nvSpPr>
          <p:spPr bwMode="auto">
            <a:xfrm flipH="1" flipV="1">
              <a:off x="5333" y="2798"/>
              <a:ext cx="0" cy="16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Line 23"/>
            <p:cNvSpPr>
              <a:spLocks noChangeShapeType="1"/>
            </p:cNvSpPr>
            <p:nvPr/>
          </p:nvSpPr>
          <p:spPr bwMode="auto">
            <a:xfrm flipH="1" flipV="1">
              <a:off x="4734" y="2798"/>
              <a:ext cx="0" cy="16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Line 24"/>
            <p:cNvSpPr>
              <a:spLocks noChangeShapeType="1"/>
            </p:cNvSpPr>
            <p:nvPr/>
          </p:nvSpPr>
          <p:spPr bwMode="auto">
            <a:xfrm flipH="1">
              <a:off x="4729" y="2798"/>
              <a:ext cx="60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Line 25"/>
            <p:cNvSpPr>
              <a:spLocks noChangeShapeType="1"/>
            </p:cNvSpPr>
            <p:nvPr/>
          </p:nvSpPr>
          <p:spPr bwMode="auto">
            <a:xfrm flipH="1">
              <a:off x="4130" y="2402"/>
              <a:ext cx="90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Line 26"/>
            <p:cNvSpPr>
              <a:spLocks noChangeShapeType="1"/>
            </p:cNvSpPr>
            <p:nvPr/>
          </p:nvSpPr>
          <p:spPr bwMode="auto">
            <a:xfrm rot="5400000" flipH="1">
              <a:off x="4835" y="2604"/>
              <a:ext cx="39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Line 27"/>
            <p:cNvSpPr>
              <a:spLocks noChangeShapeType="1"/>
            </p:cNvSpPr>
            <p:nvPr/>
          </p:nvSpPr>
          <p:spPr bwMode="auto">
            <a:xfrm rot="5400000" flipH="1">
              <a:off x="4537" y="2343"/>
              <a:ext cx="11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6390" name="Picture 2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2230438"/>
            <a:ext cx="331152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Text Box 29"/>
          <p:cNvSpPr txBox="1">
            <a:spLocks noChangeArrowheads="1"/>
          </p:cNvSpPr>
          <p:nvPr/>
        </p:nvSpPr>
        <p:spPr bwMode="auto">
          <a:xfrm>
            <a:off x="4194175" y="2238375"/>
            <a:ext cx="46370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/>
              <a:t>The similarity between two objects in a dendrogram is represented as the height of the lowest internal node they share.</a:t>
            </a:r>
          </a:p>
        </p:txBody>
      </p:sp>
      <p:sp>
        <p:nvSpPr>
          <p:cNvPr id="16392" name="TextBox 29"/>
          <p:cNvSpPr txBox="1">
            <a:spLocks noChangeArrowheads="1"/>
          </p:cNvSpPr>
          <p:nvPr/>
        </p:nvSpPr>
        <p:spPr bwMode="auto">
          <a:xfrm>
            <a:off x="4578350" y="315913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284613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052"/>
          <p:cNvGrpSpPr>
            <a:grpSpLocks/>
          </p:cNvGrpSpPr>
          <p:nvPr/>
        </p:nvGrpSpPr>
        <p:grpSpPr bwMode="auto">
          <a:xfrm>
            <a:off x="685800" y="1752600"/>
            <a:ext cx="7467600" cy="3276600"/>
            <a:chOff x="672" y="720"/>
            <a:chExt cx="3840" cy="2064"/>
          </a:xfrm>
        </p:grpSpPr>
        <p:sp>
          <p:nvSpPr>
            <p:cNvPr id="17423" name="Line 1032"/>
            <p:cNvSpPr>
              <a:spLocks noChangeShapeType="1"/>
            </p:cNvSpPr>
            <p:nvPr/>
          </p:nvSpPr>
          <p:spPr bwMode="auto">
            <a:xfrm flipV="1">
              <a:off x="4512" y="864"/>
              <a:ext cx="0" cy="115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Line 1033"/>
            <p:cNvSpPr>
              <a:spLocks noChangeShapeType="1"/>
            </p:cNvSpPr>
            <p:nvPr/>
          </p:nvSpPr>
          <p:spPr bwMode="auto">
            <a:xfrm flipV="1">
              <a:off x="3264" y="864"/>
              <a:ext cx="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Line 1034"/>
            <p:cNvSpPr>
              <a:spLocks noChangeShapeType="1"/>
            </p:cNvSpPr>
            <p:nvPr/>
          </p:nvSpPr>
          <p:spPr bwMode="auto">
            <a:xfrm flipV="1">
              <a:off x="3840" y="1008"/>
              <a:ext cx="0" cy="67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Line 1035"/>
            <p:cNvSpPr>
              <a:spLocks noChangeShapeType="1"/>
            </p:cNvSpPr>
            <p:nvPr/>
          </p:nvSpPr>
          <p:spPr bwMode="auto">
            <a:xfrm flipV="1">
              <a:off x="2640" y="1008"/>
              <a:ext cx="0" cy="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Line 1036"/>
            <p:cNvSpPr>
              <a:spLocks noChangeShapeType="1"/>
            </p:cNvSpPr>
            <p:nvPr/>
          </p:nvSpPr>
          <p:spPr bwMode="auto">
            <a:xfrm flipV="1">
              <a:off x="3216" y="1968"/>
              <a:ext cx="0" cy="57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Line 1037"/>
            <p:cNvSpPr>
              <a:spLocks noChangeShapeType="1"/>
            </p:cNvSpPr>
            <p:nvPr/>
          </p:nvSpPr>
          <p:spPr bwMode="auto">
            <a:xfrm flipV="1">
              <a:off x="2016" y="1968"/>
              <a:ext cx="0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Line 1038"/>
            <p:cNvSpPr>
              <a:spLocks noChangeShapeType="1"/>
            </p:cNvSpPr>
            <p:nvPr/>
          </p:nvSpPr>
          <p:spPr bwMode="auto">
            <a:xfrm flipV="1">
              <a:off x="2592" y="2160"/>
              <a:ext cx="0" cy="62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Line 1039"/>
            <p:cNvSpPr>
              <a:spLocks noChangeShapeType="1"/>
            </p:cNvSpPr>
            <p:nvPr/>
          </p:nvSpPr>
          <p:spPr bwMode="auto">
            <a:xfrm flipV="1">
              <a:off x="1440" y="2160"/>
              <a:ext cx="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Line 1040"/>
            <p:cNvSpPr>
              <a:spLocks noChangeShapeType="1"/>
            </p:cNvSpPr>
            <p:nvPr/>
          </p:nvSpPr>
          <p:spPr bwMode="auto">
            <a:xfrm flipV="1">
              <a:off x="960" y="2304"/>
              <a:ext cx="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2" name="Line 1041"/>
            <p:cNvSpPr>
              <a:spLocks noChangeShapeType="1"/>
            </p:cNvSpPr>
            <p:nvPr/>
          </p:nvSpPr>
          <p:spPr bwMode="auto">
            <a:xfrm flipV="1">
              <a:off x="672" y="2448"/>
              <a:ext cx="0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3" name="Line 1042"/>
            <p:cNvSpPr>
              <a:spLocks noChangeShapeType="1"/>
            </p:cNvSpPr>
            <p:nvPr/>
          </p:nvSpPr>
          <p:spPr bwMode="auto">
            <a:xfrm flipV="1">
              <a:off x="1296" y="2448"/>
              <a:ext cx="0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Line 1043"/>
            <p:cNvSpPr>
              <a:spLocks noChangeShapeType="1"/>
            </p:cNvSpPr>
            <p:nvPr/>
          </p:nvSpPr>
          <p:spPr bwMode="auto">
            <a:xfrm rot="16200000" flipV="1">
              <a:off x="3888" y="240"/>
              <a:ext cx="0" cy="1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5" name="Line 1044"/>
            <p:cNvSpPr>
              <a:spLocks noChangeShapeType="1"/>
            </p:cNvSpPr>
            <p:nvPr/>
          </p:nvSpPr>
          <p:spPr bwMode="auto">
            <a:xfrm flipV="1">
              <a:off x="3888" y="720"/>
              <a:ext cx="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Line 1045"/>
            <p:cNvSpPr>
              <a:spLocks noChangeShapeType="1"/>
            </p:cNvSpPr>
            <p:nvPr/>
          </p:nvSpPr>
          <p:spPr bwMode="auto">
            <a:xfrm rot="16200000" flipV="1">
              <a:off x="3240" y="408"/>
              <a:ext cx="0" cy="12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7" name="Line 1046"/>
            <p:cNvSpPr>
              <a:spLocks noChangeShapeType="1"/>
            </p:cNvSpPr>
            <p:nvPr/>
          </p:nvSpPr>
          <p:spPr bwMode="auto">
            <a:xfrm rot="16200000" flipV="1">
              <a:off x="2616" y="1368"/>
              <a:ext cx="0" cy="12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8" name="Line 1047"/>
            <p:cNvSpPr>
              <a:spLocks noChangeShapeType="1"/>
            </p:cNvSpPr>
            <p:nvPr/>
          </p:nvSpPr>
          <p:spPr bwMode="auto">
            <a:xfrm rot="16200000" flipV="1">
              <a:off x="2016" y="1584"/>
              <a:ext cx="0" cy="115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Line 1048"/>
            <p:cNvSpPr>
              <a:spLocks noChangeShapeType="1"/>
            </p:cNvSpPr>
            <p:nvPr/>
          </p:nvSpPr>
          <p:spPr bwMode="auto">
            <a:xfrm rot="16200000" flipV="1">
              <a:off x="984" y="2136"/>
              <a:ext cx="0" cy="62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0" name="Line 1049"/>
            <p:cNvSpPr>
              <a:spLocks noChangeShapeType="1"/>
            </p:cNvSpPr>
            <p:nvPr/>
          </p:nvSpPr>
          <p:spPr bwMode="auto">
            <a:xfrm rot="16200000" flipV="1">
              <a:off x="1368" y="1896"/>
              <a:ext cx="0" cy="81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1" name="Line 1051"/>
            <p:cNvSpPr>
              <a:spLocks noChangeShapeType="1"/>
            </p:cNvSpPr>
            <p:nvPr/>
          </p:nvSpPr>
          <p:spPr bwMode="auto">
            <a:xfrm flipV="1">
              <a:off x="1776" y="2304"/>
              <a:ext cx="0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411" name="Picture 1053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876800"/>
            <a:ext cx="1479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12" name="Group 1054"/>
          <p:cNvGrpSpPr>
            <a:grpSpLocks/>
          </p:cNvGrpSpPr>
          <p:nvPr/>
        </p:nvGrpSpPr>
        <p:grpSpPr bwMode="auto">
          <a:xfrm>
            <a:off x="2133600" y="4648200"/>
            <a:ext cx="1676400" cy="1211263"/>
            <a:chOff x="2548" y="2038"/>
            <a:chExt cx="698" cy="668"/>
          </a:xfrm>
        </p:grpSpPr>
        <p:sp>
          <p:nvSpPr>
            <p:cNvPr id="17421" name="Rectangle 1055"/>
            <p:cNvSpPr>
              <a:spLocks noChangeArrowheads="1"/>
            </p:cNvSpPr>
            <p:nvPr/>
          </p:nvSpPr>
          <p:spPr bwMode="auto">
            <a:xfrm>
              <a:off x="2548" y="2038"/>
              <a:ext cx="647" cy="6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pic>
          <p:nvPicPr>
            <p:cNvPr id="17422" name="Picture 1056" descr="C:\WINNT\Profiles\eamonn.000\Desktop\gorilla.gif"/>
            <p:cNvPicPr preferRelativeResize="0"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6" y="2088"/>
              <a:ext cx="670" cy="6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413" name="Picture 1057" descr="C:\WINNT\Profiles\eamonn.000\Desktop\chimp.gif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029200"/>
            <a:ext cx="873125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1058"/>
          <p:cNvPicPr preferRelativeResize="0"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724400"/>
            <a:ext cx="528638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1060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876800"/>
            <a:ext cx="976313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1059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733800"/>
            <a:ext cx="27305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1061" descr="http://www.iwokrama.org/ROM/mammals/guides/images/atpa.jpg"/>
          <p:cNvPicPr preferRelativeResize="0"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287713"/>
            <a:ext cx="1147763" cy="97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8" name="Text Box 1062"/>
          <p:cNvSpPr txBox="1">
            <a:spLocks noChangeArrowheads="1"/>
          </p:cNvSpPr>
          <p:nvPr/>
        </p:nvSpPr>
        <p:spPr bwMode="auto">
          <a:xfrm>
            <a:off x="0" y="6340475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400">
                <a:solidFill>
                  <a:schemeClr val="folHlink"/>
                </a:solidFill>
              </a:rPr>
              <a:t>(Bovine:0.69395, (Spider Monkey 0.390, (Gibbon:0.36079,(Orang:0.33636,(Gorilla:0.17147,(Chimp:0.19268, Human:0.11927):0.08386):0.06124):0.15057):0.54939);</a:t>
            </a:r>
          </a:p>
        </p:txBody>
      </p:sp>
      <p:sp>
        <p:nvSpPr>
          <p:cNvPr id="212007" name="Rectangle 1063"/>
          <p:cNvSpPr>
            <a:spLocks noChangeArrowheads="1"/>
          </p:cNvSpPr>
          <p:nvPr/>
        </p:nvSpPr>
        <p:spPr bwMode="auto">
          <a:xfrm>
            <a:off x="247650" y="838200"/>
            <a:ext cx="502443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There is only one dataset that can be perfectly clustered using a hierarchy… </a:t>
            </a:r>
          </a:p>
        </p:txBody>
      </p:sp>
      <p:sp>
        <p:nvSpPr>
          <p:cNvPr id="17420" name="TextBox 32"/>
          <p:cNvSpPr txBox="1">
            <a:spLocks noChangeArrowheads="1"/>
          </p:cNvSpPr>
          <p:nvPr/>
        </p:nvSpPr>
        <p:spPr bwMode="auto">
          <a:xfrm>
            <a:off x="4813300" y="131763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768638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501650" y="5189538"/>
            <a:ext cx="358775" cy="192087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6207125" y="5189538"/>
            <a:ext cx="358775" cy="192087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6" name="Freeform 4"/>
          <p:cNvSpPr>
            <a:spLocks/>
          </p:cNvSpPr>
          <p:nvPr/>
        </p:nvSpPr>
        <p:spPr bwMode="auto">
          <a:xfrm>
            <a:off x="6386513" y="5056188"/>
            <a:ext cx="523875" cy="325437"/>
          </a:xfrm>
          <a:custGeom>
            <a:avLst/>
            <a:gdLst>
              <a:gd name="T0" fmla="*/ 0 w 228"/>
              <a:gd name="T1" fmla="*/ 132585 h 162"/>
              <a:gd name="T2" fmla="*/ 0 w 228"/>
              <a:gd name="T3" fmla="*/ 0 h 162"/>
              <a:gd name="T4" fmla="*/ 523875 w 228"/>
              <a:gd name="T5" fmla="*/ 0 h 162"/>
              <a:gd name="T6" fmla="*/ 523875 w 228"/>
              <a:gd name="T7" fmla="*/ 325437 h 162"/>
              <a:gd name="T8" fmla="*/ 0 60000 65536"/>
              <a:gd name="T9" fmla="*/ 0 60000 65536"/>
              <a:gd name="T10" fmla="*/ 0 60000 65536"/>
              <a:gd name="T11" fmla="*/ 0 60000 65536"/>
              <a:gd name="T12" fmla="*/ 0 w 228"/>
              <a:gd name="T13" fmla="*/ 0 h 162"/>
              <a:gd name="T14" fmla="*/ 228 w 228"/>
              <a:gd name="T15" fmla="*/ 162 h 1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8" h="162">
                <a:moveTo>
                  <a:pt x="0" y="66"/>
                </a:moveTo>
                <a:lnTo>
                  <a:pt x="0" y="0"/>
                </a:lnTo>
                <a:lnTo>
                  <a:pt x="228" y="0"/>
                </a:lnTo>
                <a:lnTo>
                  <a:pt x="228" y="16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1217613" y="5008563"/>
            <a:ext cx="358775" cy="373062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2997200" y="5008563"/>
            <a:ext cx="357188" cy="373062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2293938" y="5008563"/>
            <a:ext cx="344487" cy="373062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40" name="Freeform 8"/>
          <p:cNvSpPr>
            <a:spLocks/>
          </p:cNvSpPr>
          <p:nvPr/>
        </p:nvSpPr>
        <p:spPr bwMode="auto">
          <a:xfrm>
            <a:off x="1397000" y="4876800"/>
            <a:ext cx="538163" cy="504825"/>
          </a:xfrm>
          <a:custGeom>
            <a:avLst/>
            <a:gdLst>
              <a:gd name="T0" fmla="*/ 0 w 234"/>
              <a:gd name="T1" fmla="*/ 132216 h 252"/>
              <a:gd name="T2" fmla="*/ 0 w 234"/>
              <a:gd name="T3" fmla="*/ 0 h 252"/>
              <a:gd name="T4" fmla="*/ 538163 w 234"/>
              <a:gd name="T5" fmla="*/ 0 h 252"/>
              <a:gd name="T6" fmla="*/ 538163 w 234"/>
              <a:gd name="T7" fmla="*/ 504825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252"/>
              <a:gd name="T14" fmla="*/ 234 w 234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252">
                <a:moveTo>
                  <a:pt x="0" y="66"/>
                </a:moveTo>
                <a:lnTo>
                  <a:pt x="0" y="0"/>
                </a:lnTo>
                <a:lnTo>
                  <a:pt x="234" y="0"/>
                </a:lnTo>
                <a:lnTo>
                  <a:pt x="234" y="25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1" name="Freeform 9"/>
          <p:cNvSpPr>
            <a:spLocks/>
          </p:cNvSpPr>
          <p:nvPr/>
        </p:nvSpPr>
        <p:spPr bwMode="auto">
          <a:xfrm>
            <a:off x="3175000" y="4876800"/>
            <a:ext cx="538163" cy="504825"/>
          </a:xfrm>
          <a:custGeom>
            <a:avLst/>
            <a:gdLst>
              <a:gd name="T0" fmla="*/ 0 w 234"/>
              <a:gd name="T1" fmla="*/ 132216 h 252"/>
              <a:gd name="T2" fmla="*/ 0 w 234"/>
              <a:gd name="T3" fmla="*/ 0 h 252"/>
              <a:gd name="T4" fmla="*/ 538163 w 234"/>
              <a:gd name="T5" fmla="*/ 0 h 252"/>
              <a:gd name="T6" fmla="*/ 538163 w 234"/>
              <a:gd name="T7" fmla="*/ 504825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252"/>
              <a:gd name="T14" fmla="*/ 234 w 234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252">
                <a:moveTo>
                  <a:pt x="0" y="66"/>
                </a:moveTo>
                <a:lnTo>
                  <a:pt x="0" y="0"/>
                </a:lnTo>
                <a:lnTo>
                  <a:pt x="234" y="0"/>
                </a:lnTo>
                <a:lnTo>
                  <a:pt x="234" y="25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4429125" y="4827588"/>
            <a:ext cx="346075" cy="554037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43" name="Freeform 11"/>
          <p:cNvSpPr>
            <a:spLocks/>
          </p:cNvSpPr>
          <p:nvPr/>
        </p:nvSpPr>
        <p:spPr bwMode="auto">
          <a:xfrm>
            <a:off x="5849938" y="4708525"/>
            <a:ext cx="798512" cy="673100"/>
          </a:xfrm>
          <a:custGeom>
            <a:avLst/>
            <a:gdLst>
              <a:gd name="T0" fmla="*/ 0 w 348"/>
              <a:gd name="T1" fmla="*/ 673100 h 336"/>
              <a:gd name="T2" fmla="*/ 0 w 348"/>
              <a:gd name="T3" fmla="*/ 0 h 336"/>
              <a:gd name="T4" fmla="*/ 798512 w 348"/>
              <a:gd name="T5" fmla="*/ 0 h 336"/>
              <a:gd name="T6" fmla="*/ 798512 w 348"/>
              <a:gd name="T7" fmla="*/ 34857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348"/>
              <a:gd name="T13" fmla="*/ 0 h 336"/>
              <a:gd name="T14" fmla="*/ 348 w 348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8" h="336">
                <a:moveTo>
                  <a:pt x="0" y="336"/>
                </a:moveTo>
                <a:lnTo>
                  <a:pt x="0" y="0"/>
                </a:lnTo>
                <a:lnTo>
                  <a:pt x="348" y="0"/>
                </a:lnTo>
                <a:lnTo>
                  <a:pt x="348" y="174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Freeform 12"/>
          <p:cNvSpPr>
            <a:spLocks/>
          </p:cNvSpPr>
          <p:nvPr/>
        </p:nvSpPr>
        <p:spPr bwMode="auto">
          <a:xfrm>
            <a:off x="1658938" y="4684713"/>
            <a:ext cx="814387" cy="323850"/>
          </a:xfrm>
          <a:custGeom>
            <a:avLst/>
            <a:gdLst>
              <a:gd name="T0" fmla="*/ 0 w 354"/>
              <a:gd name="T1" fmla="*/ 191911 h 162"/>
              <a:gd name="T2" fmla="*/ 0 w 354"/>
              <a:gd name="T3" fmla="*/ 0 h 162"/>
              <a:gd name="T4" fmla="*/ 814387 w 354"/>
              <a:gd name="T5" fmla="*/ 0 h 162"/>
              <a:gd name="T6" fmla="*/ 814387 w 354"/>
              <a:gd name="T7" fmla="*/ 323850 h 162"/>
              <a:gd name="T8" fmla="*/ 0 60000 65536"/>
              <a:gd name="T9" fmla="*/ 0 60000 65536"/>
              <a:gd name="T10" fmla="*/ 0 60000 65536"/>
              <a:gd name="T11" fmla="*/ 0 60000 65536"/>
              <a:gd name="T12" fmla="*/ 0 w 354"/>
              <a:gd name="T13" fmla="*/ 0 h 162"/>
              <a:gd name="T14" fmla="*/ 354 w 354"/>
              <a:gd name="T15" fmla="*/ 162 h 1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4" h="162">
                <a:moveTo>
                  <a:pt x="0" y="96"/>
                </a:moveTo>
                <a:lnTo>
                  <a:pt x="0" y="0"/>
                </a:lnTo>
                <a:lnTo>
                  <a:pt x="354" y="0"/>
                </a:lnTo>
                <a:lnTo>
                  <a:pt x="354" y="16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7627938" y="4648200"/>
            <a:ext cx="358775" cy="733425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8343900" y="4648200"/>
            <a:ext cx="358775" cy="733425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5132388" y="4648200"/>
            <a:ext cx="358775" cy="733425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48" name="Freeform 16"/>
          <p:cNvSpPr>
            <a:spLocks/>
          </p:cNvSpPr>
          <p:nvPr/>
        </p:nvSpPr>
        <p:spPr bwMode="auto">
          <a:xfrm>
            <a:off x="3451225" y="4540250"/>
            <a:ext cx="620713" cy="841375"/>
          </a:xfrm>
          <a:custGeom>
            <a:avLst/>
            <a:gdLst>
              <a:gd name="T0" fmla="*/ 0 w 270"/>
              <a:gd name="T1" fmla="*/ 336550 h 420"/>
              <a:gd name="T2" fmla="*/ 0 w 270"/>
              <a:gd name="T3" fmla="*/ 0 h 420"/>
              <a:gd name="T4" fmla="*/ 620713 w 270"/>
              <a:gd name="T5" fmla="*/ 0 h 420"/>
              <a:gd name="T6" fmla="*/ 620713 w 270"/>
              <a:gd name="T7" fmla="*/ 841375 h 420"/>
              <a:gd name="T8" fmla="*/ 0 60000 65536"/>
              <a:gd name="T9" fmla="*/ 0 60000 65536"/>
              <a:gd name="T10" fmla="*/ 0 60000 65536"/>
              <a:gd name="T11" fmla="*/ 0 60000 65536"/>
              <a:gd name="T12" fmla="*/ 0 w 270"/>
              <a:gd name="T13" fmla="*/ 0 h 420"/>
              <a:gd name="T14" fmla="*/ 270 w 270"/>
              <a:gd name="T15" fmla="*/ 420 h 4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0" h="420">
                <a:moveTo>
                  <a:pt x="0" y="168"/>
                </a:moveTo>
                <a:lnTo>
                  <a:pt x="0" y="0"/>
                </a:lnTo>
                <a:lnTo>
                  <a:pt x="270" y="0"/>
                </a:lnTo>
                <a:lnTo>
                  <a:pt x="270" y="420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9" name="Freeform 17"/>
          <p:cNvSpPr>
            <a:spLocks/>
          </p:cNvSpPr>
          <p:nvPr/>
        </p:nvSpPr>
        <p:spPr bwMode="auto">
          <a:xfrm>
            <a:off x="681038" y="4430713"/>
            <a:ext cx="1377950" cy="758825"/>
          </a:xfrm>
          <a:custGeom>
            <a:avLst/>
            <a:gdLst>
              <a:gd name="T0" fmla="*/ 1377950 w 600"/>
              <a:gd name="T1" fmla="*/ 252942 h 378"/>
              <a:gd name="T2" fmla="*/ 1377950 w 600"/>
              <a:gd name="T3" fmla="*/ 0 h 378"/>
              <a:gd name="T4" fmla="*/ 0 w 600"/>
              <a:gd name="T5" fmla="*/ 0 h 378"/>
              <a:gd name="T6" fmla="*/ 0 w 600"/>
              <a:gd name="T7" fmla="*/ 758825 h 378"/>
              <a:gd name="T8" fmla="*/ 0 60000 65536"/>
              <a:gd name="T9" fmla="*/ 0 60000 65536"/>
              <a:gd name="T10" fmla="*/ 0 60000 65536"/>
              <a:gd name="T11" fmla="*/ 0 60000 65536"/>
              <a:gd name="T12" fmla="*/ 0 w 600"/>
              <a:gd name="T13" fmla="*/ 0 h 378"/>
              <a:gd name="T14" fmla="*/ 600 w 600"/>
              <a:gd name="T15" fmla="*/ 378 h 3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0" h="378">
                <a:moveTo>
                  <a:pt x="600" y="126"/>
                </a:moveTo>
                <a:lnTo>
                  <a:pt x="600" y="0"/>
                </a:lnTo>
                <a:lnTo>
                  <a:pt x="0" y="0"/>
                </a:lnTo>
                <a:lnTo>
                  <a:pt x="0" y="378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0" name="Freeform 18"/>
          <p:cNvSpPr>
            <a:spLocks/>
          </p:cNvSpPr>
          <p:nvPr/>
        </p:nvSpPr>
        <p:spPr bwMode="auto">
          <a:xfrm>
            <a:off x="4608513" y="4406900"/>
            <a:ext cx="703262" cy="420688"/>
          </a:xfrm>
          <a:custGeom>
            <a:avLst/>
            <a:gdLst>
              <a:gd name="T0" fmla="*/ 0 w 306"/>
              <a:gd name="T1" fmla="*/ 420688 h 210"/>
              <a:gd name="T2" fmla="*/ 0 w 306"/>
              <a:gd name="T3" fmla="*/ 0 h 210"/>
              <a:gd name="T4" fmla="*/ 703262 w 306"/>
              <a:gd name="T5" fmla="*/ 0 h 210"/>
              <a:gd name="T6" fmla="*/ 703262 w 306"/>
              <a:gd name="T7" fmla="*/ 240393 h 210"/>
              <a:gd name="T8" fmla="*/ 0 60000 65536"/>
              <a:gd name="T9" fmla="*/ 0 60000 65536"/>
              <a:gd name="T10" fmla="*/ 0 60000 65536"/>
              <a:gd name="T11" fmla="*/ 0 60000 65536"/>
              <a:gd name="T12" fmla="*/ 0 w 306"/>
              <a:gd name="T13" fmla="*/ 0 h 210"/>
              <a:gd name="T14" fmla="*/ 306 w 306"/>
              <a:gd name="T15" fmla="*/ 210 h 2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6" h="210">
                <a:moveTo>
                  <a:pt x="0" y="210"/>
                </a:moveTo>
                <a:lnTo>
                  <a:pt x="0" y="0"/>
                </a:lnTo>
                <a:lnTo>
                  <a:pt x="306" y="0"/>
                </a:lnTo>
                <a:lnTo>
                  <a:pt x="306" y="120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7807325" y="4383088"/>
            <a:ext cx="715963" cy="265112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52" name="Freeform 20"/>
          <p:cNvSpPr>
            <a:spLocks/>
          </p:cNvSpPr>
          <p:nvPr/>
        </p:nvSpPr>
        <p:spPr bwMode="auto">
          <a:xfrm>
            <a:off x="1370013" y="4335463"/>
            <a:ext cx="2384425" cy="204787"/>
          </a:xfrm>
          <a:custGeom>
            <a:avLst/>
            <a:gdLst>
              <a:gd name="T0" fmla="*/ 0 w 1038"/>
              <a:gd name="T1" fmla="*/ 96370 h 102"/>
              <a:gd name="T2" fmla="*/ 0 w 1038"/>
              <a:gd name="T3" fmla="*/ 0 h 102"/>
              <a:gd name="T4" fmla="*/ 2384425 w 1038"/>
              <a:gd name="T5" fmla="*/ 0 h 102"/>
              <a:gd name="T6" fmla="*/ 2384425 w 1038"/>
              <a:gd name="T7" fmla="*/ 204787 h 102"/>
              <a:gd name="T8" fmla="*/ 0 60000 65536"/>
              <a:gd name="T9" fmla="*/ 0 60000 65536"/>
              <a:gd name="T10" fmla="*/ 0 60000 65536"/>
              <a:gd name="T11" fmla="*/ 0 60000 65536"/>
              <a:gd name="T12" fmla="*/ 0 w 1038"/>
              <a:gd name="T13" fmla="*/ 0 h 102"/>
              <a:gd name="T14" fmla="*/ 1038 w 1038"/>
              <a:gd name="T15" fmla="*/ 102 h 1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38" h="102">
                <a:moveTo>
                  <a:pt x="0" y="48"/>
                </a:moveTo>
                <a:lnTo>
                  <a:pt x="0" y="0"/>
                </a:lnTo>
                <a:lnTo>
                  <a:pt x="1038" y="0"/>
                </a:lnTo>
                <a:lnTo>
                  <a:pt x="1038" y="10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3" name="Freeform 21"/>
          <p:cNvSpPr>
            <a:spLocks/>
          </p:cNvSpPr>
          <p:nvPr/>
        </p:nvSpPr>
        <p:spPr bwMode="auto">
          <a:xfrm>
            <a:off x="7269163" y="4143375"/>
            <a:ext cx="895350" cy="1238250"/>
          </a:xfrm>
          <a:custGeom>
            <a:avLst/>
            <a:gdLst>
              <a:gd name="T0" fmla="*/ 0 w 390"/>
              <a:gd name="T1" fmla="*/ 1238250 h 618"/>
              <a:gd name="T2" fmla="*/ 0 w 390"/>
              <a:gd name="T3" fmla="*/ 0 h 618"/>
              <a:gd name="T4" fmla="*/ 895350 w 390"/>
              <a:gd name="T5" fmla="*/ 0 h 618"/>
              <a:gd name="T6" fmla="*/ 895350 w 390"/>
              <a:gd name="T7" fmla="*/ 240437 h 618"/>
              <a:gd name="T8" fmla="*/ 0 60000 65536"/>
              <a:gd name="T9" fmla="*/ 0 60000 65536"/>
              <a:gd name="T10" fmla="*/ 0 60000 65536"/>
              <a:gd name="T11" fmla="*/ 0 60000 65536"/>
              <a:gd name="T12" fmla="*/ 0 w 390"/>
              <a:gd name="T13" fmla="*/ 0 h 618"/>
              <a:gd name="T14" fmla="*/ 390 w 390"/>
              <a:gd name="T15" fmla="*/ 618 h 6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0" h="618">
                <a:moveTo>
                  <a:pt x="0" y="618"/>
                </a:moveTo>
                <a:lnTo>
                  <a:pt x="0" y="0"/>
                </a:lnTo>
                <a:lnTo>
                  <a:pt x="390" y="0"/>
                </a:lnTo>
                <a:lnTo>
                  <a:pt x="390" y="120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4" name="Freeform 22"/>
          <p:cNvSpPr>
            <a:spLocks/>
          </p:cNvSpPr>
          <p:nvPr/>
        </p:nvSpPr>
        <p:spPr bwMode="auto">
          <a:xfrm>
            <a:off x="6249988" y="3625850"/>
            <a:ext cx="1474787" cy="1082675"/>
          </a:xfrm>
          <a:custGeom>
            <a:avLst/>
            <a:gdLst>
              <a:gd name="T0" fmla="*/ 0 w 642"/>
              <a:gd name="T1" fmla="*/ 1082675 h 540"/>
              <a:gd name="T2" fmla="*/ 0 w 642"/>
              <a:gd name="T3" fmla="*/ 0 h 540"/>
              <a:gd name="T4" fmla="*/ 1474787 w 642"/>
              <a:gd name="T5" fmla="*/ 0 h 540"/>
              <a:gd name="T6" fmla="*/ 1474787 w 642"/>
              <a:gd name="T7" fmla="*/ 517278 h 540"/>
              <a:gd name="T8" fmla="*/ 0 60000 65536"/>
              <a:gd name="T9" fmla="*/ 0 60000 65536"/>
              <a:gd name="T10" fmla="*/ 0 60000 65536"/>
              <a:gd name="T11" fmla="*/ 0 60000 65536"/>
              <a:gd name="T12" fmla="*/ 0 w 642"/>
              <a:gd name="T13" fmla="*/ 0 h 540"/>
              <a:gd name="T14" fmla="*/ 642 w 642"/>
              <a:gd name="T15" fmla="*/ 540 h 5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2" h="540">
                <a:moveTo>
                  <a:pt x="0" y="540"/>
                </a:moveTo>
                <a:lnTo>
                  <a:pt x="0" y="0"/>
                </a:lnTo>
                <a:lnTo>
                  <a:pt x="642" y="0"/>
                </a:lnTo>
                <a:lnTo>
                  <a:pt x="642" y="258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5" name="Freeform 23"/>
          <p:cNvSpPr>
            <a:spLocks/>
          </p:cNvSpPr>
          <p:nvPr/>
        </p:nvSpPr>
        <p:spPr bwMode="auto">
          <a:xfrm>
            <a:off x="2568575" y="3108325"/>
            <a:ext cx="2384425" cy="1298575"/>
          </a:xfrm>
          <a:custGeom>
            <a:avLst/>
            <a:gdLst>
              <a:gd name="T0" fmla="*/ 0 w 1038"/>
              <a:gd name="T1" fmla="*/ 1226432 h 648"/>
              <a:gd name="T2" fmla="*/ 0 w 1038"/>
              <a:gd name="T3" fmla="*/ 0 h 648"/>
              <a:gd name="T4" fmla="*/ 2384425 w 1038"/>
              <a:gd name="T5" fmla="*/ 0 h 648"/>
              <a:gd name="T6" fmla="*/ 2384425 w 1038"/>
              <a:gd name="T7" fmla="*/ 1298575 h 648"/>
              <a:gd name="T8" fmla="*/ 0 60000 65536"/>
              <a:gd name="T9" fmla="*/ 0 60000 65536"/>
              <a:gd name="T10" fmla="*/ 0 60000 65536"/>
              <a:gd name="T11" fmla="*/ 0 60000 65536"/>
              <a:gd name="T12" fmla="*/ 0 w 1038"/>
              <a:gd name="T13" fmla="*/ 0 h 648"/>
              <a:gd name="T14" fmla="*/ 1038 w 1038"/>
              <a:gd name="T15" fmla="*/ 648 h 6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38" h="648">
                <a:moveTo>
                  <a:pt x="0" y="612"/>
                </a:moveTo>
                <a:lnTo>
                  <a:pt x="0" y="0"/>
                </a:lnTo>
                <a:lnTo>
                  <a:pt x="1038" y="0"/>
                </a:lnTo>
                <a:lnTo>
                  <a:pt x="1038" y="648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6" name="Freeform 24"/>
          <p:cNvSpPr>
            <a:spLocks/>
          </p:cNvSpPr>
          <p:nvPr/>
        </p:nvSpPr>
        <p:spPr bwMode="auto">
          <a:xfrm>
            <a:off x="3768725" y="714375"/>
            <a:ext cx="3211513" cy="2911475"/>
          </a:xfrm>
          <a:custGeom>
            <a:avLst/>
            <a:gdLst>
              <a:gd name="T0" fmla="*/ 0 w 1398"/>
              <a:gd name="T1" fmla="*/ 2394147 h 1452"/>
              <a:gd name="T2" fmla="*/ 0 w 1398"/>
              <a:gd name="T3" fmla="*/ 0 h 1452"/>
              <a:gd name="T4" fmla="*/ 3211513 w 1398"/>
              <a:gd name="T5" fmla="*/ 0 h 1452"/>
              <a:gd name="T6" fmla="*/ 3211513 w 1398"/>
              <a:gd name="T7" fmla="*/ 2911475 h 1452"/>
              <a:gd name="T8" fmla="*/ 0 60000 65536"/>
              <a:gd name="T9" fmla="*/ 0 60000 65536"/>
              <a:gd name="T10" fmla="*/ 0 60000 65536"/>
              <a:gd name="T11" fmla="*/ 0 60000 65536"/>
              <a:gd name="T12" fmla="*/ 0 w 1398"/>
              <a:gd name="T13" fmla="*/ 0 h 1452"/>
              <a:gd name="T14" fmla="*/ 1398 w 1398"/>
              <a:gd name="T15" fmla="*/ 1452 h 1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98" h="1452">
                <a:moveTo>
                  <a:pt x="0" y="1194"/>
                </a:moveTo>
                <a:lnTo>
                  <a:pt x="0" y="0"/>
                </a:lnTo>
                <a:lnTo>
                  <a:pt x="1398" y="0"/>
                </a:lnTo>
                <a:lnTo>
                  <a:pt x="1398" y="145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7" name="Rectangle 25"/>
          <p:cNvSpPr>
            <a:spLocks noChangeArrowheads="1"/>
          </p:cNvSpPr>
          <p:nvPr/>
        </p:nvSpPr>
        <p:spPr bwMode="auto">
          <a:xfrm>
            <a:off x="8027988" y="4614863"/>
            <a:ext cx="284162" cy="93662"/>
          </a:xfrm>
          <a:prstGeom prst="rect">
            <a:avLst/>
          </a:prstGeom>
          <a:solidFill>
            <a:schemeClr val="bg1"/>
          </a:solidFill>
          <a:ln w="4445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8683" name="Text Box 27"/>
          <p:cNvSpPr txBox="1">
            <a:spLocks noChangeArrowheads="1"/>
          </p:cNvSpPr>
          <p:nvPr/>
        </p:nvSpPr>
        <p:spPr bwMode="auto">
          <a:xfrm>
            <a:off x="241300" y="182563"/>
            <a:ext cx="3209925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-111" charset="0"/>
              </a:rPr>
              <a:t>A demonstration of hierarchical clustering using string edit distance </a:t>
            </a:r>
          </a:p>
        </p:txBody>
      </p:sp>
      <p:sp>
        <p:nvSpPr>
          <p:cNvPr id="18459" name="Rectangle 28"/>
          <p:cNvSpPr>
            <a:spLocks noChangeArrowheads="1"/>
          </p:cNvSpPr>
          <p:nvPr/>
        </p:nvSpPr>
        <p:spPr bwMode="auto">
          <a:xfrm>
            <a:off x="0" y="5262563"/>
            <a:ext cx="9144000" cy="1160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60" name="Rectangle 29"/>
          <p:cNvSpPr>
            <a:spLocks noChangeArrowheads="1"/>
          </p:cNvSpPr>
          <p:nvPr/>
        </p:nvSpPr>
        <p:spPr bwMode="auto">
          <a:xfrm>
            <a:off x="336550" y="5345113"/>
            <a:ext cx="5726113" cy="144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61" name="Rectangle 30"/>
          <p:cNvSpPr>
            <a:spLocks noChangeArrowheads="1"/>
          </p:cNvSpPr>
          <p:nvPr/>
        </p:nvSpPr>
        <p:spPr bwMode="auto">
          <a:xfrm rot="-3934905">
            <a:off x="105569" y="5512594"/>
            <a:ext cx="6588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/>
              <a:t>Piotr</a:t>
            </a:r>
          </a:p>
        </p:txBody>
      </p:sp>
      <p:sp>
        <p:nvSpPr>
          <p:cNvPr id="18462" name="Rectangle 31"/>
          <p:cNvSpPr>
            <a:spLocks noChangeArrowheads="1"/>
          </p:cNvSpPr>
          <p:nvPr/>
        </p:nvSpPr>
        <p:spPr bwMode="auto">
          <a:xfrm rot="-3946978">
            <a:off x="427038" y="5541963"/>
            <a:ext cx="7207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/>
              <a:t>Pyotr</a:t>
            </a:r>
          </a:p>
        </p:txBody>
      </p:sp>
      <p:sp>
        <p:nvSpPr>
          <p:cNvPr id="18463" name="Rectangle 32"/>
          <p:cNvSpPr>
            <a:spLocks noChangeArrowheads="1"/>
          </p:cNvSpPr>
          <p:nvPr/>
        </p:nvSpPr>
        <p:spPr bwMode="auto">
          <a:xfrm rot="-3928464">
            <a:off x="751682" y="5580856"/>
            <a:ext cx="8048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/>
              <a:t>Petros</a:t>
            </a:r>
          </a:p>
        </p:txBody>
      </p:sp>
      <p:sp>
        <p:nvSpPr>
          <p:cNvPr id="18464" name="Rectangle 33"/>
          <p:cNvSpPr>
            <a:spLocks noChangeArrowheads="1"/>
          </p:cNvSpPr>
          <p:nvPr/>
        </p:nvSpPr>
        <p:spPr bwMode="auto">
          <a:xfrm rot="-3922811">
            <a:off x="1150144" y="5566569"/>
            <a:ext cx="7762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/>
              <a:t>Pietro</a:t>
            </a:r>
          </a:p>
        </p:txBody>
      </p:sp>
      <p:sp>
        <p:nvSpPr>
          <p:cNvPr id="18465" name="Rectangle 34"/>
          <p:cNvSpPr>
            <a:spLocks noChangeArrowheads="1"/>
          </p:cNvSpPr>
          <p:nvPr/>
        </p:nvSpPr>
        <p:spPr bwMode="auto">
          <a:xfrm rot="-3945962">
            <a:off x="1580356" y="5539582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srgbClr val="0000FF"/>
                </a:solidFill>
              </a:rPr>
              <a:t>Pedro</a:t>
            </a:r>
          </a:p>
        </p:txBody>
      </p:sp>
      <p:sp>
        <p:nvSpPr>
          <p:cNvPr id="18466" name="Rectangle 35"/>
          <p:cNvSpPr>
            <a:spLocks noChangeArrowheads="1"/>
          </p:cNvSpPr>
          <p:nvPr/>
        </p:nvSpPr>
        <p:spPr bwMode="auto">
          <a:xfrm rot="-3931340">
            <a:off x="1798638" y="5565775"/>
            <a:ext cx="777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/>
              <a:t>Pierre</a:t>
            </a:r>
          </a:p>
        </p:txBody>
      </p:sp>
      <p:sp>
        <p:nvSpPr>
          <p:cNvPr id="18467" name="Rectangle 36"/>
          <p:cNvSpPr>
            <a:spLocks noChangeArrowheads="1"/>
          </p:cNvSpPr>
          <p:nvPr/>
        </p:nvSpPr>
        <p:spPr bwMode="auto">
          <a:xfrm rot="-3949083">
            <a:off x="2205832" y="5533231"/>
            <a:ext cx="7096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/>
              <a:t>Piero</a:t>
            </a:r>
          </a:p>
        </p:txBody>
      </p:sp>
      <p:sp>
        <p:nvSpPr>
          <p:cNvPr id="18468" name="Rectangle 37"/>
          <p:cNvSpPr>
            <a:spLocks noChangeArrowheads="1"/>
          </p:cNvSpPr>
          <p:nvPr/>
        </p:nvSpPr>
        <p:spPr bwMode="auto">
          <a:xfrm rot="-3950123">
            <a:off x="2568575" y="5529263"/>
            <a:ext cx="695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/>
              <a:t>Peter</a:t>
            </a:r>
          </a:p>
        </p:txBody>
      </p:sp>
      <p:sp>
        <p:nvSpPr>
          <p:cNvPr id="18469" name="Rectangle 38"/>
          <p:cNvSpPr>
            <a:spLocks noChangeArrowheads="1"/>
          </p:cNvSpPr>
          <p:nvPr/>
        </p:nvSpPr>
        <p:spPr bwMode="auto">
          <a:xfrm rot="-3972130">
            <a:off x="2973388" y="5543550"/>
            <a:ext cx="5921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Peder</a:t>
            </a:r>
          </a:p>
        </p:txBody>
      </p:sp>
      <p:sp>
        <p:nvSpPr>
          <p:cNvPr id="18470" name="Rectangle 39"/>
          <p:cNvSpPr>
            <a:spLocks noChangeArrowheads="1"/>
          </p:cNvSpPr>
          <p:nvPr/>
        </p:nvSpPr>
        <p:spPr bwMode="auto">
          <a:xfrm rot="-3944043">
            <a:off x="3240088" y="5516562"/>
            <a:ext cx="6667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/>
              <a:t>Peka</a:t>
            </a:r>
          </a:p>
        </p:txBody>
      </p:sp>
      <p:sp>
        <p:nvSpPr>
          <p:cNvPr id="18471" name="Rectangle 40"/>
          <p:cNvSpPr>
            <a:spLocks noChangeArrowheads="1"/>
          </p:cNvSpPr>
          <p:nvPr/>
        </p:nvSpPr>
        <p:spPr bwMode="auto">
          <a:xfrm rot="-3916392">
            <a:off x="3451225" y="5611813"/>
            <a:ext cx="866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/>
              <a:t>Peadar</a:t>
            </a:r>
          </a:p>
        </p:txBody>
      </p:sp>
      <p:sp>
        <p:nvSpPr>
          <p:cNvPr id="18472" name="Rectangle 41"/>
          <p:cNvSpPr>
            <a:spLocks noChangeArrowheads="1"/>
          </p:cNvSpPr>
          <p:nvPr/>
        </p:nvSpPr>
        <p:spPr bwMode="auto">
          <a:xfrm rot="-3922958">
            <a:off x="3869532" y="5684044"/>
            <a:ext cx="971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Michalis</a:t>
            </a:r>
          </a:p>
        </p:txBody>
      </p:sp>
      <p:sp>
        <p:nvSpPr>
          <p:cNvPr id="18473" name="Rectangle 42"/>
          <p:cNvSpPr>
            <a:spLocks noChangeArrowheads="1"/>
          </p:cNvSpPr>
          <p:nvPr/>
        </p:nvSpPr>
        <p:spPr bwMode="auto">
          <a:xfrm rot="-3913360">
            <a:off x="4264025" y="5656263"/>
            <a:ext cx="909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Michael</a:t>
            </a:r>
          </a:p>
        </p:txBody>
      </p:sp>
      <p:sp>
        <p:nvSpPr>
          <p:cNvPr id="18474" name="Rectangle 43"/>
          <p:cNvSpPr>
            <a:spLocks noChangeArrowheads="1"/>
          </p:cNvSpPr>
          <p:nvPr/>
        </p:nvSpPr>
        <p:spPr bwMode="auto">
          <a:xfrm rot="-3943084">
            <a:off x="4654550" y="5607050"/>
            <a:ext cx="8080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srgbClr val="0000FF"/>
                </a:solidFill>
              </a:rPr>
              <a:t>Miguel</a:t>
            </a:r>
          </a:p>
        </p:txBody>
      </p:sp>
      <p:sp>
        <p:nvSpPr>
          <p:cNvPr id="18475" name="Rectangle 44"/>
          <p:cNvSpPr>
            <a:spLocks noChangeArrowheads="1"/>
          </p:cNvSpPr>
          <p:nvPr/>
        </p:nvSpPr>
        <p:spPr bwMode="auto">
          <a:xfrm rot="-3933695">
            <a:off x="5045075" y="5516563"/>
            <a:ext cx="6048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Mick</a:t>
            </a:r>
          </a:p>
        </p:txBody>
      </p:sp>
      <p:sp>
        <p:nvSpPr>
          <p:cNvPr id="18476" name="Rectangle 45"/>
          <p:cNvSpPr>
            <a:spLocks noChangeArrowheads="1"/>
          </p:cNvSpPr>
          <p:nvPr/>
        </p:nvSpPr>
        <p:spPr bwMode="auto">
          <a:xfrm rot="-3930391">
            <a:off x="5072857" y="5733256"/>
            <a:ext cx="1111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srgbClr val="0000FF"/>
                </a:solidFill>
              </a:rPr>
              <a:t>Cristovao</a:t>
            </a:r>
          </a:p>
        </p:txBody>
      </p:sp>
      <p:sp>
        <p:nvSpPr>
          <p:cNvPr id="18477" name="Rectangle 46"/>
          <p:cNvSpPr>
            <a:spLocks noChangeArrowheads="1"/>
          </p:cNvSpPr>
          <p:nvPr/>
        </p:nvSpPr>
        <p:spPr bwMode="auto">
          <a:xfrm rot="-3917436">
            <a:off x="5275262" y="5830888"/>
            <a:ext cx="12938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Christopher</a:t>
            </a:r>
          </a:p>
        </p:txBody>
      </p:sp>
      <p:sp>
        <p:nvSpPr>
          <p:cNvPr id="18478" name="Rectangle 47"/>
          <p:cNvSpPr>
            <a:spLocks noChangeArrowheads="1"/>
          </p:cNvSpPr>
          <p:nvPr/>
        </p:nvSpPr>
        <p:spPr bwMode="auto">
          <a:xfrm rot="-3922141">
            <a:off x="5770563" y="5791200"/>
            <a:ext cx="12017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Christophe</a:t>
            </a:r>
          </a:p>
        </p:txBody>
      </p:sp>
      <p:sp>
        <p:nvSpPr>
          <p:cNvPr id="18479" name="Rectangle 48"/>
          <p:cNvSpPr>
            <a:spLocks noChangeArrowheads="1"/>
          </p:cNvSpPr>
          <p:nvPr/>
        </p:nvSpPr>
        <p:spPr bwMode="auto">
          <a:xfrm rot="-3922270">
            <a:off x="6236494" y="5731669"/>
            <a:ext cx="1085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Christoph</a:t>
            </a:r>
          </a:p>
        </p:txBody>
      </p:sp>
      <p:sp>
        <p:nvSpPr>
          <p:cNvPr id="18480" name="Rectangle 49"/>
          <p:cNvSpPr>
            <a:spLocks noChangeArrowheads="1"/>
          </p:cNvSpPr>
          <p:nvPr/>
        </p:nvSpPr>
        <p:spPr bwMode="auto">
          <a:xfrm rot="-3929420">
            <a:off x="6662738" y="5689600"/>
            <a:ext cx="9858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Crisdean</a:t>
            </a:r>
          </a:p>
        </p:txBody>
      </p:sp>
      <p:sp>
        <p:nvSpPr>
          <p:cNvPr id="18481" name="Rectangle 50"/>
          <p:cNvSpPr>
            <a:spLocks noChangeArrowheads="1"/>
          </p:cNvSpPr>
          <p:nvPr/>
        </p:nvSpPr>
        <p:spPr bwMode="auto">
          <a:xfrm rot="-3925722">
            <a:off x="7006431" y="5704682"/>
            <a:ext cx="1012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Cristobal</a:t>
            </a:r>
          </a:p>
        </p:txBody>
      </p:sp>
      <p:sp>
        <p:nvSpPr>
          <p:cNvPr id="18482" name="Rectangle 51"/>
          <p:cNvSpPr>
            <a:spLocks noChangeArrowheads="1"/>
          </p:cNvSpPr>
          <p:nvPr/>
        </p:nvSpPr>
        <p:spPr bwMode="auto">
          <a:xfrm rot="-3915877">
            <a:off x="7323931" y="5757069"/>
            <a:ext cx="11271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Cristoforo</a:t>
            </a:r>
          </a:p>
        </p:txBody>
      </p:sp>
      <p:sp>
        <p:nvSpPr>
          <p:cNvPr id="18483" name="Rectangle 52"/>
          <p:cNvSpPr>
            <a:spLocks noChangeArrowheads="1"/>
          </p:cNvSpPr>
          <p:nvPr/>
        </p:nvSpPr>
        <p:spPr bwMode="auto">
          <a:xfrm rot="-3929659">
            <a:off x="7736681" y="5741194"/>
            <a:ext cx="10890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Kristoffer</a:t>
            </a:r>
          </a:p>
        </p:txBody>
      </p:sp>
      <p:sp>
        <p:nvSpPr>
          <p:cNvPr id="18484" name="Rectangle 53"/>
          <p:cNvSpPr>
            <a:spLocks noChangeArrowheads="1"/>
          </p:cNvSpPr>
          <p:nvPr/>
        </p:nvSpPr>
        <p:spPr bwMode="auto">
          <a:xfrm rot="-3934610">
            <a:off x="8208963" y="5632450"/>
            <a:ext cx="8588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/>
              <a:t>Krystof</a:t>
            </a:r>
          </a:p>
        </p:txBody>
      </p:sp>
      <p:sp>
        <p:nvSpPr>
          <p:cNvPr id="18485" name="TextBox 53"/>
          <p:cNvSpPr txBox="1">
            <a:spLocks noChangeArrowheads="1"/>
          </p:cNvSpPr>
          <p:nvPr/>
        </p:nvSpPr>
        <p:spPr bwMode="auto">
          <a:xfrm>
            <a:off x="4700588" y="131763"/>
            <a:ext cx="425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659270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114300" y="3973513"/>
            <a:ext cx="8915400" cy="2824162"/>
            <a:chOff x="0" y="2640"/>
            <a:chExt cx="5616" cy="1779"/>
          </a:xfrm>
        </p:grpSpPr>
        <p:pic>
          <p:nvPicPr>
            <p:cNvPr id="19461" name="Picture 3" descr="http://images.google.com/images?q=tbn:Sc41iL2etAQC:www.intheteam.com/images/club/50/brazil_flag.gif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4" y="3792"/>
              <a:ext cx="43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2" name="Picture 4" descr="http://www.theodora.com/flags/as.gif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3" name="Picture 5" descr="http://www.flags.net/elements/gif_flags/ANGU001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4" name="Text Box 6"/>
            <p:cNvSpPr txBox="1">
              <a:spLocks noChangeArrowheads="1"/>
            </p:cNvSpPr>
            <p:nvPr/>
          </p:nvSpPr>
          <p:spPr bwMode="auto">
            <a:xfrm>
              <a:off x="1056" y="4187"/>
              <a:ext cx="44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ANGUILLA</a:t>
              </a:r>
            </a:p>
          </p:txBody>
        </p:sp>
        <p:sp>
          <p:nvSpPr>
            <p:cNvPr id="19465" name="Text Box 7"/>
            <p:cNvSpPr txBox="1">
              <a:spLocks noChangeArrowheads="1"/>
            </p:cNvSpPr>
            <p:nvPr/>
          </p:nvSpPr>
          <p:spPr bwMode="auto">
            <a:xfrm>
              <a:off x="0" y="4187"/>
              <a:ext cx="49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AUSTRALIA </a:t>
              </a:r>
            </a:p>
          </p:txBody>
        </p:sp>
        <p:pic>
          <p:nvPicPr>
            <p:cNvPr id="19466" name="Picture 8" descr="http://www.flags.net/elements/gif_flags/STHC001.GIF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7" name="Text Box 9"/>
            <p:cNvSpPr txBox="1">
              <a:spLocks noChangeArrowheads="1"/>
            </p:cNvSpPr>
            <p:nvPr/>
          </p:nvSpPr>
          <p:spPr bwMode="auto">
            <a:xfrm>
              <a:off x="528" y="4130"/>
              <a:ext cx="50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St. Helena &amp;</a:t>
              </a:r>
            </a:p>
            <a:p>
              <a:r>
                <a:rPr lang="en-US" altLang="en-US" sz="800"/>
                <a:t> Dependencies </a:t>
              </a:r>
            </a:p>
            <a:p>
              <a:endParaRPr lang="en-US" altLang="en-US" sz="800"/>
            </a:p>
          </p:txBody>
        </p:sp>
        <p:pic>
          <p:nvPicPr>
            <p:cNvPr id="19468" name="Picture 10" descr="http://www.flags.net/elements/gif_flags/SGSS001.GIF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9" name="Text Box 11"/>
            <p:cNvSpPr txBox="1">
              <a:spLocks noChangeArrowheads="1"/>
            </p:cNvSpPr>
            <p:nvPr/>
          </p:nvSpPr>
          <p:spPr bwMode="auto">
            <a:xfrm>
              <a:off x="1584" y="4033"/>
              <a:ext cx="55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South Georgia &amp;</a:t>
              </a:r>
            </a:p>
            <a:p>
              <a:r>
                <a:rPr lang="en-US" altLang="en-US" sz="800"/>
                <a:t>South Sandwich </a:t>
              </a:r>
            </a:p>
            <a:p>
              <a:r>
                <a:rPr lang="en-US" altLang="en-US" sz="800"/>
                <a:t>Islands</a:t>
              </a:r>
            </a:p>
          </p:txBody>
        </p:sp>
        <p:pic>
          <p:nvPicPr>
            <p:cNvPr id="19470" name="Picture 12" descr="http://www.flags.net/elements/gif_flags/UNKG001.GIF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3794"/>
              <a:ext cx="48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1" name="Text Box 13"/>
            <p:cNvSpPr txBox="1">
              <a:spLocks noChangeArrowheads="1"/>
            </p:cNvSpPr>
            <p:nvPr/>
          </p:nvSpPr>
          <p:spPr bwMode="auto">
            <a:xfrm>
              <a:off x="2160" y="4178"/>
              <a:ext cx="52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U.K.</a:t>
              </a:r>
            </a:p>
          </p:txBody>
        </p:sp>
        <p:pic>
          <p:nvPicPr>
            <p:cNvPr id="19472" name="Picture 14" descr="http://www.flags.net/elements/gif_flags/YURE002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3" name="Text Box 15"/>
            <p:cNvSpPr txBox="1">
              <a:spLocks noChangeArrowheads="1"/>
            </p:cNvSpPr>
            <p:nvPr/>
          </p:nvSpPr>
          <p:spPr bwMode="auto">
            <a:xfrm>
              <a:off x="2736" y="4033"/>
              <a:ext cx="44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Serbia &amp; </a:t>
              </a:r>
            </a:p>
            <a:p>
              <a:r>
                <a:rPr lang="en-US" altLang="en-US" sz="800"/>
                <a:t>Montenegro</a:t>
              </a:r>
            </a:p>
            <a:p>
              <a:r>
                <a:rPr lang="en-US" altLang="en-US" sz="800"/>
                <a:t>(Yugoslavia)</a:t>
              </a:r>
            </a:p>
          </p:txBody>
        </p:sp>
        <p:pic>
          <p:nvPicPr>
            <p:cNvPr id="19474" name="Picture 16" descr="http://www.flags.net/elements/gif_flags/FRAN001.GIF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5" name="Text Box 17"/>
            <p:cNvSpPr txBox="1">
              <a:spLocks noChangeArrowheads="1"/>
            </p:cNvSpPr>
            <p:nvPr/>
          </p:nvSpPr>
          <p:spPr bwMode="auto">
            <a:xfrm>
              <a:off x="3264" y="4187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800"/>
            </a:p>
          </p:txBody>
        </p:sp>
        <p:sp>
          <p:nvSpPr>
            <p:cNvPr id="19476" name="Text Box 18"/>
            <p:cNvSpPr txBox="1">
              <a:spLocks noChangeArrowheads="1"/>
            </p:cNvSpPr>
            <p:nvPr/>
          </p:nvSpPr>
          <p:spPr bwMode="auto">
            <a:xfrm>
              <a:off x="3264" y="4187"/>
              <a:ext cx="36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FRANCE</a:t>
              </a:r>
            </a:p>
          </p:txBody>
        </p:sp>
        <p:pic>
          <p:nvPicPr>
            <p:cNvPr id="19477" name="Picture 19" descr="http://www.flags.net/elements/gif_flags/IREL001.GIF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78" name="Picture 20" descr="http://www.flags.net/elements/gif_flags/INDA001.GIF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4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79" name="Picture 21" descr="http://www.flags.net/elements/gif_flags/NIGR001.GIF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80" name="Text Box 22"/>
            <p:cNvSpPr txBox="1">
              <a:spLocks noChangeArrowheads="1"/>
            </p:cNvSpPr>
            <p:nvPr/>
          </p:nvSpPr>
          <p:spPr bwMode="auto">
            <a:xfrm>
              <a:off x="3792" y="4187"/>
              <a:ext cx="31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NIGER</a:t>
              </a:r>
            </a:p>
          </p:txBody>
        </p:sp>
        <p:sp>
          <p:nvSpPr>
            <p:cNvPr id="19481" name="Text Box 23"/>
            <p:cNvSpPr txBox="1">
              <a:spLocks noChangeArrowheads="1"/>
            </p:cNvSpPr>
            <p:nvPr/>
          </p:nvSpPr>
          <p:spPr bwMode="auto">
            <a:xfrm>
              <a:off x="4272" y="4187"/>
              <a:ext cx="29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INDIA</a:t>
              </a:r>
            </a:p>
          </p:txBody>
        </p:sp>
        <p:sp>
          <p:nvSpPr>
            <p:cNvPr id="19482" name="Text Box 24"/>
            <p:cNvSpPr txBox="1">
              <a:spLocks noChangeArrowheads="1"/>
            </p:cNvSpPr>
            <p:nvPr/>
          </p:nvSpPr>
          <p:spPr bwMode="auto">
            <a:xfrm>
              <a:off x="4752" y="4187"/>
              <a:ext cx="39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IRELAND</a:t>
              </a:r>
            </a:p>
          </p:txBody>
        </p:sp>
        <p:sp>
          <p:nvSpPr>
            <p:cNvPr id="19483" name="Text Box 25"/>
            <p:cNvSpPr txBox="1">
              <a:spLocks noChangeArrowheads="1"/>
            </p:cNvSpPr>
            <p:nvPr/>
          </p:nvSpPr>
          <p:spPr bwMode="auto">
            <a:xfrm>
              <a:off x="5242" y="4187"/>
              <a:ext cx="34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/>
                <a:t>BRAZIL</a:t>
              </a:r>
            </a:p>
          </p:txBody>
        </p:sp>
        <p:sp>
          <p:nvSpPr>
            <p:cNvPr id="19484" name="Text Box 26"/>
            <p:cNvSpPr txBox="1">
              <a:spLocks noChangeArrowheads="1"/>
            </p:cNvSpPr>
            <p:nvPr/>
          </p:nvSpPr>
          <p:spPr bwMode="auto">
            <a:xfrm>
              <a:off x="0" y="2976"/>
              <a:ext cx="211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000">
                <a:solidFill>
                  <a:schemeClr val="hlink"/>
                </a:solidFill>
              </a:endParaRPr>
            </a:p>
          </p:txBody>
        </p:sp>
        <p:grpSp>
          <p:nvGrpSpPr>
            <p:cNvPr id="19485" name="Group 27"/>
            <p:cNvGrpSpPr>
              <a:grpSpLocks/>
            </p:cNvGrpSpPr>
            <p:nvPr/>
          </p:nvGrpSpPr>
          <p:grpSpPr bwMode="auto">
            <a:xfrm>
              <a:off x="192" y="2640"/>
              <a:ext cx="5184" cy="1154"/>
              <a:chOff x="192" y="1682"/>
              <a:chExt cx="5184" cy="2016"/>
            </a:xfrm>
          </p:grpSpPr>
          <p:sp>
            <p:nvSpPr>
              <p:cNvPr id="19486" name="Line 28"/>
              <p:cNvSpPr>
                <a:spLocks noChangeShapeType="1"/>
              </p:cNvSpPr>
              <p:nvPr/>
            </p:nvSpPr>
            <p:spPr bwMode="auto">
              <a:xfrm flipV="1">
                <a:off x="192" y="3362"/>
                <a:ext cx="0" cy="33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7" name="Line 29"/>
              <p:cNvSpPr>
                <a:spLocks noChangeShapeType="1"/>
              </p:cNvSpPr>
              <p:nvPr/>
            </p:nvSpPr>
            <p:spPr bwMode="auto">
              <a:xfrm flipV="1">
                <a:off x="2400" y="3170"/>
                <a:ext cx="0" cy="528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8" name="Line 30"/>
              <p:cNvSpPr>
                <a:spLocks noChangeShapeType="1"/>
              </p:cNvSpPr>
              <p:nvPr/>
            </p:nvSpPr>
            <p:spPr bwMode="auto">
              <a:xfrm flipV="1">
                <a:off x="1824" y="3458"/>
                <a:ext cx="0" cy="24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9" name="Line 31"/>
              <p:cNvSpPr>
                <a:spLocks noChangeShapeType="1"/>
              </p:cNvSpPr>
              <p:nvPr/>
            </p:nvSpPr>
            <p:spPr bwMode="auto">
              <a:xfrm flipV="1">
                <a:off x="2928" y="3074"/>
                <a:ext cx="0" cy="62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0" name="Line 32"/>
              <p:cNvSpPr>
                <a:spLocks noChangeShapeType="1"/>
              </p:cNvSpPr>
              <p:nvPr/>
            </p:nvSpPr>
            <p:spPr bwMode="auto">
              <a:xfrm flipV="1">
                <a:off x="3456" y="3074"/>
                <a:ext cx="0" cy="62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1" name="Line 33"/>
              <p:cNvSpPr>
                <a:spLocks noChangeShapeType="1"/>
              </p:cNvSpPr>
              <p:nvPr/>
            </p:nvSpPr>
            <p:spPr bwMode="auto">
              <a:xfrm>
                <a:off x="2928" y="3074"/>
                <a:ext cx="528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2" name="Line 34"/>
              <p:cNvSpPr>
                <a:spLocks noChangeShapeType="1"/>
              </p:cNvSpPr>
              <p:nvPr/>
            </p:nvSpPr>
            <p:spPr bwMode="auto">
              <a:xfrm flipV="1">
                <a:off x="3168" y="2834"/>
                <a:ext cx="0" cy="24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3" name="Line 35"/>
              <p:cNvSpPr>
                <a:spLocks noChangeShapeType="1"/>
              </p:cNvSpPr>
              <p:nvPr/>
            </p:nvSpPr>
            <p:spPr bwMode="auto">
              <a:xfrm flipV="1">
                <a:off x="3936" y="3458"/>
                <a:ext cx="0" cy="24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4" name="Line 36"/>
              <p:cNvSpPr>
                <a:spLocks noChangeShapeType="1"/>
              </p:cNvSpPr>
              <p:nvPr/>
            </p:nvSpPr>
            <p:spPr bwMode="auto">
              <a:xfrm flipV="1">
                <a:off x="4416" y="3458"/>
                <a:ext cx="0" cy="24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5" name="Line 37"/>
              <p:cNvSpPr>
                <a:spLocks noChangeShapeType="1"/>
              </p:cNvSpPr>
              <p:nvPr/>
            </p:nvSpPr>
            <p:spPr bwMode="auto">
              <a:xfrm>
                <a:off x="3936" y="3458"/>
                <a:ext cx="480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6" name="Line 38"/>
              <p:cNvSpPr>
                <a:spLocks noChangeShapeType="1"/>
              </p:cNvSpPr>
              <p:nvPr/>
            </p:nvSpPr>
            <p:spPr bwMode="auto">
              <a:xfrm flipV="1">
                <a:off x="4176" y="3074"/>
                <a:ext cx="0" cy="38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7" name="Line 39"/>
              <p:cNvSpPr>
                <a:spLocks noChangeShapeType="1"/>
              </p:cNvSpPr>
              <p:nvPr/>
            </p:nvSpPr>
            <p:spPr bwMode="auto">
              <a:xfrm flipV="1">
                <a:off x="4896" y="3074"/>
                <a:ext cx="0" cy="62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8" name="Line 40"/>
              <p:cNvSpPr>
                <a:spLocks noChangeShapeType="1"/>
              </p:cNvSpPr>
              <p:nvPr/>
            </p:nvSpPr>
            <p:spPr bwMode="auto">
              <a:xfrm>
                <a:off x="1008" y="3170"/>
                <a:ext cx="1008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9" name="Line 41"/>
              <p:cNvSpPr>
                <a:spLocks noChangeShapeType="1"/>
              </p:cNvSpPr>
              <p:nvPr/>
            </p:nvSpPr>
            <p:spPr bwMode="auto">
              <a:xfrm>
                <a:off x="4176" y="3074"/>
                <a:ext cx="720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0" name="Line 42"/>
              <p:cNvSpPr>
                <a:spLocks noChangeShapeType="1"/>
              </p:cNvSpPr>
              <p:nvPr/>
            </p:nvSpPr>
            <p:spPr bwMode="auto">
              <a:xfrm flipV="1">
                <a:off x="4512" y="2498"/>
                <a:ext cx="0" cy="57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1" name="Line 43"/>
              <p:cNvSpPr>
                <a:spLocks noChangeShapeType="1"/>
              </p:cNvSpPr>
              <p:nvPr/>
            </p:nvSpPr>
            <p:spPr bwMode="auto">
              <a:xfrm flipV="1">
                <a:off x="2448" y="2498"/>
                <a:ext cx="0" cy="33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2" name="Line 44"/>
              <p:cNvSpPr>
                <a:spLocks noChangeShapeType="1"/>
              </p:cNvSpPr>
              <p:nvPr/>
            </p:nvSpPr>
            <p:spPr bwMode="auto">
              <a:xfrm>
                <a:off x="1728" y="2834"/>
                <a:ext cx="1440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3" name="Line 45"/>
              <p:cNvSpPr>
                <a:spLocks noChangeShapeType="1"/>
              </p:cNvSpPr>
              <p:nvPr/>
            </p:nvSpPr>
            <p:spPr bwMode="auto">
              <a:xfrm flipV="1">
                <a:off x="3504" y="2114"/>
                <a:ext cx="0" cy="38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4" name="Line 46"/>
              <p:cNvSpPr>
                <a:spLocks noChangeShapeType="1"/>
              </p:cNvSpPr>
              <p:nvPr/>
            </p:nvSpPr>
            <p:spPr bwMode="auto">
              <a:xfrm flipH="1">
                <a:off x="2016" y="3170"/>
                <a:ext cx="384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5" name="Line 47"/>
              <p:cNvSpPr>
                <a:spLocks noChangeShapeType="1"/>
              </p:cNvSpPr>
              <p:nvPr/>
            </p:nvSpPr>
            <p:spPr bwMode="auto">
              <a:xfrm flipV="1">
                <a:off x="1728" y="2834"/>
                <a:ext cx="0" cy="33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6" name="Line 48"/>
              <p:cNvSpPr>
                <a:spLocks noChangeShapeType="1"/>
              </p:cNvSpPr>
              <p:nvPr/>
            </p:nvSpPr>
            <p:spPr bwMode="auto">
              <a:xfrm flipV="1">
                <a:off x="2448" y="2498"/>
                <a:ext cx="2064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7" name="Line 49"/>
              <p:cNvSpPr>
                <a:spLocks noChangeShapeType="1"/>
              </p:cNvSpPr>
              <p:nvPr/>
            </p:nvSpPr>
            <p:spPr bwMode="auto">
              <a:xfrm flipV="1">
                <a:off x="5376" y="2114"/>
                <a:ext cx="0" cy="158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8" name="Line 50"/>
              <p:cNvSpPr>
                <a:spLocks noChangeShapeType="1"/>
              </p:cNvSpPr>
              <p:nvPr/>
            </p:nvSpPr>
            <p:spPr bwMode="auto">
              <a:xfrm>
                <a:off x="3504" y="2114"/>
                <a:ext cx="1872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9" name="Line 51"/>
              <p:cNvSpPr>
                <a:spLocks noChangeShapeType="1"/>
              </p:cNvSpPr>
              <p:nvPr/>
            </p:nvSpPr>
            <p:spPr bwMode="auto">
              <a:xfrm flipV="1">
                <a:off x="4464" y="1682"/>
                <a:ext cx="0" cy="432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0" name="Line 52"/>
              <p:cNvSpPr>
                <a:spLocks noChangeShapeType="1"/>
              </p:cNvSpPr>
              <p:nvPr/>
            </p:nvSpPr>
            <p:spPr bwMode="auto">
              <a:xfrm flipV="1">
                <a:off x="720" y="3554"/>
                <a:ext cx="0" cy="14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1" name="Line 53"/>
              <p:cNvSpPr>
                <a:spLocks noChangeShapeType="1"/>
              </p:cNvSpPr>
              <p:nvPr/>
            </p:nvSpPr>
            <p:spPr bwMode="auto">
              <a:xfrm flipV="1">
                <a:off x="1296" y="3554"/>
                <a:ext cx="0" cy="14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2" name="Line 54"/>
              <p:cNvSpPr>
                <a:spLocks noChangeShapeType="1"/>
              </p:cNvSpPr>
              <p:nvPr/>
            </p:nvSpPr>
            <p:spPr bwMode="auto">
              <a:xfrm flipV="1">
                <a:off x="1440" y="3362"/>
                <a:ext cx="0" cy="9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3" name="Line 55"/>
              <p:cNvSpPr>
                <a:spLocks noChangeShapeType="1"/>
              </p:cNvSpPr>
              <p:nvPr/>
            </p:nvSpPr>
            <p:spPr bwMode="auto">
              <a:xfrm>
                <a:off x="192" y="3362"/>
                <a:ext cx="1248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4" name="Line 56"/>
              <p:cNvSpPr>
                <a:spLocks noChangeShapeType="1"/>
              </p:cNvSpPr>
              <p:nvPr/>
            </p:nvSpPr>
            <p:spPr bwMode="auto">
              <a:xfrm flipV="1">
                <a:off x="720" y="3170"/>
                <a:ext cx="0" cy="192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5" name="Line 57"/>
              <p:cNvSpPr>
                <a:spLocks noChangeShapeType="1"/>
              </p:cNvSpPr>
              <p:nvPr/>
            </p:nvSpPr>
            <p:spPr bwMode="auto">
              <a:xfrm>
                <a:off x="720" y="3170"/>
                <a:ext cx="384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6" name="Line 58"/>
              <p:cNvSpPr>
                <a:spLocks noChangeShapeType="1"/>
              </p:cNvSpPr>
              <p:nvPr/>
            </p:nvSpPr>
            <p:spPr bwMode="auto">
              <a:xfrm>
                <a:off x="720" y="3554"/>
                <a:ext cx="576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7" name="Line 59"/>
              <p:cNvSpPr>
                <a:spLocks noChangeShapeType="1"/>
              </p:cNvSpPr>
              <p:nvPr/>
            </p:nvSpPr>
            <p:spPr bwMode="auto">
              <a:xfrm flipV="1">
                <a:off x="1008" y="3458"/>
                <a:ext cx="0" cy="9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8" name="Line 60"/>
              <p:cNvSpPr>
                <a:spLocks noChangeShapeType="1"/>
              </p:cNvSpPr>
              <p:nvPr/>
            </p:nvSpPr>
            <p:spPr bwMode="auto">
              <a:xfrm>
                <a:off x="1008" y="3458"/>
                <a:ext cx="816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00765" name="Text Box 61"/>
          <p:cNvSpPr txBox="1">
            <a:spLocks noChangeArrowheads="1"/>
          </p:cNvSpPr>
          <p:nvPr/>
        </p:nvSpPr>
        <p:spPr bwMode="auto">
          <a:xfrm>
            <a:off x="419100" y="990600"/>
            <a:ext cx="8524875" cy="280035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Hierarchal clustering can sometimes show patterns that are meaningless or spurious</a:t>
            </a:r>
          </a:p>
          <a:p>
            <a:pPr>
              <a:defRPr/>
            </a:pPr>
            <a:endParaRPr lang="en-US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lang="en-US" altLang="en-US" sz="2000"/>
              <a:t>The tight grouping of Australia, Anguilla, St. Helena etc is meaningful; all these countries are former UK colonies</a:t>
            </a:r>
          </a:p>
          <a:p>
            <a:pPr>
              <a:defRPr/>
            </a:pPr>
            <a:endParaRPr lang="en-US" altLang="en-US" sz="2000"/>
          </a:p>
          <a:p>
            <a:pPr>
              <a:defRPr/>
            </a:pPr>
            <a:r>
              <a:rPr lang="en-US" altLang="en-US" sz="2000"/>
              <a:t>However the tight grouping of Niger and India is completely spurious; there is no connection between the two.</a:t>
            </a:r>
          </a:p>
        </p:txBody>
      </p:sp>
      <p:sp>
        <p:nvSpPr>
          <p:cNvPr id="19460" name="TextBox 61"/>
          <p:cNvSpPr txBox="1">
            <a:spLocks noChangeArrowheads="1"/>
          </p:cNvSpPr>
          <p:nvPr/>
        </p:nvSpPr>
        <p:spPr bwMode="auto">
          <a:xfrm>
            <a:off x="4776788" y="31591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110311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069975" y="1716088"/>
            <a:ext cx="7353300" cy="4538662"/>
            <a:chOff x="674" y="1081"/>
            <a:chExt cx="4632" cy="2859"/>
          </a:xfrm>
        </p:grpSpPr>
        <p:sp>
          <p:nvSpPr>
            <p:cNvPr id="20486" name="Rectangle 3"/>
            <p:cNvSpPr>
              <a:spLocks noChangeArrowheads="1"/>
            </p:cNvSpPr>
            <p:nvPr/>
          </p:nvSpPr>
          <p:spPr bwMode="auto">
            <a:xfrm>
              <a:off x="674" y="1081"/>
              <a:ext cx="4632" cy="28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487" name="Rectangle 4"/>
            <p:cNvSpPr>
              <a:spLocks noChangeArrowheads="1"/>
            </p:cNvSpPr>
            <p:nvPr/>
          </p:nvSpPr>
          <p:spPr bwMode="auto">
            <a:xfrm>
              <a:off x="823" y="3800"/>
              <a:ext cx="149" cy="14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488" name="Freeform 5"/>
            <p:cNvSpPr>
              <a:spLocks/>
            </p:cNvSpPr>
            <p:nvPr/>
          </p:nvSpPr>
          <p:spPr bwMode="auto">
            <a:xfrm>
              <a:off x="898" y="3800"/>
              <a:ext cx="224" cy="140"/>
            </a:xfrm>
            <a:custGeom>
              <a:avLst/>
              <a:gdLst>
                <a:gd name="T0" fmla="*/ 0 w 170"/>
                <a:gd name="T1" fmla="*/ 0 h 106"/>
                <a:gd name="T2" fmla="*/ 224 w 170"/>
                <a:gd name="T3" fmla="*/ 0 h 106"/>
                <a:gd name="T4" fmla="*/ 224 w 170"/>
                <a:gd name="T5" fmla="*/ 140 h 106"/>
                <a:gd name="T6" fmla="*/ 0 60000 65536"/>
                <a:gd name="T7" fmla="*/ 0 60000 65536"/>
                <a:gd name="T8" fmla="*/ 0 60000 65536"/>
                <a:gd name="T9" fmla="*/ 0 w 170"/>
                <a:gd name="T10" fmla="*/ 0 h 106"/>
                <a:gd name="T11" fmla="*/ 170 w 170"/>
                <a:gd name="T12" fmla="*/ 106 h 1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06">
                  <a:moveTo>
                    <a:pt x="0" y="0"/>
                  </a:moveTo>
                  <a:lnTo>
                    <a:pt x="170" y="0"/>
                  </a:lnTo>
                  <a:lnTo>
                    <a:pt x="170" y="10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Rectangle 6"/>
            <p:cNvSpPr>
              <a:spLocks noChangeArrowheads="1"/>
            </p:cNvSpPr>
            <p:nvPr/>
          </p:nvSpPr>
          <p:spPr bwMode="auto">
            <a:xfrm>
              <a:off x="3214" y="3792"/>
              <a:ext cx="149" cy="148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490" name="Rectangle 7"/>
            <p:cNvSpPr>
              <a:spLocks noChangeArrowheads="1"/>
            </p:cNvSpPr>
            <p:nvPr/>
          </p:nvSpPr>
          <p:spPr bwMode="auto">
            <a:xfrm>
              <a:off x="1719" y="3779"/>
              <a:ext cx="151" cy="161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491" name="Freeform 8"/>
            <p:cNvSpPr>
              <a:spLocks/>
            </p:cNvSpPr>
            <p:nvPr/>
          </p:nvSpPr>
          <p:spPr bwMode="auto">
            <a:xfrm>
              <a:off x="1010" y="3779"/>
              <a:ext cx="261" cy="161"/>
            </a:xfrm>
            <a:custGeom>
              <a:avLst/>
              <a:gdLst>
                <a:gd name="T0" fmla="*/ 0 w 198"/>
                <a:gd name="T1" fmla="*/ 21 h 122"/>
                <a:gd name="T2" fmla="*/ 0 w 198"/>
                <a:gd name="T3" fmla="*/ 0 h 122"/>
                <a:gd name="T4" fmla="*/ 261 w 198"/>
                <a:gd name="T5" fmla="*/ 0 h 122"/>
                <a:gd name="T6" fmla="*/ 261 w 198"/>
                <a:gd name="T7" fmla="*/ 161 h 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22"/>
                <a:gd name="T14" fmla="*/ 198 w 198"/>
                <a:gd name="T15" fmla="*/ 122 h 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22">
                  <a:moveTo>
                    <a:pt x="0" y="16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Freeform 9"/>
            <p:cNvSpPr>
              <a:spLocks/>
            </p:cNvSpPr>
            <p:nvPr/>
          </p:nvSpPr>
          <p:spPr bwMode="auto">
            <a:xfrm>
              <a:off x="1794" y="3779"/>
              <a:ext cx="225" cy="161"/>
            </a:xfrm>
            <a:custGeom>
              <a:avLst/>
              <a:gdLst>
                <a:gd name="T0" fmla="*/ 0 w 170"/>
                <a:gd name="T1" fmla="*/ 0 h 122"/>
                <a:gd name="T2" fmla="*/ 225 w 170"/>
                <a:gd name="T3" fmla="*/ 0 h 122"/>
                <a:gd name="T4" fmla="*/ 225 w 170"/>
                <a:gd name="T5" fmla="*/ 161 h 122"/>
                <a:gd name="T6" fmla="*/ 0 60000 65536"/>
                <a:gd name="T7" fmla="*/ 0 60000 65536"/>
                <a:gd name="T8" fmla="*/ 0 60000 65536"/>
                <a:gd name="T9" fmla="*/ 0 w 170"/>
                <a:gd name="T10" fmla="*/ 0 h 122"/>
                <a:gd name="T11" fmla="*/ 170 w 170"/>
                <a:gd name="T12" fmla="*/ 122 h 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22">
                  <a:moveTo>
                    <a:pt x="0" y="0"/>
                  </a:moveTo>
                  <a:lnTo>
                    <a:pt x="170" y="0"/>
                  </a:lnTo>
                  <a:lnTo>
                    <a:pt x="170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10"/>
            <p:cNvSpPr>
              <a:spLocks/>
            </p:cNvSpPr>
            <p:nvPr/>
          </p:nvSpPr>
          <p:spPr bwMode="auto">
            <a:xfrm>
              <a:off x="1137" y="3771"/>
              <a:ext cx="283" cy="169"/>
            </a:xfrm>
            <a:custGeom>
              <a:avLst/>
              <a:gdLst>
                <a:gd name="T0" fmla="*/ 0 w 215"/>
                <a:gd name="T1" fmla="*/ 8 h 128"/>
                <a:gd name="T2" fmla="*/ 0 w 215"/>
                <a:gd name="T3" fmla="*/ 0 h 128"/>
                <a:gd name="T4" fmla="*/ 283 w 215"/>
                <a:gd name="T5" fmla="*/ 0 h 128"/>
                <a:gd name="T6" fmla="*/ 283 w 215"/>
                <a:gd name="T7" fmla="*/ 169 h 1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5"/>
                <a:gd name="T13" fmla="*/ 0 h 128"/>
                <a:gd name="T14" fmla="*/ 215 w 215"/>
                <a:gd name="T15" fmla="*/ 128 h 1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5" h="128">
                  <a:moveTo>
                    <a:pt x="0" y="6"/>
                  </a:moveTo>
                  <a:lnTo>
                    <a:pt x="0" y="0"/>
                  </a:lnTo>
                  <a:lnTo>
                    <a:pt x="215" y="0"/>
                  </a:lnTo>
                  <a:lnTo>
                    <a:pt x="215" y="12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Rectangle 11"/>
            <p:cNvSpPr>
              <a:spLocks noChangeArrowheads="1"/>
            </p:cNvSpPr>
            <p:nvPr/>
          </p:nvSpPr>
          <p:spPr bwMode="auto">
            <a:xfrm>
              <a:off x="3662" y="3771"/>
              <a:ext cx="149" cy="169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495" name="Rectangle 12"/>
            <p:cNvSpPr>
              <a:spLocks noChangeArrowheads="1"/>
            </p:cNvSpPr>
            <p:nvPr/>
          </p:nvSpPr>
          <p:spPr bwMode="auto">
            <a:xfrm>
              <a:off x="2467" y="3758"/>
              <a:ext cx="149" cy="18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496" name="Rectangle 13"/>
            <p:cNvSpPr>
              <a:spLocks noChangeArrowheads="1"/>
            </p:cNvSpPr>
            <p:nvPr/>
          </p:nvSpPr>
          <p:spPr bwMode="auto">
            <a:xfrm>
              <a:off x="4110" y="3750"/>
              <a:ext cx="151" cy="19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497" name="Freeform 14"/>
            <p:cNvSpPr>
              <a:spLocks/>
            </p:cNvSpPr>
            <p:nvPr/>
          </p:nvSpPr>
          <p:spPr bwMode="auto">
            <a:xfrm>
              <a:off x="4186" y="3750"/>
              <a:ext cx="224" cy="190"/>
            </a:xfrm>
            <a:custGeom>
              <a:avLst/>
              <a:gdLst>
                <a:gd name="T0" fmla="*/ 0 w 170"/>
                <a:gd name="T1" fmla="*/ 0 h 144"/>
                <a:gd name="T2" fmla="*/ 224 w 170"/>
                <a:gd name="T3" fmla="*/ 0 h 144"/>
                <a:gd name="T4" fmla="*/ 224 w 170"/>
                <a:gd name="T5" fmla="*/ 190 h 144"/>
                <a:gd name="T6" fmla="*/ 0 60000 65536"/>
                <a:gd name="T7" fmla="*/ 0 60000 65536"/>
                <a:gd name="T8" fmla="*/ 0 60000 65536"/>
                <a:gd name="T9" fmla="*/ 0 w 170"/>
                <a:gd name="T10" fmla="*/ 0 h 144"/>
                <a:gd name="T11" fmla="*/ 170 w 17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44">
                  <a:moveTo>
                    <a:pt x="0" y="0"/>
                  </a:moveTo>
                  <a:lnTo>
                    <a:pt x="170" y="0"/>
                  </a:lnTo>
                  <a:lnTo>
                    <a:pt x="170" y="14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reeform 15"/>
            <p:cNvSpPr>
              <a:spLocks/>
            </p:cNvSpPr>
            <p:nvPr/>
          </p:nvSpPr>
          <p:spPr bwMode="auto">
            <a:xfrm>
              <a:off x="3513" y="3744"/>
              <a:ext cx="224" cy="196"/>
            </a:xfrm>
            <a:custGeom>
              <a:avLst/>
              <a:gdLst>
                <a:gd name="T0" fmla="*/ 0 w 170"/>
                <a:gd name="T1" fmla="*/ 196 h 149"/>
                <a:gd name="T2" fmla="*/ 0 w 170"/>
                <a:gd name="T3" fmla="*/ 0 h 149"/>
                <a:gd name="T4" fmla="*/ 224 w 170"/>
                <a:gd name="T5" fmla="*/ 0 h 149"/>
                <a:gd name="T6" fmla="*/ 224 w 170"/>
                <a:gd name="T7" fmla="*/ 28 h 1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49"/>
                <a:gd name="T14" fmla="*/ 170 w 170"/>
                <a:gd name="T15" fmla="*/ 149 h 1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49">
                  <a:moveTo>
                    <a:pt x="0" y="149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21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Freeform 16"/>
            <p:cNvSpPr>
              <a:spLocks/>
            </p:cNvSpPr>
            <p:nvPr/>
          </p:nvSpPr>
          <p:spPr bwMode="auto">
            <a:xfrm>
              <a:off x="1279" y="3744"/>
              <a:ext cx="291" cy="196"/>
            </a:xfrm>
            <a:custGeom>
              <a:avLst/>
              <a:gdLst>
                <a:gd name="T0" fmla="*/ 0 w 221"/>
                <a:gd name="T1" fmla="*/ 28 h 149"/>
                <a:gd name="T2" fmla="*/ 0 w 221"/>
                <a:gd name="T3" fmla="*/ 0 h 149"/>
                <a:gd name="T4" fmla="*/ 291 w 221"/>
                <a:gd name="T5" fmla="*/ 0 h 149"/>
                <a:gd name="T6" fmla="*/ 291 w 221"/>
                <a:gd name="T7" fmla="*/ 196 h 1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1"/>
                <a:gd name="T13" fmla="*/ 0 h 149"/>
                <a:gd name="T14" fmla="*/ 221 w 221"/>
                <a:gd name="T15" fmla="*/ 149 h 1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1" h="149">
                  <a:moveTo>
                    <a:pt x="0" y="21"/>
                  </a:moveTo>
                  <a:lnTo>
                    <a:pt x="0" y="0"/>
                  </a:lnTo>
                  <a:lnTo>
                    <a:pt x="221" y="0"/>
                  </a:lnTo>
                  <a:lnTo>
                    <a:pt x="221" y="14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Freeform 17"/>
            <p:cNvSpPr>
              <a:spLocks/>
            </p:cNvSpPr>
            <p:nvPr/>
          </p:nvSpPr>
          <p:spPr bwMode="auto">
            <a:xfrm>
              <a:off x="3289" y="3723"/>
              <a:ext cx="336" cy="69"/>
            </a:xfrm>
            <a:custGeom>
              <a:avLst/>
              <a:gdLst>
                <a:gd name="T0" fmla="*/ 0 w 255"/>
                <a:gd name="T1" fmla="*/ 69 h 53"/>
                <a:gd name="T2" fmla="*/ 0 w 255"/>
                <a:gd name="T3" fmla="*/ 0 h 53"/>
                <a:gd name="T4" fmla="*/ 336 w 255"/>
                <a:gd name="T5" fmla="*/ 0 h 53"/>
                <a:gd name="T6" fmla="*/ 336 w 255"/>
                <a:gd name="T7" fmla="*/ 21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5"/>
                <a:gd name="T13" fmla="*/ 0 h 53"/>
                <a:gd name="T14" fmla="*/ 255 w 255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5" h="53">
                  <a:moveTo>
                    <a:pt x="0" y="53"/>
                  </a:moveTo>
                  <a:lnTo>
                    <a:pt x="0" y="0"/>
                  </a:lnTo>
                  <a:lnTo>
                    <a:pt x="255" y="0"/>
                  </a:lnTo>
                  <a:lnTo>
                    <a:pt x="255" y="1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Freeform 18"/>
            <p:cNvSpPr>
              <a:spLocks/>
            </p:cNvSpPr>
            <p:nvPr/>
          </p:nvSpPr>
          <p:spPr bwMode="auto">
            <a:xfrm>
              <a:off x="1906" y="3716"/>
              <a:ext cx="261" cy="224"/>
            </a:xfrm>
            <a:custGeom>
              <a:avLst/>
              <a:gdLst>
                <a:gd name="T0" fmla="*/ 0 w 198"/>
                <a:gd name="T1" fmla="*/ 63 h 170"/>
                <a:gd name="T2" fmla="*/ 0 w 198"/>
                <a:gd name="T3" fmla="*/ 0 h 170"/>
                <a:gd name="T4" fmla="*/ 261 w 198"/>
                <a:gd name="T5" fmla="*/ 0 h 170"/>
                <a:gd name="T6" fmla="*/ 261 w 198"/>
                <a:gd name="T7" fmla="*/ 224 h 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70"/>
                <a:gd name="T14" fmla="*/ 198 w 198"/>
                <a:gd name="T15" fmla="*/ 170 h 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70">
                  <a:moveTo>
                    <a:pt x="0" y="48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7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Freeform 19"/>
            <p:cNvSpPr>
              <a:spLocks/>
            </p:cNvSpPr>
            <p:nvPr/>
          </p:nvSpPr>
          <p:spPr bwMode="auto">
            <a:xfrm>
              <a:off x="4298" y="3709"/>
              <a:ext cx="261" cy="231"/>
            </a:xfrm>
            <a:custGeom>
              <a:avLst/>
              <a:gdLst>
                <a:gd name="T0" fmla="*/ 0 w 198"/>
                <a:gd name="T1" fmla="*/ 41 h 175"/>
                <a:gd name="T2" fmla="*/ 0 w 198"/>
                <a:gd name="T3" fmla="*/ 0 h 175"/>
                <a:gd name="T4" fmla="*/ 261 w 198"/>
                <a:gd name="T5" fmla="*/ 0 h 175"/>
                <a:gd name="T6" fmla="*/ 261 w 198"/>
                <a:gd name="T7" fmla="*/ 231 h 1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75"/>
                <a:gd name="T14" fmla="*/ 198 w 198"/>
                <a:gd name="T15" fmla="*/ 175 h 1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75">
                  <a:moveTo>
                    <a:pt x="0" y="31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7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Freeform 20"/>
            <p:cNvSpPr>
              <a:spLocks/>
            </p:cNvSpPr>
            <p:nvPr/>
          </p:nvSpPr>
          <p:spPr bwMode="auto">
            <a:xfrm>
              <a:off x="3453" y="3701"/>
              <a:ext cx="508" cy="239"/>
            </a:xfrm>
            <a:custGeom>
              <a:avLst/>
              <a:gdLst>
                <a:gd name="T0" fmla="*/ 0 w 386"/>
                <a:gd name="T1" fmla="*/ 21 h 181"/>
                <a:gd name="T2" fmla="*/ 0 w 386"/>
                <a:gd name="T3" fmla="*/ 0 h 181"/>
                <a:gd name="T4" fmla="*/ 508 w 386"/>
                <a:gd name="T5" fmla="*/ 0 h 181"/>
                <a:gd name="T6" fmla="*/ 508 w 386"/>
                <a:gd name="T7" fmla="*/ 239 h 1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6"/>
                <a:gd name="T13" fmla="*/ 0 h 181"/>
                <a:gd name="T14" fmla="*/ 386 w 386"/>
                <a:gd name="T15" fmla="*/ 181 h 1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6" h="181">
                  <a:moveTo>
                    <a:pt x="0" y="16"/>
                  </a:moveTo>
                  <a:lnTo>
                    <a:pt x="0" y="0"/>
                  </a:lnTo>
                  <a:lnTo>
                    <a:pt x="386" y="0"/>
                  </a:lnTo>
                  <a:lnTo>
                    <a:pt x="386" y="181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21"/>
            <p:cNvSpPr>
              <a:spLocks/>
            </p:cNvSpPr>
            <p:nvPr/>
          </p:nvSpPr>
          <p:spPr bwMode="auto">
            <a:xfrm>
              <a:off x="3707" y="3688"/>
              <a:ext cx="717" cy="21"/>
            </a:xfrm>
            <a:custGeom>
              <a:avLst/>
              <a:gdLst>
                <a:gd name="T0" fmla="*/ 0 w 544"/>
                <a:gd name="T1" fmla="*/ 13 h 16"/>
                <a:gd name="T2" fmla="*/ 0 w 544"/>
                <a:gd name="T3" fmla="*/ 0 h 16"/>
                <a:gd name="T4" fmla="*/ 717 w 544"/>
                <a:gd name="T5" fmla="*/ 0 h 16"/>
                <a:gd name="T6" fmla="*/ 717 w 544"/>
                <a:gd name="T7" fmla="*/ 21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4"/>
                <a:gd name="T13" fmla="*/ 0 h 16"/>
                <a:gd name="T14" fmla="*/ 544 w 544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4" h="16">
                  <a:moveTo>
                    <a:pt x="0" y="10"/>
                  </a:moveTo>
                  <a:lnTo>
                    <a:pt x="0" y="0"/>
                  </a:lnTo>
                  <a:lnTo>
                    <a:pt x="544" y="0"/>
                  </a:lnTo>
                  <a:lnTo>
                    <a:pt x="544" y="1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Rectangle 22"/>
            <p:cNvSpPr>
              <a:spLocks noChangeArrowheads="1"/>
            </p:cNvSpPr>
            <p:nvPr/>
          </p:nvSpPr>
          <p:spPr bwMode="auto">
            <a:xfrm>
              <a:off x="4709" y="3688"/>
              <a:ext cx="149" cy="25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506" name="Freeform 23"/>
            <p:cNvSpPr>
              <a:spLocks/>
            </p:cNvSpPr>
            <p:nvPr/>
          </p:nvSpPr>
          <p:spPr bwMode="auto">
            <a:xfrm>
              <a:off x="1420" y="3680"/>
              <a:ext cx="613" cy="64"/>
            </a:xfrm>
            <a:custGeom>
              <a:avLst/>
              <a:gdLst>
                <a:gd name="T0" fmla="*/ 0 w 465"/>
                <a:gd name="T1" fmla="*/ 64 h 48"/>
                <a:gd name="T2" fmla="*/ 0 w 465"/>
                <a:gd name="T3" fmla="*/ 0 h 48"/>
                <a:gd name="T4" fmla="*/ 613 w 465"/>
                <a:gd name="T5" fmla="*/ 0 h 48"/>
                <a:gd name="T6" fmla="*/ 613 w 465"/>
                <a:gd name="T7" fmla="*/ 36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"/>
                <a:gd name="T13" fmla="*/ 0 h 48"/>
                <a:gd name="T14" fmla="*/ 465 w 46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" h="48">
                  <a:moveTo>
                    <a:pt x="0" y="48"/>
                  </a:moveTo>
                  <a:lnTo>
                    <a:pt x="0" y="0"/>
                  </a:lnTo>
                  <a:lnTo>
                    <a:pt x="465" y="0"/>
                  </a:lnTo>
                  <a:lnTo>
                    <a:pt x="465" y="2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Rectangle 24"/>
            <p:cNvSpPr>
              <a:spLocks noChangeArrowheads="1"/>
            </p:cNvSpPr>
            <p:nvPr/>
          </p:nvSpPr>
          <p:spPr bwMode="auto">
            <a:xfrm>
              <a:off x="4066" y="3659"/>
              <a:ext cx="717" cy="29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508" name="Freeform 25"/>
            <p:cNvSpPr>
              <a:spLocks/>
            </p:cNvSpPr>
            <p:nvPr/>
          </p:nvSpPr>
          <p:spPr bwMode="auto">
            <a:xfrm>
              <a:off x="2318" y="3604"/>
              <a:ext cx="224" cy="336"/>
            </a:xfrm>
            <a:custGeom>
              <a:avLst/>
              <a:gdLst>
                <a:gd name="T0" fmla="*/ 0 w 170"/>
                <a:gd name="T1" fmla="*/ 336 h 255"/>
                <a:gd name="T2" fmla="*/ 0 w 170"/>
                <a:gd name="T3" fmla="*/ 0 h 255"/>
                <a:gd name="T4" fmla="*/ 224 w 170"/>
                <a:gd name="T5" fmla="*/ 0 h 255"/>
                <a:gd name="T6" fmla="*/ 224 w 170"/>
                <a:gd name="T7" fmla="*/ 154 h 2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255"/>
                <a:gd name="T14" fmla="*/ 170 w 170"/>
                <a:gd name="T15" fmla="*/ 255 h 2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255">
                  <a:moveTo>
                    <a:pt x="0" y="255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11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Freeform 26"/>
            <p:cNvSpPr>
              <a:spLocks/>
            </p:cNvSpPr>
            <p:nvPr/>
          </p:nvSpPr>
          <p:spPr bwMode="auto">
            <a:xfrm>
              <a:off x="1727" y="3604"/>
              <a:ext cx="703" cy="76"/>
            </a:xfrm>
            <a:custGeom>
              <a:avLst/>
              <a:gdLst>
                <a:gd name="T0" fmla="*/ 0 w 533"/>
                <a:gd name="T1" fmla="*/ 76 h 58"/>
                <a:gd name="T2" fmla="*/ 0 w 533"/>
                <a:gd name="T3" fmla="*/ 0 h 58"/>
                <a:gd name="T4" fmla="*/ 703 w 533"/>
                <a:gd name="T5" fmla="*/ 0 h 58"/>
                <a:gd name="T6" fmla="*/ 0 60000 65536"/>
                <a:gd name="T7" fmla="*/ 0 60000 65536"/>
                <a:gd name="T8" fmla="*/ 0 60000 65536"/>
                <a:gd name="T9" fmla="*/ 0 w 533"/>
                <a:gd name="T10" fmla="*/ 0 h 58"/>
                <a:gd name="T11" fmla="*/ 533 w 533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3" h="58">
                  <a:moveTo>
                    <a:pt x="0" y="58"/>
                  </a:moveTo>
                  <a:lnTo>
                    <a:pt x="0" y="0"/>
                  </a:lnTo>
                  <a:lnTo>
                    <a:pt x="533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27"/>
            <p:cNvSpPr>
              <a:spLocks/>
            </p:cNvSpPr>
            <p:nvPr/>
          </p:nvSpPr>
          <p:spPr bwMode="auto">
            <a:xfrm>
              <a:off x="2078" y="3547"/>
              <a:ext cx="688" cy="393"/>
            </a:xfrm>
            <a:custGeom>
              <a:avLst/>
              <a:gdLst>
                <a:gd name="T0" fmla="*/ 0 w 522"/>
                <a:gd name="T1" fmla="*/ 57 h 298"/>
                <a:gd name="T2" fmla="*/ 0 w 522"/>
                <a:gd name="T3" fmla="*/ 0 h 298"/>
                <a:gd name="T4" fmla="*/ 688 w 522"/>
                <a:gd name="T5" fmla="*/ 0 h 298"/>
                <a:gd name="T6" fmla="*/ 688 w 522"/>
                <a:gd name="T7" fmla="*/ 393 h 2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2"/>
                <a:gd name="T13" fmla="*/ 0 h 298"/>
                <a:gd name="T14" fmla="*/ 522 w 522"/>
                <a:gd name="T15" fmla="*/ 298 h 2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2" h="298">
                  <a:moveTo>
                    <a:pt x="0" y="43"/>
                  </a:moveTo>
                  <a:lnTo>
                    <a:pt x="0" y="0"/>
                  </a:lnTo>
                  <a:lnTo>
                    <a:pt x="522" y="0"/>
                  </a:lnTo>
                  <a:lnTo>
                    <a:pt x="522" y="29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Freeform 28"/>
            <p:cNvSpPr>
              <a:spLocks/>
            </p:cNvSpPr>
            <p:nvPr/>
          </p:nvSpPr>
          <p:spPr bwMode="auto">
            <a:xfrm>
              <a:off x="4424" y="3450"/>
              <a:ext cx="583" cy="490"/>
            </a:xfrm>
            <a:custGeom>
              <a:avLst/>
              <a:gdLst>
                <a:gd name="T0" fmla="*/ 0 w 442"/>
                <a:gd name="T1" fmla="*/ 209 h 372"/>
                <a:gd name="T2" fmla="*/ 0 w 442"/>
                <a:gd name="T3" fmla="*/ 0 h 372"/>
                <a:gd name="T4" fmla="*/ 583 w 442"/>
                <a:gd name="T5" fmla="*/ 0 h 372"/>
                <a:gd name="T6" fmla="*/ 583 w 442"/>
                <a:gd name="T7" fmla="*/ 490 h 3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2"/>
                <a:gd name="T13" fmla="*/ 0 h 372"/>
                <a:gd name="T14" fmla="*/ 442 w 442"/>
                <a:gd name="T15" fmla="*/ 372 h 3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2" h="372">
                  <a:moveTo>
                    <a:pt x="0" y="159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37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Freeform 29"/>
            <p:cNvSpPr>
              <a:spLocks/>
            </p:cNvSpPr>
            <p:nvPr/>
          </p:nvSpPr>
          <p:spPr bwMode="auto">
            <a:xfrm>
              <a:off x="2422" y="3351"/>
              <a:ext cx="493" cy="589"/>
            </a:xfrm>
            <a:custGeom>
              <a:avLst/>
              <a:gdLst>
                <a:gd name="T0" fmla="*/ 0 w 374"/>
                <a:gd name="T1" fmla="*/ 196 h 447"/>
                <a:gd name="T2" fmla="*/ 0 w 374"/>
                <a:gd name="T3" fmla="*/ 0 h 447"/>
                <a:gd name="T4" fmla="*/ 493 w 374"/>
                <a:gd name="T5" fmla="*/ 0 h 447"/>
                <a:gd name="T6" fmla="*/ 493 w 374"/>
                <a:gd name="T7" fmla="*/ 589 h 4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4"/>
                <a:gd name="T13" fmla="*/ 0 h 447"/>
                <a:gd name="T14" fmla="*/ 374 w 374"/>
                <a:gd name="T15" fmla="*/ 447 h 4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4" h="447">
                  <a:moveTo>
                    <a:pt x="0" y="149"/>
                  </a:moveTo>
                  <a:lnTo>
                    <a:pt x="0" y="0"/>
                  </a:lnTo>
                  <a:lnTo>
                    <a:pt x="374" y="0"/>
                  </a:lnTo>
                  <a:lnTo>
                    <a:pt x="374" y="44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Freeform 30"/>
            <p:cNvSpPr>
              <a:spLocks/>
            </p:cNvSpPr>
            <p:nvPr/>
          </p:nvSpPr>
          <p:spPr bwMode="auto">
            <a:xfrm>
              <a:off x="2668" y="3190"/>
              <a:ext cx="397" cy="750"/>
            </a:xfrm>
            <a:custGeom>
              <a:avLst/>
              <a:gdLst>
                <a:gd name="T0" fmla="*/ 0 w 301"/>
                <a:gd name="T1" fmla="*/ 161 h 569"/>
                <a:gd name="T2" fmla="*/ 0 w 301"/>
                <a:gd name="T3" fmla="*/ 0 h 569"/>
                <a:gd name="T4" fmla="*/ 397 w 301"/>
                <a:gd name="T5" fmla="*/ 0 h 569"/>
                <a:gd name="T6" fmla="*/ 397 w 301"/>
                <a:gd name="T7" fmla="*/ 750 h 5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1"/>
                <a:gd name="T13" fmla="*/ 0 h 569"/>
                <a:gd name="T14" fmla="*/ 301 w 301"/>
                <a:gd name="T15" fmla="*/ 569 h 5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1" h="569">
                  <a:moveTo>
                    <a:pt x="0" y="122"/>
                  </a:moveTo>
                  <a:lnTo>
                    <a:pt x="0" y="0"/>
                  </a:lnTo>
                  <a:lnTo>
                    <a:pt x="301" y="0"/>
                  </a:lnTo>
                  <a:lnTo>
                    <a:pt x="301" y="56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Freeform 31"/>
            <p:cNvSpPr>
              <a:spLocks/>
            </p:cNvSpPr>
            <p:nvPr/>
          </p:nvSpPr>
          <p:spPr bwMode="auto">
            <a:xfrm>
              <a:off x="4715" y="3106"/>
              <a:ext cx="442" cy="834"/>
            </a:xfrm>
            <a:custGeom>
              <a:avLst/>
              <a:gdLst>
                <a:gd name="T0" fmla="*/ 0 w 335"/>
                <a:gd name="T1" fmla="*/ 344 h 633"/>
                <a:gd name="T2" fmla="*/ 0 w 335"/>
                <a:gd name="T3" fmla="*/ 0 h 633"/>
                <a:gd name="T4" fmla="*/ 442 w 335"/>
                <a:gd name="T5" fmla="*/ 0 h 633"/>
                <a:gd name="T6" fmla="*/ 442 w 335"/>
                <a:gd name="T7" fmla="*/ 834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5"/>
                <a:gd name="T13" fmla="*/ 0 h 633"/>
                <a:gd name="T14" fmla="*/ 335 w 335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5" h="633">
                  <a:moveTo>
                    <a:pt x="0" y="261"/>
                  </a:moveTo>
                  <a:lnTo>
                    <a:pt x="0" y="0"/>
                  </a:lnTo>
                  <a:lnTo>
                    <a:pt x="335" y="0"/>
                  </a:lnTo>
                  <a:lnTo>
                    <a:pt x="335" y="63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32"/>
            <p:cNvSpPr>
              <a:spLocks/>
            </p:cNvSpPr>
            <p:nvPr/>
          </p:nvSpPr>
          <p:spPr bwMode="auto">
            <a:xfrm>
              <a:off x="2862" y="1208"/>
              <a:ext cx="2071" cy="1982"/>
            </a:xfrm>
            <a:custGeom>
              <a:avLst/>
              <a:gdLst>
                <a:gd name="T0" fmla="*/ 2071 w 1571"/>
                <a:gd name="T1" fmla="*/ 1898 h 1504"/>
                <a:gd name="T2" fmla="*/ 2071 w 1571"/>
                <a:gd name="T3" fmla="*/ 0 h 1504"/>
                <a:gd name="T4" fmla="*/ 0 w 1571"/>
                <a:gd name="T5" fmla="*/ 0 h 1504"/>
                <a:gd name="T6" fmla="*/ 0 w 1571"/>
                <a:gd name="T7" fmla="*/ 1982 h 15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1"/>
                <a:gd name="T13" fmla="*/ 0 h 1504"/>
                <a:gd name="T14" fmla="*/ 1571 w 1571"/>
                <a:gd name="T15" fmla="*/ 1504 h 15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1" h="1504">
                  <a:moveTo>
                    <a:pt x="1571" y="1440"/>
                  </a:moveTo>
                  <a:lnTo>
                    <a:pt x="1571" y="0"/>
                  </a:lnTo>
                  <a:lnTo>
                    <a:pt x="0" y="0"/>
                  </a:lnTo>
                  <a:lnTo>
                    <a:pt x="0" y="150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Line 33"/>
            <p:cNvSpPr>
              <a:spLocks noChangeShapeType="1"/>
            </p:cNvSpPr>
            <p:nvPr/>
          </p:nvSpPr>
          <p:spPr bwMode="auto">
            <a:xfrm>
              <a:off x="674" y="3933"/>
              <a:ext cx="4632" cy="2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0483" name="Picture 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1917700"/>
            <a:ext cx="3451225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 Box 35"/>
          <p:cNvSpPr txBox="1">
            <a:spLocks noChangeArrowheads="1"/>
          </p:cNvSpPr>
          <p:nvPr/>
        </p:nvSpPr>
        <p:spPr bwMode="auto">
          <a:xfrm>
            <a:off x="212725" y="600075"/>
            <a:ext cx="8931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We can look at the dendrogram to determine the “correct” number of clusters. 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20485" name="TextBox 35"/>
          <p:cNvSpPr txBox="1">
            <a:spLocks noChangeArrowheads="1"/>
          </p:cNvSpPr>
          <p:nvPr/>
        </p:nvSpPr>
        <p:spPr bwMode="auto">
          <a:xfrm>
            <a:off x="4865688" y="13176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422965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323850" y="2562225"/>
            <a:ext cx="2952750" cy="2705100"/>
            <a:chOff x="3164" y="1404"/>
            <a:chExt cx="2400" cy="2400"/>
          </a:xfrm>
        </p:grpSpPr>
        <p:sp>
          <p:nvSpPr>
            <p:cNvPr id="21545" name="Rectangle 3"/>
            <p:cNvSpPr>
              <a:spLocks noChangeArrowheads="1"/>
            </p:cNvSpPr>
            <p:nvPr/>
          </p:nvSpPr>
          <p:spPr bwMode="auto">
            <a:xfrm>
              <a:off x="316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46" name="Rectangle 4"/>
            <p:cNvSpPr>
              <a:spLocks noChangeArrowheads="1"/>
            </p:cNvSpPr>
            <p:nvPr/>
          </p:nvSpPr>
          <p:spPr bwMode="auto">
            <a:xfrm>
              <a:off x="340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47" name="Rectangle 5"/>
            <p:cNvSpPr>
              <a:spLocks noChangeArrowheads="1"/>
            </p:cNvSpPr>
            <p:nvPr/>
          </p:nvSpPr>
          <p:spPr bwMode="auto">
            <a:xfrm>
              <a:off x="364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48" name="Rectangle 6"/>
            <p:cNvSpPr>
              <a:spLocks noChangeArrowheads="1"/>
            </p:cNvSpPr>
            <p:nvPr/>
          </p:nvSpPr>
          <p:spPr bwMode="auto">
            <a:xfrm>
              <a:off x="388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49" name="Rectangle 7"/>
            <p:cNvSpPr>
              <a:spLocks noChangeArrowheads="1"/>
            </p:cNvSpPr>
            <p:nvPr/>
          </p:nvSpPr>
          <p:spPr bwMode="auto">
            <a:xfrm>
              <a:off x="412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0" name="Rectangle 8"/>
            <p:cNvSpPr>
              <a:spLocks noChangeArrowheads="1"/>
            </p:cNvSpPr>
            <p:nvPr/>
          </p:nvSpPr>
          <p:spPr bwMode="auto">
            <a:xfrm>
              <a:off x="436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1" name="Rectangle 9"/>
            <p:cNvSpPr>
              <a:spLocks noChangeArrowheads="1"/>
            </p:cNvSpPr>
            <p:nvPr/>
          </p:nvSpPr>
          <p:spPr bwMode="auto">
            <a:xfrm>
              <a:off x="460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2" name="Rectangle 10"/>
            <p:cNvSpPr>
              <a:spLocks noChangeArrowheads="1"/>
            </p:cNvSpPr>
            <p:nvPr/>
          </p:nvSpPr>
          <p:spPr bwMode="auto">
            <a:xfrm>
              <a:off x="484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3" name="Rectangle 11"/>
            <p:cNvSpPr>
              <a:spLocks noChangeArrowheads="1"/>
            </p:cNvSpPr>
            <p:nvPr/>
          </p:nvSpPr>
          <p:spPr bwMode="auto">
            <a:xfrm>
              <a:off x="508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4" name="Rectangle 12"/>
            <p:cNvSpPr>
              <a:spLocks noChangeArrowheads="1"/>
            </p:cNvSpPr>
            <p:nvPr/>
          </p:nvSpPr>
          <p:spPr bwMode="auto">
            <a:xfrm>
              <a:off x="532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5" name="Rectangle 13"/>
            <p:cNvSpPr>
              <a:spLocks noChangeArrowheads="1"/>
            </p:cNvSpPr>
            <p:nvPr/>
          </p:nvSpPr>
          <p:spPr bwMode="auto">
            <a:xfrm>
              <a:off x="316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6" name="Rectangle 14"/>
            <p:cNvSpPr>
              <a:spLocks noChangeArrowheads="1"/>
            </p:cNvSpPr>
            <p:nvPr/>
          </p:nvSpPr>
          <p:spPr bwMode="auto">
            <a:xfrm>
              <a:off x="340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7" name="Rectangle 15"/>
            <p:cNvSpPr>
              <a:spLocks noChangeArrowheads="1"/>
            </p:cNvSpPr>
            <p:nvPr/>
          </p:nvSpPr>
          <p:spPr bwMode="auto">
            <a:xfrm>
              <a:off x="364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8" name="Rectangle 16"/>
            <p:cNvSpPr>
              <a:spLocks noChangeArrowheads="1"/>
            </p:cNvSpPr>
            <p:nvPr/>
          </p:nvSpPr>
          <p:spPr bwMode="auto">
            <a:xfrm>
              <a:off x="388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9" name="Rectangle 17"/>
            <p:cNvSpPr>
              <a:spLocks noChangeArrowheads="1"/>
            </p:cNvSpPr>
            <p:nvPr/>
          </p:nvSpPr>
          <p:spPr bwMode="auto">
            <a:xfrm>
              <a:off x="412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0" name="Rectangle 18"/>
            <p:cNvSpPr>
              <a:spLocks noChangeArrowheads="1"/>
            </p:cNvSpPr>
            <p:nvPr/>
          </p:nvSpPr>
          <p:spPr bwMode="auto">
            <a:xfrm>
              <a:off x="436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1" name="Rectangle 19"/>
            <p:cNvSpPr>
              <a:spLocks noChangeArrowheads="1"/>
            </p:cNvSpPr>
            <p:nvPr/>
          </p:nvSpPr>
          <p:spPr bwMode="auto">
            <a:xfrm>
              <a:off x="460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2" name="Rectangle 20"/>
            <p:cNvSpPr>
              <a:spLocks noChangeArrowheads="1"/>
            </p:cNvSpPr>
            <p:nvPr/>
          </p:nvSpPr>
          <p:spPr bwMode="auto">
            <a:xfrm>
              <a:off x="484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3" name="Rectangle 21"/>
            <p:cNvSpPr>
              <a:spLocks noChangeArrowheads="1"/>
            </p:cNvSpPr>
            <p:nvPr/>
          </p:nvSpPr>
          <p:spPr bwMode="auto">
            <a:xfrm>
              <a:off x="508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4" name="Rectangle 22"/>
            <p:cNvSpPr>
              <a:spLocks noChangeArrowheads="1"/>
            </p:cNvSpPr>
            <p:nvPr/>
          </p:nvSpPr>
          <p:spPr bwMode="auto">
            <a:xfrm>
              <a:off x="532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5" name="Rectangle 23"/>
            <p:cNvSpPr>
              <a:spLocks noChangeArrowheads="1"/>
            </p:cNvSpPr>
            <p:nvPr/>
          </p:nvSpPr>
          <p:spPr bwMode="auto">
            <a:xfrm>
              <a:off x="316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6" name="Rectangle 24"/>
            <p:cNvSpPr>
              <a:spLocks noChangeArrowheads="1"/>
            </p:cNvSpPr>
            <p:nvPr/>
          </p:nvSpPr>
          <p:spPr bwMode="auto">
            <a:xfrm>
              <a:off x="340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7" name="Rectangle 25"/>
            <p:cNvSpPr>
              <a:spLocks noChangeArrowheads="1"/>
            </p:cNvSpPr>
            <p:nvPr/>
          </p:nvSpPr>
          <p:spPr bwMode="auto">
            <a:xfrm>
              <a:off x="364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8" name="Rectangle 26"/>
            <p:cNvSpPr>
              <a:spLocks noChangeArrowheads="1"/>
            </p:cNvSpPr>
            <p:nvPr/>
          </p:nvSpPr>
          <p:spPr bwMode="auto">
            <a:xfrm>
              <a:off x="388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9" name="Rectangle 27"/>
            <p:cNvSpPr>
              <a:spLocks noChangeArrowheads="1"/>
            </p:cNvSpPr>
            <p:nvPr/>
          </p:nvSpPr>
          <p:spPr bwMode="auto">
            <a:xfrm>
              <a:off x="412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0" name="Rectangle 28"/>
            <p:cNvSpPr>
              <a:spLocks noChangeArrowheads="1"/>
            </p:cNvSpPr>
            <p:nvPr/>
          </p:nvSpPr>
          <p:spPr bwMode="auto">
            <a:xfrm>
              <a:off x="436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1" name="Rectangle 29"/>
            <p:cNvSpPr>
              <a:spLocks noChangeArrowheads="1"/>
            </p:cNvSpPr>
            <p:nvPr/>
          </p:nvSpPr>
          <p:spPr bwMode="auto">
            <a:xfrm>
              <a:off x="460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2" name="Rectangle 30"/>
            <p:cNvSpPr>
              <a:spLocks noChangeArrowheads="1"/>
            </p:cNvSpPr>
            <p:nvPr/>
          </p:nvSpPr>
          <p:spPr bwMode="auto">
            <a:xfrm>
              <a:off x="484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3" name="Rectangle 31"/>
            <p:cNvSpPr>
              <a:spLocks noChangeArrowheads="1"/>
            </p:cNvSpPr>
            <p:nvPr/>
          </p:nvSpPr>
          <p:spPr bwMode="auto">
            <a:xfrm>
              <a:off x="508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4" name="Rectangle 32"/>
            <p:cNvSpPr>
              <a:spLocks noChangeArrowheads="1"/>
            </p:cNvSpPr>
            <p:nvPr/>
          </p:nvSpPr>
          <p:spPr bwMode="auto">
            <a:xfrm>
              <a:off x="532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5" name="Rectangle 33"/>
            <p:cNvSpPr>
              <a:spLocks noChangeArrowheads="1"/>
            </p:cNvSpPr>
            <p:nvPr/>
          </p:nvSpPr>
          <p:spPr bwMode="auto">
            <a:xfrm>
              <a:off x="316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6" name="Rectangle 34"/>
            <p:cNvSpPr>
              <a:spLocks noChangeArrowheads="1"/>
            </p:cNvSpPr>
            <p:nvPr/>
          </p:nvSpPr>
          <p:spPr bwMode="auto">
            <a:xfrm>
              <a:off x="340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7" name="Rectangle 35"/>
            <p:cNvSpPr>
              <a:spLocks noChangeArrowheads="1"/>
            </p:cNvSpPr>
            <p:nvPr/>
          </p:nvSpPr>
          <p:spPr bwMode="auto">
            <a:xfrm>
              <a:off x="364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8" name="Rectangle 36"/>
            <p:cNvSpPr>
              <a:spLocks noChangeArrowheads="1"/>
            </p:cNvSpPr>
            <p:nvPr/>
          </p:nvSpPr>
          <p:spPr bwMode="auto">
            <a:xfrm>
              <a:off x="388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9" name="Rectangle 37"/>
            <p:cNvSpPr>
              <a:spLocks noChangeArrowheads="1"/>
            </p:cNvSpPr>
            <p:nvPr/>
          </p:nvSpPr>
          <p:spPr bwMode="auto">
            <a:xfrm>
              <a:off x="412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0" name="Rectangle 38"/>
            <p:cNvSpPr>
              <a:spLocks noChangeArrowheads="1"/>
            </p:cNvSpPr>
            <p:nvPr/>
          </p:nvSpPr>
          <p:spPr bwMode="auto">
            <a:xfrm>
              <a:off x="436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1" name="Rectangle 39"/>
            <p:cNvSpPr>
              <a:spLocks noChangeArrowheads="1"/>
            </p:cNvSpPr>
            <p:nvPr/>
          </p:nvSpPr>
          <p:spPr bwMode="auto">
            <a:xfrm>
              <a:off x="460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2" name="Rectangle 40"/>
            <p:cNvSpPr>
              <a:spLocks noChangeArrowheads="1"/>
            </p:cNvSpPr>
            <p:nvPr/>
          </p:nvSpPr>
          <p:spPr bwMode="auto">
            <a:xfrm>
              <a:off x="484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3" name="Rectangle 41"/>
            <p:cNvSpPr>
              <a:spLocks noChangeArrowheads="1"/>
            </p:cNvSpPr>
            <p:nvPr/>
          </p:nvSpPr>
          <p:spPr bwMode="auto">
            <a:xfrm>
              <a:off x="508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4" name="Rectangle 42"/>
            <p:cNvSpPr>
              <a:spLocks noChangeArrowheads="1"/>
            </p:cNvSpPr>
            <p:nvPr/>
          </p:nvSpPr>
          <p:spPr bwMode="auto">
            <a:xfrm>
              <a:off x="532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5" name="Rectangle 43"/>
            <p:cNvSpPr>
              <a:spLocks noChangeArrowheads="1"/>
            </p:cNvSpPr>
            <p:nvPr/>
          </p:nvSpPr>
          <p:spPr bwMode="auto">
            <a:xfrm>
              <a:off x="316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6" name="Rectangle 44"/>
            <p:cNvSpPr>
              <a:spLocks noChangeArrowheads="1"/>
            </p:cNvSpPr>
            <p:nvPr/>
          </p:nvSpPr>
          <p:spPr bwMode="auto">
            <a:xfrm>
              <a:off x="340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7" name="Rectangle 45"/>
            <p:cNvSpPr>
              <a:spLocks noChangeArrowheads="1"/>
            </p:cNvSpPr>
            <p:nvPr/>
          </p:nvSpPr>
          <p:spPr bwMode="auto">
            <a:xfrm>
              <a:off x="364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8" name="Rectangle 46"/>
            <p:cNvSpPr>
              <a:spLocks noChangeArrowheads="1"/>
            </p:cNvSpPr>
            <p:nvPr/>
          </p:nvSpPr>
          <p:spPr bwMode="auto">
            <a:xfrm>
              <a:off x="388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89" name="Rectangle 47"/>
            <p:cNvSpPr>
              <a:spLocks noChangeArrowheads="1"/>
            </p:cNvSpPr>
            <p:nvPr/>
          </p:nvSpPr>
          <p:spPr bwMode="auto">
            <a:xfrm>
              <a:off x="412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0" name="Rectangle 48"/>
            <p:cNvSpPr>
              <a:spLocks noChangeArrowheads="1"/>
            </p:cNvSpPr>
            <p:nvPr/>
          </p:nvSpPr>
          <p:spPr bwMode="auto">
            <a:xfrm>
              <a:off x="436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1" name="Rectangle 49"/>
            <p:cNvSpPr>
              <a:spLocks noChangeArrowheads="1"/>
            </p:cNvSpPr>
            <p:nvPr/>
          </p:nvSpPr>
          <p:spPr bwMode="auto">
            <a:xfrm>
              <a:off x="460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2" name="Rectangle 50"/>
            <p:cNvSpPr>
              <a:spLocks noChangeArrowheads="1"/>
            </p:cNvSpPr>
            <p:nvPr/>
          </p:nvSpPr>
          <p:spPr bwMode="auto">
            <a:xfrm>
              <a:off x="484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3" name="Rectangle 51"/>
            <p:cNvSpPr>
              <a:spLocks noChangeArrowheads="1"/>
            </p:cNvSpPr>
            <p:nvPr/>
          </p:nvSpPr>
          <p:spPr bwMode="auto">
            <a:xfrm>
              <a:off x="508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4" name="Rectangle 52"/>
            <p:cNvSpPr>
              <a:spLocks noChangeArrowheads="1"/>
            </p:cNvSpPr>
            <p:nvPr/>
          </p:nvSpPr>
          <p:spPr bwMode="auto">
            <a:xfrm>
              <a:off x="532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5" name="Rectangle 53"/>
            <p:cNvSpPr>
              <a:spLocks noChangeArrowheads="1"/>
            </p:cNvSpPr>
            <p:nvPr/>
          </p:nvSpPr>
          <p:spPr bwMode="auto">
            <a:xfrm>
              <a:off x="316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6" name="Rectangle 54"/>
            <p:cNvSpPr>
              <a:spLocks noChangeArrowheads="1"/>
            </p:cNvSpPr>
            <p:nvPr/>
          </p:nvSpPr>
          <p:spPr bwMode="auto">
            <a:xfrm>
              <a:off x="340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7" name="Rectangle 55"/>
            <p:cNvSpPr>
              <a:spLocks noChangeArrowheads="1"/>
            </p:cNvSpPr>
            <p:nvPr/>
          </p:nvSpPr>
          <p:spPr bwMode="auto">
            <a:xfrm>
              <a:off x="364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8" name="Rectangle 56"/>
            <p:cNvSpPr>
              <a:spLocks noChangeArrowheads="1"/>
            </p:cNvSpPr>
            <p:nvPr/>
          </p:nvSpPr>
          <p:spPr bwMode="auto">
            <a:xfrm>
              <a:off x="388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99" name="Rectangle 57"/>
            <p:cNvSpPr>
              <a:spLocks noChangeArrowheads="1"/>
            </p:cNvSpPr>
            <p:nvPr/>
          </p:nvSpPr>
          <p:spPr bwMode="auto">
            <a:xfrm>
              <a:off x="412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0" name="Rectangle 58"/>
            <p:cNvSpPr>
              <a:spLocks noChangeArrowheads="1"/>
            </p:cNvSpPr>
            <p:nvPr/>
          </p:nvSpPr>
          <p:spPr bwMode="auto">
            <a:xfrm>
              <a:off x="436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1" name="Rectangle 59"/>
            <p:cNvSpPr>
              <a:spLocks noChangeArrowheads="1"/>
            </p:cNvSpPr>
            <p:nvPr/>
          </p:nvSpPr>
          <p:spPr bwMode="auto">
            <a:xfrm>
              <a:off x="460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2" name="Rectangle 60"/>
            <p:cNvSpPr>
              <a:spLocks noChangeArrowheads="1"/>
            </p:cNvSpPr>
            <p:nvPr/>
          </p:nvSpPr>
          <p:spPr bwMode="auto">
            <a:xfrm>
              <a:off x="484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3" name="Rectangle 61"/>
            <p:cNvSpPr>
              <a:spLocks noChangeArrowheads="1"/>
            </p:cNvSpPr>
            <p:nvPr/>
          </p:nvSpPr>
          <p:spPr bwMode="auto">
            <a:xfrm>
              <a:off x="508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4" name="Rectangle 62"/>
            <p:cNvSpPr>
              <a:spLocks noChangeArrowheads="1"/>
            </p:cNvSpPr>
            <p:nvPr/>
          </p:nvSpPr>
          <p:spPr bwMode="auto">
            <a:xfrm>
              <a:off x="532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5" name="Rectangle 63"/>
            <p:cNvSpPr>
              <a:spLocks noChangeArrowheads="1"/>
            </p:cNvSpPr>
            <p:nvPr/>
          </p:nvSpPr>
          <p:spPr bwMode="auto">
            <a:xfrm>
              <a:off x="316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6" name="Rectangle 64"/>
            <p:cNvSpPr>
              <a:spLocks noChangeArrowheads="1"/>
            </p:cNvSpPr>
            <p:nvPr/>
          </p:nvSpPr>
          <p:spPr bwMode="auto">
            <a:xfrm>
              <a:off x="340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7" name="Rectangle 65"/>
            <p:cNvSpPr>
              <a:spLocks noChangeArrowheads="1"/>
            </p:cNvSpPr>
            <p:nvPr/>
          </p:nvSpPr>
          <p:spPr bwMode="auto">
            <a:xfrm>
              <a:off x="364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8" name="Rectangle 66"/>
            <p:cNvSpPr>
              <a:spLocks noChangeArrowheads="1"/>
            </p:cNvSpPr>
            <p:nvPr/>
          </p:nvSpPr>
          <p:spPr bwMode="auto">
            <a:xfrm>
              <a:off x="388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09" name="Rectangle 67"/>
            <p:cNvSpPr>
              <a:spLocks noChangeArrowheads="1"/>
            </p:cNvSpPr>
            <p:nvPr/>
          </p:nvSpPr>
          <p:spPr bwMode="auto">
            <a:xfrm>
              <a:off x="412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0" name="Rectangle 68"/>
            <p:cNvSpPr>
              <a:spLocks noChangeArrowheads="1"/>
            </p:cNvSpPr>
            <p:nvPr/>
          </p:nvSpPr>
          <p:spPr bwMode="auto">
            <a:xfrm>
              <a:off x="436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1" name="Rectangle 69"/>
            <p:cNvSpPr>
              <a:spLocks noChangeArrowheads="1"/>
            </p:cNvSpPr>
            <p:nvPr/>
          </p:nvSpPr>
          <p:spPr bwMode="auto">
            <a:xfrm>
              <a:off x="460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2" name="Rectangle 70"/>
            <p:cNvSpPr>
              <a:spLocks noChangeArrowheads="1"/>
            </p:cNvSpPr>
            <p:nvPr/>
          </p:nvSpPr>
          <p:spPr bwMode="auto">
            <a:xfrm>
              <a:off x="484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3" name="Rectangle 71"/>
            <p:cNvSpPr>
              <a:spLocks noChangeArrowheads="1"/>
            </p:cNvSpPr>
            <p:nvPr/>
          </p:nvSpPr>
          <p:spPr bwMode="auto">
            <a:xfrm>
              <a:off x="508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4" name="Rectangle 72"/>
            <p:cNvSpPr>
              <a:spLocks noChangeArrowheads="1"/>
            </p:cNvSpPr>
            <p:nvPr/>
          </p:nvSpPr>
          <p:spPr bwMode="auto">
            <a:xfrm>
              <a:off x="532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5" name="Rectangle 73"/>
            <p:cNvSpPr>
              <a:spLocks noChangeArrowheads="1"/>
            </p:cNvSpPr>
            <p:nvPr/>
          </p:nvSpPr>
          <p:spPr bwMode="auto">
            <a:xfrm>
              <a:off x="316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6" name="Rectangle 74"/>
            <p:cNvSpPr>
              <a:spLocks noChangeArrowheads="1"/>
            </p:cNvSpPr>
            <p:nvPr/>
          </p:nvSpPr>
          <p:spPr bwMode="auto">
            <a:xfrm>
              <a:off x="340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7" name="Rectangle 75"/>
            <p:cNvSpPr>
              <a:spLocks noChangeArrowheads="1"/>
            </p:cNvSpPr>
            <p:nvPr/>
          </p:nvSpPr>
          <p:spPr bwMode="auto">
            <a:xfrm>
              <a:off x="364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8" name="Rectangle 76"/>
            <p:cNvSpPr>
              <a:spLocks noChangeArrowheads="1"/>
            </p:cNvSpPr>
            <p:nvPr/>
          </p:nvSpPr>
          <p:spPr bwMode="auto">
            <a:xfrm>
              <a:off x="388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19" name="Rectangle 77"/>
            <p:cNvSpPr>
              <a:spLocks noChangeArrowheads="1"/>
            </p:cNvSpPr>
            <p:nvPr/>
          </p:nvSpPr>
          <p:spPr bwMode="auto">
            <a:xfrm>
              <a:off x="412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0" name="Rectangle 78"/>
            <p:cNvSpPr>
              <a:spLocks noChangeArrowheads="1"/>
            </p:cNvSpPr>
            <p:nvPr/>
          </p:nvSpPr>
          <p:spPr bwMode="auto">
            <a:xfrm>
              <a:off x="436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1" name="Rectangle 79"/>
            <p:cNvSpPr>
              <a:spLocks noChangeArrowheads="1"/>
            </p:cNvSpPr>
            <p:nvPr/>
          </p:nvSpPr>
          <p:spPr bwMode="auto">
            <a:xfrm>
              <a:off x="460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2" name="Rectangle 80"/>
            <p:cNvSpPr>
              <a:spLocks noChangeArrowheads="1"/>
            </p:cNvSpPr>
            <p:nvPr/>
          </p:nvSpPr>
          <p:spPr bwMode="auto">
            <a:xfrm>
              <a:off x="484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3" name="Rectangle 81"/>
            <p:cNvSpPr>
              <a:spLocks noChangeArrowheads="1"/>
            </p:cNvSpPr>
            <p:nvPr/>
          </p:nvSpPr>
          <p:spPr bwMode="auto">
            <a:xfrm>
              <a:off x="508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4" name="Rectangle 82"/>
            <p:cNvSpPr>
              <a:spLocks noChangeArrowheads="1"/>
            </p:cNvSpPr>
            <p:nvPr/>
          </p:nvSpPr>
          <p:spPr bwMode="auto">
            <a:xfrm>
              <a:off x="532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5" name="Rectangle 83"/>
            <p:cNvSpPr>
              <a:spLocks noChangeArrowheads="1"/>
            </p:cNvSpPr>
            <p:nvPr/>
          </p:nvSpPr>
          <p:spPr bwMode="auto">
            <a:xfrm>
              <a:off x="316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6" name="Rectangle 84"/>
            <p:cNvSpPr>
              <a:spLocks noChangeArrowheads="1"/>
            </p:cNvSpPr>
            <p:nvPr/>
          </p:nvSpPr>
          <p:spPr bwMode="auto">
            <a:xfrm>
              <a:off x="340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7" name="Rectangle 85"/>
            <p:cNvSpPr>
              <a:spLocks noChangeArrowheads="1"/>
            </p:cNvSpPr>
            <p:nvPr/>
          </p:nvSpPr>
          <p:spPr bwMode="auto">
            <a:xfrm>
              <a:off x="364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8" name="Rectangle 86"/>
            <p:cNvSpPr>
              <a:spLocks noChangeArrowheads="1"/>
            </p:cNvSpPr>
            <p:nvPr/>
          </p:nvSpPr>
          <p:spPr bwMode="auto">
            <a:xfrm>
              <a:off x="388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29" name="Rectangle 87"/>
            <p:cNvSpPr>
              <a:spLocks noChangeArrowheads="1"/>
            </p:cNvSpPr>
            <p:nvPr/>
          </p:nvSpPr>
          <p:spPr bwMode="auto">
            <a:xfrm>
              <a:off x="412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0" name="Rectangle 88"/>
            <p:cNvSpPr>
              <a:spLocks noChangeArrowheads="1"/>
            </p:cNvSpPr>
            <p:nvPr/>
          </p:nvSpPr>
          <p:spPr bwMode="auto">
            <a:xfrm>
              <a:off x="436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1" name="Rectangle 89"/>
            <p:cNvSpPr>
              <a:spLocks noChangeArrowheads="1"/>
            </p:cNvSpPr>
            <p:nvPr/>
          </p:nvSpPr>
          <p:spPr bwMode="auto">
            <a:xfrm>
              <a:off x="460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2" name="Rectangle 90"/>
            <p:cNvSpPr>
              <a:spLocks noChangeArrowheads="1"/>
            </p:cNvSpPr>
            <p:nvPr/>
          </p:nvSpPr>
          <p:spPr bwMode="auto">
            <a:xfrm>
              <a:off x="484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3" name="Rectangle 91"/>
            <p:cNvSpPr>
              <a:spLocks noChangeArrowheads="1"/>
            </p:cNvSpPr>
            <p:nvPr/>
          </p:nvSpPr>
          <p:spPr bwMode="auto">
            <a:xfrm>
              <a:off x="508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4" name="Rectangle 92"/>
            <p:cNvSpPr>
              <a:spLocks noChangeArrowheads="1"/>
            </p:cNvSpPr>
            <p:nvPr/>
          </p:nvSpPr>
          <p:spPr bwMode="auto">
            <a:xfrm>
              <a:off x="532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5" name="Rectangle 93"/>
            <p:cNvSpPr>
              <a:spLocks noChangeArrowheads="1"/>
            </p:cNvSpPr>
            <p:nvPr/>
          </p:nvSpPr>
          <p:spPr bwMode="auto">
            <a:xfrm>
              <a:off x="316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6" name="Rectangle 94"/>
            <p:cNvSpPr>
              <a:spLocks noChangeArrowheads="1"/>
            </p:cNvSpPr>
            <p:nvPr/>
          </p:nvSpPr>
          <p:spPr bwMode="auto">
            <a:xfrm>
              <a:off x="340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7" name="Rectangle 95"/>
            <p:cNvSpPr>
              <a:spLocks noChangeArrowheads="1"/>
            </p:cNvSpPr>
            <p:nvPr/>
          </p:nvSpPr>
          <p:spPr bwMode="auto">
            <a:xfrm>
              <a:off x="364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8" name="Rectangle 96"/>
            <p:cNvSpPr>
              <a:spLocks noChangeArrowheads="1"/>
            </p:cNvSpPr>
            <p:nvPr/>
          </p:nvSpPr>
          <p:spPr bwMode="auto">
            <a:xfrm>
              <a:off x="388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39" name="Rectangle 97"/>
            <p:cNvSpPr>
              <a:spLocks noChangeArrowheads="1"/>
            </p:cNvSpPr>
            <p:nvPr/>
          </p:nvSpPr>
          <p:spPr bwMode="auto">
            <a:xfrm>
              <a:off x="412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40" name="Rectangle 98"/>
            <p:cNvSpPr>
              <a:spLocks noChangeArrowheads="1"/>
            </p:cNvSpPr>
            <p:nvPr/>
          </p:nvSpPr>
          <p:spPr bwMode="auto">
            <a:xfrm>
              <a:off x="436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41" name="Rectangle 99"/>
            <p:cNvSpPr>
              <a:spLocks noChangeArrowheads="1"/>
            </p:cNvSpPr>
            <p:nvPr/>
          </p:nvSpPr>
          <p:spPr bwMode="auto">
            <a:xfrm>
              <a:off x="460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42" name="Rectangle 100"/>
            <p:cNvSpPr>
              <a:spLocks noChangeArrowheads="1"/>
            </p:cNvSpPr>
            <p:nvPr/>
          </p:nvSpPr>
          <p:spPr bwMode="auto">
            <a:xfrm>
              <a:off x="484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43" name="Rectangle 101"/>
            <p:cNvSpPr>
              <a:spLocks noChangeArrowheads="1"/>
            </p:cNvSpPr>
            <p:nvPr/>
          </p:nvSpPr>
          <p:spPr bwMode="auto">
            <a:xfrm>
              <a:off x="508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44" name="Rectangle 102"/>
            <p:cNvSpPr>
              <a:spLocks noChangeArrowheads="1"/>
            </p:cNvSpPr>
            <p:nvPr/>
          </p:nvSpPr>
          <p:spPr bwMode="auto">
            <a:xfrm>
              <a:off x="532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45" name="Line 103"/>
            <p:cNvSpPr>
              <a:spLocks noChangeShapeType="1"/>
            </p:cNvSpPr>
            <p:nvPr/>
          </p:nvSpPr>
          <p:spPr bwMode="auto">
            <a:xfrm>
              <a:off x="3164" y="3804"/>
              <a:ext cx="240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46" name="Line 104"/>
            <p:cNvSpPr>
              <a:spLocks noChangeShapeType="1"/>
            </p:cNvSpPr>
            <p:nvPr/>
          </p:nvSpPr>
          <p:spPr bwMode="auto">
            <a:xfrm flipV="1">
              <a:off x="3164" y="1404"/>
              <a:ext cx="0" cy="24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47" name="Oval 105"/>
            <p:cNvSpPr>
              <a:spLocks noChangeArrowheads="1"/>
            </p:cNvSpPr>
            <p:nvPr/>
          </p:nvSpPr>
          <p:spPr bwMode="auto">
            <a:xfrm>
              <a:off x="3404" y="2988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48" name="Oval 106"/>
            <p:cNvSpPr>
              <a:spLocks noChangeArrowheads="1"/>
            </p:cNvSpPr>
            <p:nvPr/>
          </p:nvSpPr>
          <p:spPr bwMode="auto">
            <a:xfrm>
              <a:off x="3788" y="332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49" name="Rectangle 107"/>
            <p:cNvSpPr>
              <a:spLocks noChangeArrowheads="1"/>
            </p:cNvSpPr>
            <p:nvPr/>
          </p:nvSpPr>
          <p:spPr bwMode="auto">
            <a:xfrm>
              <a:off x="5242" y="170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0" name="Rectangle 108"/>
            <p:cNvSpPr>
              <a:spLocks noChangeArrowheads="1"/>
            </p:cNvSpPr>
            <p:nvPr/>
          </p:nvSpPr>
          <p:spPr bwMode="auto">
            <a:xfrm>
              <a:off x="4673" y="212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1" name="Rectangle 109"/>
            <p:cNvSpPr>
              <a:spLocks noChangeArrowheads="1"/>
            </p:cNvSpPr>
            <p:nvPr/>
          </p:nvSpPr>
          <p:spPr bwMode="auto">
            <a:xfrm>
              <a:off x="5036" y="154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2" name="Rectangle 110"/>
            <p:cNvSpPr>
              <a:spLocks noChangeArrowheads="1"/>
            </p:cNvSpPr>
            <p:nvPr/>
          </p:nvSpPr>
          <p:spPr bwMode="auto">
            <a:xfrm>
              <a:off x="5132" y="2172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3" name="Rectangle 111"/>
            <p:cNvSpPr>
              <a:spLocks noChangeArrowheads="1"/>
            </p:cNvSpPr>
            <p:nvPr/>
          </p:nvSpPr>
          <p:spPr bwMode="auto">
            <a:xfrm>
              <a:off x="5465" y="2695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4" name="Oval 112"/>
            <p:cNvSpPr>
              <a:spLocks noChangeArrowheads="1"/>
            </p:cNvSpPr>
            <p:nvPr/>
          </p:nvSpPr>
          <p:spPr bwMode="auto">
            <a:xfrm>
              <a:off x="3507" y="259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5" name="Oval 113"/>
            <p:cNvSpPr>
              <a:spLocks noChangeArrowheads="1"/>
            </p:cNvSpPr>
            <p:nvPr/>
          </p:nvSpPr>
          <p:spPr bwMode="auto">
            <a:xfrm>
              <a:off x="3260" y="3516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6" name="Oval 114"/>
            <p:cNvSpPr>
              <a:spLocks noChangeArrowheads="1"/>
            </p:cNvSpPr>
            <p:nvPr/>
          </p:nvSpPr>
          <p:spPr bwMode="auto">
            <a:xfrm>
              <a:off x="3308" y="265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7" name="Oval 115"/>
            <p:cNvSpPr>
              <a:spLocks noChangeArrowheads="1"/>
            </p:cNvSpPr>
            <p:nvPr/>
          </p:nvSpPr>
          <p:spPr bwMode="auto">
            <a:xfrm>
              <a:off x="3692" y="2940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8" name="Oval 116"/>
            <p:cNvSpPr>
              <a:spLocks noChangeArrowheads="1"/>
            </p:cNvSpPr>
            <p:nvPr/>
          </p:nvSpPr>
          <p:spPr bwMode="auto">
            <a:xfrm>
              <a:off x="3452" y="3228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59" name="Oval 117"/>
            <p:cNvSpPr>
              <a:spLocks noChangeArrowheads="1"/>
            </p:cNvSpPr>
            <p:nvPr/>
          </p:nvSpPr>
          <p:spPr bwMode="auto">
            <a:xfrm>
              <a:off x="3548" y="3420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0" name="Oval 118"/>
            <p:cNvSpPr>
              <a:spLocks noChangeArrowheads="1"/>
            </p:cNvSpPr>
            <p:nvPr/>
          </p:nvSpPr>
          <p:spPr bwMode="auto">
            <a:xfrm>
              <a:off x="3836" y="2940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1" name="Oval 119"/>
            <p:cNvSpPr>
              <a:spLocks noChangeArrowheads="1"/>
            </p:cNvSpPr>
            <p:nvPr/>
          </p:nvSpPr>
          <p:spPr bwMode="auto">
            <a:xfrm>
              <a:off x="3356" y="241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2" name="Oval 120"/>
            <p:cNvSpPr>
              <a:spLocks noChangeArrowheads="1"/>
            </p:cNvSpPr>
            <p:nvPr/>
          </p:nvSpPr>
          <p:spPr bwMode="auto">
            <a:xfrm>
              <a:off x="3636" y="2353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3" name="Oval 121"/>
            <p:cNvSpPr>
              <a:spLocks noChangeArrowheads="1"/>
            </p:cNvSpPr>
            <p:nvPr/>
          </p:nvSpPr>
          <p:spPr bwMode="auto">
            <a:xfrm>
              <a:off x="3452" y="289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4" name="Oval 122"/>
            <p:cNvSpPr>
              <a:spLocks noChangeArrowheads="1"/>
            </p:cNvSpPr>
            <p:nvPr/>
          </p:nvSpPr>
          <p:spPr bwMode="auto">
            <a:xfrm>
              <a:off x="3644" y="284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5" name="Oval 123"/>
            <p:cNvSpPr>
              <a:spLocks noChangeArrowheads="1"/>
            </p:cNvSpPr>
            <p:nvPr/>
          </p:nvSpPr>
          <p:spPr bwMode="auto">
            <a:xfrm>
              <a:off x="3260" y="3180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6" name="Oval 124"/>
            <p:cNvSpPr>
              <a:spLocks noChangeArrowheads="1"/>
            </p:cNvSpPr>
            <p:nvPr/>
          </p:nvSpPr>
          <p:spPr bwMode="auto">
            <a:xfrm>
              <a:off x="3596" y="313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7" name="Oval 125"/>
            <p:cNvSpPr>
              <a:spLocks noChangeArrowheads="1"/>
            </p:cNvSpPr>
            <p:nvPr/>
          </p:nvSpPr>
          <p:spPr bwMode="auto">
            <a:xfrm>
              <a:off x="3260" y="2076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8" name="Oval 126"/>
            <p:cNvSpPr>
              <a:spLocks noChangeArrowheads="1"/>
            </p:cNvSpPr>
            <p:nvPr/>
          </p:nvSpPr>
          <p:spPr bwMode="auto">
            <a:xfrm>
              <a:off x="3500" y="2748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69" name="Oval 127"/>
            <p:cNvSpPr>
              <a:spLocks noChangeArrowheads="1"/>
            </p:cNvSpPr>
            <p:nvPr/>
          </p:nvSpPr>
          <p:spPr bwMode="auto">
            <a:xfrm>
              <a:off x="3788" y="308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0" name="Rectangle 128"/>
            <p:cNvSpPr>
              <a:spLocks noChangeArrowheads="1"/>
            </p:cNvSpPr>
            <p:nvPr/>
          </p:nvSpPr>
          <p:spPr bwMode="auto">
            <a:xfrm>
              <a:off x="4988" y="202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1" name="Rectangle 129"/>
            <p:cNvSpPr>
              <a:spLocks noChangeArrowheads="1"/>
            </p:cNvSpPr>
            <p:nvPr/>
          </p:nvSpPr>
          <p:spPr bwMode="auto">
            <a:xfrm>
              <a:off x="4892" y="2220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2" name="Rectangle 130"/>
            <p:cNvSpPr>
              <a:spLocks noChangeArrowheads="1"/>
            </p:cNvSpPr>
            <p:nvPr/>
          </p:nvSpPr>
          <p:spPr bwMode="auto">
            <a:xfrm>
              <a:off x="4748" y="1980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3" name="Rectangle 131"/>
            <p:cNvSpPr>
              <a:spLocks noChangeArrowheads="1"/>
            </p:cNvSpPr>
            <p:nvPr/>
          </p:nvSpPr>
          <p:spPr bwMode="auto">
            <a:xfrm>
              <a:off x="4748" y="226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4" name="Rectangle 132"/>
            <p:cNvSpPr>
              <a:spLocks noChangeArrowheads="1"/>
            </p:cNvSpPr>
            <p:nvPr/>
          </p:nvSpPr>
          <p:spPr bwMode="auto">
            <a:xfrm>
              <a:off x="5084" y="188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5" name="Rectangle 133"/>
            <p:cNvSpPr>
              <a:spLocks noChangeArrowheads="1"/>
            </p:cNvSpPr>
            <p:nvPr/>
          </p:nvSpPr>
          <p:spPr bwMode="auto">
            <a:xfrm>
              <a:off x="5180" y="202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6" name="Rectangle 134"/>
            <p:cNvSpPr>
              <a:spLocks noChangeArrowheads="1"/>
            </p:cNvSpPr>
            <p:nvPr/>
          </p:nvSpPr>
          <p:spPr bwMode="auto">
            <a:xfrm>
              <a:off x="4748" y="1452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7" name="Rectangle 135"/>
            <p:cNvSpPr>
              <a:spLocks noChangeArrowheads="1"/>
            </p:cNvSpPr>
            <p:nvPr/>
          </p:nvSpPr>
          <p:spPr bwMode="auto">
            <a:xfrm>
              <a:off x="5372" y="140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8" name="Rectangle 136"/>
            <p:cNvSpPr>
              <a:spLocks noChangeArrowheads="1"/>
            </p:cNvSpPr>
            <p:nvPr/>
          </p:nvSpPr>
          <p:spPr bwMode="auto">
            <a:xfrm>
              <a:off x="4769" y="171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79" name="Rectangle 137"/>
            <p:cNvSpPr>
              <a:spLocks noChangeArrowheads="1"/>
            </p:cNvSpPr>
            <p:nvPr/>
          </p:nvSpPr>
          <p:spPr bwMode="auto">
            <a:xfrm>
              <a:off x="5180" y="236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0" name="Rectangle 138"/>
            <p:cNvSpPr>
              <a:spLocks noChangeArrowheads="1"/>
            </p:cNvSpPr>
            <p:nvPr/>
          </p:nvSpPr>
          <p:spPr bwMode="auto">
            <a:xfrm>
              <a:off x="5132" y="1740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1" name="Rectangle 139"/>
            <p:cNvSpPr>
              <a:spLocks noChangeArrowheads="1"/>
            </p:cNvSpPr>
            <p:nvPr/>
          </p:nvSpPr>
          <p:spPr bwMode="auto">
            <a:xfrm>
              <a:off x="4844" y="1836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2" name="Rectangle 140"/>
            <p:cNvSpPr>
              <a:spLocks noChangeArrowheads="1"/>
            </p:cNvSpPr>
            <p:nvPr/>
          </p:nvSpPr>
          <p:spPr bwMode="auto">
            <a:xfrm>
              <a:off x="4556" y="1932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3" name="Rectangle 141"/>
            <p:cNvSpPr>
              <a:spLocks noChangeArrowheads="1"/>
            </p:cNvSpPr>
            <p:nvPr/>
          </p:nvSpPr>
          <p:spPr bwMode="auto">
            <a:xfrm>
              <a:off x="5372" y="188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4" name="Rectangle 142"/>
            <p:cNvSpPr>
              <a:spLocks noChangeArrowheads="1"/>
            </p:cNvSpPr>
            <p:nvPr/>
          </p:nvSpPr>
          <p:spPr bwMode="auto">
            <a:xfrm>
              <a:off x="4940" y="2412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5" name="Rectangle 143"/>
            <p:cNvSpPr>
              <a:spLocks noChangeArrowheads="1"/>
            </p:cNvSpPr>
            <p:nvPr/>
          </p:nvSpPr>
          <p:spPr bwMode="auto">
            <a:xfrm>
              <a:off x="5324" y="2460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6" name="Oval 144"/>
            <p:cNvSpPr>
              <a:spLocks noChangeArrowheads="1"/>
            </p:cNvSpPr>
            <p:nvPr/>
          </p:nvSpPr>
          <p:spPr bwMode="auto">
            <a:xfrm>
              <a:off x="3931" y="299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7" name="Oval 145"/>
            <p:cNvSpPr>
              <a:spLocks noChangeArrowheads="1"/>
            </p:cNvSpPr>
            <p:nvPr/>
          </p:nvSpPr>
          <p:spPr bwMode="auto">
            <a:xfrm>
              <a:off x="3731" y="2599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8" name="Oval 146"/>
            <p:cNvSpPr>
              <a:spLocks noChangeArrowheads="1"/>
            </p:cNvSpPr>
            <p:nvPr/>
          </p:nvSpPr>
          <p:spPr bwMode="auto">
            <a:xfrm>
              <a:off x="3806" y="2806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89" name="Oval 147"/>
            <p:cNvSpPr>
              <a:spLocks noChangeArrowheads="1"/>
            </p:cNvSpPr>
            <p:nvPr/>
          </p:nvSpPr>
          <p:spPr bwMode="auto">
            <a:xfrm>
              <a:off x="4018" y="2807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0" name="Oval 148"/>
            <p:cNvSpPr>
              <a:spLocks noChangeArrowheads="1"/>
            </p:cNvSpPr>
            <p:nvPr/>
          </p:nvSpPr>
          <p:spPr bwMode="auto">
            <a:xfrm>
              <a:off x="3940" y="3157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1" name="Oval 149"/>
            <p:cNvSpPr>
              <a:spLocks noChangeArrowheads="1"/>
            </p:cNvSpPr>
            <p:nvPr/>
          </p:nvSpPr>
          <p:spPr bwMode="auto">
            <a:xfrm>
              <a:off x="3259" y="289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2" name="Oval 150"/>
            <p:cNvSpPr>
              <a:spLocks noChangeArrowheads="1"/>
            </p:cNvSpPr>
            <p:nvPr/>
          </p:nvSpPr>
          <p:spPr bwMode="auto">
            <a:xfrm>
              <a:off x="3403" y="3401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3" name="Oval 151"/>
            <p:cNvSpPr>
              <a:spLocks noChangeArrowheads="1"/>
            </p:cNvSpPr>
            <p:nvPr/>
          </p:nvSpPr>
          <p:spPr bwMode="auto">
            <a:xfrm>
              <a:off x="3689" y="274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4" name="Oval 152"/>
            <p:cNvSpPr>
              <a:spLocks noChangeArrowheads="1"/>
            </p:cNvSpPr>
            <p:nvPr/>
          </p:nvSpPr>
          <p:spPr bwMode="auto">
            <a:xfrm>
              <a:off x="3653" y="328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5" name="Oval 153"/>
            <p:cNvSpPr>
              <a:spLocks noChangeArrowheads="1"/>
            </p:cNvSpPr>
            <p:nvPr/>
          </p:nvSpPr>
          <p:spPr bwMode="auto">
            <a:xfrm>
              <a:off x="3236" y="3673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6" name="Rectangle 154"/>
            <p:cNvSpPr>
              <a:spLocks noChangeArrowheads="1"/>
            </p:cNvSpPr>
            <p:nvPr/>
          </p:nvSpPr>
          <p:spPr bwMode="auto">
            <a:xfrm>
              <a:off x="5317" y="229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7" name="Rectangle 155"/>
            <p:cNvSpPr>
              <a:spLocks noChangeArrowheads="1"/>
            </p:cNvSpPr>
            <p:nvPr/>
          </p:nvSpPr>
          <p:spPr bwMode="auto">
            <a:xfrm>
              <a:off x="4943" y="1681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8" name="Rectangle 156"/>
            <p:cNvSpPr>
              <a:spLocks noChangeArrowheads="1"/>
            </p:cNvSpPr>
            <p:nvPr/>
          </p:nvSpPr>
          <p:spPr bwMode="auto">
            <a:xfrm>
              <a:off x="4500" y="208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699" name="Rectangle 157"/>
            <p:cNvSpPr>
              <a:spLocks noChangeArrowheads="1"/>
            </p:cNvSpPr>
            <p:nvPr/>
          </p:nvSpPr>
          <p:spPr bwMode="auto">
            <a:xfrm>
              <a:off x="5134" y="2566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700" name="Rectangle 158"/>
            <p:cNvSpPr>
              <a:spLocks noChangeArrowheads="1"/>
            </p:cNvSpPr>
            <p:nvPr/>
          </p:nvSpPr>
          <p:spPr bwMode="auto">
            <a:xfrm>
              <a:off x="5336" y="2059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701" name="Oval 159"/>
            <p:cNvSpPr>
              <a:spLocks noChangeArrowheads="1"/>
            </p:cNvSpPr>
            <p:nvPr/>
          </p:nvSpPr>
          <p:spPr bwMode="auto">
            <a:xfrm>
              <a:off x="5032" y="3619"/>
              <a:ext cx="102" cy="10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1507" name="Group 160"/>
          <p:cNvGrpSpPr>
            <a:grpSpLocks/>
          </p:cNvGrpSpPr>
          <p:nvPr/>
        </p:nvGrpSpPr>
        <p:grpSpPr bwMode="auto">
          <a:xfrm>
            <a:off x="1498600" y="2298700"/>
            <a:ext cx="7158038" cy="4445000"/>
            <a:chOff x="596" y="1208"/>
            <a:chExt cx="4509" cy="2800"/>
          </a:xfrm>
        </p:grpSpPr>
        <p:sp>
          <p:nvSpPr>
            <p:cNvPr id="21514" name="Rectangle 161"/>
            <p:cNvSpPr>
              <a:spLocks noChangeArrowheads="1"/>
            </p:cNvSpPr>
            <p:nvPr/>
          </p:nvSpPr>
          <p:spPr bwMode="auto">
            <a:xfrm>
              <a:off x="596" y="1208"/>
              <a:ext cx="4509" cy="2783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15" name="Rectangle 162"/>
            <p:cNvSpPr>
              <a:spLocks noChangeArrowheads="1"/>
            </p:cNvSpPr>
            <p:nvPr/>
          </p:nvSpPr>
          <p:spPr bwMode="auto">
            <a:xfrm>
              <a:off x="741" y="3862"/>
              <a:ext cx="145" cy="136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16" name="Rectangle 163"/>
            <p:cNvSpPr>
              <a:spLocks noChangeArrowheads="1"/>
            </p:cNvSpPr>
            <p:nvPr/>
          </p:nvSpPr>
          <p:spPr bwMode="auto">
            <a:xfrm>
              <a:off x="2924" y="3854"/>
              <a:ext cx="145" cy="144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17" name="Rectangle 164"/>
            <p:cNvSpPr>
              <a:spLocks noChangeArrowheads="1"/>
            </p:cNvSpPr>
            <p:nvPr/>
          </p:nvSpPr>
          <p:spPr bwMode="auto">
            <a:xfrm>
              <a:off x="1469" y="3841"/>
              <a:ext cx="145" cy="157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18" name="Freeform 165"/>
            <p:cNvSpPr>
              <a:spLocks/>
            </p:cNvSpPr>
            <p:nvPr/>
          </p:nvSpPr>
          <p:spPr bwMode="auto">
            <a:xfrm>
              <a:off x="814" y="3841"/>
              <a:ext cx="218" cy="157"/>
            </a:xfrm>
            <a:custGeom>
              <a:avLst/>
              <a:gdLst>
                <a:gd name="T0" fmla="*/ 0 w 170"/>
                <a:gd name="T1" fmla="*/ 21 h 122"/>
                <a:gd name="T2" fmla="*/ 0 w 170"/>
                <a:gd name="T3" fmla="*/ 0 h 122"/>
                <a:gd name="T4" fmla="*/ 218 w 170"/>
                <a:gd name="T5" fmla="*/ 0 h 122"/>
                <a:gd name="T6" fmla="*/ 218 w 170"/>
                <a:gd name="T7" fmla="*/ 157 h 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22"/>
                <a:gd name="T14" fmla="*/ 170 w 170"/>
                <a:gd name="T15" fmla="*/ 122 h 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22">
                  <a:moveTo>
                    <a:pt x="0" y="16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166"/>
            <p:cNvSpPr>
              <a:spLocks/>
            </p:cNvSpPr>
            <p:nvPr/>
          </p:nvSpPr>
          <p:spPr bwMode="auto">
            <a:xfrm>
              <a:off x="1540" y="3841"/>
              <a:ext cx="220" cy="157"/>
            </a:xfrm>
            <a:custGeom>
              <a:avLst/>
              <a:gdLst>
                <a:gd name="T0" fmla="*/ 0 w 171"/>
                <a:gd name="T1" fmla="*/ 0 h 122"/>
                <a:gd name="T2" fmla="*/ 220 w 171"/>
                <a:gd name="T3" fmla="*/ 0 h 122"/>
                <a:gd name="T4" fmla="*/ 220 w 171"/>
                <a:gd name="T5" fmla="*/ 157 h 122"/>
                <a:gd name="T6" fmla="*/ 0 60000 65536"/>
                <a:gd name="T7" fmla="*/ 0 60000 65536"/>
                <a:gd name="T8" fmla="*/ 0 60000 65536"/>
                <a:gd name="T9" fmla="*/ 0 w 171"/>
                <a:gd name="T10" fmla="*/ 0 h 122"/>
                <a:gd name="T11" fmla="*/ 171 w 171"/>
                <a:gd name="T12" fmla="*/ 122 h 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" h="122">
                  <a:moveTo>
                    <a:pt x="0" y="0"/>
                  </a:moveTo>
                  <a:lnTo>
                    <a:pt x="171" y="0"/>
                  </a:lnTo>
                  <a:lnTo>
                    <a:pt x="171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167"/>
            <p:cNvSpPr>
              <a:spLocks/>
            </p:cNvSpPr>
            <p:nvPr/>
          </p:nvSpPr>
          <p:spPr bwMode="auto">
            <a:xfrm>
              <a:off x="923" y="3841"/>
              <a:ext cx="254" cy="157"/>
            </a:xfrm>
            <a:custGeom>
              <a:avLst/>
              <a:gdLst>
                <a:gd name="T0" fmla="*/ 0 w 198"/>
                <a:gd name="T1" fmla="*/ 0 h 122"/>
                <a:gd name="T2" fmla="*/ 254 w 198"/>
                <a:gd name="T3" fmla="*/ 0 h 122"/>
                <a:gd name="T4" fmla="*/ 254 w 198"/>
                <a:gd name="T5" fmla="*/ 157 h 122"/>
                <a:gd name="T6" fmla="*/ 0 60000 65536"/>
                <a:gd name="T7" fmla="*/ 0 60000 65536"/>
                <a:gd name="T8" fmla="*/ 0 60000 65536"/>
                <a:gd name="T9" fmla="*/ 0 w 198"/>
                <a:gd name="T10" fmla="*/ 0 h 122"/>
                <a:gd name="T11" fmla="*/ 198 w 198"/>
                <a:gd name="T12" fmla="*/ 122 h 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8" h="122">
                  <a:moveTo>
                    <a:pt x="0" y="0"/>
                  </a:moveTo>
                  <a:lnTo>
                    <a:pt x="198" y="0"/>
                  </a:lnTo>
                  <a:lnTo>
                    <a:pt x="198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Rectangle 168"/>
            <p:cNvSpPr>
              <a:spLocks noChangeArrowheads="1"/>
            </p:cNvSpPr>
            <p:nvPr/>
          </p:nvSpPr>
          <p:spPr bwMode="auto">
            <a:xfrm>
              <a:off x="3360" y="3841"/>
              <a:ext cx="145" cy="157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22" name="Rectangle 169"/>
            <p:cNvSpPr>
              <a:spLocks noChangeArrowheads="1"/>
            </p:cNvSpPr>
            <p:nvPr/>
          </p:nvSpPr>
          <p:spPr bwMode="auto">
            <a:xfrm>
              <a:off x="2196" y="3827"/>
              <a:ext cx="145" cy="171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23" name="Rectangle 170"/>
            <p:cNvSpPr>
              <a:spLocks noChangeArrowheads="1"/>
            </p:cNvSpPr>
            <p:nvPr/>
          </p:nvSpPr>
          <p:spPr bwMode="auto">
            <a:xfrm>
              <a:off x="3796" y="3821"/>
              <a:ext cx="145" cy="177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24" name="Freeform 171"/>
            <p:cNvSpPr>
              <a:spLocks/>
            </p:cNvSpPr>
            <p:nvPr/>
          </p:nvSpPr>
          <p:spPr bwMode="auto">
            <a:xfrm>
              <a:off x="3868" y="3821"/>
              <a:ext cx="219" cy="177"/>
            </a:xfrm>
            <a:custGeom>
              <a:avLst/>
              <a:gdLst>
                <a:gd name="T0" fmla="*/ 0 w 171"/>
                <a:gd name="T1" fmla="*/ 0 h 138"/>
                <a:gd name="T2" fmla="*/ 219 w 171"/>
                <a:gd name="T3" fmla="*/ 0 h 138"/>
                <a:gd name="T4" fmla="*/ 219 w 171"/>
                <a:gd name="T5" fmla="*/ 177 h 138"/>
                <a:gd name="T6" fmla="*/ 0 60000 65536"/>
                <a:gd name="T7" fmla="*/ 0 60000 65536"/>
                <a:gd name="T8" fmla="*/ 0 60000 65536"/>
                <a:gd name="T9" fmla="*/ 0 w 171"/>
                <a:gd name="T10" fmla="*/ 0 h 138"/>
                <a:gd name="T11" fmla="*/ 171 w 171"/>
                <a:gd name="T12" fmla="*/ 138 h 1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" h="138">
                  <a:moveTo>
                    <a:pt x="0" y="0"/>
                  </a:moveTo>
                  <a:lnTo>
                    <a:pt x="171" y="0"/>
                  </a:lnTo>
                  <a:lnTo>
                    <a:pt x="171" y="13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Freeform 172"/>
            <p:cNvSpPr>
              <a:spLocks/>
            </p:cNvSpPr>
            <p:nvPr/>
          </p:nvSpPr>
          <p:spPr bwMode="auto">
            <a:xfrm>
              <a:off x="3214" y="3813"/>
              <a:ext cx="218" cy="185"/>
            </a:xfrm>
            <a:custGeom>
              <a:avLst/>
              <a:gdLst>
                <a:gd name="T0" fmla="*/ 0 w 170"/>
                <a:gd name="T1" fmla="*/ 185 h 144"/>
                <a:gd name="T2" fmla="*/ 0 w 170"/>
                <a:gd name="T3" fmla="*/ 0 h 144"/>
                <a:gd name="T4" fmla="*/ 218 w 170"/>
                <a:gd name="T5" fmla="*/ 0 h 144"/>
                <a:gd name="T6" fmla="*/ 218 w 170"/>
                <a:gd name="T7" fmla="*/ 28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44"/>
                <a:gd name="T14" fmla="*/ 170 w 170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44">
                  <a:moveTo>
                    <a:pt x="0" y="144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Freeform 173"/>
            <p:cNvSpPr>
              <a:spLocks/>
            </p:cNvSpPr>
            <p:nvPr/>
          </p:nvSpPr>
          <p:spPr bwMode="auto">
            <a:xfrm>
              <a:off x="1046" y="3813"/>
              <a:ext cx="276" cy="185"/>
            </a:xfrm>
            <a:custGeom>
              <a:avLst/>
              <a:gdLst>
                <a:gd name="T0" fmla="*/ 0 w 215"/>
                <a:gd name="T1" fmla="*/ 28 h 144"/>
                <a:gd name="T2" fmla="*/ 0 w 215"/>
                <a:gd name="T3" fmla="*/ 0 h 144"/>
                <a:gd name="T4" fmla="*/ 276 w 215"/>
                <a:gd name="T5" fmla="*/ 0 h 144"/>
                <a:gd name="T6" fmla="*/ 276 w 215"/>
                <a:gd name="T7" fmla="*/ 185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5"/>
                <a:gd name="T13" fmla="*/ 0 h 144"/>
                <a:gd name="T14" fmla="*/ 215 w 215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5" h="144">
                  <a:moveTo>
                    <a:pt x="0" y="22"/>
                  </a:moveTo>
                  <a:lnTo>
                    <a:pt x="0" y="0"/>
                  </a:lnTo>
                  <a:lnTo>
                    <a:pt x="215" y="0"/>
                  </a:lnTo>
                  <a:lnTo>
                    <a:pt x="215" y="14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Freeform 174"/>
            <p:cNvSpPr>
              <a:spLocks/>
            </p:cNvSpPr>
            <p:nvPr/>
          </p:nvSpPr>
          <p:spPr bwMode="auto">
            <a:xfrm>
              <a:off x="2995" y="3800"/>
              <a:ext cx="328" cy="54"/>
            </a:xfrm>
            <a:custGeom>
              <a:avLst/>
              <a:gdLst>
                <a:gd name="T0" fmla="*/ 0 w 255"/>
                <a:gd name="T1" fmla="*/ 54 h 42"/>
                <a:gd name="T2" fmla="*/ 0 w 255"/>
                <a:gd name="T3" fmla="*/ 0 h 42"/>
                <a:gd name="T4" fmla="*/ 328 w 255"/>
                <a:gd name="T5" fmla="*/ 0 h 42"/>
                <a:gd name="T6" fmla="*/ 328 w 255"/>
                <a:gd name="T7" fmla="*/ 13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5"/>
                <a:gd name="T13" fmla="*/ 0 h 42"/>
                <a:gd name="T14" fmla="*/ 255 w 255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5" h="42">
                  <a:moveTo>
                    <a:pt x="0" y="42"/>
                  </a:moveTo>
                  <a:lnTo>
                    <a:pt x="0" y="0"/>
                  </a:lnTo>
                  <a:lnTo>
                    <a:pt x="255" y="0"/>
                  </a:lnTo>
                  <a:lnTo>
                    <a:pt x="255" y="1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Freeform 175"/>
            <p:cNvSpPr>
              <a:spLocks/>
            </p:cNvSpPr>
            <p:nvPr/>
          </p:nvSpPr>
          <p:spPr bwMode="auto">
            <a:xfrm>
              <a:off x="1651" y="3792"/>
              <a:ext cx="254" cy="206"/>
            </a:xfrm>
            <a:custGeom>
              <a:avLst/>
              <a:gdLst>
                <a:gd name="T0" fmla="*/ 0 w 198"/>
                <a:gd name="T1" fmla="*/ 49 h 160"/>
                <a:gd name="T2" fmla="*/ 0 w 198"/>
                <a:gd name="T3" fmla="*/ 0 h 160"/>
                <a:gd name="T4" fmla="*/ 254 w 198"/>
                <a:gd name="T5" fmla="*/ 0 h 160"/>
                <a:gd name="T6" fmla="*/ 254 w 198"/>
                <a:gd name="T7" fmla="*/ 206 h 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60"/>
                <a:gd name="T14" fmla="*/ 198 w 198"/>
                <a:gd name="T15" fmla="*/ 160 h 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60">
                  <a:moveTo>
                    <a:pt x="0" y="38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6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Freeform 176"/>
            <p:cNvSpPr>
              <a:spLocks/>
            </p:cNvSpPr>
            <p:nvPr/>
          </p:nvSpPr>
          <p:spPr bwMode="auto">
            <a:xfrm>
              <a:off x="3978" y="3786"/>
              <a:ext cx="254" cy="212"/>
            </a:xfrm>
            <a:custGeom>
              <a:avLst/>
              <a:gdLst>
                <a:gd name="T0" fmla="*/ 0 w 198"/>
                <a:gd name="T1" fmla="*/ 35 h 165"/>
                <a:gd name="T2" fmla="*/ 0 w 198"/>
                <a:gd name="T3" fmla="*/ 0 h 165"/>
                <a:gd name="T4" fmla="*/ 254 w 198"/>
                <a:gd name="T5" fmla="*/ 0 h 165"/>
                <a:gd name="T6" fmla="*/ 254 w 198"/>
                <a:gd name="T7" fmla="*/ 212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65"/>
                <a:gd name="T14" fmla="*/ 198 w 198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65">
                  <a:moveTo>
                    <a:pt x="0" y="27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6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Freeform 177"/>
            <p:cNvSpPr>
              <a:spLocks/>
            </p:cNvSpPr>
            <p:nvPr/>
          </p:nvSpPr>
          <p:spPr bwMode="auto">
            <a:xfrm>
              <a:off x="3156" y="3786"/>
              <a:ext cx="494" cy="212"/>
            </a:xfrm>
            <a:custGeom>
              <a:avLst/>
              <a:gdLst>
                <a:gd name="T0" fmla="*/ 0 w 385"/>
                <a:gd name="T1" fmla="*/ 14 h 165"/>
                <a:gd name="T2" fmla="*/ 0 w 385"/>
                <a:gd name="T3" fmla="*/ 0 h 165"/>
                <a:gd name="T4" fmla="*/ 494 w 385"/>
                <a:gd name="T5" fmla="*/ 0 h 165"/>
                <a:gd name="T6" fmla="*/ 494 w 385"/>
                <a:gd name="T7" fmla="*/ 212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5"/>
                <a:gd name="T13" fmla="*/ 0 h 165"/>
                <a:gd name="T14" fmla="*/ 385 w 385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5" h="165">
                  <a:moveTo>
                    <a:pt x="0" y="11"/>
                  </a:moveTo>
                  <a:lnTo>
                    <a:pt x="0" y="0"/>
                  </a:lnTo>
                  <a:lnTo>
                    <a:pt x="385" y="0"/>
                  </a:lnTo>
                  <a:lnTo>
                    <a:pt x="385" y="16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Rectangle 178"/>
            <p:cNvSpPr>
              <a:spLocks noChangeArrowheads="1"/>
            </p:cNvSpPr>
            <p:nvPr/>
          </p:nvSpPr>
          <p:spPr bwMode="auto">
            <a:xfrm>
              <a:off x="3404" y="3773"/>
              <a:ext cx="698" cy="13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2" name="Rectangle 179"/>
            <p:cNvSpPr>
              <a:spLocks noChangeArrowheads="1"/>
            </p:cNvSpPr>
            <p:nvPr/>
          </p:nvSpPr>
          <p:spPr bwMode="auto">
            <a:xfrm>
              <a:off x="4377" y="3773"/>
              <a:ext cx="147" cy="225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3" name="Freeform 180"/>
            <p:cNvSpPr>
              <a:spLocks/>
            </p:cNvSpPr>
            <p:nvPr/>
          </p:nvSpPr>
          <p:spPr bwMode="auto">
            <a:xfrm>
              <a:off x="1185" y="3773"/>
              <a:ext cx="589" cy="40"/>
            </a:xfrm>
            <a:custGeom>
              <a:avLst/>
              <a:gdLst>
                <a:gd name="T0" fmla="*/ 0 w 459"/>
                <a:gd name="T1" fmla="*/ 40 h 31"/>
                <a:gd name="T2" fmla="*/ 0 w 459"/>
                <a:gd name="T3" fmla="*/ 0 h 31"/>
                <a:gd name="T4" fmla="*/ 589 w 459"/>
                <a:gd name="T5" fmla="*/ 0 h 31"/>
                <a:gd name="T6" fmla="*/ 589 w 459"/>
                <a:gd name="T7" fmla="*/ 19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9"/>
                <a:gd name="T13" fmla="*/ 0 h 31"/>
                <a:gd name="T14" fmla="*/ 459 w 459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9" h="31">
                  <a:moveTo>
                    <a:pt x="0" y="31"/>
                  </a:moveTo>
                  <a:lnTo>
                    <a:pt x="0" y="0"/>
                  </a:lnTo>
                  <a:lnTo>
                    <a:pt x="459" y="0"/>
                  </a:lnTo>
                  <a:lnTo>
                    <a:pt x="459" y="1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Rectangle 181"/>
            <p:cNvSpPr>
              <a:spLocks noChangeArrowheads="1"/>
            </p:cNvSpPr>
            <p:nvPr/>
          </p:nvSpPr>
          <p:spPr bwMode="auto">
            <a:xfrm>
              <a:off x="3753" y="3753"/>
              <a:ext cx="698" cy="2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5" name="Freeform 182"/>
            <p:cNvSpPr>
              <a:spLocks/>
            </p:cNvSpPr>
            <p:nvPr/>
          </p:nvSpPr>
          <p:spPr bwMode="auto">
            <a:xfrm>
              <a:off x="2050" y="3704"/>
              <a:ext cx="218" cy="294"/>
            </a:xfrm>
            <a:custGeom>
              <a:avLst/>
              <a:gdLst>
                <a:gd name="T0" fmla="*/ 0 w 170"/>
                <a:gd name="T1" fmla="*/ 294 h 229"/>
                <a:gd name="T2" fmla="*/ 0 w 170"/>
                <a:gd name="T3" fmla="*/ 0 h 229"/>
                <a:gd name="T4" fmla="*/ 218 w 170"/>
                <a:gd name="T5" fmla="*/ 0 h 229"/>
                <a:gd name="T6" fmla="*/ 218 w 170"/>
                <a:gd name="T7" fmla="*/ 123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229"/>
                <a:gd name="T14" fmla="*/ 170 w 170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229">
                  <a:moveTo>
                    <a:pt x="0" y="229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9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183"/>
            <p:cNvSpPr>
              <a:spLocks/>
            </p:cNvSpPr>
            <p:nvPr/>
          </p:nvSpPr>
          <p:spPr bwMode="auto">
            <a:xfrm>
              <a:off x="1475" y="3704"/>
              <a:ext cx="684" cy="69"/>
            </a:xfrm>
            <a:custGeom>
              <a:avLst/>
              <a:gdLst>
                <a:gd name="T0" fmla="*/ 0 w 533"/>
                <a:gd name="T1" fmla="*/ 69 h 54"/>
                <a:gd name="T2" fmla="*/ 0 w 533"/>
                <a:gd name="T3" fmla="*/ 0 h 54"/>
                <a:gd name="T4" fmla="*/ 684 w 533"/>
                <a:gd name="T5" fmla="*/ 0 h 54"/>
                <a:gd name="T6" fmla="*/ 0 60000 65536"/>
                <a:gd name="T7" fmla="*/ 0 60000 65536"/>
                <a:gd name="T8" fmla="*/ 0 60000 65536"/>
                <a:gd name="T9" fmla="*/ 0 w 533"/>
                <a:gd name="T10" fmla="*/ 0 h 54"/>
                <a:gd name="T11" fmla="*/ 533 w 533"/>
                <a:gd name="T12" fmla="*/ 54 h 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3" h="54">
                  <a:moveTo>
                    <a:pt x="0" y="54"/>
                  </a:moveTo>
                  <a:lnTo>
                    <a:pt x="0" y="0"/>
                  </a:lnTo>
                  <a:lnTo>
                    <a:pt x="533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184"/>
            <p:cNvSpPr>
              <a:spLocks/>
            </p:cNvSpPr>
            <p:nvPr/>
          </p:nvSpPr>
          <p:spPr bwMode="auto">
            <a:xfrm>
              <a:off x="1818" y="3656"/>
              <a:ext cx="668" cy="342"/>
            </a:xfrm>
            <a:custGeom>
              <a:avLst/>
              <a:gdLst>
                <a:gd name="T0" fmla="*/ 0 w 521"/>
                <a:gd name="T1" fmla="*/ 48 h 266"/>
                <a:gd name="T2" fmla="*/ 0 w 521"/>
                <a:gd name="T3" fmla="*/ 0 h 266"/>
                <a:gd name="T4" fmla="*/ 668 w 521"/>
                <a:gd name="T5" fmla="*/ 0 h 266"/>
                <a:gd name="T6" fmla="*/ 668 w 521"/>
                <a:gd name="T7" fmla="*/ 342 h 2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1"/>
                <a:gd name="T13" fmla="*/ 0 h 266"/>
                <a:gd name="T14" fmla="*/ 521 w 521"/>
                <a:gd name="T15" fmla="*/ 266 h 2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1" h="266">
                  <a:moveTo>
                    <a:pt x="0" y="37"/>
                  </a:moveTo>
                  <a:lnTo>
                    <a:pt x="0" y="0"/>
                  </a:lnTo>
                  <a:lnTo>
                    <a:pt x="521" y="0"/>
                  </a:lnTo>
                  <a:lnTo>
                    <a:pt x="521" y="26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185"/>
            <p:cNvSpPr>
              <a:spLocks/>
            </p:cNvSpPr>
            <p:nvPr/>
          </p:nvSpPr>
          <p:spPr bwMode="auto">
            <a:xfrm>
              <a:off x="4102" y="3582"/>
              <a:ext cx="567" cy="416"/>
            </a:xfrm>
            <a:custGeom>
              <a:avLst/>
              <a:gdLst>
                <a:gd name="T0" fmla="*/ 0 w 442"/>
                <a:gd name="T1" fmla="*/ 171 h 324"/>
                <a:gd name="T2" fmla="*/ 0 w 442"/>
                <a:gd name="T3" fmla="*/ 0 h 324"/>
                <a:gd name="T4" fmla="*/ 567 w 442"/>
                <a:gd name="T5" fmla="*/ 0 h 324"/>
                <a:gd name="T6" fmla="*/ 567 w 442"/>
                <a:gd name="T7" fmla="*/ 416 h 3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2"/>
                <a:gd name="T13" fmla="*/ 0 h 324"/>
                <a:gd name="T14" fmla="*/ 442 w 442"/>
                <a:gd name="T15" fmla="*/ 324 h 3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2" h="324">
                  <a:moveTo>
                    <a:pt x="0" y="133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32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186"/>
            <p:cNvSpPr>
              <a:spLocks/>
            </p:cNvSpPr>
            <p:nvPr/>
          </p:nvSpPr>
          <p:spPr bwMode="auto">
            <a:xfrm>
              <a:off x="2152" y="3506"/>
              <a:ext cx="480" cy="492"/>
            </a:xfrm>
            <a:custGeom>
              <a:avLst/>
              <a:gdLst>
                <a:gd name="T0" fmla="*/ 0 w 374"/>
                <a:gd name="T1" fmla="*/ 150 h 383"/>
                <a:gd name="T2" fmla="*/ 0 w 374"/>
                <a:gd name="T3" fmla="*/ 0 h 383"/>
                <a:gd name="T4" fmla="*/ 480 w 374"/>
                <a:gd name="T5" fmla="*/ 0 h 383"/>
                <a:gd name="T6" fmla="*/ 480 w 374"/>
                <a:gd name="T7" fmla="*/ 492 h 3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4"/>
                <a:gd name="T13" fmla="*/ 0 h 383"/>
                <a:gd name="T14" fmla="*/ 374 w 374"/>
                <a:gd name="T15" fmla="*/ 383 h 3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4" h="383">
                  <a:moveTo>
                    <a:pt x="0" y="117"/>
                  </a:moveTo>
                  <a:lnTo>
                    <a:pt x="0" y="0"/>
                  </a:lnTo>
                  <a:lnTo>
                    <a:pt x="374" y="0"/>
                  </a:lnTo>
                  <a:lnTo>
                    <a:pt x="374" y="38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Freeform 187"/>
            <p:cNvSpPr>
              <a:spLocks/>
            </p:cNvSpPr>
            <p:nvPr/>
          </p:nvSpPr>
          <p:spPr bwMode="auto">
            <a:xfrm>
              <a:off x="2392" y="3377"/>
              <a:ext cx="385" cy="621"/>
            </a:xfrm>
            <a:custGeom>
              <a:avLst/>
              <a:gdLst>
                <a:gd name="T0" fmla="*/ 0 w 300"/>
                <a:gd name="T1" fmla="*/ 130 h 484"/>
                <a:gd name="T2" fmla="*/ 0 w 300"/>
                <a:gd name="T3" fmla="*/ 0 h 484"/>
                <a:gd name="T4" fmla="*/ 385 w 300"/>
                <a:gd name="T5" fmla="*/ 0 h 484"/>
                <a:gd name="T6" fmla="*/ 385 w 300"/>
                <a:gd name="T7" fmla="*/ 621 h 4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0"/>
                <a:gd name="T13" fmla="*/ 0 h 484"/>
                <a:gd name="T14" fmla="*/ 300 w 300"/>
                <a:gd name="T15" fmla="*/ 484 h 4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0" h="484">
                  <a:moveTo>
                    <a:pt x="0" y="101"/>
                  </a:moveTo>
                  <a:lnTo>
                    <a:pt x="0" y="0"/>
                  </a:lnTo>
                  <a:lnTo>
                    <a:pt x="300" y="0"/>
                  </a:lnTo>
                  <a:lnTo>
                    <a:pt x="300" y="48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188"/>
            <p:cNvSpPr>
              <a:spLocks/>
            </p:cNvSpPr>
            <p:nvPr/>
          </p:nvSpPr>
          <p:spPr bwMode="auto">
            <a:xfrm>
              <a:off x="4385" y="3315"/>
              <a:ext cx="429" cy="683"/>
            </a:xfrm>
            <a:custGeom>
              <a:avLst/>
              <a:gdLst>
                <a:gd name="T0" fmla="*/ 0 w 334"/>
                <a:gd name="T1" fmla="*/ 267 h 532"/>
                <a:gd name="T2" fmla="*/ 0 w 334"/>
                <a:gd name="T3" fmla="*/ 0 h 532"/>
                <a:gd name="T4" fmla="*/ 429 w 334"/>
                <a:gd name="T5" fmla="*/ 0 h 532"/>
                <a:gd name="T6" fmla="*/ 429 w 334"/>
                <a:gd name="T7" fmla="*/ 683 h 5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4"/>
                <a:gd name="T13" fmla="*/ 0 h 532"/>
                <a:gd name="T14" fmla="*/ 334 w 334"/>
                <a:gd name="T15" fmla="*/ 532 h 5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4" h="532">
                  <a:moveTo>
                    <a:pt x="0" y="208"/>
                  </a:moveTo>
                  <a:lnTo>
                    <a:pt x="0" y="0"/>
                  </a:lnTo>
                  <a:lnTo>
                    <a:pt x="334" y="0"/>
                  </a:lnTo>
                  <a:lnTo>
                    <a:pt x="334" y="53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189"/>
            <p:cNvSpPr>
              <a:spLocks/>
            </p:cNvSpPr>
            <p:nvPr/>
          </p:nvSpPr>
          <p:spPr bwMode="auto">
            <a:xfrm>
              <a:off x="2581" y="1809"/>
              <a:ext cx="2015" cy="1568"/>
            </a:xfrm>
            <a:custGeom>
              <a:avLst/>
              <a:gdLst>
                <a:gd name="T0" fmla="*/ 2015 w 1570"/>
                <a:gd name="T1" fmla="*/ 1506 h 1222"/>
                <a:gd name="T2" fmla="*/ 2015 w 1570"/>
                <a:gd name="T3" fmla="*/ 0 h 1222"/>
                <a:gd name="T4" fmla="*/ 0 w 1570"/>
                <a:gd name="T5" fmla="*/ 0 h 1222"/>
                <a:gd name="T6" fmla="*/ 0 w 1570"/>
                <a:gd name="T7" fmla="*/ 1568 h 12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0"/>
                <a:gd name="T13" fmla="*/ 0 h 1222"/>
                <a:gd name="T14" fmla="*/ 1570 w 1570"/>
                <a:gd name="T15" fmla="*/ 1222 h 12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0" h="1222">
                  <a:moveTo>
                    <a:pt x="1570" y="1174"/>
                  </a:moveTo>
                  <a:lnTo>
                    <a:pt x="1570" y="0"/>
                  </a:lnTo>
                  <a:lnTo>
                    <a:pt x="0" y="0"/>
                  </a:lnTo>
                  <a:lnTo>
                    <a:pt x="0" y="12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190"/>
            <p:cNvSpPr>
              <a:spLocks/>
            </p:cNvSpPr>
            <p:nvPr/>
          </p:nvSpPr>
          <p:spPr bwMode="auto">
            <a:xfrm>
              <a:off x="3592" y="1338"/>
              <a:ext cx="1368" cy="2660"/>
            </a:xfrm>
            <a:custGeom>
              <a:avLst/>
              <a:gdLst>
                <a:gd name="T0" fmla="*/ 0 w 1066"/>
                <a:gd name="T1" fmla="*/ 471 h 2073"/>
                <a:gd name="T2" fmla="*/ 0 w 1066"/>
                <a:gd name="T3" fmla="*/ 0 h 2073"/>
                <a:gd name="T4" fmla="*/ 1368 w 1066"/>
                <a:gd name="T5" fmla="*/ 0 h 2073"/>
                <a:gd name="T6" fmla="*/ 1368 w 1066"/>
                <a:gd name="T7" fmla="*/ 2660 h 207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6"/>
                <a:gd name="T13" fmla="*/ 0 h 2073"/>
                <a:gd name="T14" fmla="*/ 1066 w 1066"/>
                <a:gd name="T15" fmla="*/ 2073 h 207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6" h="2073">
                  <a:moveTo>
                    <a:pt x="0" y="367"/>
                  </a:moveTo>
                  <a:lnTo>
                    <a:pt x="0" y="0"/>
                  </a:lnTo>
                  <a:lnTo>
                    <a:pt x="1066" y="0"/>
                  </a:lnTo>
                  <a:lnTo>
                    <a:pt x="1066" y="207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Line 191"/>
            <p:cNvSpPr>
              <a:spLocks noChangeShapeType="1"/>
            </p:cNvSpPr>
            <p:nvPr/>
          </p:nvSpPr>
          <p:spPr bwMode="auto">
            <a:xfrm>
              <a:off x="717" y="4008"/>
              <a:ext cx="4288" cy="0"/>
            </a:xfrm>
            <a:prstGeom prst="line">
              <a:avLst/>
            </a:prstGeom>
            <a:noFill/>
            <a:ln w="603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08" name="Text Box 192"/>
          <p:cNvSpPr txBox="1">
            <a:spLocks noChangeArrowheads="1"/>
          </p:cNvSpPr>
          <p:nvPr/>
        </p:nvSpPr>
        <p:spPr bwMode="auto">
          <a:xfrm>
            <a:off x="850900" y="5489575"/>
            <a:ext cx="1046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Outlier</a:t>
            </a:r>
          </a:p>
        </p:txBody>
      </p:sp>
      <p:sp>
        <p:nvSpPr>
          <p:cNvPr id="203969" name="Text Box 193"/>
          <p:cNvSpPr txBox="1">
            <a:spLocks noChangeArrowheads="1"/>
          </p:cNvSpPr>
          <p:nvPr/>
        </p:nvSpPr>
        <p:spPr bwMode="auto">
          <a:xfrm>
            <a:off x="174625" y="742950"/>
            <a:ext cx="8648700" cy="52228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One potential use of a dendrogram: detecting outliers</a:t>
            </a:r>
          </a:p>
        </p:txBody>
      </p:sp>
      <p:sp>
        <p:nvSpPr>
          <p:cNvPr id="21510" name="Text Box 194"/>
          <p:cNvSpPr txBox="1">
            <a:spLocks noChangeArrowheads="1"/>
          </p:cNvSpPr>
          <p:nvPr/>
        </p:nvSpPr>
        <p:spPr bwMode="auto">
          <a:xfrm>
            <a:off x="368300" y="1423988"/>
            <a:ext cx="608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/>
              <a:t>The single isolated branch is suggestive of a data point that is very different to all others</a:t>
            </a:r>
          </a:p>
        </p:txBody>
      </p:sp>
      <p:sp>
        <p:nvSpPr>
          <p:cNvPr id="21511" name="Line 195"/>
          <p:cNvSpPr>
            <a:spLocks noChangeShapeType="1"/>
          </p:cNvSpPr>
          <p:nvPr/>
        </p:nvSpPr>
        <p:spPr bwMode="auto">
          <a:xfrm>
            <a:off x="6122988" y="1778000"/>
            <a:ext cx="685800" cy="6096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Line 196"/>
          <p:cNvSpPr>
            <a:spLocks noChangeShapeType="1"/>
          </p:cNvSpPr>
          <p:nvPr/>
        </p:nvSpPr>
        <p:spPr bwMode="auto">
          <a:xfrm flipV="1">
            <a:off x="1949450" y="5227638"/>
            <a:ext cx="647700" cy="457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TextBox 196"/>
          <p:cNvSpPr txBox="1">
            <a:spLocks noChangeArrowheads="1"/>
          </p:cNvSpPr>
          <p:nvPr/>
        </p:nvSpPr>
        <p:spPr bwMode="auto">
          <a:xfrm>
            <a:off x="4776788" y="31591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028761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15400" cy="1143000"/>
          </a:xfrm>
        </p:spPr>
        <p:txBody>
          <a:bodyPr/>
          <a:lstStyle/>
          <a:p>
            <a:r>
              <a:rPr lang="en-US" altLang="en-US"/>
              <a:t>Hierarchical Clustering</a:t>
            </a:r>
          </a:p>
        </p:txBody>
      </p:sp>
      <p:grpSp>
        <p:nvGrpSpPr>
          <p:cNvPr id="22531" name="Group 1027"/>
          <p:cNvGrpSpPr>
            <a:grpSpLocks/>
          </p:cNvGrpSpPr>
          <p:nvPr/>
        </p:nvGrpSpPr>
        <p:grpSpPr bwMode="auto">
          <a:xfrm>
            <a:off x="565150" y="4041775"/>
            <a:ext cx="3587750" cy="2549525"/>
            <a:chOff x="98" y="300"/>
            <a:chExt cx="3214" cy="2284"/>
          </a:xfrm>
        </p:grpSpPr>
        <p:pic>
          <p:nvPicPr>
            <p:cNvPr id="22535" name="Picture 1028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" y="1440"/>
              <a:ext cx="504" cy="1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6" name="Picture 102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824"/>
              <a:ext cx="308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7" name="Picture 1030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78"/>
              <a:ext cx="424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538" name="Group 1031"/>
            <p:cNvGrpSpPr>
              <a:grpSpLocks/>
            </p:cNvGrpSpPr>
            <p:nvPr/>
          </p:nvGrpSpPr>
          <p:grpSpPr bwMode="auto">
            <a:xfrm>
              <a:off x="1865" y="1505"/>
              <a:ext cx="1447" cy="1031"/>
              <a:chOff x="252" y="2364"/>
              <a:chExt cx="2258" cy="1608"/>
            </a:xfrm>
          </p:grpSpPr>
          <p:pic>
            <p:nvPicPr>
              <p:cNvPr id="22553" name="Picture 103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554" name="Picture 1033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2539" name="Line 1034"/>
            <p:cNvSpPr>
              <a:spLocks noChangeShapeType="1"/>
            </p:cNvSpPr>
            <p:nvPr/>
          </p:nvSpPr>
          <p:spPr bwMode="auto">
            <a:xfrm flipH="1" flipV="1">
              <a:off x="255" y="444"/>
              <a:ext cx="0" cy="90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Line 1035"/>
            <p:cNvSpPr>
              <a:spLocks noChangeShapeType="1"/>
            </p:cNvSpPr>
            <p:nvPr/>
          </p:nvSpPr>
          <p:spPr bwMode="auto">
            <a:xfrm flipH="1" flipV="1">
              <a:off x="2919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Line 1036"/>
            <p:cNvSpPr>
              <a:spLocks noChangeShapeType="1"/>
            </p:cNvSpPr>
            <p:nvPr/>
          </p:nvSpPr>
          <p:spPr bwMode="auto">
            <a:xfrm flipH="1" flipV="1">
              <a:off x="2227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Line 1037"/>
            <p:cNvSpPr>
              <a:spLocks noChangeShapeType="1"/>
            </p:cNvSpPr>
            <p:nvPr/>
          </p:nvSpPr>
          <p:spPr bwMode="auto">
            <a:xfrm flipH="1">
              <a:off x="2221" y="1167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Line 1038"/>
            <p:cNvSpPr>
              <a:spLocks noChangeShapeType="1"/>
            </p:cNvSpPr>
            <p:nvPr/>
          </p:nvSpPr>
          <p:spPr bwMode="auto">
            <a:xfrm flipH="1">
              <a:off x="1193" y="710"/>
              <a:ext cx="1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Line 1039"/>
            <p:cNvSpPr>
              <a:spLocks noChangeShapeType="1"/>
            </p:cNvSpPr>
            <p:nvPr/>
          </p:nvSpPr>
          <p:spPr bwMode="auto">
            <a:xfrm rot="5400000" flipH="1">
              <a:off x="2343" y="943"/>
              <a:ext cx="45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Line 1040"/>
            <p:cNvSpPr>
              <a:spLocks noChangeShapeType="1"/>
            </p:cNvSpPr>
            <p:nvPr/>
          </p:nvSpPr>
          <p:spPr bwMode="auto">
            <a:xfrm rot="5400000" flipH="1">
              <a:off x="1712" y="574"/>
              <a:ext cx="26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546" name="Group 1041"/>
            <p:cNvGrpSpPr>
              <a:grpSpLocks/>
            </p:cNvGrpSpPr>
            <p:nvPr/>
          </p:nvGrpSpPr>
          <p:grpSpPr bwMode="auto">
            <a:xfrm>
              <a:off x="859" y="969"/>
              <a:ext cx="703" cy="377"/>
              <a:chOff x="2112" y="2976"/>
              <a:chExt cx="703" cy="377"/>
            </a:xfrm>
          </p:grpSpPr>
          <p:sp>
            <p:nvSpPr>
              <p:cNvPr id="22550" name="Line 1042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51" name="Line 1043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52" name="Line 1044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547" name="Line 1045"/>
            <p:cNvSpPr>
              <a:spLocks noChangeShapeType="1"/>
            </p:cNvSpPr>
            <p:nvPr/>
          </p:nvSpPr>
          <p:spPr bwMode="auto">
            <a:xfrm rot="5400000" flipH="1">
              <a:off x="1065" y="844"/>
              <a:ext cx="25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Line 1046"/>
            <p:cNvSpPr>
              <a:spLocks noChangeShapeType="1"/>
            </p:cNvSpPr>
            <p:nvPr/>
          </p:nvSpPr>
          <p:spPr bwMode="auto">
            <a:xfrm flipH="1">
              <a:off x="253" y="446"/>
              <a:ext cx="158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Line 1047"/>
            <p:cNvSpPr>
              <a:spLocks noChangeShapeType="1"/>
            </p:cNvSpPr>
            <p:nvPr/>
          </p:nvSpPr>
          <p:spPr bwMode="auto">
            <a:xfrm rot="5400000" flipH="1">
              <a:off x="989" y="370"/>
              <a:ext cx="13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2" name="Text Box 1048"/>
          <p:cNvSpPr txBox="1">
            <a:spLocks noChangeArrowheads="1"/>
          </p:cNvSpPr>
          <p:nvPr/>
        </p:nvSpPr>
        <p:spPr bwMode="auto">
          <a:xfrm>
            <a:off x="201613" y="1303338"/>
            <a:ext cx="3851275" cy="283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latin typeface="Times" pitchFamily="-111" charset="0"/>
              </a:rPr>
              <a:t>The number of dendrograms with </a:t>
            </a:r>
            <a:r>
              <a:rPr lang="en-US" altLang="en-US" sz="1800" i="1">
                <a:latin typeface="Times" pitchFamily="-111" charset="0"/>
              </a:rPr>
              <a:t>n</a:t>
            </a:r>
            <a:r>
              <a:rPr lang="en-US" altLang="en-US" sz="1800">
                <a:latin typeface="Times" pitchFamily="-111" charset="0"/>
              </a:rPr>
              <a:t> leafs  = (2</a:t>
            </a:r>
            <a:r>
              <a:rPr lang="en-US" altLang="en-US" sz="1800" i="1">
                <a:latin typeface="Times" pitchFamily="-111" charset="0"/>
              </a:rPr>
              <a:t>n</a:t>
            </a:r>
            <a:r>
              <a:rPr lang="en-US" altLang="en-US" sz="1800">
                <a:latin typeface="Times" pitchFamily="-111" charset="0"/>
              </a:rPr>
              <a:t> -3)!/[(2</a:t>
            </a:r>
            <a:r>
              <a:rPr lang="en-US" altLang="en-US" sz="1800" baseline="30000">
                <a:latin typeface="Times" pitchFamily="-111" charset="0"/>
              </a:rPr>
              <a:t>(</a:t>
            </a:r>
            <a:r>
              <a:rPr lang="en-US" altLang="en-US" sz="1800" i="1" baseline="30000">
                <a:latin typeface="Times" pitchFamily="-111" charset="0"/>
              </a:rPr>
              <a:t>n </a:t>
            </a:r>
            <a:r>
              <a:rPr lang="en-US" altLang="en-US" sz="1800" baseline="30000">
                <a:latin typeface="Times" pitchFamily="-111" charset="0"/>
              </a:rPr>
              <a:t>-2)</a:t>
            </a:r>
            <a:r>
              <a:rPr lang="en-US" altLang="en-US" sz="1800">
                <a:latin typeface="Times" pitchFamily="-111" charset="0"/>
              </a:rPr>
              <a:t>) (</a:t>
            </a:r>
            <a:r>
              <a:rPr lang="en-US" altLang="en-US" sz="1800" i="1">
                <a:latin typeface="Times" pitchFamily="-111" charset="0"/>
              </a:rPr>
              <a:t>n </a:t>
            </a:r>
            <a:r>
              <a:rPr lang="en-US" altLang="en-US" sz="1800">
                <a:latin typeface="Times" pitchFamily="-111" charset="0"/>
              </a:rPr>
              <a:t>-2)!]</a:t>
            </a:r>
          </a:p>
          <a:p>
            <a:endParaRPr lang="en-US" altLang="en-US" sz="1800">
              <a:latin typeface="Times" pitchFamily="-111" charset="0"/>
            </a:endParaRPr>
          </a:p>
          <a:p>
            <a:r>
              <a:rPr lang="en-US" altLang="en-US" sz="1400">
                <a:latin typeface="Times" pitchFamily="-111" charset="0"/>
              </a:rPr>
              <a:t>Number 	Number of Possible</a:t>
            </a:r>
          </a:p>
          <a:p>
            <a:r>
              <a:rPr lang="en-US" altLang="en-US" sz="1400">
                <a:latin typeface="Times" pitchFamily="-111" charset="0"/>
              </a:rPr>
              <a:t>of Leafs	Dendrograms </a:t>
            </a:r>
          </a:p>
          <a:p>
            <a:r>
              <a:rPr lang="en-US" altLang="en-US" sz="1400">
                <a:latin typeface="Times" pitchFamily="-111" charset="0"/>
              </a:rPr>
              <a:t>2		1</a:t>
            </a:r>
          </a:p>
          <a:p>
            <a:r>
              <a:rPr lang="en-US" altLang="en-US" sz="1400">
                <a:latin typeface="Times" pitchFamily="-111" charset="0"/>
              </a:rPr>
              <a:t>3		3</a:t>
            </a:r>
          </a:p>
          <a:p>
            <a:r>
              <a:rPr lang="en-US" altLang="en-US" sz="1400">
                <a:latin typeface="Times" pitchFamily="-111" charset="0"/>
              </a:rPr>
              <a:t>4		15</a:t>
            </a:r>
          </a:p>
          <a:p>
            <a:r>
              <a:rPr lang="en-US" altLang="en-US" sz="1400">
                <a:latin typeface="Times" pitchFamily="-111" charset="0"/>
              </a:rPr>
              <a:t>5		105</a:t>
            </a:r>
          </a:p>
          <a:p>
            <a:r>
              <a:rPr lang="en-US" altLang="en-US" sz="1400">
                <a:latin typeface="Times" pitchFamily="-111" charset="0"/>
              </a:rPr>
              <a:t>...		…</a:t>
            </a:r>
          </a:p>
          <a:p>
            <a:pPr>
              <a:buFontTx/>
              <a:buAutoNum type="arabicPlain" startAt="10"/>
            </a:pPr>
            <a:r>
              <a:rPr lang="en-US" altLang="en-US" sz="1400">
                <a:latin typeface="Times" pitchFamily="-111" charset="0"/>
              </a:rPr>
              <a:t> 	34,459,425</a:t>
            </a:r>
          </a:p>
          <a:p>
            <a:endParaRPr lang="en-US" altLang="en-US" sz="1400">
              <a:latin typeface="Times" pitchFamily="-111" charset="0"/>
            </a:endParaRPr>
          </a:p>
        </p:txBody>
      </p:sp>
      <p:sp>
        <p:nvSpPr>
          <p:cNvPr id="22533" name="Text Box 1049"/>
          <p:cNvSpPr txBox="1">
            <a:spLocks noChangeArrowheads="1"/>
          </p:cNvSpPr>
          <p:nvPr/>
        </p:nvSpPr>
        <p:spPr bwMode="auto">
          <a:xfrm>
            <a:off x="4422775" y="1289050"/>
            <a:ext cx="4241800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/>
              <a:t>Since we cannot test all possible trees we will have to heuristic search of all possible trees. We could do this..</a:t>
            </a:r>
          </a:p>
          <a:p>
            <a:endParaRPr lang="en-US" altLang="en-US" sz="2000"/>
          </a:p>
          <a:p>
            <a:r>
              <a:rPr lang="en-US" altLang="en-US" sz="2000" b="1"/>
              <a:t>Bottom-Up (</a:t>
            </a:r>
            <a:r>
              <a:rPr lang="en-US" altLang="zh-CN" sz="2000" b="1">
                <a:ea typeface="SimSun" pitchFamily="2" charset="-122"/>
              </a:rPr>
              <a:t>agglomerative</a:t>
            </a:r>
            <a:r>
              <a:rPr lang="en-US" altLang="en-US" sz="2000" b="1"/>
              <a:t>):</a:t>
            </a:r>
            <a:r>
              <a:rPr lang="en-US" altLang="en-US" sz="2000"/>
              <a:t> Starting with each item in its own cluster, find the best pair to merge into a new cluster. Repeat until all clusters are fused together. </a:t>
            </a:r>
          </a:p>
          <a:p>
            <a:endParaRPr lang="en-US" altLang="en-US" sz="2000" b="1"/>
          </a:p>
          <a:p>
            <a:r>
              <a:rPr lang="en-US" altLang="en-US" sz="2000" b="1"/>
              <a:t>Top-Down (</a:t>
            </a:r>
            <a:r>
              <a:rPr lang="en-US" altLang="zh-CN" sz="2000" b="1">
                <a:ea typeface="SimSun" pitchFamily="2" charset="-122"/>
              </a:rPr>
              <a:t>divisive</a:t>
            </a:r>
            <a:r>
              <a:rPr lang="en-US" altLang="en-US" sz="2000" b="1"/>
              <a:t>):</a:t>
            </a:r>
            <a:r>
              <a:rPr lang="en-US" altLang="en-US" sz="2000"/>
              <a:t> Starting with all the data in a single cluster, consider every possible way to divide the cluster into two. Choose the best division and recursively operate on both sides.</a:t>
            </a:r>
          </a:p>
          <a:p>
            <a:endParaRPr lang="en-US" altLang="en-US" sz="2000"/>
          </a:p>
          <a:p>
            <a:endParaRPr lang="en-US" altLang="en-US" sz="2000"/>
          </a:p>
        </p:txBody>
      </p:sp>
      <p:sp>
        <p:nvSpPr>
          <p:cNvPr id="22534" name="TextBox 25"/>
          <p:cNvSpPr txBox="1">
            <a:spLocks noChangeArrowheads="1"/>
          </p:cNvSpPr>
          <p:nvPr/>
        </p:nvSpPr>
        <p:spPr bwMode="auto">
          <a:xfrm>
            <a:off x="4776788" y="31591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048369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791200"/>
            <a:ext cx="40957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791200"/>
            <a:ext cx="46672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556" name="Group 1028"/>
          <p:cNvGrpSpPr>
            <a:grpSpLocks/>
          </p:cNvGrpSpPr>
          <p:nvPr/>
        </p:nvGrpSpPr>
        <p:grpSpPr bwMode="auto">
          <a:xfrm>
            <a:off x="4343400" y="1979613"/>
            <a:ext cx="4343400" cy="4754562"/>
            <a:chOff x="2736" y="1247"/>
            <a:chExt cx="2736" cy="2995"/>
          </a:xfrm>
        </p:grpSpPr>
        <p:grpSp>
          <p:nvGrpSpPr>
            <p:cNvPr id="23562" name="Group 1029"/>
            <p:cNvGrpSpPr>
              <a:grpSpLocks/>
            </p:cNvGrpSpPr>
            <p:nvPr/>
          </p:nvGrpSpPr>
          <p:grpSpPr bwMode="auto">
            <a:xfrm>
              <a:off x="3312" y="2016"/>
              <a:ext cx="2160" cy="2160"/>
              <a:chOff x="1632" y="1248"/>
              <a:chExt cx="2160" cy="2160"/>
            </a:xfrm>
          </p:grpSpPr>
          <p:grpSp>
            <p:nvGrpSpPr>
              <p:cNvPr id="23573" name="Group 1030"/>
              <p:cNvGrpSpPr>
                <a:grpSpLocks/>
              </p:cNvGrpSpPr>
              <p:nvPr/>
            </p:nvGrpSpPr>
            <p:grpSpPr bwMode="auto">
              <a:xfrm>
                <a:off x="1632" y="1248"/>
                <a:ext cx="432" cy="432"/>
                <a:chOff x="1776" y="1920"/>
                <a:chExt cx="432" cy="432"/>
              </a:xfrm>
            </p:grpSpPr>
            <p:sp>
              <p:nvSpPr>
                <p:cNvPr id="23646" name="Rectangle 1031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47" name="Text Box 1032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</p:grpSp>
          <p:grpSp>
            <p:nvGrpSpPr>
              <p:cNvPr id="23574" name="Group 1033"/>
              <p:cNvGrpSpPr>
                <a:grpSpLocks/>
              </p:cNvGrpSpPr>
              <p:nvPr/>
            </p:nvGrpSpPr>
            <p:grpSpPr bwMode="auto">
              <a:xfrm>
                <a:off x="2064" y="1248"/>
                <a:ext cx="432" cy="432"/>
                <a:chOff x="1776" y="1920"/>
                <a:chExt cx="432" cy="432"/>
              </a:xfrm>
            </p:grpSpPr>
            <p:sp>
              <p:nvSpPr>
                <p:cNvPr id="23644" name="Rectangle 1034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45" name="Text Box 1035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8</a:t>
                  </a:r>
                </a:p>
              </p:txBody>
            </p:sp>
          </p:grpSp>
          <p:grpSp>
            <p:nvGrpSpPr>
              <p:cNvPr id="23575" name="Group 1036"/>
              <p:cNvGrpSpPr>
                <a:grpSpLocks/>
              </p:cNvGrpSpPr>
              <p:nvPr/>
            </p:nvGrpSpPr>
            <p:grpSpPr bwMode="auto">
              <a:xfrm>
                <a:off x="2496" y="1248"/>
                <a:ext cx="432" cy="432"/>
                <a:chOff x="1776" y="1920"/>
                <a:chExt cx="432" cy="432"/>
              </a:xfrm>
            </p:grpSpPr>
            <p:sp>
              <p:nvSpPr>
                <p:cNvPr id="23642" name="Rectangle 1037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43" name="Text Box 1038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8</a:t>
                  </a:r>
                </a:p>
              </p:txBody>
            </p:sp>
          </p:grpSp>
          <p:grpSp>
            <p:nvGrpSpPr>
              <p:cNvPr id="23576" name="Group 1039"/>
              <p:cNvGrpSpPr>
                <a:grpSpLocks/>
              </p:cNvGrpSpPr>
              <p:nvPr/>
            </p:nvGrpSpPr>
            <p:grpSpPr bwMode="auto">
              <a:xfrm>
                <a:off x="2928" y="1248"/>
                <a:ext cx="432" cy="432"/>
                <a:chOff x="1776" y="1920"/>
                <a:chExt cx="432" cy="432"/>
              </a:xfrm>
            </p:grpSpPr>
            <p:sp>
              <p:nvSpPr>
                <p:cNvPr id="23640" name="Rectangle 1040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41" name="Text Box 1041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7</a:t>
                  </a:r>
                </a:p>
              </p:txBody>
            </p:sp>
          </p:grpSp>
          <p:grpSp>
            <p:nvGrpSpPr>
              <p:cNvPr id="23577" name="Group 1042"/>
              <p:cNvGrpSpPr>
                <a:grpSpLocks/>
              </p:cNvGrpSpPr>
              <p:nvPr/>
            </p:nvGrpSpPr>
            <p:grpSpPr bwMode="auto">
              <a:xfrm>
                <a:off x="3360" y="1248"/>
                <a:ext cx="432" cy="432"/>
                <a:chOff x="1776" y="1920"/>
                <a:chExt cx="432" cy="432"/>
              </a:xfrm>
            </p:grpSpPr>
            <p:sp>
              <p:nvSpPr>
                <p:cNvPr id="23638" name="Rectangle 1043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39" name="Text Box 1044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7</a:t>
                  </a:r>
                </a:p>
              </p:txBody>
            </p:sp>
          </p:grpSp>
          <p:grpSp>
            <p:nvGrpSpPr>
              <p:cNvPr id="23578" name="Group 1045"/>
              <p:cNvGrpSpPr>
                <a:grpSpLocks/>
              </p:cNvGrpSpPr>
              <p:nvPr/>
            </p:nvGrpSpPr>
            <p:grpSpPr bwMode="auto">
              <a:xfrm>
                <a:off x="1632" y="1680"/>
                <a:ext cx="432" cy="432"/>
                <a:chOff x="1776" y="1920"/>
                <a:chExt cx="432" cy="432"/>
              </a:xfrm>
            </p:grpSpPr>
            <p:sp>
              <p:nvSpPr>
                <p:cNvPr id="23636" name="Rectangle 1046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37" name="Text Box 1047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79" name="Group 1048"/>
              <p:cNvGrpSpPr>
                <a:grpSpLocks/>
              </p:cNvGrpSpPr>
              <p:nvPr/>
            </p:nvGrpSpPr>
            <p:grpSpPr bwMode="auto">
              <a:xfrm>
                <a:off x="2064" y="1680"/>
                <a:ext cx="432" cy="432"/>
                <a:chOff x="1776" y="1920"/>
                <a:chExt cx="432" cy="432"/>
              </a:xfrm>
            </p:grpSpPr>
            <p:sp>
              <p:nvSpPr>
                <p:cNvPr id="23634" name="Rectangle 1049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35" name="Text Box 1050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</p:grpSp>
          <p:grpSp>
            <p:nvGrpSpPr>
              <p:cNvPr id="23580" name="Group 1051"/>
              <p:cNvGrpSpPr>
                <a:grpSpLocks/>
              </p:cNvGrpSpPr>
              <p:nvPr/>
            </p:nvGrpSpPr>
            <p:grpSpPr bwMode="auto">
              <a:xfrm>
                <a:off x="2496" y="1680"/>
                <a:ext cx="432" cy="432"/>
                <a:chOff x="1776" y="1920"/>
                <a:chExt cx="432" cy="432"/>
              </a:xfrm>
            </p:grpSpPr>
            <p:sp>
              <p:nvSpPr>
                <p:cNvPr id="23632" name="Rectangle 1052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33" name="Text Box 1053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2</a:t>
                  </a:r>
                </a:p>
              </p:txBody>
            </p:sp>
          </p:grpSp>
          <p:grpSp>
            <p:nvGrpSpPr>
              <p:cNvPr id="23581" name="Group 1054"/>
              <p:cNvGrpSpPr>
                <a:grpSpLocks/>
              </p:cNvGrpSpPr>
              <p:nvPr/>
            </p:nvGrpSpPr>
            <p:grpSpPr bwMode="auto">
              <a:xfrm>
                <a:off x="2928" y="1680"/>
                <a:ext cx="432" cy="432"/>
                <a:chOff x="1776" y="1920"/>
                <a:chExt cx="432" cy="432"/>
              </a:xfrm>
            </p:grpSpPr>
            <p:sp>
              <p:nvSpPr>
                <p:cNvPr id="23630" name="Rectangle 1055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31" name="Text Box 1056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4</a:t>
                  </a:r>
                </a:p>
              </p:txBody>
            </p:sp>
          </p:grpSp>
          <p:grpSp>
            <p:nvGrpSpPr>
              <p:cNvPr id="23582" name="Group 1057"/>
              <p:cNvGrpSpPr>
                <a:grpSpLocks/>
              </p:cNvGrpSpPr>
              <p:nvPr/>
            </p:nvGrpSpPr>
            <p:grpSpPr bwMode="auto">
              <a:xfrm>
                <a:off x="3360" y="1680"/>
                <a:ext cx="432" cy="432"/>
                <a:chOff x="1776" y="1920"/>
                <a:chExt cx="432" cy="432"/>
              </a:xfrm>
            </p:grpSpPr>
            <p:sp>
              <p:nvSpPr>
                <p:cNvPr id="23628" name="Rectangle 1058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29" name="Text Box 1059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4</a:t>
                  </a:r>
                </a:p>
              </p:txBody>
            </p:sp>
          </p:grpSp>
          <p:grpSp>
            <p:nvGrpSpPr>
              <p:cNvPr id="23583" name="Group 1060"/>
              <p:cNvGrpSpPr>
                <a:grpSpLocks/>
              </p:cNvGrpSpPr>
              <p:nvPr/>
            </p:nvGrpSpPr>
            <p:grpSpPr bwMode="auto">
              <a:xfrm>
                <a:off x="1632" y="2112"/>
                <a:ext cx="432" cy="432"/>
                <a:chOff x="1776" y="1920"/>
                <a:chExt cx="432" cy="432"/>
              </a:xfrm>
            </p:grpSpPr>
            <p:sp>
              <p:nvSpPr>
                <p:cNvPr id="23626" name="Rectangle 1061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27" name="Text Box 1062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84" name="Group 1063"/>
              <p:cNvGrpSpPr>
                <a:grpSpLocks/>
              </p:cNvGrpSpPr>
              <p:nvPr/>
            </p:nvGrpSpPr>
            <p:grpSpPr bwMode="auto">
              <a:xfrm>
                <a:off x="2064" y="2112"/>
                <a:ext cx="432" cy="432"/>
                <a:chOff x="1776" y="1920"/>
                <a:chExt cx="432" cy="432"/>
              </a:xfrm>
            </p:grpSpPr>
            <p:sp>
              <p:nvSpPr>
                <p:cNvPr id="23624" name="Rectangle 1064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25" name="Text Box 1065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85" name="Group 1066"/>
              <p:cNvGrpSpPr>
                <a:grpSpLocks/>
              </p:cNvGrpSpPr>
              <p:nvPr/>
            </p:nvGrpSpPr>
            <p:grpSpPr bwMode="auto">
              <a:xfrm>
                <a:off x="2496" y="2112"/>
                <a:ext cx="432" cy="432"/>
                <a:chOff x="1776" y="1920"/>
                <a:chExt cx="432" cy="432"/>
              </a:xfrm>
            </p:grpSpPr>
            <p:sp>
              <p:nvSpPr>
                <p:cNvPr id="23622" name="Rectangle 1067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23" name="Text Box 1068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</p:grpSp>
          <p:grpSp>
            <p:nvGrpSpPr>
              <p:cNvPr id="23586" name="Group 1069"/>
              <p:cNvGrpSpPr>
                <a:grpSpLocks/>
              </p:cNvGrpSpPr>
              <p:nvPr/>
            </p:nvGrpSpPr>
            <p:grpSpPr bwMode="auto">
              <a:xfrm>
                <a:off x="2928" y="2112"/>
                <a:ext cx="432" cy="432"/>
                <a:chOff x="1776" y="1920"/>
                <a:chExt cx="432" cy="432"/>
              </a:xfrm>
            </p:grpSpPr>
            <p:sp>
              <p:nvSpPr>
                <p:cNvPr id="23620" name="Rectangle 1070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21" name="Text Box 1071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3</a:t>
                  </a:r>
                </a:p>
              </p:txBody>
            </p:sp>
          </p:grpSp>
          <p:grpSp>
            <p:nvGrpSpPr>
              <p:cNvPr id="23587" name="Group 1072"/>
              <p:cNvGrpSpPr>
                <a:grpSpLocks/>
              </p:cNvGrpSpPr>
              <p:nvPr/>
            </p:nvGrpSpPr>
            <p:grpSpPr bwMode="auto">
              <a:xfrm>
                <a:off x="3360" y="2112"/>
                <a:ext cx="432" cy="432"/>
                <a:chOff x="1776" y="1920"/>
                <a:chExt cx="432" cy="432"/>
              </a:xfrm>
            </p:grpSpPr>
            <p:sp>
              <p:nvSpPr>
                <p:cNvPr id="23618" name="Rectangle 1073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19" name="Text Box 1074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3</a:t>
                  </a:r>
                </a:p>
              </p:txBody>
            </p:sp>
          </p:grpSp>
          <p:grpSp>
            <p:nvGrpSpPr>
              <p:cNvPr id="23588" name="Group 1075"/>
              <p:cNvGrpSpPr>
                <a:grpSpLocks/>
              </p:cNvGrpSpPr>
              <p:nvPr/>
            </p:nvGrpSpPr>
            <p:grpSpPr bwMode="auto">
              <a:xfrm>
                <a:off x="1632" y="2544"/>
                <a:ext cx="432" cy="432"/>
                <a:chOff x="1776" y="1920"/>
                <a:chExt cx="432" cy="432"/>
              </a:xfrm>
            </p:grpSpPr>
            <p:sp>
              <p:nvSpPr>
                <p:cNvPr id="23616" name="Rectangle 1076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17" name="Text Box 1077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89" name="Group 1078"/>
              <p:cNvGrpSpPr>
                <a:grpSpLocks/>
              </p:cNvGrpSpPr>
              <p:nvPr/>
            </p:nvGrpSpPr>
            <p:grpSpPr bwMode="auto">
              <a:xfrm>
                <a:off x="2064" y="2544"/>
                <a:ext cx="432" cy="432"/>
                <a:chOff x="1776" y="1920"/>
                <a:chExt cx="432" cy="432"/>
              </a:xfrm>
            </p:grpSpPr>
            <p:sp>
              <p:nvSpPr>
                <p:cNvPr id="23614" name="Rectangle 1079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15" name="Text Box 1080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90" name="Group 1081"/>
              <p:cNvGrpSpPr>
                <a:grpSpLocks/>
              </p:cNvGrpSpPr>
              <p:nvPr/>
            </p:nvGrpSpPr>
            <p:grpSpPr bwMode="auto">
              <a:xfrm>
                <a:off x="2496" y="2544"/>
                <a:ext cx="432" cy="432"/>
                <a:chOff x="1776" y="1920"/>
                <a:chExt cx="432" cy="432"/>
              </a:xfrm>
            </p:grpSpPr>
            <p:sp>
              <p:nvSpPr>
                <p:cNvPr id="23612" name="Rectangle 1082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13" name="Text Box 1083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91" name="Group 1084"/>
              <p:cNvGrpSpPr>
                <a:grpSpLocks/>
              </p:cNvGrpSpPr>
              <p:nvPr/>
            </p:nvGrpSpPr>
            <p:grpSpPr bwMode="auto">
              <a:xfrm>
                <a:off x="2928" y="2544"/>
                <a:ext cx="432" cy="432"/>
                <a:chOff x="1776" y="1920"/>
                <a:chExt cx="432" cy="432"/>
              </a:xfrm>
            </p:grpSpPr>
            <p:sp>
              <p:nvSpPr>
                <p:cNvPr id="23610" name="Rectangle 1085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11" name="Text Box 1086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</p:grpSp>
          <p:grpSp>
            <p:nvGrpSpPr>
              <p:cNvPr id="23592" name="Group 1087"/>
              <p:cNvGrpSpPr>
                <a:grpSpLocks/>
              </p:cNvGrpSpPr>
              <p:nvPr/>
            </p:nvGrpSpPr>
            <p:grpSpPr bwMode="auto">
              <a:xfrm>
                <a:off x="3360" y="2544"/>
                <a:ext cx="432" cy="432"/>
                <a:chOff x="1776" y="1920"/>
                <a:chExt cx="432" cy="432"/>
              </a:xfrm>
            </p:grpSpPr>
            <p:sp>
              <p:nvSpPr>
                <p:cNvPr id="23608" name="Rectangle 1088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09" name="Text Box 1089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  <p:grpSp>
            <p:nvGrpSpPr>
              <p:cNvPr id="23593" name="Group 1090"/>
              <p:cNvGrpSpPr>
                <a:grpSpLocks/>
              </p:cNvGrpSpPr>
              <p:nvPr/>
            </p:nvGrpSpPr>
            <p:grpSpPr bwMode="auto">
              <a:xfrm>
                <a:off x="1632" y="2976"/>
                <a:ext cx="432" cy="432"/>
                <a:chOff x="1776" y="1920"/>
                <a:chExt cx="432" cy="432"/>
              </a:xfrm>
            </p:grpSpPr>
            <p:sp>
              <p:nvSpPr>
                <p:cNvPr id="23606" name="Rectangle 1091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07" name="Text Box 1092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94" name="Group 1093"/>
              <p:cNvGrpSpPr>
                <a:grpSpLocks/>
              </p:cNvGrpSpPr>
              <p:nvPr/>
            </p:nvGrpSpPr>
            <p:grpSpPr bwMode="auto">
              <a:xfrm>
                <a:off x="2064" y="2976"/>
                <a:ext cx="432" cy="432"/>
                <a:chOff x="1776" y="1920"/>
                <a:chExt cx="432" cy="432"/>
              </a:xfrm>
            </p:grpSpPr>
            <p:sp>
              <p:nvSpPr>
                <p:cNvPr id="23604" name="Rectangle 1094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05" name="Text Box 1095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95" name="Group 1096"/>
              <p:cNvGrpSpPr>
                <a:grpSpLocks/>
              </p:cNvGrpSpPr>
              <p:nvPr/>
            </p:nvGrpSpPr>
            <p:grpSpPr bwMode="auto">
              <a:xfrm>
                <a:off x="2496" y="2976"/>
                <a:ext cx="432" cy="432"/>
                <a:chOff x="1776" y="1920"/>
                <a:chExt cx="432" cy="432"/>
              </a:xfrm>
            </p:grpSpPr>
            <p:sp>
              <p:nvSpPr>
                <p:cNvPr id="23602" name="Rectangle 1097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03" name="Text Box 1098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96" name="Group 1099"/>
              <p:cNvGrpSpPr>
                <a:grpSpLocks/>
              </p:cNvGrpSpPr>
              <p:nvPr/>
            </p:nvGrpSpPr>
            <p:grpSpPr bwMode="auto">
              <a:xfrm>
                <a:off x="2928" y="2976"/>
                <a:ext cx="432" cy="432"/>
                <a:chOff x="1776" y="1920"/>
                <a:chExt cx="432" cy="432"/>
              </a:xfrm>
            </p:grpSpPr>
            <p:sp>
              <p:nvSpPr>
                <p:cNvPr id="23600" name="Rectangle 1100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601" name="Text Box 1101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/>
                </a:p>
              </p:txBody>
            </p:sp>
          </p:grpSp>
          <p:grpSp>
            <p:nvGrpSpPr>
              <p:cNvPr id="23597" name="Group 1102"/>
              <p:cNvGrpSpPr>
                <a:grpSpLocks/>
              </p:cNvGrpSpPr>
              <p:nvPr/>
            </p:nvGrpSpPr>
            <p:grpSpPr bwMode="auto">
              <a:xfrm>
                <a:off x="3360" y="2976"/>
                <a:ext cx="432" cy="432"/>
                <a:chOff x="1776" y="1920"/>
                <a:chExt cx="432" cy="432"/>
              </a:xfrm>
            </p:grpSpPr>
            <p:sp>
              <p:nvSpPr>
                <p:cNvPr id="23598" name="Rectangle 1103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599" name="Text Box 1104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</p:grpSp>
        </p:grpSp>
        <p:pic>
          <p:nvPicPr>
            <p:cNvPr id="23563" name="Picture 1105" descr="Edna Krabappe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1360"/>
              <a:ext cx="280" cy="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4" name="Picture 110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" y="1592"/>
              <a:ext cx="171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5" name="Picture 110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247"/>
              <a:ext cx="236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6" name="Picture 110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3" y="1425"/>
              <a:ext cx="32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7" name="Picture 110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1440"/>
              <a:ext cx="41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8" name="Picture 1110" descr="Edna Krabappe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968"/>
              <a:ext cx="280" cy="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9" name="Picture 111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2" y="2496"/>
              <a:ext cx="171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0" name="Picture 1112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2736"/>
              <a:ext cx="236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1" name="Picture 11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3696"/>
              <a:ext cx="294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2" name="Picture 11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3264"/>
              <a:ext cx="258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57" name="Text Box 1115"/>
          <p:cNvSpPr txBox="1">
            <a:spLocks noChangeArrowheads="1"/>
          </p:cNvSpPr>
          <p:nvPr/>
        </p:nvSpPr>
        <p:spPr bwMode="auto">
          <a:xfrm>
            <a:off x="304800" y="4648200"/>
            <a:ext cx="30670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5400"/>
              <a:t>D(  ,  ) = 8</a:t>
            </a:r>
          </a:p>
          <a:p>
            <a:pPr>
              <a:spcBef>
                <a:spcPct val="25000"/>
              </a:spcBef>
            </a:pPr>
            <a:r>
              <a:rPr lang="en-US" altLang="en-US" sz="5400"/>
              <a:t>D(  ,  ) = 1</a:t>
            </a:r>
          </a:p>
        </p:txBody>
      </p:sp>
      <p:pic>
        <p:nvPicPr>
          <p:cNvPr id="23558" name="Picture 1116" descr="Edna Krabappe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48200"/>
            <a:ext cx="44450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11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876800"/>
            <a:ext cx="271463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Text Box 1118"/>
          <p:cNvSpPr txBox="1">
            <a:spLocks noChangeArrowheads="1"/>
          </p:cNvSpPr>
          <p:nvPr/>
        </p:nvSpPr>
        <p:spPr bwMode="auto">
          <a:xfrm>
            <a:off x="304800" y="1419225"/>
            <a:ext cx="39782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We begin with a distance matrix which contains the distances between every pair of objects in our database.</a:t>
            </a:r>
          </a:p>
        </p:txBody>
      </p:sp>
      <p:sp>
        <p:nvSpPr>
          <p:cNvPr id="23561" name="TextBox 94"/>
          <p:cNvSpPr txBox="1">
            <a:spLocks noChangeArrowheads="1"/>
          </p:cNvSpPr>
          <p:nvPr/>
        </p:nvSpPr>
        <p:spPr bwMode="auto">
          <a:xfrm>
            <a:off x="4776788" y="31591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768103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1026"/>
          <p:cNvSpPr txBox="1">
            <a:spLocks noChangeArrowheads="1"/>
          </p:cNvSpPr>
          <p:nvPr/>
        </p:nvSpPr>
        <p:spPr bwMode="auto">
          <a:xfrm>
            <a:off x="133350" y="133350"/>
            <a:ext cx="4241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Bottom-Up (</a:t>
            </a:r>
            <a:r>
              <a:rPr kumimoji="1"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SimSun" pitchFamily="2" charset="-122"/>
                <a:cs typeface="SimSun" pitchFamily="2" charset="-122"/>
              </a:rPr>
              <a:t>agglomerative</a:t>
            </a:r>
            <a:r>
              <a:rPr kumimoji="1" lang="en-US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):</a:t>
            </a:r>
            <a:r>
              <a:rPr lang="en-US" sz="2000"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Starting with each item in its own cluster, find the best pair to merge into a new cluster. Repeat until all clusters are fused together. </a:t>
            </a:r>
          </a:p>
        </p:txBody>
      </p:sp>
      <p:grpSp>
        <p:nvGrpSpPr>
          <p:cNvPr id="24579" name="Group 1027"/>
          <p:cNvGrpSpPr>
            <a:grpSpLocks/>
          </p:cNvGrpSpPr>
          <p:nvPr/>
        </p:nvGrpSpPr>
        <p:grpSpPr bwMode="auto">
          <a:xfrm>
            <a:off x="8116888" y="5689600"/>
            <a:ext cx="1027112" cy="973138"/>
            <a:chOff x="1267" y="3584"/>
            <a:chExt cx="647" cy="613"/>
          </a:xfrm>
        </p:grpSpPr>
        <p:grpSp>
          <p:nvGrpSpPr>
            <p:cNvPr id="24614" name="Group 1028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4618" name="Picture 102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619" name="Picture 103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4615" name="Line 1031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Line 1032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Line 1033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0" name="Group 1034"/>
          <p:cNvGrpSpPr>
            <a:grpSpLocks/>
          </p:cNvGrpSpPr>
          <p:nvPr/>
        </p:nvGrpSpPr>
        <p:grpSpPr bwMode="auto">
          <a:xfrm>
            <a:off x="2182813" y="5770563"/>
            <a:ext cx="1027112" cy="973137"/>
            <a:chOff x="1165" y="3566"/>
            <a:chExt cx="647" cy="613"/>
          </a:xfrm>
        </p:grpSpPr>
        <p:grpSp>
          <p:nvGrpSpPr>
            <p:cNvPr id="24607" name="Group 1035"/>
            <p:cNvGrpSpPr>
              <a:grpSpLocks/>
            </p:cNvGrpSpPr>
            <p:nvPr/>
          </p:nvGrpSpPr>
          <p:grpSpPr bwMode="auto">
            <a:xfrm>
              <a:off x="1165" y="3717"/>
              <a:ext cx="647" cy="462"/>
              <a:chOff x="252" y="2364"/>
              <a:chExt cx="2258" cy="1608"/>
            </a:xfrm>
          </p:grpSpPr>
          <p:pic>
            <p:nvPicPr>
              <p:cNvPr id="24612" name="Picture 1036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613" name="Picture 1037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4608" name="Group 1038"/>
            <p:cNvGrpSpPr>
              <a:grpSpLocks/>
            </p:cNvGrpSpPr>
            <p:nvPr/>
          </p:nvGrpSpPr>
          <p:grpSpPr bwMode="auto">
            <a:xfrm>
              <a:off x="1324" y="3566"/>
              <a:ext cx="314" cy="83"/>
              <a:chOff x="1324" y="3566"/>
              <a:chExt cx="314" cy="83"/>
            </a:xfrm>
          </p:grpSpPr>
          <p:sp>
            <p:nvSpPr>
              <p:cNvPr id="24609" name="Line 1039"/>
              <p:cNvSpPr>
                <a:spLocks noChangeShapeType="1"/>
              </p:cNvSpPr>
              <p:nvPr/>
            </p:nvSpPr>
            <p:spPr bwMode="auto">
              <a:xfrm flipH="1" flipV="1">
                <a:off x="1636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0" name="Line 1040"/>
              <p:cNvSpPr>
                <a:spLocks noChangeShapeType="1"/>
              </p:cNvSpPr>
              <p:nvPr/>
            </p:nvSpPr>
            <p:spPr bwMode="auto">
              <a:xfrm flipH="1" flipV="1">
                <a:off x="1327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1" name="Line 1041"/>
              <p:cNvSpPr>
                <a:spLocks noChangeShapeType="1"/>
              </p:cNvSpPr>
              <p:nvPr/>
            </p:nvSpPr>
            <p:spPr bwMode="auto">
              <a:xfrm flipH="1">
                <a:off x="1324" y="3566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4581" name="Group 1042"/>
          <p:cNvGrpSpPr>
            <a:grpSpLocks/>
          </p:cNvGrpSpPr>
          <p:nvPr/>
        </p:nvGrpSpPr>
        <p:grpSpPr bwMode="auto">
          <a:xfrm>
            <a:off x="3294063" y="5527675"/>
            <a:ext cx="760412" cy="1216025"/>
            <a:chOff x="2072" y="3380"/>
            <a:chExt cx="479" cy="802"/>
          </a:xfrm>
        </p:grpSpPr>
        <p:pic>
          <p:nvPicPr>
            <p:cNvPr id="24601" name="Picture 1043" descr="Edna Krabappe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2" name="Picture 1044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4603" name="Group 1045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4604" name="Line 1046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5" name="Line 1047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6" name="Line 1048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4582" name="Group 1049"/>
          <p:cNvGrpSpPr>
            <a:grpSpLocks/>
          </p:cNvGrpSpPr>
          <p:nvPr/>
        </p:nvGrpSpPr>
        <p:grpSpPr bwMode="auto">
          <a:xfrm>
            <a:off x="1293813" y="5491163"/>
            <a:ext cx="776287" cy="1252537"/>
            <a:chOff x="2663" y="3356"/>
            <a:chExt cx="489" cy="789"/>
          </a:xfrm>
        </p:grpSpPr>
        <p:pic>
          <p:nvPicPr>
            <p:cNvPr id="24595" name="Picture 105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800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6" name="Picture 105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" y="3707"/>
              <a:ext cx="33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4597" name="Group 1052"/>
            <p:cNvGrpSpPr>
              <a:grpSpLocks/>
            </p:cNvGrpSpPr>
            <p:nvPr/>
          </p:nvGrpSpPr>
          <p:grpSpPr bwMode="auto">
            <a:xfrm>
              <a:off x="2758" y="3356"/>
              <a:ext cx="314" cy="209"/>
              <a:chOff x="2170" y="3380"/>
              <a:chExt cx="314" cy="185"/>
            </a:xfrm>
          </p:grpSpPr>
          <p:sp>
            <p:nvSpPr>
              <p:cNvPr id="24598" name="Line 105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9" name="Line 105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0" name="Line 105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4583" name="Group 1056"/>
          <p:cNvGrpSpPr>
            <a:grpSpLocks/>
          </p:cNvGrpSpPr>
          <p:nvPr/>
        </p:nvGrpSpPr>
        <p:grpSpPr bwMode="auto">
          <a:xfrm>
            <a:off x="4586288" y="5518150"/>
            <a:ext cx="815975" cy="1206500"/>
            <a:chOff x="2889" y="3476"/>
            <a:chExt cx="514" cy="760"/>
          </a:xfrm>
        </p:grpSpPr>
        <p:pic>
          <p:nvPicPr>
            <p:cNvPr id="24589" name="Picture 105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" y="3691"/>
              <a:ext cx="19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0" name="Picture 105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" y="3751"/>
              <a:ext cx="25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4591" name="Group 1059"/>
            <p:cNvGrpSpPr>
              <a:grpSpLocks/>
            </p:cNvGrpSpPr>
            <p:nvPr/>
          </p:nvGrpSpPr>
          <p:grpSpPr bwMode="auto">
            <a:xfrm>
              <a:off x="3010" y="3476"/>
              <a:ext cx="314" cy="195"/>
              <a:chOff x="2170" y="3380"/>
              <a:chExt cx="314" cy="185"/>
            </a:xfrm>
          </p:grpSpPr>
          <p:sp>
            <p:nvSpPr>
              <p:cNvPr id="24592" name="Line 1060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3" name="Line 1061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4" name="Line 1062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4584" name="Text Box 1063"/>
          <p:cNvSpPr txBox="1">
            <a:spLocks noChangeArrowheads="1"/>
          </p:cNvSpPr>
          <p:nvPr/>
        </p:nvSpPr>
        <p:spPr bwMode="auto">
          <a:xfrm>
            <a:off x="4117975" y="5946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/>
              <a:t>…</a:t>
            </a:r>
          </a:p>
        </p:txBody>
      </p:sp>
      <p:sp>
        <p:nvSpPr>
          <p:cNvPr id="24585" name="Text Box 1064"/>
          <p:cNvSpPr txBox="1">
            <a:spLocks noChangeArrowheads="1"/>
          </p:cNvSpPr>
          <p:nvPr/>
        </p:nvSpPr>
        <p:spPr bwMode="auto">
          <a:xfrm>
            <a:off x="0" y="5661025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Consider all possible merges…</a:t>
            </a:r>
          </a:p>
        </p:txBody>
      </p:sp>
      <p:sp>
        <p:nvSpPr>
          <p:cNvPr id="24586" name="Text Box 1065"/>
          <p:cNvSpPr txBox="1">
            <a:spLocks noChangeArrowheads="1"/>
          </p:cNvSpPr>
          <p:nvPr/>
        </p:nvSpPr>
        <p:spPr bwMode="auto">
          <a:xfrm>
            <a:off x="5686425" y="56991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Choose the best</a:t>
            </a:r>
          </a:p>
        </p:txBody>
      </p:sp>
      <p:sp>
        <p:nvSpPr>
          <p:cNvPr id="24587" name="Rectangle 1066"/>
          <p:cNvSpPr>
            <a:spLocks noChangeArrowheads="1"/>
          </p:cNvSpPr>
          <p:nvPr/>
        </p:nvSpPr>
        <p:spPr bwMode="auto">
          <a:xfrm>
            <a:off x="0" y="5257800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4588" name="TextBox 42"/>
          <p:cNvSpPr txBox="1">
            <a:spLocks noChangeArrowheads="1"/>
          </p:cNvSpPr>
          <p:nvPr/>
        </p:nvSpPr>
        <p:spPr bwMode="auto">
          <a:xfrm>
            <a:off x="5402263" y="133350"/>
            <a:ext cx="35925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This slide and next 4 based on slides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785891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Text Box 1026"/>
          <p:cNvSpPr txBox="1">
            <a:spLocks noChangeArrowheads="1"/>
          </p:cNvSpPr>
          <p:nvPr/>
        </p:nvSpPr>
        <p:spPr bwMode="auto">
          <a:xfrm>
            <a:off x="133350" y="133350"/>
            <a:ext cx="4241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Bottom-Up (</a:t>
            </a:r>
            <a:r>
              <a:rPr kumimoji="1"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SimSun" pitchFamily="2" charset="-122"/>
                <a:cs typeface="SimSun" pitchFamily="2" charset="-122"/>
              </a:rPr>
              <a:t>agglomerative</a:t>
            </a:r>
            <a:r>
              <a:rPr kumimoji="1" lang="en-US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):</a:t>
            </a:r>
            <a:r>
              <a:rPr lang="en-US" sz="2000"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Starting with each item in its own cluster, find the best pair to merge into a new cluster. Repeat until all clusters are fused together. </a:t>
            </a:r>
          </a:p>
        </p:txBody>
      </p:sp>
      <p:grpSp>
        <p:nvGrpSpPr>
          <p:cNvPr id="25603" name="Group 1027"/>
          <p:cNvGrpSpPr>
            <a:grpSpLocks/>
          </p:cNvGrpSpPr>
          <p:nvPr/>
        </p:nvGrpSpPr>
        <p:grpSpPr bwMode="auto">
          <a:xfrm>
            <a:off x="8116888" y="5689600"/>
            <a:ext cx="1027112" cy="973138"/>
            <a:chOff x="1267" y="3584"/>
            <a:chExt cx="647" cy="613"/>
          </a:xfrm>
        </p:grpSpPr>
        <p:grpSp>
          <p:nvGrpSpPr>
            <p:cNvPr id="25678" name="Group 1028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5682" name="Picture 102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83" name="Picture 103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5679" name="Line 1031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0" name="Line 1032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1" name="Line 1033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4" name="Group 1034"/>
          <p:cNvGrpSpPr>
            <a:grpSpLocks/>
          </p:cNvGrpSpPr>
          <p:nvPr/>
        </p:nvGrpSpPr>
        <p:grpSpPr bwMode="auto">
          <a:xfrm>
            <a:off x="8078788" y="4465638"/>
            <a:ext cx="1027112" cy="733425"/>
            <a:chOff x="252" y="2364"/>
            <a:chExt cx="2258" cy="1608"/>
          </a:xfrm>
        </p:grpSpPr>
        <p:pic>
          <p:nvPicPr>
            <p:cNvPr id="25676" name="Picture 103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" y="2364"/>
              <a:ext cx="900" cy="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7" name="Picture 10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2412"/>
              <a:ext cx="1154" cy="1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605" name="Line 1037"/>
          <p:cNvSpPr>
            <a:spLocks noChangeShapeType="1"/>
          </p:cNvSpPr>
          <p:nvPr/>
        </p:nvSpPr>
        <p:spPr bwMode="auto">
          <a:xfrm flipH="1" flipV="1">
            <a:off x="8826500" y="4225925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6" name="Line 1038"/>
          <p:cNvSpPr>
            <a:spLocks noChangeShapeType="1"/>
          </p:cNvSpPr>
          <p:nvPr/>
        </p:nvSpPr>
        <p:spPr bwMode="auto">
          <a:xfrm flipH="1" flipV="1">
            <a:off x="8335963" y="4225925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Line 1039"/>
          <p:cNvSpPr>
            <a:spLocks noChangeShapeType="1"/>
          </p:cNvSpPr>
          <p:nvPr/>
        </p:nvSpPr>
        <p:spPr bwMode="auto">
          <a:xfrm flipH="1">
            <a:off x="8331200" y="4225925"/>
            <a:ext cx="498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608" name="Group 1040"/>
          <p:cNvGrpSpPr>
            <a:grpSpLocks/>
          </p:cNvGrpSpPr>
          <p:nvPr/>
        </p:nvGrpSpPr>
        <p:grpSpPr bwMode="auto">
          <a:xfrm>
            <a:off x="7299325" y="4084638"/>
            <a:ext cx="608013" cy="1147762"/>
            <a:chOff x="4598" y="2573"/>
            <a:chExt cx="383" cy="723"/>
          </a:xfrm>
        </p:grpSpPr>
        <p:pic>
          <p:nvPicPr>
            <p:cNvPr id="25670" name="Picture 104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8" y="2956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1" name="Picture 1042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1" y="2712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72" name="Group 1043"/>
            <p:cNvGrpSpPr>
              <a:grpSpLocks/>
            </p:cNvGrpSpPr>
            <p:nvPr/>
          </p:nvGrpSpPr>
          <p:grpSpPr bwMode="auto">
            <a:xfrm>
              <a:off x="4638" y="2573"/>
              <a:ext cx="315" cy="169"/>
              <a:chOff x="2112" y="2976"/>
              <a:chExt cx="703" cy="377"/>
            </a:xfrm>
          </p:grpSpPr>
          <p:sp>
            <p:nvSpPr>
              <p:cNvPr id="25673" name="Line 1044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74" name="Line 1045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75" name="Line 1046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5609" name="Group 1047"/>
          <p:cNvGrpSpPr>
            <a:grpSpLocks/>
          </p:cNvGrpSpPr>
          <p:nvPr/>
        </p:nvGrpSpPr>
        <p:grpSpPr bwMode="auto">
          <a:xfrm>
            <a:off x="2182813" y="5770563"/>
            <a:ext cx="1027112" cy="973137"/>
            <a:chOff x="1165" y="3566"/>
            <a:chExt cx="647" cy="613"/>
          </a:xfrm>
        </p:grpSpPr>
        <p:grpSp>
          <p:nvGrpSpPr>
            <p:cNvPr id="25663" name="Group 1048"/>
            <p:cNvGrpSpPr>
              <a:grpSpLocks/>
            </p:cNvGrpSpPr>
            <p:nvPr/>
          </p:nvGrpSpPr>
          <p:grpSpPr bwMode="auto">
            <a:xfrm>
              <a:off x="1165" y="3717"/>
              <a:ext cx="647" cy="462"/>
              <a:chOff x="252" y="2364"/>
              <a:chExt cx="2258" cy="1608"/>
            </a:xfrm>
          </p:grpSpPr>
          <p:pic>
            <p:nvPicPr>
              <p:cNvPr id="25668" name="Picture 104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69" name="Picture 105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5664" name="Group 1051"/>
            <p:cNvGrpSpPr>
              <a:grpSpLocks/>
            </p:cNvGrpSpPr>
            <p:nvPr/>
          </p:nvGrpSpPr>
          <p:grpSpPr bwMode="auto">
            <a:xfrm>
              <a:off x="1324" y="3566"/>
              <a:ext cx="314" cy="83"/>
              <a:chOff x="1324" y="3566"/>
              <a:chExt cx="314" cy="83"/>
            </a:xfrm>
          </p:grpSpPr>
          <p:sp>
            <p:nvSpPr>
              <p:cNvPr id="25665" name="Line 1052"/>
              <p:cNvSpPr>
                <a:spLocks noChangeShapeType="1"/>
              </p:cNvSpPr>
              <p:nvPr/>
            </p:nvSpPr>
            <p:spPr bwMode="auto">
              <a:xfrm flipH="1" flipV="1">
                <a:off x="1636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66" name="Line 1053"/>
              <p:cNvSpPr>
                <a:spLocks noChangeShapeType="1"/>
              </p:cNvSpPr>
              <p:nvPr/>
            </p:nvSpPr>
            <p:spPr bwMode="auto">
              <a:xfrm flipH="1" flipV="1">
                <a:off x="1327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67" name="Line 1054"/>
              <p:cNvSpPr>
                <a:spLocks noChangeShapeType="1"/>
              </p:cNvSpPr>
              <p:nvPr/>
            </p:nvSpPr>
            <p:spPr bwMode="auto">
              <a:xfrm flipH="1">
                <a:off x="1324" y="3566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25610" name="Picture 105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4603750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1" name="Line 1056"/>
          <p:cNvSpPr>
            <a:spLocks noChangeShapeType="1"/>
          </p:cNvSpPr>
          <p:nvPr/>
        </p:nvSpPr>
        <p:spPr bwMode="auto">
          <a:xfrm flipH="1" flipV="1">
            <a:off x="1847850" y="4108450"/>
            <a:ext cx="0" cy="279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2" name="Line 1057"/>
          <p:cNvSpPr>
            <a:spLocks noChangeShapeType="1"/>
          </p:cNvSpPr>
          <p:nvPr/>
        </p:nvSpPr>
        <p:spPr bwMode="auto">
          <a:xfrm flipH="1">
            <a:off x="1836738" y="4100513"/>
            <a:ext cx="752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3" name="Line 1058"/>
          <p:cNvSpPr>
            <a:spLocks noChangeShapeType="1"/>
          </p:cNvSpPr>
          <p:nvPr/>
        </p:nvSpPr>
        <p:spPr bwMode="auto">
          <a:xfrm rot="5400000" flipH="1">
            <a:off x="2541587" y="4132263"/>
            <a:ext cx="9842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614" name="Group 1059"/>
          <p:cNvGrpSpPr>
            <a:grpSpLocks/>
          </p:cNvGrpSpPr>
          <p:nvPr/>
        </p:nvGrpSpPr>
        <p:grpSpPr bwMode="auto">
          <a:xfrm>
            <a:off x="3294063" y="5527675"/>
            <a:ext cx="760412" cy="1216025"/>
            <a:chOff x="2072" y="3380"/>
            <a:chExt cx="479" cy="802"/>
          </a:xfrm>
        </p:grpSpPr>
        <p:pic>
          <p:nvPicPr>
            <p:cNvPr id="25657" name="Picture 1060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58" name="Picture 1061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59" name="Group 1062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5660" name="Line 106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61" name="Line 106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62" name="Line 106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5615" name="Group 1066"/>
          <p:cNvGrpSpPr>
            <a:grpSpLocks/>
          </p:cNvGrpSpPr>
          <p:nvPr/>
        </p:nvGrpSpPr>
        <p:grpSpPr bwMode="auto">
          <a:xfrm>
            <a:off x="1293813" y="5491163"/>
            <a:ext cx="776287" cy="1252537"/>
            <a:chOff x="2663" y="3356"/>
            <a:chExt cx="489" cy="789"/>
          </a:xfrm>
        </p:grpSpPr>
        <p:pic>
          <p:nvPicPr>
            <p:cNvPr id="25651" name="Picture 106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800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52" name="Picture 106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" y="3707"/>
              <a:ext cx="33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53" name="Group 1069"/>
            <p:cNvGrpSpPr>
              <a:grpSpLocks/>
            </p:cNvGrpSpPr>
            <p:nvPr/>
          </p:nvGrpSpPr>
          <p:grpSpPr bwMode="auto">
            <a:xfrm>
              <a:off x="2758" y="3356"/>
              <a:ext cx="314" cy="209"/>
              <a:chOff x="2170" y="3380"/>
              <a:chExt cx="314" cy="185"/>
            </a:xfrm>
          </p:grpSpPr>
          <p:sp>
            <p:nvSpPr>
              <p:cNvPr id="25654" name="Line 1070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5" name="Line 1071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6" name="Line 1072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5616" name="Group 1073"/>
          <p:cNvGrpSpPr>
            <a:grpSpLocks/>
          </p:cNvGrpSpPr>
          <p:nvPr/>
        </p:nvGrpSpPr>
        <p:grpSpPr bwMode="auto">
          <a:xfrm>
            <a:off x="4586288" y="5518150"/>
            <a:ext cx="815975" cy="1206500"/>
            <a:chOff x="2889" y="3476"/>
            <a:chExt cx="514" cy="760"/>
          </a:xfrm>
        </p:grpSpPr>
        <p:pic>
          <p:nvPicPr>
            <p:cNvPr id="25645" name="Picture 1074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" y="3691"/>
              <a:ext cx="19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46" name="Picture 107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" y="3751"/>
              <a:ext cx="25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47" name="Group 1076"/>
            <p:cNvGrpSpPr>
              <a:grpSpLocks/>
            </p:cNvGrpSpPr>
            <p:nvPr/>
          </p:nvGrpSpPr>
          <p:grpSpPr bwMode="auto">
            <a:xfrm>
              <a:off x="3010" y="3476"/>
              <a:ext cx="314" cy="195"/>
              <a:chOff x="2170" y="3380"/>
              <a:chExt cx="314" cy="185"/>
            </a:xfrm>
          </p:grpSpPr>
          <p:sp>
            <p:nvSpPr>
              <p:cNvPr id="25648" name="Line 1077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9" name="Line 1078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0" name="Line 1079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5617" name="Text Box 1080"/>
          <p:cNvSpPr txBox="1">
            <a:spLocks noChangeArrowheads="1"/>
          </p:cNvSpPr>
          <p:nvPr/>
        </p:nvSpPr>
        <p:spPr bwMode="auto">
          <a:xfrm>
            <a:off x="4117975" y="5946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/>
              <a:t>…</a:t>
            </a:r>
          </a:p>
        </p:txBody>
      </p:sp>
      <p:sp>
        <p:nvSpPr>
          <p:cNvPr id="25618" name="Text Box 1081"/>
          <p:cNvSpPr txBox="1">
            <a:spLocks noChangeArrowheads="1"/>
          </p:cNvSpPr>
          <p:nvPr/>
        </p:nvSpPr>
        <p:spPr bwMode="auto">
          <a:xfrm>
            <a:off x="0" y="5661025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Consider all possible merges…</a:t>
            </a:r>
          </a:p>
        </p:txBody>
      </p:sp>
      <p:sp>
        <p:nvSpPr>
          <p:cNvPr id="25619" name="Text Box 1082"/>
          <p:cNvSpPr txBox="1">
            <a:spLocks noChangeArrowheads="1"/>
          </p:cNvSpPr>
          <p:nvPr/>
        </p:nvSpPr>
        <p:spPr bwMode="auto">
          <a:xfrm>
            <a:off x="5686425" y="56991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Choose the best</a:t>
            </a:r>
          </a:p>
        </p:txBody>
      </p:sp>
      <p:sp>
        <p:nvSpPr>
          <p:cNvPr id="25620" name="Rectangle 1083"/>
          <p:cNvSpPr>
            <a:spLocks noChangeArrowheads="1"/>
          </p:cNvSpPr>
          <p:nvPr/>
        </p:nvSpPr>
        <p:spPr bwMode="auto">
          <a:xfrm>
            <a:off x="0" y="5257800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21" name="Rectangle 1084"/>
          <p:cNvSpPr>
            <a:spLocks noChangeArrowheads="1"/>
          </p:cNvSpPr>
          <p:nvPr/>
        </p:nvSpPr>
        <p:spPr bwMode="auto">
          <a:xfrm>
            <a:off x="0" y="3790950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22" name="Text Box 1085"/>
          <p:cNvSpPr txBox="1">
            <a:spLocks noChangeArrowheads="1"/>
          </p:cNvSpPr>
          <p:nvPr/>
        </p:nvSpPr>
        <p:spPr bwMode="auto">
          <a:xfrm>
            <a:off x="0" y="408940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Consider all possible merges…</a:t>
            </a:r>
          </a:p>
        </p:txBody>
      </p:sp>
      <p:grpSp>
        <p:nvGrpSpPr>
          <p:cNvPr id="25623" name="Group 1086"/>
          <p:cNvGrpSpPr>
            <a:grpSpLocks/>
          </p:cNvGrpSpPr>
          <p:nvPr/>
        </p:nvGrpSpPr>
        <p:grpSpPr bwMode="auto">
          <a:xfrm>
            <a:off x="2116138" y="4184650"/>
            <a:ext cx="1027112" cy="973138"/>
            <a:chOff x="1267" y="3584"/>
            <a:chExt cx="647" cy="613"/>
          </a:xfrm>
        </p:grpSpPr>
        <p:grpSp>
          <p:nvGrpSpPr>
            <p:cNvPr id="25639" name="Group 1087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5643" name="Picture 1088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44" name="Picture 1089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5640" name="Line 1090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1" name="Line 1091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2" name="Line 1092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5624" name="Picture 109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400" y="4606925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5" name="Picture 1094" descr="C:\Documents and Settings\eamonn\Desktop\bios_family_marge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4219575"/>
            <a:ext cx="30162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26" name="Group 1095"/>
          <p:cNvGrpSpPr>
            <a:grpSpLocks/>
          </p:cNvGrpSpPr>
          <p:nvPr/>
        </p:nvGrpSpPr>
        <p:grpSpPr bwMode="auto">
          <a:xfrm>
            <a:off x="3390900" y="3998913"/>
            <a:ext cx="500063" cy="268287"/>
            <a:chOff x="2112" y="2976"/>
            <a:chExt cx="703" cy="377"/>
          </a:xfrm>
        </p:grpSpPr>
        <p:sp>
          <p:nvSpPr>
            <p:cNvPr id="25636" name="Line 1096"/>
            <p:cNvSpPr>
              <a:spLocks noChangeShapeType="1"/>
            </p:cNvSpPr>
            <p:nvPr/>
          </p:nvSpPr>
          <p:spPr bwMode="auto">
            <a:xfrm flipH="1" flipV="1">
              <a:off x="2810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7" name="Line 1097"/>
            <p:cNvSpPr>
              <a:spLocks noChangeShapeType="1"/>
            </p:cNvSpPr>
            <p:nvPr/>
          </p:nvSpPr>
          <p:spPr bwMode="auto">
            <a:xfrm flipH="1" flipV="1">
              <a:off x="2118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8" name="Line 1098"/>
            <p:cNvSpPr>
              <a:spLocks noChangeShapeType="1"/>
            </p:cNvSpPr>
            <p:nvPr/>
          </p:nvSpPr>
          <p:spPr bwMode="auto">
            <a:xfrm flipH="1">
              <a:off x="2112" y="2976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7" name="Group 1099"/>
          <p:cNvGrpSpPr>
            <a:grpSpLocks/>
          </p:cNvGrpSpPr>
          <p:nvPr/>
        </p:nvGrpSpPr>
        <p:grpSpPr bwMode="auto">
          <a:xfrm>
            <a:off x="4608513" y="3994150"/>
            <a:ext cx="760412" cy="1216025"/>
            <a:chOff x="2072" y="3380"/>
            <a:chExt cx="479" cy="802"/>
          </a:xfrm>
        </p:grpSpPr>
        <p:pic>
          <p:nvPicPr>
            <p:cNvPr id="25630" name="Picture 1100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1" name="Picture 1101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32" name="Group 1102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5633" name="Line 110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4" name="Line 110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5" name="Line 110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5628" name="Text Box 1106"/>
          <p:cNvSpPr txBox="1">
            <a:spLocks noChangeArrowheads="1"/>
          </p:cNvSpPr>
          <p:nvPr/>
        </p:nvSpPr>
        <p:spPr bwMode="auto">
          <a:xfrm>
            <a:off x="4051300" y="45180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/>
              <a:t>…</a:t>
            </a:r>
          </a:p>
        </p:txBody>
      </p:sp>
      <p:sp>
        <p:nvSpPr>
          <p:cNvPr id="25629" name="Text Box 1107"/>
          <p:cNvSpPr txBox="1">
            <a:spLocks noChangeArrowheads="1"/>
          </p:cNvSpPr>
          <p:nvPr/>
        </p:nvSpPr>
        <p:spPr bwMode="auto">
          <a:xfrm>
            <a:off x="5686425" y="4213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Choose the best</a:t>
            </a:r>
          </a:p>
        </p:txBody>
      </p:sp>
    </p:spTree>
    <p:extLst>
      <p:ext uri="{BB962C8B-B14F-4D97-AF65-F5344CB8AC3E}">
        <p14:creationId xmlns:p14="http://schemas.microsoft.com/office/powerpoint/2010/main" val="2414185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ext Box 1026"/>
          <p:cNvSpPr txBox="1">
            <a:spLocks noChangeArrowheads="1"/>
          </p:cNvSpPr>
          <p:nvPr/>
        </p:nvSpPr>
        <p:spPr bwMode="auto">
          <a:xfrm>
            <a:off x="133350" y="133350"/>
            <a:ext cx="4241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Bottom-Up (</a:t>
            </a:r>
            <a:r>
              <a:rPr kumimoji="1"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SimSun" pitchFamily="2" charset="-122"/>
                <a:cs typeface="SimSun" pitchFamily="2" charset="-122"/>
              </a:rPr>
              <a:t>agglomerative</a:t>
            </a:r>
            <a:r>
              <a:rPr kumimoji="1" lang="en-US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):</a:t>
            </a:r>
            <a:r>
              <a:rPr lang="en-US" sz="2000"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Starting with each item in its own cluster, find the best pair to merge into a new cluster. Repeat until all clusters are fused together. </a:t>
            </a:r>
          </a:p>
        </p:txBody>
      </p:sp>
      <p:grpSp>
        <p:nvGrpSpPr>
          <p:cNvPr id="26627" name="Group 1027"/>
          <p:cNvGrpSpPr>
            <a:grpSpLocks/>
          </p:cNvGrpSpPr>
          <p:nvPr/>
        </p:nvGrpSpPr>
        <p:grpSpPr bwMode="auto">
          <a:xfrm>
            <a:off x="8116888" y="5689600"/>
            <a:ext cx="1027112" cy="973138"/>
            <a:chOff x="1267" y="3584"/>
            <a:chExt cx="647" cy="613"/>
          </a:xfrm>
        </p:grpSpPr>
        <p:grpSp>
          <p:nvGrpSpPr>
            <p:cNvPr id="26750" name="Group 1028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6754" name="Picture 102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755" name="Picture 103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751" name="Line 1031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2" name="Line 1032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3" name="Line 1033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8" name="Group 1034"/>
          <p:cNvGrpSpPr>
            <a:grpSpLocks/>
          </p:cNvGrpSpPr>
          <p:nvPr/>
        </p:nvGrpSpPr>
        <p:grpSpPr bwMode="auto">
          <a:xfrm>
            <a:off x="8078788" y="4465638"/>
            <a:ext cx="1027112" cy="733425"/>
            <a:chOff x="252" y="2364"/>
            <a:chExt cx="2258" cy="1608"/>
          </a:xfrm>
        </p:grpSpPr>
        <p:pic>
          <p:nvPicPr>
            <p:cNvPr id="26748" name="Picture 103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" y="2364"/>
              <a:ext cx="900" cy="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49" name="Picture 10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2412"/>
              <a:ext cx="1154" cy="1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29" name="Line 1037"/>
          <p:cNvSpPr>
            <a:spLocks noChangeShapeType="1"/>
          </p:cNvSpPr>
          <p:nvPr/>
        </p:nvSpPr>
        <p:spPr bwMode="auto">
          <a:xfrm flipH="1" flipV="1">
            <a:off x="8826500" y="4225925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0" name="Line 1038"/>
          <p:cNvSpPr>
            <a:spLocks noChangeShapeType="1"/>
          </p:cNvSpPr>
          <p:nvPr/>
        </p:nvSpPr>
        <p:spPr bwMode="auto">
          <a:xfrm flipH="1" flipV="1">
            <a:off x="8335963" y="4225925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1" name="Line 1039"/>
          <p:cNvSpPr>
            <a:spLocks noChangeShapeType="1"/>
          </p:cNvSpPr>
          <p:nvPr/>
        </p:nvSpPr>
        <p:spPr bwMode="auto">
          <a:xfrm flipH="1">
            <a:off x="8331200" y="4225925"/>
            <a:ext cx="498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32" name="Group 1040"/>
          <p:cNvGrpSpPr>
            <a:grpSpLocks/>
          </p:cNvGrpSpPr>
          <p:nvPr/>
        </p:nvGrpSpPr>
        <p:grpSpPr bwMode="auto">
          <a:xfrm>
            <a:off x="7299325" y="4084638"/>
            <a:ext cx="608013" cy="1147762"/>
            <a:chOff x="4598" y="2573"/>
            <a:chExt cx="383" cy="723"/>
          </a:xfrm>
        </p:grpSpPr>
        <p:pic>
          <p:nvPicPr>
            <p:cNvPr id="26742" name="Picture 104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8" y="2956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43" name="Picture 1042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1" y="2712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44" name="Group 1043"/>
            <p:cNvGrpSpPr>
              <a:grpSpLocks/>
            </p:cNvGrpSpPr>
            <p:nvPr/>
          </p:nvGrpSpPr>
          <p:grpSpPr bwMode="auto">
            <a:xfrm>
              <a:off x="4638" y="2573"/>
              <a:ext cx="315" cy="169"/>
              <a:chOff x="2112" y="2976"/>
              <a:chExt cx="703" cy="377"/>
            </a:xfrm>
          </p:grpSpPr>
          <p:sp>
            <p:nvSpPr>
              <p:cNvPr id="26745" name="Line 1044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6" name="Line 1045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7" name="Line 1046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6633" name="Group 1047"/>
          <p:cNvGrpSpPr>
            <a:grpSpLocks/>
          </p:cNvGrpSpPr>
          <p:nvPr/>
        </p:nvGrpSpPr>
        <p:grpSpPr bwMode="auto">
          <a:xfrm>
            <a:off x="7289800" y="2295525"/>
            <a:ext cx="1806575" cy="1331913"/>
            <a:chOff x="746" y="1753"/>
            <a:chExt cx="1138" cy="839"/>
          </a:xfrm>
        </p:grpSpPr>
        <p:pic>
          <p:nvPicPr>
            <p:cNvPr id="26727" name="Picture 104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" y="2252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28" name="Picture 1049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" y="200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29" name="Group 1050"/>
            <p:cNvGrpSpPr>
              <a:grpSpLocks/>
            </p:cNvGrpSpPr>
            <p:nvPr/>
          </p:nvGrpSpPr>
          <p:grpSpPr bwMode="auto">
            <a:xfrm>
              <a:off x="1237" y="2109"/>
              <a:ext cx="647" cy="462"/>
              <a:chOff x="252" y="2364"/>
              <a:chExt cx="2258" cy="1608"/>
            </a:xfrm>
          </p:grpSpPr>
          <p:pic>
            <p:nvPicPr>
              <p:cNvPr id="26740" name="Picture 1051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741" name="Picture 105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730" name="Line 1053"/>
            <p:cNvSpPr>
              <a:spLocks noChangeShapeType="1"/>
            </p:cNvSpPr>
            <p:nvPr/>
          </p:nvSpPr>
          <p:spPr bwMode="auto">
            <a:xfrm flipH="1" flipV="1">
              <a:off x="1708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Line 1054"/>
            <p:cNvSpPr>
              <a:spLocks noChangeShapeType="1"/>
            </p:cNvSpPr>
            <p:nvPr/>
          </p:nvSpPr>
          <p:spPr bwMode="auto">
            <a:xfrm flipH="1" flipV="1">
              <a:off x="1399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2" name="Line 1055"/>
            <p:cNvSpPr>
              <a:spLocks noChangeShapeType="1"/>
            </p:cNvSpPr>
            <p:nvPr/>
          </p:nvSpPr>
          <p:spPr bwMode="auto">
            <a:xfrm flipH="1">
              <a:off x="1396" y="1958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3" name="Line 1056"/>
            <p:cNvSpPr>
              <a:spLocks noChangeShapeType="1"/>
            </p:cNvSpPr>
            <p:nvPr/>
          </p:nvSpPr>
          <p:spPr bwMode="auto">
            <a:xfrm flipH="1">
              <a:off x="936" y="1753"/>
              <a:ext cx="61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Line 1057"/>
            <p:cNvSpPr>
              <a:spLocks noChangeShapeType="1"/>
            </p:cNvSpPr>
            <p:nvPr/>
          </p:nvSpPr>
          <p:spPr bwMode="auto">
            <a:xfrm rot="5400000" flipH="1">
              <a:off x="1450" y="1858"/>
              <a:ext cx="20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735" name="Group 1058"/>
            <p:cNvGrpSpPr>
              <a:grpSpLocks/>
            </p:cNvGrpSpPr>
            <p:nvPr/>
          </p:nvGrpSpPr>
          <p:grpSpPr bwMode="auto">
            <a:xfrm>
              <a:off x="786" y="1869"/>
              <a:ext cx="315" cy="169"/>
              <a:chOff x="2112" y="2976"/>
              <a:chExt cx="703" cy="377"/>
            </a:xfrm>
          </p:grpSpPr>
          <p:sp>
            <p:nvSpPr>
              <p:cNvPr id="26737" name="Line 1059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8" name="Line 1060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9" name="Line 1061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736" name="Line 1062"/>
            <p:cNvSpPr>
              <a:spLocks noChangeShapeType="1"/>
            </p:cNvSpPr>
            <p:nvPr/>
          </p:nvSpPr>
          <p:spPr bwMode="auto">
            <a:xfrm rot="5400000" flipH="1">
              <a:off x="878" y="1814"/>
              <a:ext cx="11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4" name="Group 1063"/>
          <p:cNvGrpSpPr>
            <a:grpSpLocks/>
          </p:cNvGrpSpPr>
          <p:nvPr/>
        </p:nvGrpSpPr>
        <p:grpSpPr bwMode="auto">
          <a:xfrm>
            <a:off x="2182813" y="5770563"/>
            <a:ext cx="1027112" cy="973137"/>
            <a:chOff x="1165" y="3566"/>
            <a:chExt cx="647" cy="613"/>
          </a:xfrm>
        </p:grpSpPr>
        <p:grpSp>
          <p:nvGrpSpPr>
            <p:cNvPr id="26720" name="Group 1064"/>
            <p:cNvGrpSpPr>
              <a:grpSpLocks/>
            </p:cNvGrpSpPr>
            <p:nvPr/>
          </p:nvGrpSpPr>
          <p:grpSpPr bwMode="auto">
            <a:xfrm>
              <a:off x="1165" y="3717"/>
              <a:ext cx="647" cy="462"/>
              <a:chOff x="252" y="2364"/>
              <a:chExt cx="2258" cy="1608"/>
            </a:xfrm>
          </p:grpSpPr>
          <p:pic>
            <p:nvPicPr>
              <p:cNvPr id="26725" name="Picture 106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726" name="Picture 1066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6721" name="Group 1067"/>
            <p:cNvGrpSpPr>
              <a:grpSpLocks/>
            </p:cNvGrpSpPr>
            <p:nvPr/>
          </p:nvGrpSpPr>
          <p:grpSpPr bwMode="auto">
            <a:xfrm>
              <a:off x="1324" y="3566"/>
              <a:ext cx="314" cy="83"/>
              <a:chOff x="1324" y="3566"/>
              <a:chExt cx="314" cy="83"/>
            </a:xfrm>
          </p:grpSpPr>
          <p:sp>
            <p:nvSpPr>
              <p:cNvPr id="26722" name="Line 1068"/>
              <p:cNvSpPr>
                <a:spLocks noChangeShapeType="1"/>
              </p:cNvSpPr>
              <p:nvPr/>
            </p:nvSpPr>
            <p:spPr bwMode="auto">
              <a:xfrm flipH="1" flipV="1">
                <a:off x="1636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3" name="Line 1069"/>
              <p:cNvSpPr>
                <a:spLocks noChangeShapeType="1"/>
              </p:cNvSpPr>
              <p:nvPr/>
            </p:nvSpPr>
            <p:spPr bwMode="auto">
              <a:xfrm flipH="1" flipV="1">
                <a:off x="1327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4" name="Line 1070"/>
              <p:cNvSpPr>
                <a:spLocks noChangeShapeType="1"/>
              </p:cNvSpPr>
              <p:nvPr/>
            </p:nvSpPr>
            <p:spPr bwMode="auto">
              <a:xfrm flipH="1">
                <a:off x="1324" y="3566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26635" name="Picture 107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4603750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6" name="Line 1072"/>
          <p:cNvSpPr>
            <a:spLocks noChangeShapeType="1"/>
          </p:cNvSpPr>
          <p:nvPr/>
        </p:nvSpPr>
        <p:spPr bwMode="auto">
          <a:xfrm flipH="1" flipV="1">
            <a:off x="1847850" y="4108450"/>
            <a:ext cx="0" cy="279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7" name="Line 1073"/>
          <p:cNvSpPr>
            <a:spLocks noChangeShapeType="1"/>
          </p:cNvSpPr>
          <p:nvPr/>
        </p:nvSpPr>
        <p:spPr bwMode="auto">
          <a:xfrm flipH="1">
            <a:off x="1836738" y="4100513"/>
            <a:ext cx="752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8" name="Line 1074"/>
          <p:cNvSpPr>
            <a:spLocks noChangeShapeType="1"/>
          </p:cNvSpPr>
          <p:nvPr/>
        </p:nvSpPr>
        <p:spPr bwMode="auto">
          <a:xfrm rot="5400000" flipH="1">
            <a:off x="2541587" y="4132263"/>
            <a:ext cx="9842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39" name="Group 1075"/>
          <p:cNvGrpSpPr>
            <a:grpSpLocks/>
          </p:cNvGrpSpPr>
          <p:nvPr/>
        </p:nvGrpSpPr>
        <p:grpSpPr bwMode="auto">
          <a:xfrm>
            <a:off x="3294063" y="5527675"/>
            <a:ext cx="760412" cy="1216025"/>
            <a:chOff x="2072" y="3380"/>
            <a:chExt cx="479" cy="802"/>
          </a:xfrm>
        </p:grpSpPr>
        <p:pic>
          <p:nvPicPr>
            <p:cNvPr id="26714" name="Picture 1076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15" name="Picture 107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16" name="Group 1078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6717" name="Line 1079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8" name="Line 1080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9" name="Line 1081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6640" name="Group 1082"/>
          <p:cNvGrpSpPr>
            <a:grpSpLocks/>
          </p:cNvGrpSpPr>
          <p:nvPr/>
        </p:nvGrpSpPr>
        <p:grpSpPr bwMode="auto">
          <a:xfrm>
            <a:off x="1293813" y="5491163"/>
            <a:ext cx="776287" cy="1252537"/>
            <a:chOff x="2663" y="3356"/>
            <a:chExt cx="489" cy="789"/>
          </a:xfrm>
        </p:grpSpPr>
        <p:pic>
          <p:nvPicPr>
            <p:cNvPr id="26708" name="Picture 10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800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09" name="Picture 108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" y="3707"/>
              <a:ext cx="33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10" name="Group 1085"/>
            <p:cNvGrpSpPr>
              <a:grpSpLocks/>
            </p:cNvGrpSpPr>
            <p:nvPr/>
          </p:nvGrpSpPr>
          <p:grpSpPr bwMode="auto">
            <a:xfrm>
              <a:off x="2758" y="3356"/>
              <a:ext cx="314" cy="209"/>
              <a:chOff x="2170" y="3380"/>
              <a:chExt cx="314" cy="185"/>
            </a:xfrm>
          </p:grpSpPr>
          <p:sp>
            <p:nvSpPr>
              <p:cNvPr id="26711" name="Line 1086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2" name="Line 1087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3" name="Line 1088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6641" name="Group 1089"/>
          <p:cNvGrpSpPr>
            <a:grpSpLocks/>
          </p:cNvGrpSpPr>
          <p:nvPr/>
        </p:nvGrpSpPr>
        <p:grpSpPr bwMode="auto">
          <a:xfrm>
            <a:off x="4586288" y="5518150"/>
            <a:ext cx="815975" cy="1206500"/>
            <a:chOff x="2889" y="3476"/>
            <a:chExt cx="514" cy="760"/>
          </a:xfrm>
        </p:grpSpPr>
        <p:pic>
          <p:nvPicPr>
            <p:cNvPr id="26702" name="Picture 1090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" y="3691"/>
              <a:ext cx="19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03" name="Picture 109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" y="3751"/>
              <a:ext cx="25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04" name="Group 1092"/>
            <p:cNvGrpSpPr>
              <a:grpSpLocks/>
            </p:cNvGrpSpPr>
            <p:nvPr/>
          </p:nvGrpSpPr>
          <p:grpSpPr bwMode="auto">
            <a:xfrm>
              <a:off x="3010" y="3476"/>
              <a:ext cx="314" cy="195"/>
              <a:chOff x="2170" y="3380"/>
              <a:chExt cx="314" cy="185"/>
            </a:xfrm>
          </p:grpSpPr>
          <p:sp>
            <p:nvSpPr>
              <p:cNvPr id="26705" name="Line 109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6" name="Line 109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7" name="Line 109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6642" name="Text Box 1096"/>
          <p:cNvSpPr txBox="1">
            <a:spLocks noChangeArrowheads="1"/>
          </p:cNvSpPr>
          <p:nvPr/>
        </p:nvSpPr>
        <p:spPr bwMode="auto">
          <a:xfrm>
            <a:off x="4117975" y="5946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/>
              <a:t>…</a:t>
            </a:r>
          </a:p>
        </p:txBody>
      </p:sp>
      <p:sp>
        <p:nvSpPr>
          <p:cNvPr id="26643" name="Text Box 1097"/>
          <p:cNvSpPr txBox="1">
            <a:spLocks noChangeArrowheads="1"/>
          </p:cNvSpPr>
          <p:nvPr/>
        </p:nvSpPr>
        <p:spPr bwMode="auto">
          <a:xfrm>
            <a:off x="0" y="5661025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Consider all possible merges…</a:t>
            </a:r>
          </a:p>
        </p:txBody>
      </p:sp>
      <p:sp>
        <p:nvSpPr>
          <p:cNvPr id="26644" name="Text Box 1098"/>
          <p:cNvSpPr txBox="1">
            <a:spLocks noChangeArrowheads="1"/>
          </p:cNvSpPr>
          <p:nvPr/>
        </p:nvSpPr>
        <p:spPr bwMode="auto">
          <a:xfrm>
            <a:off x="5686425" y="56991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Choose the best</a:t>
            </a:r>
          </a:p>
        </p:txBody>
      </p:sp>
      <p:sp>
        <p:nvSpPr>
          <p:cNvPr id="26645" name="Rectangle 1099"/>
          <p:cNvSpPr>
            <a:spLocks noChangeArrowheads="1"/>
          </p:cNvSpPr>
          <p:nvPr/>
        </p:nvSpPr>
        <p:spPr bwMode="auto">
          <a:xfrm>
            <a:off x="0" y="5257800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6646" name="Rectangle 1100"/>
          <p:cNvSpPr>
            <a:spLocks noChangeArrowheads="1"/>
          </p:cNvSpPr>
          <p:nvPr/>
        </p:nvSpPr>
        <p:spPr bwMode="auto">
          <a:xfrm>
            <a:off x="0" y="3790950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6647" name="Rectangle 1101"/>
          <p:cNvSpPr>
            <a:spLocks noChangeArrowheads="1"/>
          </p:cNvSpPr>
          <p:nvPr/>
        </p:nvSpPr>
        <p:spPr bwMode="auto">
          <a:xfrm>
            <a:off x="0" y="2000250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6648" name="Text Box 1102"/>
          <p:cNvSpPr txBox="1">
            <a:spLocks noChangeArrowheads="1"/>
          </p:cNvSpPr>
          <p:nvPr/>
        </p:nvSpPr>
        <p:spPr bwMode="auto">
          <a:xfrm>
            <a:off x="0" y="408940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Consider all possible merges…</a:t>
            </a:r>
          </a:p>
        </p:txBody>
      </p:sp>
      <p:grpSp>
        <p:nvGrpSpPr>
          <p:cNvPr id="26649" name="Group 1103"/>
          <p:cNvGrpSpPr>
            <a:grpSpLocks/>
          </p:cNvGrpSpPr>
          <p:nvPr/>
        </p:nvGrpSpPr>
        <p:grpSpPr bwMode="auto">
          <a:xfrm>
            <a:off x="2116138" y="4184650"/>
            <a:ext cx="1027112" cy="973138"/>
            <a:chOff x="1267" y="3584"/>
            <a:chExt cx="647" cy="613"/>
          </a:xfrm>
        </p:grpSpPr>
        <p:grpSp>
          <p:nvGrpSpPr>
            <p:cNvPr id="26696" name="Group 1104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6700" name="Picture 110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701" name="Picture 1106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697" name="Line 1107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Line 1108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Line 1109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6650" name="Picture 11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400" y="4606925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51" name="Picture 1111" descr="C:\Documents and Settings\eamonn\Desktop\bios_family_marge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4219575"/>
            <a:ext cx="30162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652" name="Group 1112"/>
          <p:cNvGrpSpPr>
            <a:grpSpLocks/>
          </p:cNvGrpSpPr>
          <p:nvPr/>
        </p:nvGrpSpPr>
        <p:grpSpPr bwMode="auto">
          <a:xfrm>
            <a:off x="3390900" y="3998913"/>
            <a:ext cx="500063" cy="268287"/>
            <a:chOff x="2112" y="2976"/>
            <a:chExt cx="703" cy="377"/>
          </a:xfrm>
        </p:grpSpPr>
        <p:sp>
          <p:nvSpPr>
            <p:cNvPr id="26693" name="Line 1113"/>
            <p:cNvSpPr>
              <a:spLocks noChangeShapeType="1"/>
            </p:cNvSpPr>
            <p:nvPr/>
          </p:nvSpPr>
          <p:spPr bwMode="auto">
            <a:xfrm flipH="1" flipV="1">
              <a:off x="2810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4" name="Line 1114"/>
            <p:cNvSpPr>
              <a:spLocks noChangeShapeType="1"/>
            </p:cNvSpPr>
            <p:nvPr/>
          </p:nvSpPr>
          <p:spPr bwMode="auto">
            <a:xfrm flipH="1" flipV="1">
              <a:off x="2118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Line 1115"/>
            <p:cNvSpPr>
              <a:spLocks noChangeShapeType="1"/>
            </p:cNvSpPr>
            <p:nvPr/>
          </p:nvSpPr>
          <p:spPr bwMode="auto">
            <a:xfrm flipH="1">
              <a:off x="2112" y="2976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53" name="Group 1116"/>
          <p:cNvGrpSpPr>
            <a:grpSpLocks/>
          </p:cNvGrpSpPr>
          <p:nvPr/>
        </p:nvGrpSpPr>
        <p:grpSpPr bwMode="auto">
          <a:xfrm>
            <a:off x="4608513" y="3994150"/>
            <a:ext cx="760412" cy="1216025"/>
            <a:chOff x="2072" y="3380"/>
            <a:chExt cx="479" cy="802"/>
          </a:xfrm>
        </p:grpSpPr>
        <p:pic>
          <p:nvPicPr>
            <p:cNvPr id="26687" name="Picture 1117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88" name="Picture 1118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689" name="Group 1119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6690" name="Line 1120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1" name="Line 1121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2" name="Line 1122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6654" name="Text Box 1123"/>
          <p:cNvSpPr txBox="1">
            <a:spLocks noChangeArrowheads="1"/>
          </p:cNvSpPr>
          <p:nvPr/>
        </p:nvSpPr>
        <p:spPr bwMode="auto">
          <a:xfrm>
            <a:off x="4051300" y="45180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/>
              <a:t>…</a:t>
            </a:r>
          </a:p>
        </p:txBody>
      </p:sp>
      <p:sp>
        <p:nvSpPr>
          <p:cNvPr id="26655" name="Text Box 1124"/>
          <p:cNvSpPr txBox="1">
            <a:spLocks noChangeArrowheads="1"/>
          </p:cNvSpPr>
          <p:nvPr/>
        </p:nvSpPr>
        <p:spPr bwMode="auto">
          <a:xfrm>
            <a:off x="5686425" y="4213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Choose the best</a:t>
            </a:r>
          </a:p>
        </p:txBody>
      </p:sp>
      <p:sp>
        <p:nvSpPr>
          <p:cNvPr id="26656" name="Text Box 1125"/>
          <p:cNvSpPr txBox="1">
            <a:spLocks noChangeArrowheads="1"/>
          </p:cNvSpPr>
          <p:nvPr/>
        </p:nvSpPr>
        <p:spPr bwMode="auto">
          <a:xfrm>
            <a:off x="0" y="254635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Consider all possible merges…</a:t>
            </a:r>
          </a:p>
        </p:txBody>
      </p:sp>
      <p:grpSp>
        <p:nvGrpSpPr>
          <p:cNvPr id="26657" name="Group 1126"/>
          <p:cNvGrpSpPr>
            <a:grpSpLocks/>
          </p:cNvGrpSpPr>
          <p:nvPr/>
        </p:nvGrpSpPr>
        <p:grpSpPr bwMode="auto">
          <a:xfrm>
            <a:off x="1765300" y="2400300"/>
            <a:ext cx="1806575" cy="1331913"/>
            <a:chOff x="746" y="1753"/>
            <a:chExt cx="1138" cy="839"/>
          </a:xfrm>
        </p:grpSpPr>
        <p:pic>
          <p:nvPicPr>
            <p:cNvPr id="26672" name="Picture 112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" y="2252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73" name="Picture 1128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" y="200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674" name="Group 1129"/>
            <p:cNvGrpSpPr>
              <a:grpSpLocks/>
            </p:cNvGrpSpPr>
            <p:nvPr/>
          </p:nvGrpSpPr>
          <p:grpSpPr bwMode="auto">
            <a:xfrm>
              <a:off x="1237" y="2109"/>
              <a:ext cx="647" cy="462"/>
              <a:chOff x="252" y="2364"/>
              <a:chExt cx="2258" cy="1608"/>
            </a:xfrm>
          </p:grpSpPr>
          <p:pic>
            <p:nvPicPr>
              <p:cNvPr id="26685" name="Picture 1130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686" name="Picture 1131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675" name="Line 1132"/>
            <p:cNvSpPr>
              <a:spLocks noChangeShapeType="1"/>
            </p:cNvSpPr>
            <p:nvPr/>
          </p:nvSpPr>
          <p:spPr bwMode="auto">
            <a:xfrm flipH="1" flipV="1">
              <a:off x="1708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Line 1133"/>
            <p:cNvSpPr>
              <a:spLocks noChangeShapeType="1"/>
            </p:cNvSpPr>
            <p:nvPr/>
          </p:nvSpPr>
          <p:spPr bwMode="auto">
            <a:xfrm flipH="1" flipV="1">
              <a:off x="1399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Line 1134"/>
            <p:cNvSpPr>
              <a:spLocks noChangeShapeType="1"/>
            </p:cNvSpPr>
            <p:nvPr/>
          </p:nvSpPr>
          <p:spPr bwMode="auto">
            <a:xfrm flipH="1">
              <a:off x="1396" y="1958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Line 1135"/>
            <p:cNvSpPr>
              <a:spLocks noChangeShapeType="1"/>
            </p:cNvSpPr>
            <p:nvPr/>
          </p:nvSpPr>
          <p:spPr bwMode="auto">
            <a:xfrm flipH="1">
              <a:off x="936" y="1753"/>
              <a:ext cx="61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Line 1136"/>
            <p:cNvSpPr>
              <a:spLocks noChangeShapeType="1"/>
            </p:cNvSpPr>
            <p:nvPr/>
          </p:nvSpPr>
          <p:spPr bwMode="auto">
            <a:xfrm rot="5400000" flipH="1">
              <a:off x="1450" y="1858"/>
              <a:ext cx="20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80" name="Group 1137"/>
            <p:cNvGrpSpPr>
              <a:grpSpLocks/>
            </p:cNvGrpSpPr>
            <p:nvPr/>
          </p:nvGrpSpPr>
          <p:grpSpPr bwMode="auto">
            <a:xfrm>
              <a:off x="786" y="1869"/>
              <a:ext cx="315" cy="169"/>
              <a:chOff x="2112" y="2976"/>
              <a:chExt cx="703" cy="377"/>
            </a:xfrm>
          </p:grpSpPr>
          <p:sp>
            <p:nvSpPr>
              <p:cNvPr id="26682" name="Line 1138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3" name="Line 1139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4" name="Line 1140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681" name="Line 1141"/>
            <p:cNvSpPr>
              <a:spLocks noChangeShapeType="1"/>
            </p:cNvSpPr>
            <p:nvPr/>
          </p:nvSpPr>
          <p:spPr bwMode="auto">
            <a:xfrm rot="5400000" flipH="1">
              <a:off x="878" y="1814"/>
              <a:ext cx="11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58" name="Group 1142"/>
          <p:cNvGrpSpPr>
            <a:grpSpLocks/>
          </p:cNvGrpSpPr>
          <p:nvPr/>
        </p:nvGrpSpPr>
        <p:grpSpPr bwMode="auto">
          <a:xfrm>
            <a:off x="4184650" y="2511425"/>
            <a:ext cx="1416050" cy="1127125"/>
            <a:chOff x="2342" y="1528"/>
            <a:chExt cx="892" cy="710"/>
          </a:xfrm>
        </p:grpSpPr>
        <p:sp>
          <p:nvSpPr>
            <p:cNvPr id="26661" name="Line 1143"/>
            <p:cNvSpPr>
              <a:spLocks noChangeShapeType="1"/>
            </p:cNvSpPr>
            <p:nvPr/>
          </p:nvSpPr>
          <p:spPr bwMode="auto">
            <a:xfrm flipH="1" flipV="1">
              <a:off x="2418" y="1544"/>
              <a:ext cx="0" cy="17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2" name="Line 1144"/>
            <p:cNvSpPr>
              <a:spLocks noChangeShapeType="1"/>
            </p:cNvSpPr>
            <p:nvPr/>
          </p:nvSpPr>
          <p:spPr bwMode="auto">
            <a:xfrm flipH="1">
              <a:off x="2411" y="1539"/>
              <a:ext cx="47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3" name="Line 1145"/>
            <p:cNvSpPr>
              <a:spLocks noChangeShapeType="1"/>
            </p:cNvSpPr>
            <p:nvPr/>
          </p:nvSpPr>
          <p:spPr bwMode="auto">
            <a:xfrm rot="5400000" flipH="1">
              <a:off x="2855" y="1559"/>
              <a:ext cx="6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64" name="Group 1146"/>
            <p:cNvGrpSpPr>
              <a:grpSpLocks/>
            </p:cNvGrpSpPr>
            <p:nvPr/>
          </p:nvGrpSpPr>
          <p:grpSpPr bwMode="auto">
            <a:xfrm>
              <a:off x="2587" y="1592"/>
              <a:ext cx="647" cy="613"/>
              <a:chOff x="1267" y="3584"/>
              <a:chExt cx="647" cy="613"/>
            </a:xfrm>
          </p:grpSpPr>
          <p:grpSp>
            <p:nvGrpSpPr>
              <p:cNvPr id="26666" name="Group 1147"/>
              <p:cNvGrpSpPr>
                <a:grpSpLocks/>
              </p:cNvGrpSpPr>
              <p:nvPr/>
            </p:nvGrpSpPr>
            <p:grpSpPr bwMode="auto">
              <a:xfrm>
                <a:off x="1267" y="3735"/>
                <a:ext cx="647" cy="462"/>
                <a:chOff x="252" y="2364"/>
                <a:chExt cx="2258" cy="1608"/>
              </a:xfrm>
            </p:grpSpPr>
            <p:pic>
              <p:nvPicPr>
                <p:cNvPr id="26670" name="Picture 1148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2" y="2364"/>
                  <a:ext cx="900" cy="16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671" name="Picture 1149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56" y="2412"/>
                  <a:ext cx="1154" cy="15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6667" name="Line 1150"/>
              <p:cNvSpPr>
                <a:spLocks noChangeShapeType="1"/>
              </p:cNvSpPr>
              <p:nvPr/>
            </p:nvSpPr>
            <p:spPr bwMode="auto">
              <a:xfrm flipH="1" flipV="1">
                <a:off x="1738" y="3584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8" name="Line 1151"/>
              <p:cNvSpPr>
                <a:spLocks noChangeShapeType="1"/>
              </p:cNvSpPr>
              <p:nvPr/>
            </p:nvSpPr>
            <p:spPr bwMode="auto">
              <a:xfrm flipH="1" flipV="1">
                <a:off x="1429" y="3584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9" name="Line 1152"/>
              <p:cNvSpPr>
                <a:spLocks noChangeShapeType="1"/>
              </p:cNvSpPr>
              <p:nvPr/>
            </p:nvSpPr>
            <p:spPr bwMode="auto">
              <a:xfrm flipH="1">
                <a:off x="1426" y="3584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6665" name="Picture 1153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2" y="175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59" name="Text Box 1154"/>
          <p:cNvSpPr txBox="1">
            <a:spLocks noChangeArrowheads="1"/>
          </p:cNvSpPr>
          <p:nvPr/>
        </p:nvSpPr>
        <p:spPr bwMode="auto">
          <a:xfrm>
            <a:off x="5686425" y="2689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Choose the best</a:t>
            </a:r>
          </a:p>
        </p:txBody>
      </p:sp>
      <p:sp>
        <p:nvSpPr>
          <p:cNvPr id="26660" name="Text Box 1155"/>
          <p:cNvSpPr txBox="1">
            <a:spLocks noChangeArrowheads="1"/>
          </p:cNvSpPr>
          <p:nvPr/>
        </p:nvSpPr>
        <p:spPr bwMode="auto">
          <a:xfrm>
            <a:off x="3632200" y="29559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24962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6670675" y="215900"/>
            <a:ext cx="2282825" cy="1622425"/>
            <a:chOff x="98" y="300"/>
            <a:chExt cx="3214" cy="2284"/>
          </a:xfrm>
        </p:grpSpPr>
        <p:pic>
          <p:nvPicPr>
            <p:cNvPr id="27781" name="Picture 3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" y="1440"/>
              <a:ext cx="504" cy="1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82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824"/>
              <a:ext cx="308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83" name="Picture 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78"/>
              <a:ext cx="424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84" name="Group 6"/>
            <p:cNvGrpSpPr>
              <a:grpSpLocks/>
            </p:cNvGrpSpPr>
            <p:nvPr/>
          </p:nvGrpSpPr>
          <p:grpSpPr bwMode="auto">
            <a:xfrm>
              <a:off x="1865" y="1505"/>
              <a:ext cx="1447" cy="1031"/>
              <a:chOff x="252" y="2364"/>
              <a:chExt cx="2258" cy="1608"/>
            </a:xfrm>
          </p:grpSpPr>
          <p:pic>
            <p:nvPicPr>
              <p:cNvPr id="27799" name="Picture 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800" name="Picture 8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85" name="Line 9"/>
            <p:cNvSpPr>
              <a:spLocks noChangeShapeType="1"/>
            </p:cNvSpPr>
            <p:nvPr/>
          </p:nvSpPr>
          <p:spPr bwMode="auto">
            <a:xfrm flipH="1" flipV="1">
              <a:off x="255" y="444"/>
              <a:ext cx="0" cy="90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6" name="Line 10"/>
            <p:cNvSpPr>
              <a:spLocks noChangeShapeType="1"/>
            </p:cNvSpPr>
            <p:nvPr/>
          </p:nvSpPr>
          <p:spPr bwMode="auto">
            <a:xfrm flipH="1" flipV="1">
              <a:off x="2919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7" name="Line 11"/>
            <p:cNvSpPr>
              <a:spLocks noChangeShapeType="1"/>
            </p:cNvSpPr>
            <p:nvPr/>
          </p:nvSpPr>
          <p:spPr bwMode="auto">
            <a:xfrm flipH="1" flipV="1">
              <a:off x="2227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8" name="Line 12"/>
            <p:cNvSpPr>
              <a:spLocks noChangeShapeType="1"/>
            </p:cNvSpPr>
            <p:nvPr/>
          </p:nvSpPr>
          <p:spPr bwMode="auto">
            <a:xfrm flipH="1">
              <a:off x="2221" y="1167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9" name="Line 13"/>
            <p:cNvSpPr>
              <a:spLocks noChangeShapeType="1"/>
            </p:cNvSpPr>
            <p:nvPr/>
          </p:nvSpPr>
          <p:spPr bwMode="auto">
            <a:xfrm flipH="1">
              <a:off x="1193" y="710"/>
              <a:ext cx="1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0" name="Line 14"/>
            <p:cNvSpPr>
              <a:spLocks noChangeShapeType="1"/>
            </p:cNvSpPr>
            <p:nvPr/>
          </p:nvSpPr>
          <p:spPr bwMode="auto">
            <a:xfrm rot="5400000" flipH="1">
              <a:off x="2343" y="943"/>
              <a:ext cx="45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1" name="Line 15"/>
            <p:cNvSpPr>
              <a:spLocks noChangeShapeType="1"/>
            </p:cNvSpPr>
            <p:nvPr/>
          </p:nvSpPr>
          <p:spPr bwMode="auto">
            <a:xfrm rot="5400000" flipH="1">
              <a:off x="1712" y="574"/>
              <a:ext cx="26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792" name="Group 16"/>
            <p:cNvGrpSpPr>
              <a:grpSpLocks/>
            </p:cNvGrpSpPr>
            <p:nvPr/>
          </p:nvGrpSpPr>
          <p:grpSpPr bwMode="auto">
            <a:xfrm>
              <a:off x="859" y="969"/>
              <a:ext cx="703" cy="377"/>
              <a:chOff x="2112" y="2976"/>
              <a:chExt cx="703" cy="377"/>
            </a:xfrm>
          </p:grpSpPr>
          <p:sp>
            <p:nvSpPr>
              <p:cNvPr id="27796" name="Line 17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97" name="Line 18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98" name="Line 19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793" name="Line 20"/>
            <p:cNvSpPr>
              <a:spLocks noChangeShapeType="1"/>
            </p:cNvSpPr>
            <p:nvPr/>
          </p:nvSpPr>
          <p:spPr bwMode="auto">
            <a:xfrm rot="5400000" flipH="1">
              <a:off x="1065" y="844"/>
              <a:ext cx="25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4" name="Line 21"/>
            <p:cNvSpPr>
              <a:spLocks noChangeShapeType="1"/>
            </p:cNvSpPr>
            <p:nvPr/>
          </p:nvSpPr>
          <p:spPr bwMode="auto">
            <a:xfrm flipH="1">
              <a:off x="253" y="446"/>
              <a:ext cx="158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5" name="Line 22"/>
            <p:cNvSpPr>
              <a:spLocks noChangeShapeType="1"/>
            </p:cNvSpPr>
            <p:nvPr/>
          </p:nvSpPr>
          <p:spPr bwMode="auto">
            <a:xfrm rot="5400000" flipH="1">
              <a:off x="989" y="370"/>
              <a:ext cx="13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8135" name="Text Box 23"/>
          <p:cNvSpPr txBox="1">
            <a:spLocks noChangeArrowheads="1"/>
          </p:cNvSpPr>
          <p:nvPr/>
        </p:nvSpPr>
        <p:spPr bwMode="auto">
          <a:xfrm>
            <a:off x="133350" y="133350"/>
            <a:ext cx="4241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Bottom-Up (</a:t>
            </a:r>
            <a:r>
              <a:rPr kumimoji="1"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SimSun" pitchFamily="2" charset="-122"/>
                <a:cs typeface="SimSun" pitchFamily="2" charset="-122"/>
              </a:rPr>
              <a:t>agglomerative</a:t>
            </a:r>
            <a:r>
              <a:rPr kumimoji="1" lang="en-US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):</a:t>
            </a:r>
            <a:r>
              <a:rPr lang="en-US" sz="2000"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Starting with each item in its own cluster, find the best pair to merge into a new cluster. Repeat until all clusters are fused together. </a:t>
            </a:r>
          </a:p>
        </p:txBody>
      </p:sp>
      <p:grpSp>
        <p:nvGrpSpPr>
          <p:cNvPr id="27652" name="Group 24"/>
          <p:cNvGrpSpPr>
            <a:grpSpLocks/>
          </p:cNvGrpSpPr>
          <p:nvPr/>
        </p:nvGrpSpPr>
        <p:grpSpPr bwMode="auto">
          <a:xfrm>
            <a:off x="8116888" y="5689600"/>
            <a:ext cx="1027112" cy="973138"/>
            <a:chOff x="1267" y="3584"/>
            <a:chExt cx="647" cy="613"/>
          </a:xfrm>
        </p:grpSpPr>
        <p:grpSp>
          <p:nvGrpSpPr>
            <p:cNvPr id="27775" name="Group 25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7779" name="Picture 2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80" name="Picture 27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76" name="Line 28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7" name="Line 29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Line 30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3" name="Group 31"/>
          <p:cNvGrpSpPr>
            <a:grpSpLocks/>
          </p:cNvGrpSpPr>
          <p:nvPr/>
        </p:nvGrpSpPr>
        <p:grpSpPr bwMode="auto">
          <a:xfrm>
            <a:off x="8078788" y="4465638"/>
            <a:ext cx="1027112" cy="733425"/>
            <a:chOff x="252" y="2364"/>
            <a:chExt cx="2258" cy="1608"/>
          </a:xfrm>
        </p:grpSpPr>
        <p:pic>
          <p:nvPicPr>
            <p:cNvPr id="27773" name="Picture 3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" y="2364"/>
              <a:ext cx="900" cy="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74" name="Picture 3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2412"/>
              <a:ext cx="1154" cy="1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654" name="Line 34"/>
          <p:cNvSpPr>
            <a:spLocks noChangeShapeType="1"/>
          </p:cNvSpPr>
          <p:nvPr/>
        </p:nvSpPr>
        <p:spPr bwMode="auto">
          <a:xfrm flipH="1" flipV="1">
            <a:off x="8826500" y="4225925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Line 35"/>
          <p:cNvSpPr>
            <a:spLocks noChangeShapeType="1"/>
          </p:cNvSpPr>
          <p:nvPr/>
        </p:nvSpPr>
        <p:spPr bwMode="auto">
          <a:xfrm flipH="1" flipV="1">
            <a:off x="8335963" y="4225925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6" name="Line 36"/>
          <p:cNvSpPr>
            <a:spLocks noChangeShapeType="1"/>
          </p:cNvSpPr>
          <p:nvPr/>
        </p:nvSpPr>
        <p:spPr bwMode="auto">
          <a:xfrm flipH="1">
            <a:off x="8331200" y="4225925"/>
            <a:ext cx="498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7657" name="Group 37"/>
          <p:cNvGrpSpPr>
            <a:grpSpLocks/>
          </p:cNvGrpSpPr>
          <p:nvPr/>
        </p:nvGrpSpPr>
        <p:grpSpPr bwMode="auto">
          <a:xfrm>
            <a:off x="7299325" y="4084638"/>
            <a:ext cx="608013" cy="1147762"/>
            <a:chOff x="4598" y="2573"/>
            <a:chExt cx="383" cy="723"/>
          </a:xfrm>
        </p:grpSpPr>
        <p:pic>
          <p:nvPicPr>
            <p:cNvPr id="27767" name="Picture 3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8" y="2956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68" name="Picture 39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1" y="2712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69" name="Group 40"/>
            <p:cNvGrpSpPr>
              <a:grpSpLocks/>
            </p:cNvGrpSpPr>
            <p:nvPr/>
          </p:nvGrpSpPr>
          <p:grpSpPr bwMode="auto">
            <a:xfrm>
              <a:off x="4638" y="2573"/>
              <a:ext cx="315" cy="169"/>
              <a:chOff x="2112" y="2976"/>
              <a:chExt cx="703" cy="377"/>
            </a:xfrm>
          </p:grpSpPr>
          <p:sp>
            <p:nvSpPr>
              <p:cNvPr id="27770" name="Line 41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71" name="Line 42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72" name="Line 43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7658" name="Group 44"/>
          <p:cNvGrpSpPr>
            <a:grpSpLocks/>
          </p:cNvGrpSpPr>
          <p:nvPr/>
        </p:nvGrpSpPr>
        <p:grpSpPr bwMode="auto">
          <a:xfrm>
            <a:off x="7289800" y="2295525"/>
            <a:ext cx="1806575" cy="1331913"/>
            <a:chOff x="746" y="1753"/>
            <a:chExt cx="1138" cy="839"/>
          </a:xfrm>
        </p:grpSpPr>
        <p:pic>
          <p:nvPicPr>
            <p:cNvPr id="27752" name="Picture 4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" y="2252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53" name="Picture 46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" y="200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54" name="Group 47"/>
            <p:cNvGrpSpPr>
              <a:grpSpLocks/>
            </p:cNvGrpSpPr>
            <p:nvPr/>
          </p:nvGrpSpPr>
          <p:grpSpPr bwMode="auto">
            <a:xfrm>
              <a:off x="1237" y="2109"/>
              <a:ext cx="647" cy="462"/>
              <a:chOff x="252" y="2364"/>
              <a:chExt cx="2258" cy="1608"/>
            </a:xfrm>
          </p:grpSpPr>
          <p:pic>
            <p:nvPicPr>
              <p:cNvPr id="27765" name="Picture 48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66" name="Picture 49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55" name="Line 50"/>
            <p:cNvSpPr>
              <a:spLocks noChangeShapeType="1"/>
            </p:cNvSpPr>
            <p:nvPr/>
          </p:nvSpPr>
          <p:spPr bwMode="auto">
            <a:xfrm flipH="1" flipV="1">
              <a:off x="1708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6" name="Line 51"/>
            <p:cNvSpPr>
              <a:spLocks noChangeShapeType="1"/>
            </p:cNvSpPr>
            <p:nvPr/>
          </p:nvSpPr>
          <p:spPr bwMode="auto">
            <a:xfrm flipH="1" flipV="1">
              <a:off x="1399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Line 52"/>
            <p:cNvSpPr>
              <a:spLocks noChangeShapeType="1"/>
            </p:cNvSpPr>
            <p:nvPr/>
          </p:nvSpPr>
          <p:spPr bwMode="auto">
            <a:xfrm flipH="1">
              <a:off x="1396" y="1958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Line 53"/>
            <p:cNvSpPr>
              <a:spLocks noChangeShapeType="1"/>
            </p:cNvSpPr>
            <p:nvPr/>
          </p:nvSpPr>
          <p:spPr bwMode="auto">
            <a:xfrm flipH="1">
              <a:off x="936" y="1753"/>
              <a:ext cx="61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Line 54"/>
            <p:cNvSpPr>
              <a:spLocks noChangeShapeType="1"/>
            </p:cNvSpPr>
            <p:nvPr/>
          </p:nvSpPr>
          <p:spPr bwMode="auto">
            <a:xfrm rot="5400000" flipH="1">
              <a:off x="1450" y="1858"/>
              <a:ext cx="20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760" name="Group 55"/>
            <p:cNvGrpSpPr>
              <a:grpSpLocks/>
            </p:cNvGrpSpPr>
            <p:nvPr/>
          </p:nvGrpSpPr>
          <p:grpSpPr bwMode="auto">
            <a:xfrm>
              <a:off x="786" y="1869"/>
              <a:ext cx="315" cy="169"/>
              <a:chOff x="2112" y="2976"/>
              <a:chExt cx="703" cy="377"/>
            </a:xfrm>
          </p:grpSpPr>
          <p:sp>
            <p:nvSpPr>
              <p:cNvPr id="27762" name="Line 56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3" name="Line 57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4" name="Line 58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761" name="Line 59"/>
            <p:cNvSpPr>
              <a:spLocks noChangeShapeType="1"/>
            </p:cNvSpPr>
            <p:nvPr/>
          </p:nvSpPr>
          <p:spPr bwMode="auto">
            <a:xfrm rot="5400000" flipH="1">
              <a:off x="878" y="1814"/>
              <a:ext cx="11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9" name="Group 60"/>
          <p:cNvGrpSpPr>
            <a:grpSpLocks/>
          </p:cNvGrpSpPr>
          <p:nvPr/>
        </p:nvGrpSpPr>
        <p:grpSpPr bwMode="auto">
          <a:xfrm>
            <a:off x="2182813" y="5770563"/>
            <a:ext cx="1027112" cy="973137"/>
            <a:chOff x="1165" y="3566"/>
            <a:chExt cx="647" cy="613"/>
          </a:xfrm>
        </p:grpSpPr>
        <p:grpSp>
          <p:nvGrpSpPr>
            <p:cNvPr id="27745" name="Group 61"/>
            <p:cNvGrpSpPr>
              <a:grpSpLocks/>
            </p:cNvGrpSpPr>
            <p:nvPr/>
          </p:nvGrpSpPr>
          <p:grpSpPr bwMode="auto">
            <a:xfrm>
              <a:off x="1165" y="3717"/>
              <a:ext cx="647" cy="462"/>
              <a:chOff x="252" y="2364"/>
              <a:chExt cx="2258" cy="1608"/>
            </a:xfrm>
          </p:grpSpPr>
          <p:pic>
            <p:nvPicPr>
              <p:cNvPr id="27750" name="Picture 6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51" name="Picture 6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7746" name="Group 64"/>
            <p:cNvGrpSpPr>
              <a:grpSpLocks/>
            </p:cNvGrpSpPr>
            <p:nvPr/>
          </p:nvGrpSpPr>
          <p:grpSpPr bwMode="auto">
            <a:xfrm>
              <a:off x="1324" y="3566"/>
              <a:ext cx="314" cy="83"/>
              <a:chOff x="1324" y="3566"/>
              <a:chExt cx="314" cy="83"/>
            </a:xfrm>
          </p:grpSpPr>
          <p:sp>
            <p:nvSpPr>
              <p:cNvPr id="27747" name="Line 65"/>
              <p:cNvSpPr>
                <a:spLocks noChangeShapeType="1"/>
              </p:cNvSpPr>
              <p:nvPr/>
            </p:nvSpPr>
            <p:spPr bwMode="auto">
              <a:xfrm flipH="1" flipV="1">
                <a:off x="1636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8" name="Line 66"/>
              <p:cNvSpPr>
                <a:spLocks noChangeShapeType="1"/>
              </p:cNvSpPr>
              <p:nvPr/>
            </p:nvSpPr>
            <p:spPr bwMode="auto">
              <a:xfrm flipH="1" flipV="1">
                <a:off x="1327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9" name="Line 67"/>
              <p:cNvSpPr>
                <a:spLocks noChangeShapeType="1"/>
              </p:cNvSpPr>
              <p:nvPr/>
            </p:nvSpPr>
            <p:spPr bwMode="auto">
              <a:xfrm flipH="1">
                <a:off x="1324" y="3566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27660" name="Picture 6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4603750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1" name="Line 69"/>
          <p:cNvSpPr>
            <a:spLocks noChangeShapeType="1"/>
          </p:cNvSpPr>
          <p:nvPr/>
        </p:nvSpPr>
        <p:spPr bwMode="auto">
          <a:xfrm flipH="1" flipV="1">
            <a:off x="1847850" y="4108450"/>
            <a:ext cx="0" cy="279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Line 70"/>
          <p:cNvSpPr>
            <a:spLocks noChangeShapeType="1"/>
          </p:cNvSpPr>
          <p:nvPr/>
        </p:nvSpPr>
        <p:spPr bwMode="auto">
          <a:xfrm flipH="1">
            <a:off x="1836738" y="4100513"/>
            <a:ext cx="752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3" name="Line 71"/>
          <p:cNvSpPr>
            <a:spLocks noChangeShapeType="1"/>
          </p:cNvSpPr>
          <p:nvPr/>
        </p:nvSpPr>
        <p:spPr bwMode="auto">
          <a:xfrm rot="5400000" flipH="1">
            <a:off x="2541587" y="4132263"/>
            <a:ext cx="9842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7664" name="Group 72"/>
          <p:cNvGrpSpPr>
            <a:grpSpLocks/>
          </p:cNvGrpSpPr>
          <p:nvPr/>
        </p:nvGrpSpPr>
        <p:grpSpPr bwMode="auto">
          <a:xfrm>
            <a:off x="3294063" y="5527675"/>
            <a:ext cx="760412" cy="1216025"/>
            <a:chOff x="2072" y="3380"/>
            <a:chExt cx="479" cy="802"/>
          </a:xfrm>
        </p:grpSpPr>
        <p:pic>
          <p:nvPicPr>
            <p:cNvPr id="27739" name="Picture 73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40" name="Picture 74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41" name="Group 75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7742" name="Line 76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3" name="Line 77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4" name="Line 78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7665" name="Group 79"/>
          <p:cNvGrpSpPr>
            <a:grpSpLocks/>
          </p:cNvGrpSpPr>
          <p:nvPr/>
        </p:nvGrpSpPr>
        <p:grpSpPr bwMode="auto">
          <a:xfrm>
            <a:off x="1293813" y="5491163"/>
            <a:ext cx="776287" cy="1252537"/>
            <a:chOff x="2663" y="3356"/>
            <a:chExt cx="489" cy="789"/>
          </a:xfrm>
        </p:grpSpPr>
        <p:pic>
          <p:nvPicPr>
            <p:cNvPr id="27733" name="Picture 8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800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34" name="Picture 8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" y="3707"/>
              <a:ext cx="33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35" name="Group 82"/>
            <p:cNvGrpSpPr>
              <a:grpSpLocks/>
            </p:cNvGrpSpPr>
            <p:nvPr/>
          </p:nvGrpSpPr>
          <p:grpSpPr bwMode="auto">
            <a:xfrm>
              <a:off x="2758" y="3356"/>
              <a:ext cx="314" cy="209"/>
              <a:chOff x="2170" y="3380"/>
              <a:chExt cx="314" cy="185"/>
            </a:xfrm>
          </p:grpSpPr>
          <p:sp>
            <p:nvSpPr>
              <p:cNvPr id="27736" name="Line 8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37" name="Line 8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38" name="Line 8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7666" name="Group 86"/>
          <p:cNvGrpSpPr>
            <a:grpSpLocks/>
          </p:cNvGrpSpPr>
          <p:nvPr/>
        </p:nvGrpSpPr>
        <p:grpSpPr bwMode="auto">
          <a:xfrm>
            <a:off x="4586288" y="5518150"/>
            <a:ext cx="815975" cy="1206500"/>
            <a:chOff x="2889" y="3476"/>
            <a:chExt cx="514" cy="760"/>
          </a:xfrm>
        </p:grpSpPr>
        <p:pic>
          <p:nvPicPr>
            <p:cNvPr id="27727" name="Picture 8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" y="3691"/>
              <a:ext cx="19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28" name="Picture 8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" y="3751"/>
              <a:ext cx="25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29" name="Group 89"/>
            <p:cNvGrpSpPr>
              <a:grpSpLocks/>
            </p:cNvGrpSpPr>
            <p:nvPr/>
          </p:nvGrpSpPr>
          <p:grpSpPr bwMode="auto">
            <a:xfrm>
              <a:off x="3010" y="3476"/>
              <a:ext cx="314" cy="195"/>
              <a:chOff x="2170" y="3380"/>
              <a:chExt cx="314" cy="185"/>
            </a:xfrm>
          </p:grpSpPr>
          <p:sp>
            <p:nvSpPr>
              <p:cNvPr id="27730" name="Line 90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31" name="Line 91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32" name="Line 92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7667" name="Text Box 93"/>
          <p:cNvSpPr txBox="1">
            <a:spLocks noChangeArrowheads="1"/>
          </p:cNvSpPr>
          <p:nvPr/>
        </p:nvSpPr>
        <p:spPr bwMode="auto">
          <a:xfrm>
            <a:off x="4117975" y="5946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/>
              <a:t>…</a:t>
            </a:r>
          </a:p>
        </p:txBody>
      </p:sp>
      <p:sp>
        <p:nvSpPr>
          <p:cNvPr id="27668" name="Text Box 94"/>
          <p:cNvSpPr txBox="1">
            <a:spLocks noChangeArrowheads="1"/>
          </p:cNvSpPr>
          <p:nvPr/>
        </p:nvSpPr>
        <p:spPr bwMode="auto">
          <a:xfrm>
            <a:off x="0" y="5661025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Consider all possible merges…</a:t>
            </a:r>
          </a:p>
        </p:txBody>
      </p:sp>
      <p:sp>
        <p:nvSpPr>
          <p:cNvPr id="27669" name="Text Box 95"/>
          <p:cNvSpPr txBox="1">
            <a:spLocks noChangeArrowheads="1"/>
          </p:cNvSpPr>
          <p:nvPr/>
        </p:nvSpPr>
        <p:spPr bwMode="auto">
          <a:xfrm>
            <a:off x="5686425" y="56991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Choose the best</a:t>
            </a:r>
          </a:p>
        </p:txBody>
      </p:sp>
      <p:sp>
        <p:nvSpPr>
          <p:cNvPr id="27670" name="Rectangle 96"/>
          <p:cNvSpPr>
            <a:spLocks noChangeArrowheads="1"/>
          </p:cNvSpPr>
          <p:nvPr/>
        </p:nvSpPr>
        <p:spPr bwMode="auto">
          <a:xfrm>
            <a:off x="0" y="5257800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7671" name="Rectangle 97"/>
          <p:cNvSpPr>
            <a:spLocks noChangeArrowheads="1"/>
          </p:cNvSpPr>
          <p:nvPr/>
        </p:nvSpPr>
        <p:spPr bwMode="auto">
          <a:xfrm>
            <a:off x="0" y="3790950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7672" name="Rectangle 98"/>
          <p:cNvSpPr>
            <a:spLocks noChangeArrowheads="1"/>
          </p:cNvSpPr>
          <p:nvPr/>
        </p:nvSpPr>
        <p:spPr bwMode="auto">
          <a:xfrm>
            <a:off x="0" y="2000250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7673" name="Text Box 99"/>
          <p:cNvSpPr txBox="1">
            <a:spLocks noChangeArrowheads="1"/>
          </p:cNvSpPr>
          <p:nvPr/>
        </p:nvSpPr>
        <p:spPr bwMode="auto">
          <a:xfrm>
            <a:off x="0" y="408940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Consider all possible merges…</a:t>
            </a:r>
          </a:p>
        </p:txBody>
      </p:sp>
      <p:grpSp>
        <p:nvGrpSpPr>
          <p:cNvPr id="27674" name="Group 100"/>
          <p:cNvGrpSpPr>
            <a:grpSpLocks/>
          </p:cNvGrpSpPr>
          <p:nvPr/>
        </p:nvGrpSpPr>
        <p:grpSpPr bwMode="auto">
          <a:xfrm>
            <a:off x="2116138" y="4184650"/>
            <a:ext cx="1027112" cy="973138"/>
            <a:chOff x="1267" y="3584"/>
            <a:chExt cx="647" cy="613"/>
          </a:xfrm>
        </p:grpSpPr>
        <p:grpSp>
          <p:nvGrpSpPr>
            <p:cNvPr id="27721" name="Group 101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7725" name="Picture 10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26" name="Picture 10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22" name="Line 104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Line 105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Line 106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7675" name="Picture 10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400" y="4606925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6" name="Picture 108" descr="C:\Documents and Settings\eamonn\Desktop\bios_family_marge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4219575"/>
            <a:ext cx="30162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77" name="Group 109"/>
          <p:cNvGrpSpPr>
            <a:grpSpLocks/>
          </p:cNvGrpSpPr>
          <p:nvPr/>
        </p:nvGrpSpPr>
        <p:grpSpPr bwMode="auto">
          <a:xfrm>
            <a:off x="3390900" y="3998913"/>
            <a:ext cx="500063" cy="268287"/>
            <a:chOff x="2112" y="2976"/>
            <a:chExt cx="703" cy="377"/>
          </a:xfrm>
        </p:grpSpPr>
        <p:sp>
          <p:nvSpPr>
            <p:cNvPr id="27718" name="Line 110"/>
            <p:cNvSpPr>
              <a:spLocks noChangeShapeType="1"/>
            </p:cNvSpPr>
            <p:nvPr/>
          </p:nvSpPr>
          <p:spPr bwMode="auto">
            <a:xfrm flipH="1" flipV="1">
              <a:off x="2810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Line 111"/>
            <p:cNvSpPr>
              <a:spLocks noChangeShapeType="1"/>
            </p:cNvSpPr>
            <p:nvPr/>
          </p:nvSpPr>
          <p:spPr bwMode="auto">
            <a:xfrm flipH="1" flipV="1">
              <a:off x="2118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Line 112"/>
            <p:cNvSpPr>
              <a:spLocks noChangeShapeType="1"/>
            </p:cNvSpPr>
            <p:nvPr/>
          </p:nvSpPr>
          <p:spPr bwMode="auto">
            <a:xfrm flipH="1">
              <a:off x="2112" y="2976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78" name="Group 113"/>
          <p:cNvGrpSpPr>
            <a:grpSpLocks/>
          </p:cNvGrpSpPr>
          <p:nvPr/>
        </p:nvGrpSpPr>
        <p:grpSpPr bwMode="auto">
          <a:xfrm>
            <a:off x="4608513" y="3994150"/>
            <a:ext cx="760412" cy="1216025"/>
            <a:chOff x="2072" y="3380"/>
            <a:chExt cx="479" cy="802"/>
          </a:xfrm>
        </p:grpSpPr>
        <p:pic>
          <p:nvPicPr>
            <p:cNvPr id="27712" name="Picture 114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13" name="Picture 11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14" name="Group 116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7715" name="Line 117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16" name="Line 118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17" name="Line 119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7679" name="Text Box 120"/>
          <p:cNvSpPr txBox="1">
            <a:spLocks noChangeArrowheads="1"/>
          </p:cNvSpPr>
          <p:nvPr/>
        </p:nvSpPr>
        <p:spPr bwMode="auto">
          <a:xfrm>
            <a:off x="4051300" y="45180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/>
              <a:t>…</a:t>
            </a:r>
          </a:p>
        </p:txBody>
      </p:sp>
      <p:sp>
        <p:nvSpPr>
          <p:cNvPr id="27680" name="Text Box 121"/>
          <p:cNvSpPr txBox="1">
            <a:spLocks noChangeArrowheads="1"/>
          </p:cNvSpPr>
          <p:nvPr/>
        </p:nvSpPr>
        <p:spPr bwMode="auto">
          <a:xfrm>
            <a:off x="5686425" y="4213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Choose the best</a:t>
            </a:r>
          </a:p>
        </p:txBody>
      </p:sp>
      <p:sp>
        <p:nvSpPr>
          <p:cNvPr id="27681" name="Text Box 122"/>
          <p:cNvSpPr txBox="1">
            <a:spLocks noChangeArrowheads="1"/>
          </p:cNvSpPr>
          <p:nvPr/>
        </p:nvSpPr>
        <p:spPr bwMode="auto">
          <a:xfrm>
            <a:off x="0" y="254635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Consider all possible merges…</a:t>
            </a:r>
          </a:p>
        </p:txBody>
      </p:sp>
      <p:grpSp>
        <p:nvGrpSpPr>
          <p:cNvPr id="27682" name="Group 123"/>
          <p:cNvGrpSpPr>
            <a:grpSpLocks/>
          </p:cNvGrpSpPr>
          <p:nvPr/>
        </p:nvGrpSpPr>
        <p:grpSpPr bwMode="auto">
          <a:xfrm>
            <a:off x="1765300" y="2400300"/>
            <a:ext cx="1806575" cy="1331913"/>
            <a:chOff x="746" y="1753"/>
            <a:chExt cx="1138" cy="839"/>
          </a:xfrm>
        </p:grpSpPr>
        <p:pic>
          <p:nvPicPr>
            <p:cNvPr id="27697" name="Picture 12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" y="2252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98" name="Picture 12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" y="200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699" name="Group 126"/>
            <p:cNvGrpSpPr>
              <a:grpSpLocks/>
            </p:cNvGrpSpPr>
            <p:nvPr/>
          </p:nvGrpSpPr>
          <p:grpSpPr bwMode="auto">
            <a:xfrm>
              <a:off x="1237" y="2109"/>
              <a:ext cx="647" cy="462"/>
              <a:chOff x="252" y="2364"/>
              <a:chExt cx="2258" cy="1608"/>
            </a:xfrm>
          </p:grpSpPr>
          <p:pic>
            <p:nvPicPr>
              <p:cNvPr id="27710" name="Picture 12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11" name="Picture 128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00" name="Line 129"/>
            <p:cNvSpPr>
              <a:spLocks noChangeShapeType="1"/>
            </p:cNvSpPr>
            <p:nvPr/>
          </p:nvSpPr>
          <p:spPr bwMode="auto">
            <a:xfrm flipH="1" flipV="1">
              <a:off x="1708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Line 130"/>
            <p:cNvSpPr>
              <a:spLocks noChangeShapeType="1"/>
            </p:cNvSpPr>
            <p:nvPr/>
          </p:nvSpPr>
          <p:spPr bwMode="auto">
            <a:xfrm flipH="1" flipV="1">
              <a:off x="1399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Line 131"/>
            <p:cNvSpPr>
              <a:spLocks noChangeShapeType="1"/>
            </p:cNvSpPr>
            <p:nvPr/>
          </p:nvSpPr>
          <p:spPr bwMode="auto">
            <a:xfrm flipH="1">
              <a:off x="1396" y="1958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Line 132"/>
            <p:cNvSpPr>
              <a:spLocks noChangeShapeType="1"/>
            </p:cNvSpPr>
            <p:nvPr/>
          </p:nvSpPr>
          <p:spPr bwMode="auto">
            <a:xfrm flipH="1">
              <a:off x="936" y="1753"/>
              <a:ext cx="61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Line 133"/>
            <p:cNvSpPr>
              <a:spLocks noChangeShapeType="1"/>
            </p:cNvSpPr>
            <p:nvPr/>
          </p:nvSpPr>
          <p:spPr bwMode="auto">
            <a:xfrm rot="5400000" flipH="1">
              <a:off x="1450" y="1858"/>
              <a:ext cx="20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705" name="Group 134"/>
            <p:cNvGrpSpPr>
              <a:grpSpLocks/>
            </p:cNvGrpSpPr>
            <p:nvPr/>
          </p:nvGrpSpPr>
          <p:grpSpPr bwMode="auto">
            <a:xfrm>
              <a:off x="786" y="1869"/>
              <a:ext cx="315" cy="169"/>
              <a:chOff x="2112" y="2976"/>
              <a:chExt cx="703" cy="377"/>
            </a:xfrm>
          </p:grpSpPr>
          <p:sp>
            <p:nvSpPr>
              <p:cNvPr id="27707" name="Line 135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8" name="Line 136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9" name="Line 137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706" name="Line 138"/>
            <p:cNvSpPr>
              <a:spLocks noChangeShapeType="1"/>
            </p:cNvSpPr>
            <p:nvPr/>
          </p:nvSpPr>
          <p:spPr bwMode="auto">
            <a:xfrm rot="5400000" flipH="1">
              <a:off x="878" y="1814"/>
              <a:ext cx="11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83" name="Group 139"/>
          <p:cNvGrpSpPr>
            <a:grpSpLocks/>
          </p:cNvGrpSpPr>
          <p:nvPr/>
        </p:nvGrpSpPr>
        <p:grpSpPr bwMode="auto">
          <a:xfrm>
            <a:off x="4184650" y="2511425"/>
            <a:ext cx="1416050" cy="1127125"/>
            <a:chOff x="2342" y="1528"/>
            <a:chExt cx="892" cy="710"/>
          </a:xfrm>
        </p:grpSpPr>
        <p:sp>
          <p:nvSpPr>
            <p:cNvPr id="27686" name="Line 140"/>
            <p:cNvSpPr>
              <a:spLocks noChangeShapeType="1"/>
            </p:cNvSpPr>
            <p:nvPr/>
          </p:nvSpPr>
          <p:spPr bwMode="auto">
            <a:xfrm flipH="1" flipV="1">
              <a:off x="2418" y="1544"/>
              <a:ext cx="0" cy="17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7" name="Line 141"/>
            <p:cNvSpPr>
              <a:spLocks noChangeShapeType="1"/>
            </p:cNvSpPr>
            <p:nvPr/>
          </p:nvSpPr>
          <p:spPr bwMode="auto">
            <a:xfrm flipH="1">
              <a:off x="2411" y="1539"/>
              <a:ext cx="47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Line 142"/>
            <p:cNvSpPr>
              <a:spLocks noChangeShapeType="1"/>
            </p:cNvSpPr>
            <p:nvPr/>
          </p:nvSpPr>
          <p:spPr bwMode="auto">
            <a:xfrm rot="5400000" flipH="1">
              <a:off x="2855" y="1559"/>
              <a:ext cx="6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689" name="Group 143"/>
            <p:cNvGrpSpPr>
              <a:grpSpLocks/>
            </p:cNvGrpSpPr>
            <p:nvPr/>
          </p:nvGrpSpPr>
          <p:grpSpPr bwMode="auto">
            <a:xfrm>
              <a:off x="2587" y="1592"/>
              <a:ext cx="647" cy="613"/>
              <a:chOff x="1267" y="3584"/>
              <a:chExt cx="647" cy="613"/>
            </a:xfrm>
          </p:grpSpPr>
          <p:grpSp>
            <p:nvGrpSpPr>
              <p:cNvPr id="27691" name="Group 144"/>
              <p:cNvGrpSpPr>
                <a:grpSpLocks/>
              </p:cNvGrpSpPr>
              <p:nvPr/>
            </p:nvGrpSpPr>
            <p:grpSpPr bwMode="auto">
              <a:xfrm>
                <a:off x="1267" y="3735"/>
                <a:ext cx="647" cy="462"/>
                <a:chOff x="252" y="2364"/>
                <a:chExt cx="2258" cy="1608"/>
              </a:xfrm>
            </p:grpSpPr>
            <p:pic>
              <p:nvPicPr>
                <p:cNvPr id="27695" name="Picture 145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2" y="2364"/>
                  <a:ext cx="900" cy="16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696" name="Picture 146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56" y="2412"/>
                  <a:ext cx="1154" cy="15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7692" name="Line 147"/>
              <p:cNvSpPr>
                <a:spLocks noChangeShapeType="1"/>
              </p:cNvSpPr>
              <p:nvPr/>
            </p:nvSpPr>
            <p:spPr bwMode="auto">
              <a:xfrm flipH="1" flipV="1">
                <a:off x="1738" y="3584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93" name="Line 148"/>
              <p:cNvSpPr>
                <a:spLocks noChangeShapeType="1"/>
              </p:cNvSpPr>
              <p:nvPr/>
            </p:nvSpPr>
            <p:spPr bwMode="auto">
              <a:xfrm flipH="1" flipV="1">
                <a:off x="1429" y="3584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94" name="Line 149"/>
              <p:cNvSpPr>
                <a:spLocks noChangeShapeType="1"/>
              </p:cNvSpPr>
              <p:nvPr/>
            </p:nvSpPr>
            <p:spPr bwMode="auto">
              <a:xfrm flipH="1">
                <a:off x="1426" y="3584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7690" name="Picture 150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2" y="175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684" name="Text Box 151"/>
          <p:cNvSpPr txBox="1">
            <a:spLocks noChangeArrowheads="1"/>
          </p:cNvSpPr>
          <p:nvPr/>
        </p:nvSpPr>
        <p:spPr bwMode="auto">
          <a:xfrm>
            <a:off x="5686425" y="2689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Choose the best</a:t>
            </a:r>
          </a:p>
        </p:txBody>
      </p:sp>
      <p:sp>
        <p:nvSpPr>
          <p:cNvPr id="27685" name="Text Box 152"/>
          <p:cNvSpPr txBox="1">
            <a:spLocks noChangeArrowheads="1"/>
          </p:cNvSpPr>
          <p:nvPr/>
        </p:nvSpPr>
        <p:spPr bwMode="auto">
          <a:xfrm>
            <a:off x="3632200" y="29559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09646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/>
          <p:cNvSpPr txBox="1">
            <a:spLocks noChangeArrowheads="1"/>
          </p:cNvSpPr>
          <p:nvPr/>
        </p:nvSpPr>
        <p:spPr bwMode="auto">
          <a:xfrm>
            <a:off x="457200" y="762000"/>
            <a:ext cx="79406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We know how to measure the distance between two objects, but defining the distance between an object and a cluster, or defining the distance between two clusters is non obvious.  </a:t>
            </a:r>
          </a:p>
        </p:txBody>
      </p:sp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228600" y="2743200"/>
            <a:ext cx="8321675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buFontTx/>
              <a:buChar char="•"/>
              <a:defRPr/>
            </a:pPr>
            <a:r>
              <a:rPr lang="en-US" altLang="en-US" b="1"/>
              <a:t> </a:t>
            </a:r>
            <a:r>
              <a:rPr kumimoji="1" lang="en-US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-111" charset="0"/>
              </a:rPr>
              <a:t>Single linkage (nearest neighbor):</a:t>
            </a:r>
            <a:r>
              <a:rPr lang="en-US" altLang="en-US"/>
              <a:t> </a:t>
            </a:r>
            <a:r>
              <a:rPr lang="en-US" altLang="en-US" sz="2000"/>
              <a:t>In this method the distance between two clusters is determined by the distance of the two closest objects (nearest neighbors) in the different clusters.</a:t>
            </a:r>
          </a:p>
          <a:p>
            <a:pPr>
              <a:buFontTx/>
              <a:buChar char="•"/>
              <a:defRPr/>
            </a:pPr>
            <a:r>
              <a:rPr lang="en-US" altLang="en-US"/>
              <a:t> </a:t>
            </a:r>
            <a:r>
              <a:rPr kumimoji="1" lang="en-US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-111" charset="0"/>
              </a:rPr>
              <a:t>Complete linkage (furthest neighbor):</a:t>
            </a:r>
            <a:r>
              <a:rPr lang="en-US" altLang="en-US" b="1"/>
              <a:t> </a:t>
            </a:r>
            <a:r>
              <a:rPr lang="en-US" altLang="en-US" sz="2000"/>
              <a:t>In this method, the distances between clusters are determined by the greatest distance between any two objects in the different clusters (i.e., by the "furthest neighbors").</a:t>
            </a:r>
            <a:r>
              <a:rPr lang="en-US" altLang="en-US"/>
              <a:t> </a:t>
            </a:r>
          </a:p>
          <a:p>
            <a:pPr>
              <a:buFontTx/>
              <a:buChar char="•"/>
              <a:defRPr/>
            </a:pPr>
            <a:r>
              <a:rPr lang="en-US" altLang="en-US" b="1"/>
              <a:t> </a:t>
            </a:r>
            <a:r>
              <a:rPr kumimoji="1" lang="en-US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-111" charset="0"/>
              </a:rPr>
              <a:t>Group average linkage</a:t>
            </a:r>
            <a:r>
              <a:rPr lang="en-US" altLang="en-US" b="1"/>
              <a:t>:</a:t>
            </a:r>
            <a:r>
              <a:rPr lang="en-US" altLang="en-US"/>
              <a:t> </a:t>
            </a:r>
            <a:r>
              <a:rPr lang="en-US" altLang="en-US" sz="2000"/>
              <a:t>In this method, the distance between two clusters is calculated as the average distance between all pairs of objects in the two different clusters</a:t>
            </a:r>
            <a:r>
              <a:rPr lang="en-US" altLang="en-US"/>
              <a:t>.</a:t>
            </a:r>
          </a:p>
          <a:p>
            <a:pPr>
              <a:buFontTx/>
              <a:buChar char="•"/>
              <a:defRPr/>
            </a:pPr>
            <a:endParaRPr lang="en-US" altLang="en-US" sz="2000"/>
          </a:p>
        </p:txBody>
      </p:sp>
      <p:sp>
        <p:nvSpPr>
          <p:cNvPr id="28676" name="TextBox 3"/>
          <p:cNvSpPr txBox="1">
            <a:spLocks noChangeArrowheads="1"/>
          </p:cNvSpPr>
          <p:nvPr/>
        </p:nvSpPr>
        <p:spPr bwMode="auto">
          <a:xfrm>
            <a:off x="4776788" y="39211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517335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63500" y="3565525"/>
            <a:ext cx="4156075" cy="2565400"/>
            <a:chOff x="674" y="1081"/>
            <a:chExt cx="4632" cy="2859"/>
          </a:xfrm>
        </p:grpSpPr>
        <p:sp>
          <p:nvSpPr>
            <p:cNvPr id="29704" name="Rectangle 3"/>
            <p:cNvSpPr>
              <a:spLocks noChangeArrowheads="1"/>
            </p:cNvSpPr>
            <p:nvPr/>
          </p:nvSpPr>
          <p:spPr bwMode="auto">
            <a:xfrm>
              <a:off x="674" y="1081"/>
              <a:ext cx="4632" cy="28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05" name="Rectangle 4"/>
            <p:cNvSpPr>
              <a:spLocks noChangeArrowheads="1"/>
            </p:cNvSpPr>
            <p:nvPr/>
          </p:nvSpPr>
          <p:spPr bwMode="auto">
            <a:xfrm>
              <a:off x="823" y="3800"/>
              <a:ext cx="149" cy="14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06" name="Freeform 5"/>
            <p:cNvSpPr>
              <a:spLocks/>
            </p:cNvSpPr>
            <p:nvPr/>
          </p:nvSpPr>
          <p:spPr bwMode="auto">
            <a:xfrm>
              <a:off x="898" y="3800"/>
              <a:ext cx="224" cy="140"/>
            </a:xfrm>
            <a:custGeom>
              <a:avLst/>
              <a:gdLst>
                <a:gd name="T0" fmla="*/ 0 w 170"/>
                <a:gd name="T1" fmla="*/ 0 h 106"/>
                <a:gd name="T2" fmla="*/ 224 w 170"/>
                <a:gd name="T3" fmla="*/ 0 h 106"/>
                <a:gd name="T4" fmla="*/ 224 w 170"/>
                <a:gd name="T5" fmla="*/ 140 h 106"/>
                <a:gd name="T6" fmla="*/ 0 60000 65536"/>
                <a:gd name="T7" fmla="*/ 0 60000 65536"/>
                <a:gd name="T8" fmla="*/ 0 60000 65536"/>
                <a:gd name="T9" fmla="*/ 0 w 170"/>
                <a:gd name="T10" fmla="*/ 0 h 106"/>
                <a:gd name="T11" fmla="*/ 170 w 170"/>
                <a:gd name="T12" fmla="*/ 106 h 1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06">
                  <a:moveTo>
                    <a:pt x="0" y="0"/>
                  </a:moveTo>
                  <a:lnTo>
                    <a:pt x="170" y="0"/>
                  </a:lnTo>
                  <a:lnTo>
                    <a:pt x="170" y="10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7" name="Rectangle 6"/>
            <p:cNvSpPr>
              <a:spLocks noChangeArrowheads="1"/>
            </p:cNvSpPr>
            <p:nvPr/>
          </p:nvSpPr>
          <p:spPr bwMode="auto">
            <a:xfrm>
              <a:off x="3214" y="3792"/>
              <a:ext cx="149" cy="148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08" name="Rectangle 7"/>
            <p:cNvSpPr>
              <a:spLocks noChangeArrowheads="1"/>
            </p:cNvSpPr>
            <p:nvPr/>
          </p:nvSpPr>
          <p:spPr bwMode="auto">
            <a:xfrm>
              <a:off x="1719" y="3779"/>
              <a:ext cx="151" cy="161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09" name="Freeform 8"/>
            <p:cNvSpPr>
              <a:spLocks/>
            </p:cNvSpPr>
            <p:nvPr/>
          </p:nvSpPr>
          <p:spPr bwMode="auto">
            <a:xfrm>
              <a:off x="1010" y="3779"/>
              <a:ext cx="261" cy="161"/>
            </a:xfrm>
            <a:custGeom>
              <a:avLst/>
              <a:gdLst>
                <a:gd name="T0" fmla="*/ 0 w 198"/>
                <a:gd name="T1" fmla="*/ 21 h 122"/>
                <a:gd name="T2" fmla="*/ 0 w 198"/>
                <a:gd name="T3" fmla="*/ 0 h 122"/>
                <a:gd name="T4" fmla="*/ 261 w 198"/>
                <a:gd name="T5" fmla="*/ 0 h 122"/>
                <a:gd name="T6" fmla="*/ 261 w 198"/>
                <a:gd name="T7" fmla="*/ 161 h 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22"/>
                <a:gd name="T14" fmla="*/ 198 w 198"/>
                <a:gd name="T15" fmla="*/ 122 h 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22">
                  <a:moveTo>
                    <a:pt x="0" y="16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Freeform 9"/>
            <p:cNvSpPr>
              <a:spLocks/>
            </p:cNvSpPr>
            <p:nvPr/>
          </p:nvSpPr>
          <p:spPr bwMode="auto">
            <a:xfrm>
              <a:off x="1794" y="3779"/>
              <a:ext cx="225" cy="161"/>
            </a:xfrm>
            <a:custGeom>
              <a:avLst/>
              <a:gdLst>
                <a:gd name="T0" fmla="*/ 0 w 170"/>
                <a:gd name="T1" fmla="*/ 0 h 122"/>
                <a:gd name="T2" fmla="*/ 225 w 170"/>
                <a:gd name="T3" fmla="*/ 0 h 122"/>
                <a:gd name="T4" fmla="*/ 225 w 170"/>
                <a:gd name="T5" fmla="*/ 161 h 122"/>
                <a:gd name="T6" fmla="*/ 0 60000 65536"/>
                <a:gd name="T7" fmla="*/ 0 60000 65536"/>
                <a:gd name="T8" fmla="*/ 0 60000 65536"/>
                <a:gd name="T9" fmla="*/ 0 w 170"/>
                <a:gd name="T10" fmla="*/ 0 h 122"/>
                <a:gd name="T11" fmla="*/ 170 w 170"/>
                <a:gd name="T12" fmla="*/ 122 h 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22">
                  <a:moveTo>
                    <a:pt x="0" y="0"/>
                  </a:moveTo>
                  <a:lnTo>
                    <a:pt x="170" y="0"/>
                  </a:lnTo>
                  <a:lnTo>
                    <a:pt x="170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Freeform 10"/>
            <p:cNvSpPr>
              <a:spLocks/>
            </p:cNvSpPr>
            <p:nvPr/>
          </p:nvSpPr>
          <p:spPr bwMode="auto">
            <a:xfrm>
              <a:off x="1137" y="3771"/>
              <a:ext cx="283" cy="169"/>
            </a:xfrm>
            <a:custGeom>
              <a:avLst/>
              <a:gdLst>
                <a:gd name="T0" fmla="*/ 0 w 215"/>
                <a:gd name="T1" fmla="*/ 8 h 128"/>
                <a:gd name="T2" fmla="*/ 0 w 215"/>
                <a:gd name="T3" fmla="*/ 0 h 128"/>
                <a:gd name="T4" fmla="*/ 283 w 215"/>
                <a:gd name="T5" fmla="*/ 0 h 128"/>
                <a:gd name="T6" fmla="*/ 283 w 215"/>
                <a:gd name="T7" fmla="*/ 169 h 1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5"/>
                <a:gd name="T13" fmla="*/ 0 h 128"/>
                <a:gd name="T14" fmla="*/ 215 w 215"/>
                <a:gd name="T15" fmla="*/ 128 h 1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5" h="128">
                  <a:moveTo>
                    <a:pt x="0" y="6"/>
                  </a:moveTo>
                  <a:lnTo>
                    <a:pt x="0" y="0"/>
                  </a:lnTo>
                  <a:lnTo>
                    <a:pt x="215" y="0"/>
                  </a:lnTo>
                  <a:lnTo>
                    <a:pt x="215" y="12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Rectangle 11"/>
            <p:cNvSpPr>
              <a:spLocks noChangeArrowheads="1"/>
            </p:cNvSpPr>
            <p:nvPr/>
          </p:nvSpPr>
          <p:spPr bwMode="auto">
            <a:xfrm>
              <a:off x="3662" y="3771"/>
              <a:ext cx="149" cy="169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13" name="Rectangle 12"/>
            <p:cNvSpPr>
              <a:spLocks noChangeArrowheads="1"/>
            </p:cNvSpPr>
            <p:nvPr/>
          </p:nvSpPr>
          <p:spPr bwMode="auto">
            <a:xfrm>
              <a:off x="2467" y="3758"/>
              <a:ext cx="149" cy="18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14" name="Rectangle 13"/>
            <p:cNvSpPr>
              <a:spLocks noChangeArrowheads="1"/>
            </p:cNvSpPr>
            <p:nvPr/>
          </p:nvSpPr>
          <p:spPr bwMode="auto">
            <a:xfrm>
              <a:off x="4110" y="3750"/>
              <a:ext cx="151" cy="19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15" name="Freeform 14"/>
            <p:cNvSpPr>
              <a:spLocks/>
            </p:cNvSpPr>
            <p:nvPr/>
          </p:nvSpPr>
          <p:spPr bwMode="auto">
            <a:xfrm>
              <a:off x="4186" y="3750"/>
              <a:ext cx="224" cy="190"/>
            </a:xfrm>
            <a:custGeom>
              <a:avLst/>
              <a:gdLst>
                <a:gd name="T0" fmla="*/ 0 w 170"/>
                <a:gd name="T1" fmla="*/ 0 h 144"/>
                <a:gd name="T2" fmla="*/ 224 w 170"/>
                <a:gd name="T3" fmla="*/ 0 h 144"/>
                <a:gd name="T4" fmla="*/ 224 w 170"/>
                <a:gd name="T5" fmla="*/ 190 h 144"/>
                <a:gd name="T6" fmla="*/ 0 60000 65536"/>
                <a:gd name="T7" fmla="*/ 0 60000 65536"/>
                <a:gd name="T8" fmla="*/ 0 60000 65536"/>
                <a:gd name="T9" fmla="*/ 0 w 170"/>
                <a:gd name="T10" fmla="*/ 0 h 144"/>
                <a:gd name="T11" fmla="*/ 170 w 17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44">
                  <a:moveTo>
                    <a:pt x="0" y="0"/>
                  </a:moveTo>
                  <a:lnTo>
                    <a:pt x="170" y="0"/>
                  </a:lnTo>
                  <a:lnTo>
                    <a:pt x="170" y="14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Freeform 15"/>
            <p:cNvSpPr>
              <a:spLocks/>
            </p:cNvSpPr>
            <p:nvPr/>
          </p:nvSpPr>
          <p:spPr bwMode="auto">
            <a:xfrm>
              <a:off x="3513" y="3744"/>
              <a:ext cx="224" cy="196"/>
            </a:xfrm>
            <a:custGeom>
              <a:avLst/>
              <a:gdLst>
                <a:gd name="T0" fmla="*/ 0 w 170"/>
                <a:gd name="T1" fmla="*/ 196 h 149"/>
                <a:gd name="T2" fmla="*/ 0 w 170"/>
                <a:gd name="T3" fmla="*/ 0 h 149"/>
                <a:gd name="T4" fmla="*/ 224 w 170"/>
                <a:gd name="T5" fmla="*/ 0 h 149"/>
                <a:gd name="T6" fmla="*/ 224 w 170"/>
                <a:gd name="T7" fmla="*/ 28 h 1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49"/>
                <a:gd name="T14" fmla="*/ 170 w 170"/>
                <a:gd name="T15" fmla="*/ 149 h 1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49">
                  <a:moveTo>
                    <a:pt x="0" y="149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21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7" name="Freeform 16"/>
            <p:cNvSpPr>
              <a:spLocks/>
            </p:cNvSpPr>
            <p:nvPr/>
          </p:nvSpPr>
          <p:spPr bwMode="auto">
            <a:xfrm>
              <a:off x="1279" y="3744"/>
              <a:ext cx="291" cy="196"/>
            </a:xfrm>
            <a:custGeom>
              <a:avLst/>
              <a:gdLst>
                <a:gd name="T0" fmla="*/ 0 w 221"/>
                <a:gd name="T1" fmla="*/ 28 h 149"/>
                <a:gd name="T2" fmla="*/ 0 w 221"/>
                <a:gd name="T3" fmla="*/ 0 h 149"/>
                <a:gd name="T4" fmla="*/ 291 w 221"/>
                <a:gd name="T5" fmla="*/ 0 h 149"/>
                <a:gd name="T6" fmla="*/ 291 w 221"/>
                <a:gd name="T7" fmla="*/ 196 h 1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1"/>
                <a:gd name="T13" fmla="*/ 0 h 149"/>
                <a:gd name="T14" fmla="*/ 221 w 221"/>
                <a:gd name="T15" fmla="*/ 149 h 1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1" h="149">
                  <a:moveTo>
                    <a:pt x="0" y="21"/>
                  </a:moveTo>
                  <a:lnTo>
                    <a:pt x="0" y="0"/>
                  </a:lnTo>
                  <a:lnTo>
                    <a:pt x="221" y="0"/>
                  </a:lnTo>
                  <a:lnTo>
                    <a:pt x="221" y="14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Freeform 17"/>
            <p:cNvSpPr>
              <a:spLocks/>
            </p:cNvSpPr>
            <p:nvPr/>
          </p:nvSpPr>
          <p:spPr bwMode="auto">
            <a:xfrm>
              <a:off x="3289" y="3723"/>
              <a:ext cx="336" cy="69"/>
            </a:xfrm>
            <a:custGeom>
              <a:avLst/>
              <a:gdLst>
                <a:gd name="T0" fmla="*/ 0 w 255"/>
                <a:gd name="T1" fmla="*/ 69 h 53"/>
                <a:gd name="T2" fmla="*/ 0 w 255"/>
                <a:gd name="T3" fmla="*/ 0 h 53"/>
                <a:gd name="T4" fmla="*/ 336 w 255"/>
                <a:gd name="T5" fmla="*/ 0 h 53"/>
                <a:gd name="T6" fmla="*/ 336 w 255"/>
                <a:gd name="T7" fmla="*/ 21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5"/>
                <a:gd name="T13" fmla="*/ 0 h 53"/>
                <a:gd name="T14" fmla="*/ 255 w 255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5" h="53">
                  <a:moveTo>
                    <a:pt x="0" y="53"/>
                  </a:moveTo>
                  <a:lnTo>
                    <a:pt x="0" y="0"/>
                  </a:lnTo>
                  <a:lnTo>
                    <a:pt x="255" y="0"/>
                  </a:lnTo>
                  <a:lnTo>
                    <a:pt x="255" y="1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9" name="Freeform 18"/>
            <p:cNvSpPr>
              <a:spLocks/>
            </p:cNvSpPr>
            <p:nvPr/>
          </p:nvSpPr>
          <p:spPr bwMode="auto">
            <a:xfrm>
              <a:off x="1906" y="3716"/>
              <a:ext cx="261" cy="224"/>
            </a:xfrm>
            <a:custGeom>
              <a:avLst/>
              <a:gdLst>
                <a:gd name="T0" fmla="*/ 0 w 198"/>
                <a:gd name="T1" fmla="*/ 63 h 170"/>
                <a:gd name="T2" fmla="*/ 0 w 198"/>
                <a:gd name="T3" fmla="*/ 0 h 170"/>
                <a:gd name="T4" fmla="*/ 261 w 198"/>
                <a:gd name="T5" fmla="*/ 0 h 170"/>
                <a:gd name="T6" fmla="*/ 261 w 198"/>
                <a:gd name="T7" fmla="*/ 224 h 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70"/>
                <a:gd name="T14" fmla="*/ 198 w 198"/>
                <a:gd name="T15" fmla="*/ 170 h 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70">
                  <a:moveTo>
                    <a:pt x="0" y="48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7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0" name="Freeform 19"/>
            <p:cNvSpPr>
              <a:spLocks/>
            </p:cNvSpPr>
            <p:nvPr/>
          </p:nvSpPr>
          <p:spPr bwMode="auto">
            <a:xfrm>
              <a:off x="4298" y="3709"/>
              <a:ext cx="261" cy="231"/>
            </a:xfrm>
            <a:custGeom>
              <a:avLst/>
              <a:gdLst>
                <a:gd name="T0" fmla="*/ 0 w 198"/>
                <a:gd name="T1" fmla="*/ 41 h 175"/>
                <a:gd name="T2" fmla="*/ 0 w 198"/>
                <a:gd name="T3" fmla="*/ 0 h 175"/>
                <a:gd name="T4" fmla="*/ 261 w 198"/>
                <a:gd name="T5" fmla="*/ 0 h 175"/>
                <a:gd name="T6" fmla="*/ 261 w 198"/>
                <a:gd name="T7" fmla="*/ 231 h 1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75"/>
                <a:gd name="T14" fmla="*/ 198 w 198"/>
                <a:gd name="T15" fmla="*/ 175 h 1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75">
                  <a:moveTo>
                    <a:pt x="0" y="31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7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Freeform 20"/>
            <p:cNvSpPr>
              <a:spLocks/>
            </p:cNvSpPr>
            <p:nvPr/>
          </p:nvSpPr>
          <p:spPr bwMode="auto">
            <a:xfrm>
              <a:off x="3453" y="3701"/>
              <a:ext cx="508" cy="239"/>
            </a:xfrm>
            <a:custGeom>
              <a:avLst/>
              <a:gdLst>
                <a:gd name="T0" fmla="*/ 0 w 386"/>
                <a:gd name="T1" fmla="*/ 21 h 181"/>
                <a:gd name="T2" fmla="*/ 0 w 386"/>
                <a:gd name="T3" fmla="*/ 0 h 181"/>
                <a:gd name="T4" fmla="*/ 508 w 386"/>
                <a:gd name="T5" fmla="*/ 0 h 181"/>
                <a:gd name="T6" fmla="*/ 508 w 386"/>
                <a:gd name="T7" fmla="*/ 239 h 1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6"/>
                <a:gd name="T13" fmla="*/ 0 h 181"/>
                <a:gd name="T14" fmla="*/ 386 w 386"/>
                <a:gd name="T15" fmla="*/ 181 h 1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6" h="181">
                  <a:moveTo>
                    <a:pt x="0" y="16"/>
                  </a:moveTo>
                  <a:lnTo>
                    <a:pt x="0" y="0"/>
                  </a:lnTo>
                  <a:lnTo>
                    <a:pt x="386" y="0"/>
                  </a:lnTo>
                  <a:lnTo>
                    <a:pt x="386" y="181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Freeform 21"/>
            <p:cNvSpPr>
              <a:spLocks/>
            </p:cNvSpPr>
            <p:nvPr/>
          </p:nvSpPr>
          <p:spPr bwMode="auto">
            <a:xfrm>
              <a:off x="3707" y="3688"/>
              <a:ext cx="717" cy="21"/>
            </a:xfrm>
            <a:custGeom>
              <a:avLst/>
              <a:gdLst>
                <a:gd name="T0" fmla="*/ 0 w 544"/>
                <a:gd name="T1" fmla="*/ 13 h 16"/>
                <a:gd name="T2" fmla="*/ 0 w 544"/>
                <a:gd name="T3" fmla="*/ 0 h 16"/>
                <a:gd name="T4" fmla="*/ 717 w 544"/>
                <a:gd name="T5" fmla="*/ 0 h 16"/>
                <a:gd name="T6" fmla="*/ 717 w 544"/>
                <a:gd name="T7" fmla="*/ 21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4"/>
                <a:gd name="T13" fmla="*/ 0 h 16"/>
                <a:gd name="T14" fmla="*/ 544 w 544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4" h="16">
                  <a:moveTo>
                    <a:pt x="0" y="10"/>
                  </a:moveTo>
                  <a:lnTo>
                    <a:pt x="0" y="0"/>
                  </a:lnTo>
                  <a:lnTo>
                    <a:pt x="544" y="0"/>
                  </a:lnTo>
                  <a:lnTo>
                    <a:pt x="544" y="1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Rectangle 22"/>
            <p:cNvSpPr>
              <a:spLocks noChangeArrowheads="1"/>
            </p:cNvSpPr>
            <p:nvPr/>
          </p:nvSpPr>
          <p:spPr bwMode="auto">
            <a:xfrm>
              <a:off x="4709" y="3688"/>
              <a:ext cx="149" cy="25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24" name="Freeform 23"/>
            <p:cNvSpPr>
              <a:spLocks/>
            </p:cNvSpPr>
            <p:nvPr/>
          </p:nvSpPr>
          <p:spPr bwMode="auto">
            <a:xfrm>
              <a:off x="1420" y="3680"/>
              <a:ext cx="613" cy="64"/>
            </a:xfrm>
            <a:custGeom>
              <a:avLst/>
              <a:gdLst>
                <a:gd name="T0" fmla="*/ 0 w 465"/>
                <a:gd name="T1" fmla="*/ 64 h 48"/>
                <a:gd name="T2" fmla="*/ 0 w 465"/>
                <a:gd name="T3" fmla="*/ 0 h 48"/>
                <a:gd name="T4" fmla="*/ 613 w 465"/>
                <a:gd name="T5" fmla="*/ 0 h 48"/>
                <a:gd name="T6" fmla="*/ 613 w 465"/>
                <a:gd name="T7" fmla="*/ 36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"/>
                <a:gd name="T13" fmla="*/ 0 h 48"/>
                <a:gd name="T14" fmla="*/ 465 w 46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" h="48">
                  <a:moveTo>
                    <a:pt x="0" y="48"/>
                  </a:moveTo>
                  <a:lnTo>
                    <a:pt x="0" y="0"/>
                  </a:lnTo>
                  <a:lnTo>
                    <a:pt x="465" y="0"/>
                  </a:lnTo>
                  <a:lnTo>
                    <a:pt x="465" y="2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5" name="Rectangle 24"/>
            <p:cNvSpPr>
              <a:spLocks noChangeArrowheads="1"/>
            </p:cNvSpPr>
            <p:nvPr/>
          </p:nvSpPr>
          <p:spPr bwMode="auto">
            <a:xfrm>
              <a:off x="4066" y="3659"/>
              <a:ext cx="717" cy="29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26" name="Freeform 25"/>
            <p:cNvSpPr>
              <a:spLocks/>
            </p:cNvSpPr>
            <p:nvPr/>
          </p:nvSpPr>
          <p:spPr bwMode="auto">
            <a:xfrm>
              <a:off x="2318" y="3604"/>
              <a:ext cx="224" cy="336"/>
            </a:xfrm>
            <a:custGeom>
              <a:avLst/>
              <a:gdLst>
                <a:gd name="T0" fmla="*/ 0 w 170"/>
                <a:gd name="T1" fmla="*/ 336 h 255"/>
                <a:gd name="T2" fmla="*/ 0 w 170"/>
                <a:gd name="T3" fmla="*/ 0 h 255"/>
                <a:gd name="T4" fmla="*/ 224 w 170"/>
                <a:gd name="T5" fmla="*/ 0 h 255"/>
                <a:gd name="T6" fmla="*/ 224 w 170"/>
                <a:gd name="T7" fmla="*/ 154 h 2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255"/>
                <a:gd name="T14" fmla="*/ 170 w 170"/>
                <a:gd name="T15" fmla="*/ 255 h 2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255">
                  <a:moveTo>
                    <a:pt x="0" y="255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11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Freeform 26"/>
            <p:cNvSpPr>
              <a:spLocks/>
            </p:cNvSpPr>
            <p:nvPr/>
          </p:nvSpPr>
          <p:spPr bwMode="auto">
            <a:xfrm>
              <a:off x="1727" y="3604"/>
              <a:ext cx="703" cy="76"/>
            </a:xfrm>
            <a:custGeom>
              <a:avLst/>
              <a:gdLst>
                <a:gd name="T0" fmla="*/ 0 w 533"/>
                <a:gd name="T1" fmla="*/ 76 h 58"/>
                <a:gd name="T2" fmla="*/ 0 w 533"/>
                <a:gd name="T3" fmla="*/ 0 h 58"/>
                <a:gd name="T4" fmla="*/ 703 w 533"/>
                <a:gd name="T5" fmla="*/ 0 h 58"/>
                <a:gd name="T6" fmla="*/ 0 60000 65536"/>
                <a:gd name="T7" fmla="*/ 0 60000 65536"/>
                <a:gd name="T8" fmla="*/ 0 60000 65536"/>
                <a:gd name="T9" fmla="*/ 0 w 533"/>
                <a:gd name="T10" fmla="*/ 0 h 58"/>
                <a:gd name="T11" fmla="*/ 533 w 533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3" h="58">
                  <a:moveTo>
                    <a:pt x="0" y="58"/>
                  </a:moveTo>
                  <a:lnTo>
                    <a:pt x="0" y="0"/>
                  </a:lnTo>
                  <a:lnTo>
                    <a:pt x="533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8" name="Freeform 27"/>
            <p:cNvSpPr>
              <a:spLocks/>
            </p:cNvSpPr>
            <p:nvPr/>
          </p:nvSpPr>
          <p:spPr bwMode="auto">
            <a:xfrm>
              <a:off x="2078" y="3547"/>
              <a:ext cx="688" cy="393"/>
            </a:xfrm>
            <a:custGeom>
              <a:avLst/>
              <a:gdLst>
                <a:gd name="T0" fmla="*/ 0 w 522"/>
                <a:gd name="T1" fmla="*/ 57 h 298"/>
                <a:gd name="T2" fmla="*/ 0 w 522"/>
                <a:gd name="T3" fmla="*/ 0 h 298"/>
                <a:gd name="T4" fmla="*/ 688 w 522"/>
                <a:gd name="T5" fmla="*/ 0 h 298"/>
                <a:gd name="T6" fmla="*/ 688 w 522"/>
                <a:gd name="T7" fmla="*/ 393 h 2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2"/>
                <a:gd name="T13" fmla="*/ 0 h 298"/>
                <a:gd name="T14" fmla="*/ 522 w 522"/>
                <a:gd name="T15" fmla="*/ 298 h 2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2" h="298">
                  <a:moveTo>
                    <a:pt x="0" y="43"/>
                  </a:moveTo>
                  <a:lnTo>
                    <a:pt x="0" y="0"/>
                  </a:lnTo>
                  <a:lnTo>
                    <a:pt x="522" y="0"/>
                  </a:lnTo>
                  <a:lnTo>
                    <a:pt x="522" y="29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9" name="Freeform 28"/>
            <p:cNvSpPr>
              <a:spLocks/>
            </p:cNvSpPr>
            <p:nvPr/>
          </p:nvSpPr>
          <p:spPr bwMode="auto">
            <a:xfrm>
              <a:off x="4424" y="3450"/>
              <a:ext cx="583" cy="490"/>
            </a:xfrm>
            <a:custGeom>
              <a:avLst/>
              <a:gdLst>
                <a:gd name="T0" fmla="*/ 0 w 442"/>
                <a:gd name="T1" fmla="*/ 209 h 372"/>
                <a:gd name="T2" fmla="*/ 0 w 442"/>
                <a:gd name="T3" fmla="*/ 0 h 372"/>
                <a:gd name="T4" fmla="*/ 583 w 442"/>
                <a:gd name="T5" fmla="*/ 0 h 372"/>
                <a:gd name="T6" fmla="*/ 583 w 442"/>
                <a:gd name="T7" fmla="*/ 490 h 3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2"/>
                <a:gd name="T13" fmla="*/ 0 h 372"/>
                <a:gd name="T14" fmla="*/ 442 w 442"/>
                <a:gd name="T15" fmla="*/ 372 h 3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2" h="372">
                  <a:moveTo>
                    <a:pt x="0" y="159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37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0" name="Freeform 29"/>
            <p:cNvSpPr>
              <a:spLocks/>
            </p:cNvSpPr>
            <p:nvPr/>
          </p:nvSpPr>
          <p:spPr bwMode="auto">
            <a:xfrm>
              <a:off x="2422" y="3351"/>
              <a:ext cx="493" cy="589"/>
            </a:xfrm>
            <a:custGeom>
              <a:avLst/>
              <a:gdLst>
                <a:gd name="T0" fmla="*/ 0 w 374"/>
                <a:gd name="T1" fmla="*/ 196 h 447"/>
                <a:gd name="T2" fmla="*/ 0 w 374"/>
                <a:gd name="T3" fmla="*/ 0 h 447"/>
                <a:gd name="T4" fmla="*/ 493 w 374"/>
                <a:gd name="T5" fmla="*/ 0 h 447"/>
                <a:gd name="T6" fmla="*/ 493 w 374"/>
                <a:gd name="T7" fmla="*/ 589 h 4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4"/>
                <a:gd name="T13" fmla="*/ 0 h 447"/>
                <a:gd name="T14" fmla="*/ 374 w 374"/>
                <a:gd name="T15" fmla="*/ 447 h 4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4" h="447">
                  <a:moveTo>
                    <a:pt x="0" y="149"/>
                  </a:moveTo>
                  <a:lnTo>
                    <a:pt x="0" y="0"/>
                  </a:lnTo>
                  <a:lnTo>
                    <a:pt x="374" y="0"/>
                  </a:lnTo>
                  <a:lnTo>
                    <a:pt x="374" y="44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Freeform 30"/>
            <p:cNvSpPr>
              <a:spLocks/>
            </p:cNvSpPr>
            <p:nvPr/>
          </p:nvSpPr>
          <p:spPr bwMode="auto">
            <a:xfrm>
              <a:off x="2668" y="3190"/>
              <a:ext cx="397" cy="750"/>
            </a:xfrm>
            <a:custGeom>
              <a:avLst/>
              <a:gdLst>
                <a:gd name="T0" fmla="*/ 0 w 301"/>
                <a:gd name="T1" fmla="*/ 161 h 569"/>
                <a:gd name="T2" fmla="*/ 0 w 301"/>
                <a:gd name="T3" fmla="*/ 0 h 569"/>
                <a:gd name="T4" fmla="*/ 397 w 301"/>
                <a:gd name="T5" fmla="*/ 0 h 569"/>
                <a:gd name="T6" fmla="*/ 397 w 301"/>
                <a:gd name="T7" fmla="*/ 750 h 5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1"/>
                <a:gd name="T13" fmla="*/ 0 h 569"/>
                <a:gd name="T14" fmla="*/ 301 w 301"/>
                <a:gd name="T15" fmla="*/ 569 h 5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1" h="569">
                  <a:moveTo>
                    <a:pt x="0" y="122"/>
                  </a:moveTo>
                  <a:lnTo>
                    <a:pt x="0" y="0"/>
                  </a:lnTo>
                  <a:lnTo>
                    <a:pt x="301" y="0"/>
                  </a:lnTo>
                  <a:lnTo>
                    <a:pt x="301" y="56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2" name="Freeform 31"/>
            <p:cNvSpPr>
              <a:spLocks/>
            </p:cNvSpPr>
            <p:nvPr/>
          </p:nvSpPr>
          <p:spPr bwMode="auto">
            <a:xfrm>
              <a:off x="4715" y="3106"/>
              <a:ext cx="442" cy="834"/>
            </a:xfrm>
            <a:custGeom>
              <a:avLst/>
              <a:gdLst>
                <a:gd name="T0" fmla="*/ 0 w 335"/>
                <a:gd name="T1" fmla="*/ 344 h 633"/>
                <a:gd name="T2" fmla="*/ 0 w 335"/>
                <a:gd name="T3" fmla="*/ 0 h 633"/>
                <a:gd name="T4" fmla="*/ 442 w 335"/>
                <a:gd name="T5" fmla="*/ 0 h 633"/>
                <a:gd name="T6" fmla="*/ 442 w 335"/>
                <a:gd name="T7" fmla="*/ 834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5"/>
                <a:gd name="T13" fmla="*/ 0 h 633"/>
                <a:gd name="T14" fmla="*/ 335 w 335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5" h="633">
                  <a:moveTo>
                    <a:pt x="0" y="261"/>
                  </a:moveTo>
                  <a:lnTo>
                    <a:pt x="0" y="0"/>
                  </a:lnTo>
                  <a:lnTo>
                    <a:pt x="335" y="0"/>
                  </a:lnTo>
                  <a:lnTo>
                    <a:pt x="335" y="63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Freeform 32"/>
            <p:cNvSpPr>
              <a:spLocks/>
            </p:cNvSpPr>
            <p:nvPr/>
          </p:nvSpPr>
          <p:spPr bwMode="auto">
            <a:xfrm>
              <a:off x="2862" y="1208"/>
              <a:ext cx="2071" cy="1982"/>
            </a:xfrm>
            <a:custGeom>
              <a:avLst/>
              <a:gdLst>
                <a:gd name="T0" fmla="*/ 2071 w 1571"/>
                <a:gd name="T1" fmla="*/ 1898 h 1504"/>
                <a:gd name="T2" fmla="*/ 2071 w 1571"/>
                <a:gd name="T3" fmla="*/ 0 h 1504"/>
                <a:gd name="T4" fmla="*/ 0 w 1571"/>
                <a:gd name="T5" fmla="*/ 0 h 1504"/>
                <a:gd name="T6" fmla="*/ 0 w 1571"/>
                <a:gd name="T7" fmla="*/ 1982 h 15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1"/>
                <a:gd name="T13" fmla="*/ 0 h 1504"/>
                <a:gd name="T14" fmla="*/ 1571 w 1571"/>
                <a:gd name="T15" fmla="*/ 1504 h 15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1" h="1504">
                  <a:moveTo>
                    <a:pt x="1571" y="1440"/>
                  </a:moveTo>
                  <a:lnTo>
                    <a:pt x="1571" y="0"/>
                  </a:lnTo>
                  <a:lnTo>
                    <a:pt x="0" y="0"/>
                  </a:lnTo>
                  <a:lnTo>
                    <a:pt x="0" y="150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4" name="Line 33"/>
            <p:cNvSpPr>
              <a:spLocks noChangeShapeType="1"/>
            </p:cNvSpPr>
            <p:nvPr/>
          </p:nvSpPr>
          <p:spPr bwMode="auto">
            <a:xfrm>
              <a:off x="674" y="3933"/>
              <a:ext cx="4632" cy="2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9699" name="Picture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3451225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3833813"/>
            <a:ext cx="4741863" cy="277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 Box 36"/>
          <p:cNvSpPr txBox="1">
            <a:spLocks noChangeArrowheads="1"/>
          </p:cNvSpPr>
          <p:nvPr/>
        </p:nvSpPr>
        <p:spPr bwMode="auto">
          <a:xfrm>
            <a:off x="5362575" y="6400800"/>
            <a:ext cx="2187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Average linkage</a:t>
            </a:r>
          </a:p>
        </p:txBody>
      </p:sp>
      <p:sp>
        <p:nvSpPr>
          <p:cNvPr id="29702" name="Text Box 39"/>
          <p:cNvSpPr txBox="1">
            <a:spLocks noChangeArrowheads="1"/>
          </p:cNvSpPr>
          <p:nvPr/>
        </p:nvSpPr>
        <p:spPr bwMode="auto">
          <a:xfrm>
            <a:off x="1130300" y="6156325"/>
            <a:ext cx="193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/>
              <a:t>Single linkage</a:t>
            </a:r>
          </a:p>
        </p:txBody>
      </p:sp>
      <p:sp>
        <p:nvSpPr>
          <p:cNvPr id="29703" name="TextBox 39"/>
          <p:cNvSpPr txBox="1">
            <a:spLocks noChangeArrowheads="1"/>
          </p:cNvSpPr>
          <p:nvPr/>
        </p:nvSpPr>
        <p:spPr bwMode="auto">
          <a:xfrm>
            <a:off x="4776788" y="31591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293974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1026"/>
          <p:cNvSpPr txBox="1">
            <a:spLocks noChangeArrowheads="1"/>
          </p:cNvSpPr>
          <p:nvPr/>
        </p:nvSpPr>
        <p:spPr bwMode="auto">
          <a:xfrm>
            <a:off x="152400" y="1295400"/>
            <a:ext cx="8839200" cy="507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marL="742950" indent="-742950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Hierarchal Clustering Methods Summary</a:t>
            </a:r>
          </a:p>
          <a:p>
            <a:pPr>
              <a:buFont typeface="Wingdings" pitchFamily="-111" charset="2"/>
              <a:buChar char="§"/>
              <a:defRPr/>
            </a:pPr>
            <a:endParaRPr lang="en-US" altLang="en-US" sz="40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/>
              <a:t>No need to specify the number of clusters in advance</a:t>
            </a: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/>
              <a:t>Hierarchal nature maps nicely onto human intuition for some domains</a:t>
            </a: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/>
              <a:t>They do not scale well: time complexity of at least O(</a:t>
            </a:r>
            <a:r>
              <a:rPr lang="en-US" altLang="en-US" sz="2800" i="1"/>
              <a:t>n</a:t>
            </a:r>
            <a:r>
              <a:rPr lang="en-US" altLang="en-US" sz="2800" baseline="30000"/>
              <a:t>2</a:t>
            </a:r>
            <a:r>
              <a:rPr lang="en-US" altLang="en-US" sz="2800"/>
              <a:t>), where </a:t>
            </a:r>
            <a:r>
              <a:rPr lang="en-US" altLang="en-US" sz="2800" i="1"/>
              <a:t>n</a:t>
            </a:r>
            <a:r>
              <a:rPr lang="en-US" altLang="en-US" sz="2800"/>
              <a:t> is the number of total objects</a:t>
            </a: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/>
              <a:t>Like any heuristic search algorithms, local optima are a problem</a:t>
            </a: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/>
              <a:t>Interpretation of results is (very) subjective </a:t>
            </a:r>
          </a:p>
        </p:txBody>
      </p:sp>
      <p:sp>
        <p:nvSpPr>
          <p:cNvPr id="30723" name="TextBox 2"/>
          <p:cNvSpPr txBox="1">
            <a:spLocks noChangeArrowheads="1"/>
          </p:cNvSpPr>
          <p:nvPr/>
        </p:nvSpPr>
        <p:spPr bwMode="auto">
          <a:xfrm>
            <a:off x="4776788" y="315913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547158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1518</Words>
  <Application>Microsoft Office PowerPoint</Application>
  <PresentationFormat>On-screen Show (4:3)</PresentationFormat>
  <Paragraphs>234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Courier New</vt:lpstr>
      <vt:lpstr>Futura Bk</vt:lpstr>
      <vt:lpstr>Helvetica</vt:lpstr>
      <vt:lpstr>Times</vt:lpstr>
      <vt:lpstr>Times New Roman</vt:lpstr>
      <vt:lpstr>Wingdings</vt:lpstr>
      <vt:lpstr>Office Theme</vt:lpstr>
      <vt:lpstr>Why cluster?</vt:lpstr>
      <vt:lpstr> Goal of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Types of Clustering</vt:lpstr>
      <vt:lpstr>Dendogram: A Useful Tool for Summarizing Similarity Measurements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Hierarchical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Tufts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Clustering</dc:title>
  <dc:creator>Bilal Ahmed</dc:creator>
  <cp:lastModifiedBy>Dr. Anant Bagade</cp:lastModifiedBy>
  <cp:revision>5</cp:revision>
  <dcterms:created xsi:type="dcterms:W3CDTF">2015-04-06T16:37:59Z</dcterms:created>
  <dcterms:modified xsi:type="dcterms:W3CDTF">2021-11-16T09:06:58Z</dcterms:modified>
</cp:coreProperties>
</file>