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51" r:id="rId2"/>
    <p:sldId id="352" r:id="rId3"/>
    <p:sldId id="288" r:id="rId4"/>
    <p:sldId id="289" r:id="rId5"/>
    <p:sldId id="354" r:id="rId6"/>
    <p:sldId id="290" r:id="rId7"/>
    <p:sldId id="271" r:id="rId8"/>
    <p:sldId id="256" r:id="rId9"/>
    <p:sldId id="272" r:id="rId10"/>
    <p:sldId id="291" r:id="rId11"/>
    <p:sldId id="356" r:id="rId12"/>
    <p:sldId id="270" r:id="rId13"/>
    <p:sldId id="268" r:id="rId14"/>
    <p:sldId id="267" r:id="rId15"/>
    <p:sldId id="257" r:id="rId16"/>
    <p:sldId id="260" r:id="rId17"/>
    <p:sldId id="295" r:id="rId18"/>
    <p:sldId id="296" r:id="rId19"/>
    <p:sldId id="297" r:id="rId20"/>
    <p:sldId id="298" r:id="rId21"/>
    <p:sldId id="299" r:id="rId22"/>
    <p:sldId id="301" r:id="rId23"/>
    <p:sldId id="294" r:id="rId24"/>
    <p:sldId id="323" r:id="rId25"/>
    <p:sldId id="355" r:id="rId26"/>
    <p:sldId id="35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64A22E-9578-4031-9662-D12EB9160F46}" type="doc">
      <dgm:prSet loTypeId="urn:microsoft.com/office/officeart/2005/8/layout/cycle6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8A4FDB-DBB9-469B-A5D8-2F49327A1A09}">
      <dgm:prSet/>
      <dgm:spPr/>
      <dgm:t>
        <a:bodyPr/>
        <a:lstStyle/>
        <a:p>
          <a:pPr rtl="0"/>
          <a:r>
            <a:rPr lang="en-US" dirty="0"/>
            <a:t>Distance</a:t>
          </a:r>
        </a:p>
      </dgm:t>
    </dgm:pt>
    <dgm:pt modelId="{4B10F51F-40F2-4048-8F13-FB59AAC40D63}" type="parTrans" cxnId="{0508FEBF-6CB3-47A3-8E67-D9CFB4FD3C80}">
      <dgm:prSet/>
      <dgm:spPr/>
      <dgm:t>
        <a:bodyPr/>
        <a:lstStyle/>
        <a:p>
          <a:endParaRPr lang="en-US"/>
        </a:p>
      </dgm:t>
    </dgm:pt>
    <dgm:pt modelId="{B760A46F-8CD2-417E-ACF6-BA7A9EAC152F}" type="sibTrans" cxnId="{0508FEBF-6CB3-47A3-8E67-D9CFB4FD3C80}">
      <dgm:prSet/>
      <dgm:spPr/>
      <dgm:t>
        <a:bodyPr/>
        <a:lstStyle/>
        <a:p>
          <a:endParaRPr lang="en-US"/>
        </a:p>
      </dgm:t>
    </dgm:pt>
    <dgm:pt modelId="{612E6E80-9A0C-4990-8BEF-D846528E8995}">
      <dgm:prSet/>
      <dgm:spPr/>
      <dgm:t>
        <a:bodyPr/>
        <a:lstStyle/>
        <a:p>
          <a:pPr rtl="0"/>
          <a:r>
            <a:rPr lang="en-US" dirty="0"/>
            <a:t>Euclidean Distance</a:t>
          </a:r>
        </a:p>
      </dgm:t>
    </dgm:pt>
    <dgm:pt modelId="{C937D15D-A537-4B3A-A79B-3241ED2516EA}" type="parTrans" cxnId="{550815D5-3021-4524-8A85-F9A4D7C371F7}">
      <dgm:prSet/>
      <dgm:spPr/>
      <dgm:t>
        <a:bodyPr/>
        <a:lstStyle/>
        <a:p>
          <a:endParaRPr lang="en-US"/>
        </a:p>
      </dgm:t>
    </dgm:pt>
    <dgm:pt modelId="{6316B4E8-7087-470D-B8F6-3344A051270A}" type="sibTrans" cxnId="{550815D5-3021-4524-8A85-F9A4D7C371F7}">
      <dgm:prSet/>
      <dgm:spPr/>
      <dgm:t>
        <a:bodyPr/>
        <a:lstStyle/>
        <a:p>
          <a:endParaRPr lang="en-US"/>
        </a:p>
      </dgm:t>
    </dgm:pt>
    <dgm:pt modelId="{9F383F00-F35E-4007-9895-E1E8AEDF37CC}">
      <dgm:prSet/>
      <dgm:spPr/>
      <dgm:t>
        <a:bodyPr/>
        <a:lstStyle/>
        <a:p>
          <a:pPr rtl="0"/>
          <a:r>
            <a:rPr lang="en-US" dirty="0"/>
            <a:t>Minkowski distance</a:t>
          </a:r>
        </a:p>
      </dgm:t>
    </dgm:pt>
    <dgm:pt modelId="{E294FC67-6187-49E2-A66D-FD0106D3C0E6}" type="parTrans" cxnId="{2B592FB1-067A-45A2-A074-5F4921854E48}">
      <dgm:prSet/>
      <dgm:spPr/>
      <dgm:t>
        <a:bodyPr/>
        <a:lstStyle/>
        <a:p>
          <a:endParaRPr lang="en-US"/>
        </a:p>
      </dgm:t>
    </dgm:pt>
    <dgm:pt modelId="{B70F4A41-60F2-452D-9C8C-754714275ED5}" type="sibTrans" cxnId="{2B592FB1-067A-45A2-A074-5F4921854E48}">
      <dgm:prSet/>
      <dgm:spPr/>
      <dgm:t>
        <a:bodyPr/>
        <a:lstStyle/>
        <a:p>
          <a:endParaRPr lang="en-US"/>
        </a:p>
      </dgm:t>
    </dgm:pt>
    <dgm:pt modelId="{84FB6BC9-C773-4550-ACBE-0479FCF432F9}">
      <dgm:prSet/>
      <dgm:spPr/>
      <dgm:t>
        <a:bodyPr/>
        <a:lstStyle/>
        <a:p>
          <a:pPr rtl="0"/>
          <a:r>
            <a:rPr lang="en-US"/>
            <a:t>Hamming Distance</a:t>
          </a:r>
        </a:p>
      </dgm:t>
    </dgm:pt>
    <dgm:pt modelId="{9C33193E-B6F6-44CC-A182-F43E8E51C11D}" type="parTrans" cxnId="{79D1C820-07F5-4D3B-AA52-0D8C3DC8895E}">
      <dgm:prSet/>
      <dgm:spPr/>
      <dgm:t>
        <a:bodyPr/>
        <a:lstStyle/>
        <a:p>
          <a:endParaRPr lang="en-US"/>
        </a:p>
      </dgm:t>
    </dgm:pt>
    <dgm:pt modelId="{A13C3CB0-C219-45A4-96AF-832F8838420A}" type="sibTrans" cxnId="{79D1C820-07F5-4D3B-AA52-0D8C3DC8895E}">
      <dgm:prSet/>
      <dgm:spPr/>
      <dgm:t>
        <a:bodyPr/>
        <a:lstStyle/>
        <a:p>
          <a:endParaRPr lang="en-US"/>
        </a:p>
      </dgm:t>
    </dgm:pt>
    <dgm:pt modelId="{372AB41A-123D-42EC-B48F-73E13742DE93}">
      <dgm:prSet/>
      <dgm:spPr/>
      <dgm:t>
        <a:bodyPr/>
        <a:lstStyle/>
        <a:p>
          <a:pPr rtl="0"/>
          <a:r>
            <a:rPr lang="en-US"/>
            <a:t>Mahalanobis Distance</a:t>
          </a:r>
        </a:p>
      </dgm:t>
    </dgm:pt>
    <dgm:pt modelId="{B68C1FBB-EBB7-4F12-A487-F9B6A53D431E}" type="parTrans" cxnId="{AFB23365-2DD9-4F64-80C6-9E90FC6AA60A}">
      <dgm:prSet/>
      <dgm:spPr/>
      <dgm:t>
        <a:bodyPr/>
        <a:lstStyle/>
        <a:p>
          <a:endParaRPr lang="en-US"/>
        </a:p>
      </dgm:t>
    </dgm:pt>
    <dgm:pt modelId="{EFA99FC0-D0D9-4A48-91F8-DE00100F5324}" type="sibTrans" cxnId="{AFB23365-2DD9-4F64-80C6-9E90FC6AA60A}">
      <dgm:prSet/>
      <dgm:spPr/>
      <dgm:t>
        <a:bodyPr/>
        <a:lstStyle/>
        <a:p>
          <a:endParaRPr lang="en-US"/>
        </a:p>
      </dgm:t>
    </dgm:pt>
    <dgm:pt modelId="{1BF70474-9A7D-42C6-AC5A-D8ADB1DF2DC3}" type="pres">
      <dgm:prSet presAssocID="{E264A22E-9578-4031-9662-D12EB9160F46}" presName="cycle" presStyleCnt="0">
        <dgm:presLayoutVars>
          <dgm:dir/>
          <dgm:resizeHandles val="exact"/>
        </dgm:presLayoutVars>
      </dgm:prSet>
      <dgm:spPr/>
    </dgm:pt>
    <dgm:pt modelId="{5CBB9C15-0B19-4F06-86EE-E8E6AAC8C10D}" type="pres">
      <dgm:prSet presAssocID="{E78A4FDB-DBB9-469B-A5D8-2F49327A1A09}" presName="node" presStyleLbl="node1" presStyleIdx="0" presStyleCnt="5">
        <dgm:presLayoutVars>
          <dgm:bulletEnabled val="1"/>
        </dgm:presLayoutVars>
      </dgm:prSet>
      <dgm:spPr/>
    </dgm:pt>
    <dgm:pt modelId="{D40C7A09-6D9F-4E6B-9E11-3E5292CDB030}" type="pres">
      <dgm:prSet presAssocID="{E78A4FDB-DBB9-469B-A5D8-2F49327A1A09}" presName="spNode" presStyleCnt="0"/>
      <dgm:spPr/>
    </dgm:pt>
    <dgm:pt modelId="{0303914B-902F-4A31-BDB1-25B2874A2ADD}" type="pres">
      <dgm:prSet presAssocID="{B760A46F-8CD2-417E-ACF6-BA7A9EAC152F}" presName="sibTrans" presStyleLbl="sibTrans1D1" presStyleIdx="0" presStyleCnt="5"/>
      <dgm:spPr/>
    </dgm:pt>
    <dgm:pt modelId="{F8E8C073-2B7B-4410-8767-B95BF2C3B936}" type="pres">
      <dgm:prSet presAssocID="{612E6E80-9A0C-4990-8BEF-D846528E8995}" presName="node" presStyleLbl="node1" presStyleIdx="1" presStyleCnt="5">
        <dgm:presLayoutVars>
          <dgm:bulletEnabled val="1"/>
        </dgm:presLayoutVars>
      </dgm:prSet>
      <dgm:spPr/>
    </dgm:pt>
    <dgm:pt modelId="{5FF9A5A9-BAF2-490B-AEF1-B1661BAB6647}" type="pres">
      <dgm:prSet presAssocID="{612E6E80-9A0C-4990-8BEF-D846528E8995}" presName="spNode" presStyleCnt="0"/>
      <dgm:spPr/>
    </dgm:pt>
    <dgm:pt modelId="{CAC1E6DF-EB9E-4CE3-A133-CFCC6086AECF}" type="pres">
      <dgm:prSet presAssocID="{6316B4E8-7087-470D-B8F6-3344A051270A}" presName="sibTrans" presStyleLbl="sibTrans1D1" presStyleIdx="1" presStyleCnt="5"/>
      <dgm:spPr/>
    </dgm:pt>
    <dgm:pt modelId="{F47BE46E-A934-4BB5-917B-5511BC8392A8}" type="pres">
      <dgm:prSet presAssocID="{9F383F00-F35E-4007-9895-E1E8AEDF37CC}" presName="node" presStyleLbl="node1" presStyleIdx="2" presStyleCnt="5">
        <dgm:presLayoutVars>
          <dgm:bulletEnabled val="1"/>
        </dgm:presLayoutVars>
      </dgm:prSet>
      <dgm:spPr/>
    </dgm:pt>
    <dgm:pt modelId="{7A8EF2A7-879B-484D-8C88-78A0765676B5}" type="pres">
      <dgm:prSet presAssocID="{9F383F00-F35E-4007-9895-E1E8AEDF37CC}" presName="spNode" presStyleCnt="0"/>
      <dgm:spPr/>
    </dgm:pt>
    <dgm:pt modelId="{305DFEBD-87A5-4DF1-B5A1-721D6CED6215}" type="pres">
      <dgm:prSet presAssocID="{B70F4A41-60F2-452D-9C8C-754714275ED5}" presName="sibTrans" presStyleLbl="sibTrans1D1" presStyleIdx="2" presStyleCnt="5"/>
      <dgm:spPr/>
    </dgm:pt>
    <dgm:pt modelId="{27C226DA-B3B8-41FF-AF00-7F3D86E12334}" type="pres">
      <dgm:prSet presAssocID="{84FB6BC9-C773-4550-ACBE-0479FCF432F9}" presName="node" presStyleLbl="node1" presStyleIdx="3" presStyleCnt="5">
        <dgm:presLayoutVars>
          <dgm:bulletEnabled val="1"/>
        </dgm:presLayoutVars>
      </dgm:prSet>
      <dgm:spPr/>
    </dgm:pt>
    <dgm:pt modelId="{F994A301-8842-49F3-95FE-F29B6BE3C98A}" type="pres">
      <dgm:prSet presAssocID="{84FB6BC9-C773-4550-ACBE-0479FCF432F9}" presName="spNode" presStyleCnt="0"/>
      <dgm:spPr/>
    </dgm:pt>
    <dgm:pt modelId="{FA66A291-5C93-442B-9589-B09730F83C48}" type="pres">
      <dgm:prSet presAssocID="{A13C3CB0-C219-45A4-96AF-832F8838420A}" presName="sibTrans" presStyleLbl="sibTrans1D1" presStyleIdx="3" presStyleCnt="5"/>
      <dgm:spPr/>
    </dgm:pt>
    <dgm:pt modelId="{70E49B3D-2968-4BE8-8B93-F18FA2877CA0}" type="pres">
      <dgm:prSet presAssocID="{372AB41A-123D-42EC-B48F-73E13742DE93}" presName="node" presStyleLbl="node1" presStyleIdx="4" presStyleCnt="5">
        <dgm:presLayoutVars>
          <dgm:bulletEnabled val="1"/>
        </dgm:presLayoutVars>
      </dgm:prSet>
      <dgm:spPr/>
    </dgm:pt>
    <dgm:pt modelId="{92C88BC7-DC12-432B-A655-37B9E9834455}" type="pres">
      <dgm:prSet presAssocID="{372AB41A-123D-42EC-B48F-73E13742DE93}" presName="spNode" presStyleCnt="0"/>
      <dgm:spPr/>
    </dgm:pt>
    <dgm:pt modelId="{D0BA4FFD-61D5-496C-B204-9F59E76CAD24}" type="pres">
      <dgm:prSet presAssocID="{EFA99FC0-D0D9-4A48-91F8-DE00100F5324}" presName="sibTrans" presStyleLbl="sibTrans1D1" presStyleIdx="4" presStyleCnt="5"/>
      <dgm:spPr/>
    </dgm:pt>
  </dgm:ptLst>
  <dgm:cxnLst>
    <dgm:cxn modelId="{9F640D0C-DE09-494A-9884-F9FC9DD3AD5E}" type="presOf" srcId="{E78A4FDB-DBB9-469B-A5D8-2F49327A1A09}" destId="{5CBB9C15-0B19-4F06-86EE-E8E6AAC8C10D}" srcOrd="0" destOrd="0" presId="urn:microsoft.com/office/officeart/2005/8/layout/cycle6"/>
    <dgm:cxn modelId="{78D53A13-82DE-4B86-97B8-149C5B28285D}" type="presOf" srcId="{B760A46F-8CD2-417E-ACF6-BA7A9EAC152F}" destId="{0303914B-902F-4A31-BDB1-25B2874A2ADD}" srcOrd="0" destOrd="0" presId="urn:microsoft.com/office/officeart/2005/8/layout/cycle6"/>
    <dgm:cxn modelId="{4BBC7D1D-2321-4085-B288-F4E156EBB008}" type="presOf" srcId="{84FB6BC9-C773-4550-ACBE-0479FCF432F9}" destId="{27C226DA-B3B8-41FF-AF00-7F3D86E12334}" srcOrd="0" destOrd="0" presId="urn:microsoft.com/office/officeart/2005/8/layout/cycle6"/>
    <dgm:cxn modelId="{79D1C820-07F5-4D3B-AA52-0D8C3DC8895E}" srcId="{E264A22E-9578-4031-9662-D12EB9160F46}" destId="{84FB6BC9-C773-4550-ACBE-0479FCF432F9}" srcOrd="3" destOrd="0" parTransId="{9C33193E-B6F6-44CC-A182-F43E8E51C11D}" sibTransId="{A13C3CB0-C219-45A4-96AF-832F8838420A}"/>
    <dgm:cxn modelId="{FE0BD436-1E88-492C-9831-3CB19E1FF04B}" type="presOf" srcId="{612E6E80-9A0C-4990-8BEF-D846528E8995}" destId="{F8E8C073-2B7B-4410-8767-B95BF2C3B936}" srcOrd="0" destOrd="0" presId="urn:microsoft.com/office/officeart/2005/8/layout/cycle6"/>
    <dgm:cxn modelId="{AFB23365-2DD9-4F64-80C6-9E90FC6AA60A}" srcId="{E264A22E-9578-4031-9662-D12EB9160F46}" destId="{372AB41A-123D-42EC-B48F-73E13742DE93}" srcOrd="4" destOrd="0" parTransId="{B68C1FBB-EBB7-4F12-A487-F9B6A53D431E}" sibTransId="{EFA99FC0-D0D9-4A48-91F8-DE00100F5324}"/>
    <dgm:cxn modelId="{85E59965-960B-413B-85FE-E355A313E0BE}" type="presOf" srcId="{A13C3CB0-C219-45A4-96AF-832F8838420A}" destId="{FA66A291-5C93-442B-9589-B09730F83C48}" srcOrd="0" destOrd="0" presId="urn:microsoft.com/office/officeart/2005/8/layout/cycle6"/>
    <dgm:cxn modelId="{2B9A4F4E-3722-48DF-9616-52B065703EAF}" type="presOf" srcId="{E264A22E-9578-4031-9662-D12EB9160F46}" destId="{1BF70474-9A7D-42C6-AC5A-D8ADB1DF2DC3}" srcOrd="0" destOrd="0" presId="urn:microsoft.com/office/officeart/2005/8/layout/cycle6"/>
    <dgm:cxn modelId="{B0982F71-041F-4FC1-895E-D2F224F2A65F}" type="presOf" srcId="{372AB41A-123D-42EC-B48F-73E13742DE93}" destId="{70E49B3D-2968-4BE8-8B93-F18FA2877CA0}" srcOrd="0" destOrd="0" presId="urn:microsoft.com/office/officeart/2005/8/layout/cycle6"/>
    <dgm:cxn modelId="{B52EB9B0-241A-4601-B82B-5F45C88F366A}" type="presOf" srcId="{9F383F00-F35E-4007-9895-E1E8AEDF37CC}" destId="{F47BE46E-A934-4BB5-917B-5511BC8392A8}" srcOrd="0" destOrd="0" presId="urn:microsoft.com/office/officeart/2005/8/layout/cycle6"/>
    <dgm:cxn modelId="{2B592FB1-067A-45A2-A074-5F4921854E48}" srcId="{E264A22E-9578-4031-9662-D12EB9160F46}" destId="{9F383F00-F35E-4007-9895-E1E8AEDF37CC}" srcOrd="2" destOrd="0" parTransId="{E294FC67-6187-49E2-A66D-FD0106D3C0E6}" sibTransId="{B70F4A41-60F2-452D-9C8C-754714275ED5}"/>
    <dgm:cxn modelId="{0508FEBF-6CB3-47A3-8E67-D9CFB4FD3C80}" srcId="{E264A22E-9578-4031-9662-D12EB9160F46}" destId="{E78A4FDB-DBB9-469B-A5D8-2F49327A1A09}" srcOrd="0" destOrd="0" parTransId="{4B10F51F-40F2-4048-8F13-FB59AAC40D63}" sibTransId="{B760A46F-8CD2-417E-ACF6-BA7A9EAC152F}"/>
    <dgm:cxn modelId="{C93883CE-41F6-4CB6-9B45-26E224C849B3}" type="presOf" srcId="{EFA99FC0-D0D9-4A48-91F8-DE00100F5324}" destId="{D0BA4FFD-61D5-496C-B204-9F59E76CAD24}" srcOrd="0" destOrd="0" presId="urn:microsoft.com/office/officeart/2005/8/layout/cycle6"/>
    <dgm:cxn modelId="{550815D5-3021-4524-8A85-F9A4D7C371F7}" srcId="{E264A22E-9578-4031-9662-D12EB9160F46}" destId="{612E6E80-9A0C-4990-8BEF-D846528E8995}" srcOrd="1" destOrd="0" parTransId="{C937D15D-A537-4B3A-A79B-3241ED2516EA}" sibTransId="{6316B4E8-7087-470D-B8F6-3344A051270A}"/>
    <dgm:cxn modelId="{0F8626D9-0795-49EE-AD30-07246A6DE93E}" type="presOf" srcId="{B70F4A41-60F2-452D-9C8C-754714275ED5}" destId="{305DFEBD-87A5-4DF1-B5A1-721D6CED6215}" srcOrd="0" destOrd="0" presId="urn:microsoft.com/office/officeart/2005/8/layout/cycle6"/>
    <dgm:cxn modelId="{B3E54EE1-EB3A-474B-9037-487A6A4A0166}" type="presOf" srcId="{6316B4E8-7087-470D-B8F6-3344A051270A}" destId="{CAC1E6DF-EB9E-4CE3-A133-CFCC6086AECF}" srcOrd="0" destOrd="0" presId="urn:microsoft.com/office/officeart/2005/8/layout/cycle6"/>
    <dgm:cxn modelId="{A0271563-A189-43B0-95B4-303EB5D9D65C}" type="presParOf" srcId="{1BF70474-9A7D-42C6-AC5A-D8ADB1DF2DC3}" destId="{5CBB9C15-0B19-4F06-86EE-E8E6AAC8C10D}" srcOrd="0" destOrd="0" presId="urn:microsoft.com/office/officeart/2005/8/layout/cycle6"/>
    <dgm:cxn modelId="{55B3E3E2-EBD9-4B19-9AFA-BAA8B67792EF}" type="presParOf" srcId="{1BF70474-9A7D-42C6-AC5A-D8ADB1DF2DC3}" destId="{D40C7A09-6D9F-4E6B-9E11-3E5292CDB030}" srcOrd="1" destOrd="0" presId="urn:microsoft.com/office/officeart/2005/8/layout/cycle6"/>
    <dgm:cxn modelId="{58CCD6F1-2330-4395-9D5A-FAE6A2DAF149}" type="presParOf" srcId="{1BF70474-9A7D-42C6-AC5A-D8ADB1DF2DC3}" destId="{0303914B-902F-4A31-BDB1-25B2874A2ADD}" srcOrd="2" destOrd="0" presId="urn:microsoft.com/office/officeart/2005/8/layout/cycle6"/>
    <dgm:cxn modelId="{8BD25E17-6935-441F-B38E-3E847A68A7A9}" type="presParOf" srcId="{1BF70474-9A7D-42C6-AC5A-D8ADB1DF2DC3}" destId="{F8E8C073-2B7B-4410-8767-B95BF2C3B936}" srcOrd="3" destOrd="0" presId="urn:microsoft.com/office/officeart/2005/8/layout/cycle6"/>
    <dgm:cxn modelId="{C61D630F-D023-4CFF-AAD7-77F257AC2294}" type="presParOf" srcId="{1BF70474-9A7D-42C6-AC5A-D8ADB1DF2DC3}" destId="{5FF9A5A9-BAF2-490B-AEF1-B1661BAB6647}" srcOrd="4" destOrd="0" presId="urn:microsoft.com/office/officeart/2005/8/layout/cycle6"/>
    <dgm:cxn modelId="{F5402D1C-7D20-44A5-AEEB-55367C1A3330}" type="presParOf" srcId="{1BF70474-9A7D-42C6-AC5A-D8ADB1DF2DC3}" destId="{CAC1E6DF-EB9E-4CE3-A133-CFCC6086AECF}" srcOrd="5" destOrd="0" presId="urn:microsoft.com/office/officeart/2005/8/layout/cycle6"/>
    <dgm:cxn modelId="{61DC75FE-0B21-4480-92C7-FEB0E4A2BB3B}" type="presParOf" srcId="{1BF70474-9A7D-42C6-AC5A-D8ADB1DF2DC3}" destId="{F47BE46E-A934-4BB5-917B-5511BC8392A8}" srcOrd="6" destOrd="0" presId="urn:microsoft.com/office/officeart/2005/8/layout/cycle6"/>
    <dgm:cxn modelId="{396E63FD-53D6-4A8D-B0EF-E22CB19F6FFD}" type="presParOf" srcId="{1BF70474-9A7D-42C6-AC5A-D8ADB1DF2DC3}" destId="{7A8EF2A7-879B-484D-8C88-78A0765676B5}" srcOrd="7" destOrd="0" presId="urn:microsoft.com/office/officeart/2005/8/layout/cycle6"/>
    <dgm:cxn modelId="{4E89F894-7615-4CDA-AC27-7B32E0E5C8D1}" type="presParOf" srcId="{1BF70474-9A7D-42C6-AC5A-D8ADB1DF2DC3}" destId="{305DFEBD-87A5-4DF1-B5A1-721D6CED6215}" srcOrd="8" destOrd="0" presId="urn:microsoft.com/office/officeart/2005/8/layout/cycle6"/>
    <dgm:cxn modelId="{6A9FCD0F-3731-4D89-84FC-4506E21E5D90}" type="presParOf" srcId="{1BF70474-9A7D-42C6-AC5A-D8ADB1DF2DC3}" destId="{27C226DA-B3B8-41FF-AF00-7F3D86E12334}" srcOrd="9" destOrd="0" presId="urn:microsoft.com/office/officeart/2005/8/layout/cycle6"/>
    <dgm:cxn modelId="{FC3C4C63-8577-4FDA-8E80-7BB5BCD82BB0}" type="presParOf" srcId="{1BF70474-9A7D-42C6-AC5A-D8ADB1DF2DC3}" destId="{F994A301-8842-49F3-95FE-F29B6BE3C98A}" srcOrd="10" destOrd="0" presId="urn:microsoft.com/office/officeart/2005/8/layout/cycle6"/>
    <dgm:cxn modelId="{516C30A2-5ED1-41B4-A81E-235EBB223B59}" type="presParOf" srcId="{1BF70474-9A7D-42C6-AC5A-D8ADB1DF2DC3}" destId="{FA66A291-5C93-442B-9589-B09730F83C48}" srcOrd="11" destOrd="0" presId="urn:microsoft.com/office/officeart/2005/8/layout/cycle6"/>
    <dgm:cxn modelId="{A47EF6DC-3150-4BCD-A0E3-48570C325177}" type="presParOf" srcId="{1BF70474-9A7D-42C6-AC5A-D8ADB1DF2DC3}" destId="{70E49B3D-2968-4BE8-8B93-F18FA2877CA0}" srcOrd="12" destOrd="0" presId="urn:microsoft.com/office/officeart/2005/8/layout/cycle6"/>
    <dgm:cxn modelId="{07365C67-26D1-4540-B0B9-660B7C64176E}" type="presParOf" srcId="{1BF70474-9A7D-42C6-AC5A-D8ADB1DF2DC3}" destId="{92C88BC7-DC12-432B-A655-37B9E9834455}" srcOrd="13" destOrd="0" presId="urn:microsoft.com/office/officeart/2005/8/layout/cycle6"/>
    <dgm:cxn modelId="{6D64D49A-F5AC-42DB-920B-F06E7D6C3992}" type="presParOf" srcId="{1BF70474-9A7D-42C6-AC5A-D8ADB1DF2DC3}" destId="{D0BA4FFD-61D5-496C-B204-9F59E76CAD24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B9C15-0B19-4F06-86EE-E8E6AAC8C10D}">
      <dsp:nvSpPr>
        <dsp:cNvPr id="0" name=""/>
        <dsp:cNvSpPr/>
      </dsp:nvSpPr>
      <dsp:spPr>
        <a:xfrm>
          <a:off x="1817303" y="24951"/>
          <a:ext cx="1470793" cy="9560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Distance</a:t>
          </a:r>
        </a:p>
      </dsp:txBody>
      <dsp:txXfrm>
        <a:off x="1863972" y="71620"/>
        <a:ext cx="1377455" cy="862678"/>
      </dsp:txXfrm>
    </dsp:sp>
    <dsp:sp modelId="{0303914B-902F-4A31-BDB1-25B2874A2ADD}">
      <dsp:nvSpPr>
        <dsp:cNvPr id="0" name=""/>
        <dsp:cNvSpPr/>
      </dsp:nvSpPr>
      <dsp:spPr>
        <a:xfrm>
          <a:off x="641921" y="502959"/>
          <a:ext cx="3821557" cy="3821557"/>
        </a:xfrm>
        <a:custGeom>
          <a:avLst/>
          <a:gdLst/>
          <a:ahLst/>
          <a:cxnLst/>
          <a:rect l="0" t="0" r="0" b="0"/>
          <a:pathLst>
            <a:path>
              <a:moveTo>
                <a:pt x="2656288" y="151435"/>
              </a:moveTo>
              <a:arcTo wR="1910778" hR="1910778" stAng="17577869" swAng="19624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E8C073-2B7B-4410-8767-B95BF2C3B936}">
      <dsp:nvSpPr>
        <dsp:cNvPr id="0" name=""/>
        <dsp:cNvSpPr/>
      </dsp:nvSpPr>
      <dsp:spPr>
        <a:xfrm>
          <a:off x="3634561" y="1345266"/>
          <a:ext cx="1470793" cy="9560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Euclidean Distance</a:t>
          </a:r>
        </a:p>
      </dsp:txBody>
      <dsp:txXfrm>
        <a:off x="3681230" y="1391935"/>
        <a:ext cx="1377455" cy="862678"/>
      </dsp:txXfrm>
    </dsp:sp>
    <dsp:sp modelId="{CAC1E6DF-EB9E-4CE3-A133-CFCC6086AECF}">
      <dsp:nvSpPr>
        <dsp:cNvPr id="0" name=""/>
        <dsp:cNvSpPr/>
      </dsp:nvSpPr>
      <dsp:spPr>
        <a:xfrm>
          <a:off x="641921" y="502959"/>
          <a:ext cx="3821557" cy="3821557"/>
        </a:xfrm>
        <a:custGeom>
          <a:avLst/>
          <a:gdLst/>
          <a:ahLst/>
          <a:cxnLst/>
          <a:rect l="0" t="0" r="0" b="0"/>
          <a:pathLst>
            <a:path>
              <a:moveTo>
                <a:pt x="3818926" y="1810541"/>
              </a:moveTo>
              <a:arcTo wR="1910778" hR="1910778" stAng="21419577" swAng="219699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BE46E-A934-4BB5-917B-5511BC8392A8}">
      <dsp:nvSpPr>
        <dsp:cNvPr id="0" name=""/>
        <dsp:cNvSpPr/>
      </dsp:nvSpPr>
      <dsp:spPr>
        <a:xfrm>
          <a:off x="2940430" y="3481582"/>
          <a:ext cx="1470793" cy="9560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Minkowski distance</a:t>
          </a:r>
        </a:p>
      </dsp:txBody>
      <dsp:txXfrm>
        <a:off x="2987099" y="3528251"/>
        <a:ext cx="1377455" cy="862678"/>
      </dsp:txXfrm>
    </dsp:sp>
    <dsp:sp modelId="{305DFEBD-87A5-4DF1-B5A1-721D6CED6215}">
      <dsp:nvSpPr>
        <dsp:cNvPr id="0" name=""/>
        <dsp:cNvSpPr/>
      </dsp:nvSpPr>
      <dsp:spPr>
        <a:xfrm>
          <a:off x="641921" y="502959"/>
          <a:ext cx="3821557" cy="3821557"/>
        </a:xfrm>
        <a:custGeom>
          <a:avLst/>
          <a:gdLst/>
          <a:ahLst/>
          <a:cxnLst/>
          <a:rect l="0" t="0" r="0" b="0"/>
          <a:pathLst>
            <a:path>
              <a:moveTo>
                <a:pt x="2290912" y="3783363"/>
              </a:moveTo>
              <a:arcTo wR="1910778" hR="1910778" stAng="4711494" swAng="137701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C226DA-B3B8-41FF-AF00-7F3D86E12334}">
      <dsp:nvSpPr>
        <dsp:cNvPr id="0" name=""/>
        <dsp:cNvSpPr/>
      </dsp:nvSpPr>
      <dsp:spPr>
        <a:xfrm>
          <a:off x="694175" y="3481582"/>
          <a:ext cx="1470793" cy="9560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Hamming Distance</a:t>
          </a:r>
        </a:p>
      </dsp:txBody>
      <dsp:txXfrm>
        <a:off x="740844" y="3528251"/>
        <a:ext cx="1377455" cy="862678"/>
      </dsp:txXfrm>
    </dsp:sp>
    <dsp:sp modelId="{FA66A291-5C93-442B-9589-B09730F83C48}">
      <dsp:nvSpPr>
        <dsp:cNvPr id="0" name=""/>
        <dsp:cNvSpPr/>
      </dsp:nvSpPr>
      <dsp:spPr>
        <a:xfrm>
          <a:off x="641921" y="502959"/>
          <a:ext cx="3821557" cy="3821557"/>
        </a:xfrm>
        <a:custGeom>
          <a:avLst/>
          <a:gdLst/>
          <a:ahLst/>
          <a:cxnLst/>
          <a:rect l="0" t="0" r="0" b="0"/>
          <a:pathLst>
            <a:path>
              <a:moveTo>
                <a:pt x="319427" y="2968453"/>
              </a:moveTo>
              <a:arcTo wR="1910778" hR="1910778" stAng="8783425" swAng="219699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49B3D-2968-4BE8-8B93-F18FA2877CA0}">
      <dsp:nvSpPr>
        <dsp:cNvPr id="0" name=""/>
        <dsp:cNvSpPr/>
      </dsp:nvSpPr>
      <dsp:spPr>
        <a:xfrm>
          <a:off x="44" y="1345266"/>
          <a:ext cx="1470793" cy="9560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Mahalanobis Distance</a:t>
          </a:r>
        </a:p>
      </dsp:txBody>
      <dsp:txXfrm>
        <a:off x="46713" y="1391935"/>
        <a:ext cx="1377455" cy="862678"/>
      </dsp:txXfrm>
    </dsp:sp>
    <dsp:sp modelId="{D0BA4FFD-61D5-496C-B204-9F59E76CAD24}">
      <dsp:nvSpPr>
        <dsp:cNvPr id="0" name=""/>
        <dsp:cNvSpPr/>
      </dsp:nvSpPr>
      <dsp:spPr>
        <a:xfrm>
          <a:off x="641921" y="502959"/>
          <a:ext cx="3821557" cy="3821557"/>
        </a:xfrm>
        <a:custGeom>
          <a:avLst/>
          <a:gdLst/>
          <a:ahLst/>
          <a:cxnLst/>
          <a:rect l="0" t="0" r="0" b="0"/>
          <a:pathLst>
            <a:path>
              <a:moveTo>
                <a:pt x="332816" y="833230"/>
              </a:moveTo>
              <a:arcTo wR="1910778" hR="1910778" stAng="12859688" swAng="19624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0FE31-CDB4-4A47-AD4C-A4668ECFB151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86A0-98D5-46D8-A929-E796B94200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1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5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7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97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4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7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4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3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AC672-68EC-4BBC-8559-D85AC17055E3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4DDDA-9CCF-4470-889D-4327F1FA9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9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88900"/>
            <a:ext cx="6629400" cy="84074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Distance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7772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129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88900"/>
            <a:ext cx="64770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Distance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6200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09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88900"/>
            <a:ext cx="6172200" cy="97790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Distances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51275059"/>
              </p:ext>
            </p:extLst>
          </p:nvPr>
        </p:nvGraphicFramePr>
        <p:xfrm>
          <a:off x="3962400" y="1676400"/>
          <a:ext cx="51054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04800" y="1752600"/>
            <a:ext cx="3429000" cy="45259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Distance are used to measure similarity</a:t>
            </a:r>
          </a:p>
          <a:p>
            <a:pPr lvl="0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There are many ways to measure the distance s between two instances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4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6172200" cy="9144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Manhattan Distance</a:t>
            </a:r>
          </a:p>
          <a:p>
            <a:pPr marL="0" indent="0">
              <a:buNone/>
            </a:pPr>
            <a:r>
              <a:rPr lang="en-US" dirty="0">
                <a:ea typeface="Cambria Math"/>
              </a:rPr>
              <a:t>|X1-X2| + |Y1-Y2|</a:t>
            </a:r>
            <a:endParaRPr lang="en-US" b="0" baseline="30000" dirty="0">
              <a:ea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267200" cy="4525963"/>
              </a:xfr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dirty="0"/>
                  <a:t>Euclidean Distance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</m:d>
                        <m:r>
                          <a:rPr lang="en-US" i="1" baseline="3000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1−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baseline="30000" dirty="0"/>
                  <a:t>2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267200" cy="4525963"/>
              </a:xfrm>
              <a:blipFill rotWithShape="1">
                <a:blip r:embed="rId2"/>
                <a:stretch>
                  <a:fillRect l="-2273" t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00400"/>
            <a:ext cx="990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352800"/>
            <a:ext cx="65532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899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58534" cy="840740"/>
          </a:xfrm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           Properties of Distance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(</a:t>
            </a:r>
            <a:r>
              <a:rPr lang="en-US" dirty="0" err="1"/>
              <a:t>x,y</a:t>
            </a:r>
            <a:r>
              <a:rPr lang="en-US" dirty="0"/>
              <a:t>) &gt;= 0</a:t>
            </a:r>
          </a:p>
          <a:p>
            <a:r>
              <a:rPr lang="en-US" dirty="0" err="1"/>
              <a:t>Dist</a:t>
            </a:r>
            <a:r>
              <a:rPr lang="en-US" dirty="0"/>
              <a:t> (</a:t>
            </a:r>
            <a:r>
              <a:rPr lang="en-US" dirty="0" err="1"/>
              <a:t>x,y</a:t>
            </a:r>
            <a:r>
              <a:rPr lang="en-US" dirty="0"/>
              <a:t>) = </a:t>
            </a:r>
            <a:r>
              <a:rPr lang="en-US" dirty="0" err="1"/>
              <a:t>Dist</a:t>
            </a:r>
            <a:r>
              <a:rPr lang="en-US" dirty="0"/>
              <a:t> (</a:t>
            </a:r>
            <a:r>
              <a:rPr lang="en-US" dirty="0" err="1"/>
              <a:t>y,x</a:t>
            </a:r>
            <a:r>
              <a:rPr lang="en-US" dirty="0"/>
              <a:t>) are Symmetric </a:t>
            </a:r>
          </a:p>
          <a:p>
            <a:r>
              <a:rPr lang="en-US" dirty="0"/>
              <a:t>Detours can not Shorten Distance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Dist</a:t>
            </a:r>
            <a:r>
              <a:rPr lang="en-US" dirty="0"/>
              <a:t>(</a:t>
            </a:r>
            <a:r>
              <a:rPr lang="en-US" dirty="0" err="1"/>
              <a:t>x,z</a:t>
            </a:r>
            <a:r>
              <a:rPr lang="en-US" dirty="0"/>
              <a:t>) &lt;= </a:t>
            </a:r>
            <a:r>
              <a:rPr lang="en-US" dirty="0" err="1"/>
              <a:t>Dist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+ </a:t>
            </a:r>
            <a:r>
              <a:rPr lang="en-US" dirty="0" err="1"/>
              <a:t>Dist</a:t>
            </a:r>
            <a:r>
              <a:rPr lang="en-US" dirty="0"/>
              <a:t> (</a:t>
            </a:r>
            <a:r>
              <a:rPr lang="en-US" dirty="0" err="1"/>
              <a:t>y,z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</a:t>
            </a:r>
          </a:p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438400" y="51816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438400" y="4419600"/>
            <a:ext cx="10668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05200" y="4419600"/>
            <a:ext cx="10668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33508" y="499693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8379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754" y="40502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791200" y="5083791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308" y="499963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9912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254" y="508379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1" name="Flowchart: Connector 20"/>
          <p:cNvSpPr/>
          <p:nvPr/>
        </p:nvSpPr>
        <p:spPr>
          <a:xfrm>
            <a:off x="5791200" y="508379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/>
          <p:cNvSpPr/>
          <p:nvPr/>
        </p:nvSpPr>
        <p:spPr>
          <a:xfrm>
            <a:off x="6729273" y="508379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Connector 23"/>
          <p:cNvSpPr/>
          <p:nvPr/>
        </p:nvSpPr>
        <p:spPr>
          <a:xfrm>
            <a:off x="7696200" y="5083791"/>
            <a:ext cx="76200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88900"/>
            <a:ext cx="6629400" cy="840740"/>
          </a:xfrm>
        </p:spPr>
        <p:txBody>
          <a:bodyPr>
            <a:normAutofit/>
          </a:bodyPr>
          <a:lstStyle/>
          <a:p>
            <a:r>
              <a:rPr lang="en-US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Hamming Distance</a:t>
            </a:r>
          </a:p>
        </p:txBody>
      </p:sp>
      <p:pic>
        <p:nvPicPr>
          <p:cNvPr id="5124" name="Picture 4" descr="3-bit binary cube Hamming distance exam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14600"/>
            <a:ext cx="4495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92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altLang="zh-TW" sz="2400" u="sng" dirty="0">
              <a:ea typeface="PMingLiU" pitchFamily="18" charset="-120"/>
            </a:endParaRPr>
          </a:p>
          <a:p>
            <a:r>
              <a:rPr lang="en-US" altLang="zh-TW" sz="2400" u="sng" dirty="0">
                <a:ea typeface="PMingLiU" pitchFamily="18" charset="-120"/>
              </a:rPr>
              <a:t>Distance Measure</a:t>
            </a:r>
            <a:r>
              <a:rPr lang="en-US" altLang="zh-TW" sz="2400" dirty="0">
                <a:ea typeface="PMingLiU" pitchFamily="18" charset="-120"/>
              </a:rPr>
              <a:t> – What does it mean “Similar"?</a:t>
            </a:r>
          </a:p>
          <a:p>
            <a:r>
              <a:rPr lang="en-US" altLang="zh-TW" sz="2400" dirty="0">
                <a:ea typeface="PMingLiU" pitchFamily="18" charset="-120"/>
              </a:rPr>
              <a:t> Minkowski Distance</a:t>
            </a:r>
          </a:p>
          <a:p>
            <a:pPr>
              <a:buFontTx/>
              <a:buNone/>
            </a:pPr>
            <a:endParaRPr lang="en-US" altLang="zh-TW" sz="2400" dirty="0">
              <a:ea typeface="PMingLiU" pitchFamily="18" charset="-120"/>
            </a:endParaRPr>
          </a:p>
          <a:p>
            <a:pPr lvl="1"/>
            <a:r>
              <a:rPr lang="en-US" altLang="zh-TW" sz="2000" dirty="0">
                <a:ea typeface="PMingLiU" pitchFamily="18" charset="-120"/>
              </a:rPr>
              <a:t>Norm:</a:t>
            </a:r>
          </a:p>
          <a:p>
            <a:pPr lvl="1"/>
            <a:endParaRPr lang="en-US" altLang="zh-TW" sz="2000" dirty="0">
              <a:ea typeface="PMingLiU" pitchFamily="18" charset="-120"/>
            </a:endParaRPr>
          </a:p>
          <a:p>
            <a:pPr lvl="1"/>
            <a:r>
              <a:rPr lang="en-US" altLang="zh-TW" sz="2000" dirty="0" err="1">
                <a:ea typeface="PMingLiU" pitchFamily="18" charset="-120"/>
              </a:rPr>
              <a:t>Chebyshew</a:t>
            </a:r>
            <a:r>
              <a:rPr lang="en-US" altLang="zh-TW" sz="2000" dirty="0">
                <a:ea typeface="PMingLiU" pitchFamily="18" charset="-120"/>
              </a:rPr>
              <a:t> Distance</a:t>
            </a:r>
          </a:p>
          <a:p>
            <a:pPr lvl="1"/>
            <a:r>
              <a:rPr lang="en-US" altLang="zh-TW" sz="2000" dirty="0">
                <a:ea typeface="PMingLiU" pitchFamily="18" charset="-120"/>
              </a:rPr>
              <a:t>Mahalanobis distance: </a:t>
            </a:r>
          </a:p>
          <a:p>
            <a:pPr lvl="1">
              <a:buFontTx/>
              <a:buNone/>
            </a:pPr>
            <a:r>
              <a:rPr lang="zh-TW" altLang="en-US" sz="2000" dirty="0">
                <a:ea typeface="PMingLiU" pitchFamily="18" charset="-120"/>
              </a:rPr>
              <a:t>	</a:t>
            </a:r>
            <a:endParaRPr lang="en-US" altLang="zh-TW" sz="2000" dirty="0">
              <a:ea typeface="PMingLiU" pitchFamily="18" charset="-120"/>
            </a:endParaRPr>
          </a:p>
          <a:p>
            <a:pPr lvl="1">
              <a:buFontTx/>
              <a:buNone/>
            </a:pPr>
            <a:r>
              <a:rPr lang="en-US" altLang="zh-TW" sz="2000" dirty="0">
                <a:ea typeface="PMingLiU" pitchFamily="18" charset="-120"/>
              </a:rPr>
              <a:t>        d(x , y) = |x – y|</a:t>
            </a:r>
            <a:r>
              <a:rPr lang="en-US" altLang="zh-TW" sz="2000" baseline="30000" dirty="0">
                <a:ea typeface="PMingLiU" pitchFamily="18" charset="-120"/>
              </a:rPr>
              <a:t>T</a:t>
            </a:r>
            <a:r>
              <a:rPr lang="en-US" altLang="zh-TW" sz="2000" dirty="0">
                <a:ea typeface="PMingLiU" pitchFamily="18" charset="-120"/>
              </a:rPr>
              <a:t>S</a:t>
            </a:r>
            <a:r>
              <a:rPr lang="en-US" altLang="zh-TW" sz="1800" baseline="-30000" dirty="0">
                <a:ea typeface="PMingLiU" pitchFamily="18" charset="-120"/>
              </a:rPr>
              <a:t>xy</a:t>
            </a:r>
            <a:r>
              <a:rPr lang="en-US" altLang="zh-TW" sz="2000" baseline="30000" dirty="0"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z="2000" baseline="30000" dirty="0">
                <a:ea typeface="PMingLiU" pitchFamily="18" charset="-120"/>
              </a:rPr>
              <a:t>1</a:t>
            </a:r>
            <a:r>
              <a:rPr lang="en-US" altLang="zh-TW" sz="2000" dirty="0">
                <a:ea typeface="PMingLiU" pitchFamily="18" charset="-120"/>
              </a:rPr>
              <a:t>|x – y| </a:t>
            </a:r>
          </a:p>
          <a:p>
            <a:pPr lvl="1">
              <a:buFontTx/>
              <a:buNone/>
            </a:pPr>
            <a:r>
              <a:rPr lang="en-US" altLang="zh-TW" sz="2000" dirty="0">
                <a:ea typeface="PMingLiU" pitchFamily="18" charset="-120"/>
              </a:rPr>
              <a:t>     </a:t>
            </a:r>
          </a:p>
          <a:p>
            <a:pPr lvl="1"/>
            <a:endParaRPr lang="en-US" altLang="zh-TW" sz="2000" dirty="0">
              <a:ea typeface="PMingLiU" pitchFamily="18" charset="-12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161342"/>
              </p:ext>
            </p:extLst>
          </p:nvPr>
        </p:nvGraphicFramePr>
        <p:xfrm>
          <a:off x="2362200" y="3200400"/>
          <a:ext cx="4495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5" name="Equation" r:id="rId3" imgW="2349500" imgH="482600" progId="Equation.3">
                  <p:embed/>
                </p:oleObj>
              </mc:Choice>
              <mc:Fallback>
                <p:oleObj name="Equation" r:id="rId3" imgW="2349500" imgH="482600" progId="Equation.3">
                  <p:embed/>
                  <p:pic>
                    <p:nvPicPr>
                      <p:cNvPr id="0" name="Picture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00400"/>
                        <a:ext cx="449580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88900"/>
            <a:ext cx="6629400" cy="840740"/>
          </a:xfrm>
        </p:spPr>
        <p:txBody>
          <a:bodyPr>
            <a:normAutofit/>
          </a:bodyPr>
          <a:lstStyle/>
          <a:p>
            <a:r>
              <a:rPr lang="en-US" altLang="zh-TW" sz="4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PMingLiU" pitchFamily="18" charset="-120"/>
              </a:rPr>
              <a:t>Distances</a:t>
            </a:r>
            <a:r>
              <a:rPr lang="en-US" altLang="zh-TW" sz="4400" dirty="0">
                <a:ea typeface="PMingLiU" pitchFamily="18" charset="-120"/>
              </a:rPr>
              <a:t> </a:t>
            </a:r>
            <a:r>
              <a:rPr lang="en-US" altLang="zh-TW" sz="4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PMingLiU" pitchFamily="18" charset="-120"/>
              </a:rPr>
              <a:t>Measure</a:t>
            </a:r>
            <a:r>
              <a:rPr lang="en-US" altLang="zh-TW" sz="4400" dirty="0">
                <a:ea typeface="PMingLiU" pitchFamily="18" charset="-120"/>
              </a:rPr>
              <a:t> </a:t>
            </a:r>
            <a:endParaRPr lang="zh-TW" altLang="en-US" sz="4400" dirty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43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Nearest Neighbor and Exemplar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451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88900"/>
            <a:ext cx="6019800" cy="97790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Exemplar</a:t>
            </a: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Arithmetic Mean</a:t>
            </a:r>
          </a:p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Geometric Mean</a:t>
            </a:r>
          </a:p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Medoid </a:t>
            </a:r>
          </a:p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Centroid</a:t>
            </a:r>
          </a:p>
        </p:txBody>
      </p:sp>
    </p:spTree>
    <p:extLst>
      <p:ext uri="{BB962C8B-B14F-4D97-AF65-F5344CB8AC3E}">
        <p14:creationId xmlns:p14="http://schemas.microsoft.com/office/powerpoint/2010/main" val="92120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88900"/>
            <a:ext cx="6477000" cy="840740"/>
          </a:xfrm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Arithmetic Mean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838" y="1600200"/>
            <a:ext cx="6846761" cy="47244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8062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8900"/>
            <a:ext cx="6324600" cy="84074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Geometric Mean</a:t>
            </a: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447221"/>
              </p:ext>
            </p:extLst>
          </p:nvPr>
        </p:nvGraphicFramePr>
        <p:xfrm>
          <a:off x="914399" y="1662906"/>
          <a:ext cx="7543801" cy="4400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43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005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81000"/>
                        </a:lnSpc>
                        <a:spcBef>
                          <a:spcPts val="4680"/>
                        </a:spcBef>
                        <a:spcAft>
                          <a:spcPts val="1440"/>
                        </a:spcAft>
                      </a:pPr>
                      <a:r>
                        <a:rPr lang="en-US" sz="2000" spc="30" dirty="0">
                          <a:effectLst/>
                        </a:rPr>
                        <a:t>A term between two terms of a geometric sequence is the </a:t>
                      </a:r>
                      <a:r>
                        <a:rPr lang="en-US" sz="2000" spc="40" dirty="0">
                          <a:effectLst/>
                        </a:rPr>
                        <a:t>geometric mean of the two terms.</a:t>
                      </a:r>
                    </a:p>
                    <a:p>
                      <a:pPr marL="1005840" marR="0" indent="-100584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Example: In the geometric sequence 4, 20, 100, ....(with a factor </a:t>
                      </a:r>
                      <a:r>
                        <a:rPr lang="en-US" sz="2000" spc="-30" dirty="0">
                          <a:effectLst/>
                        </a:rPr>
                        <a:t>of 5), 20 is the geometric mean of 4 and 100.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38430" marB="138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107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696200" cy="2209800"/>
          </a:xfrm>
        </p:spPr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Given: a set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points in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3000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Goal: a data structure, which given a query point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 finds the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nearest neighbor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88900"/>
            <a:ext cx="6629400" cy="9779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Nearest Neighbor Search</a:t>
            </a: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2362200" y="4953000"/>
            <a:ext cx="152400" cy="152400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4724400" y="42672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4114800" y="46482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209800" y="5029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q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4038600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p</a:t>
            </a: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4495800" y="37338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AutoShape 10"/>
          <p:cNvSpPr>
            <a:spLocks noChangeArrowheads="1"/>
          </p:cNvSpPr>
          <p:nvPr/>
        </p:nvSpPr>
        <p:spPr bwMode="auto">
          <a:xfrm>
            <a:off x="4800600" y="52578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AutoShape 11"/>
          <p:cNvSpPr>
            <a:spLocks noChangeArrowheads="1"/>
          </p:cNvSpPr>
          <p:nvPr/>
        </p:nvSpPr>
        <p:spPr bwMode="auto">
          <a:xfrm>
            <a:off x="5181600" y="57912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4572000" y="601980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 flipV="1">
            <a:off x="2514600" y="44958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2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-0.01781 L 0 -0.08997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08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88900"/>
            <a:ext cx="60960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</a:rPr>
              <a:t>K-NN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(K-l)-NN: Reduce complexity by having a threshold on the majority. We could restrict the associations through (K-l)-NN.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  <p:sp>
        <p:nvSpPr>
          <p:cNvPr id="25" name="Multiply 24"/>
          <p:cNvSpPr/>
          <p:nvPr/>
        </p:nvSpPr>
        <p:spPr bwMode="auto">
          <a:xfrm>
            <a:off x="834608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6" name="Multiply 25"/>
          <p:cNvSpPr/>
          <p:nvPr/>
        </p:nvSpPr>
        <p:spPr bwMode="auto">
          <a:xfrm>
            <a:off x="6488710" y="3329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7" name="Multiply 26"/>
          <p:cNvSpPr/>
          <p:nvPr/>
        </p:nvSpPr>
        <p:spPr bwMode="auto">
          <a:xfrm>
            <a:off x="634583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8" name="Multiply 27"/>
          <p:cNvSpPr/>
          <p:nvPr/>
        </p:nvSpPr>
        <p:spPr bwMode="auto">
          <a:xfrm>
            <a:off x="5917210" y="4853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9" name="Multiply 28"/>
          <p:cNvSpPr/>
          <p:nvPr/>
        </p:nvSpPr>
        <p:spPr bwMode="auto">
          <a:xfrm>
            <a:off x="6917335" y="45677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1" name="Oval 32"/>
          <p:cNvSpPr>
            <a:spLocks noChangeArrowheads="1"/>
          </p:cNvSpPr>
          <p:nvPr/>
        </p:nvSpPr>
        <p:spPr bwMode="auto">
          <a:xfrm>
            <a:off x="7488835" y="39962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7203085" y="3424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7988898" y="5044003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Oval 35"/>
          <p:cNvSpPr>
            <a:spLocks noChangeArrowheads="1"/>
          </p:cNvSpPr>
          <p:nvPr/>
        </p:nvSpPr>
        <p:spPr bwMode="auto">
          <a:xfrm>
            <a:off x="8131773" y="3043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21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8900"/>
            <a:ext cx="63246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</a:rPr>
              <a:t>K-NN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(K-l)-NN: Reduce complexity by having a threshold on the majority. We could restrict the associations through (K-l)-NN.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K=5</a:t>
            </a:r>
            <a:endParaRPr lang="en-US" alt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  <p:sp>
        <p:nvSpPr>
          <p:cNvPr id="25" name="Multiply 24"/>
          <p:cNvSpPr/>
          <p:nvPr/>
        </p:nvSpPr>
        <p:spPr bwMode="auto">
          <a:xfrm>
            <a:off x="834608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6" name="Multiply 25"/>
          <p:cNvSpPr/>
          <p:nvPr/>
        </p:nvSpPr>
        <p:spPr bwMode="auto">
          <a:xfrm>
            <a:off x="6488710" y="3329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7" name="Multiply 26"/>
          <p:cNvSpPr/>
          <p:nvPr/>
        </p:nvSpPr>
        <p:spPr bwMode="auto">
          <a:xfrm>
            <a:off x="634583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8" name="Multiply 27"/>
          <p:cNvSpPr/>
          <p:nvPr/>
        </p:nvSpPr>
        <p:spPr bwMode="auto">
          <a:xfrm>
            <a:off x="5917210" y="4853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9" name="Multiply 28"/>
          <p:cNvSpPr/>
          <p:nvPr/>
        </p:nvSpPr>
        <p:spPr bwMode="auto">
          <a:xfrm>
            <a:off x="6917335" y="45677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0" name="Plus 29"/>
          <p:cNvSpPr/>
          <p:nvPr/>
        </p:nvSpPr>
        <p:spPr bwMode="auto">
          <a:xfrm>
            <a:off x="6917334" y="3901003"/>
            <a:ext cx="285750" cy="381000"/>
          </a:xfrm>
          <a:prstGeom prst="mathPl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1" name="Oval 32"/>
          <p:cNvSpPr>
            <a:spLocks noChangeArrowheads="1"/>
          </p:cNvSpPr>
          <p:nvPr/>
        </p:nvSpPr>
        <p:spPr bwMode="auto">
          <a:xfrm>
            <a:off x="7488835" y="39962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7203085" y="3424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7988898" y="5044003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Oval 35"/>
          <p:cNvSpPr>
            <a:spLocks noChangeArrowheads="1"/>
          </p:cNvSpPr>
          <p:nvPr/>
        </p:nvSpPr>
        <p:spPr bwMode="auto">
          <a:xfrm>
            <a:off x="8131773" y="3043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16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88900"/>
            <a:ext cx="64770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</a:rPr>
              <a:t>K-NN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Select 5 Nearest Neighbors </a:t>
            </a:r>
          </a:p>
          <a:p>
            <a:pPr marL="0" indent="0" algn="just">
              <a:buNone/>
            </a:pPr>
            <a:r>
              <a:rPr lang="en-US" altLang="en-US" sz="2400" dirty="0"/>
              <a:t>      </a:t>
            </a:r>
            <a:r>
              <a:rPr lang="en-US" altLang="en-US" sz="2400" dirty="0">
                <a:latin typeface="+mn-lt"/>
              </a:rPr>
              <a:t>as Value of K=5 by Taking their </a:t>
            </a:r>
          </a:p>
          <a:p>
            <a:pPr marL="0" indent="0" algn="just">
              <a:buNone/>
            </a:pPr>
            <a:r>
              <a:rPr lang="en-US" altLang="en-US" sz="2400" dirty="0"/>
              <a:t>      Euclidean </a:t>
            </a:r>
            <a:r>
              <a:rPr lang="en-US" altLang="en-US" sz="2400" dirty="0" err="1"/>
              <a:t>Disances</a:t>
            </a:r>
            <a:endParaRPr lang="en-US" alt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  <p:sp>
        <p:nvSpPr>
          <p:cNvPr id="25" name="Multiply 24"/>
          <p:cNvSpPr/>
          <p:nvPr/>
        </p:nvSpPr>
        <p:spPr bwMode="auto">
          <a:xfrm>
            <a:off x="834608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6" name="Multiply 25"/>
          <p:cNvSpPr/>
          <p:nvPr/>
        </p:nvSpPr>
        <p:spPr bwMode="auto">
          <a:xfrm>
            <a:off x="6488710" y="3329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7" name="Multiply 26"/>
          <p:cNvSpPr/>
          <p:nvPr/>
        </p:nvSpPr>
        <p:spPr bwMode="auto">
          <a:xfrm>
            <a:off x="634583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8" name="Multiply 27"/>
          <p:cNvSpPr/>
          <p:nvPr/>
        </p:nvSpPr>
        <p:spPr bwMode="auto">
          <a:xfrm>
            <a:off x="5917210" y="4853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9" name="Multiply 28"/>
          <p:cNvSpPr/>
          <p:nvPr/>
        </p:nvSpPr>
        <p:spPr bwMode="auto">
          <a:xfrm>
            <a:off x="6917335" y="45677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0" name="Plus 29"/>
          <p:cNvSpPr/>
          <p:nvPr/>
        </p:nvSpPr>
        <p:spPr bwMode="auto">
          <a:xfrm>
            <a:off x="6917334" y="3901003"/>
            <a:ext cx="285750" cy="381000"/>
          </a:xfrm>
          <a:prstGeom prst="mathPl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1" name="Oval 32"/>
          <p:cNvSpPr>
            <a:spLocks noChangeArrowheads="1"/>
          </p:cNvSpPr>
          <p:nvPr/>
        </p:nvSpPr>
        <p:spPr bwMode="auto">
          <a:xfrm>
            <a:off x="7488835" y="39962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7203085" y="3424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7988898" y="5044003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Oval 35"/>
          <p:cNvSpPr>
            <a:spLocks noChangeArrowheads="1"/>
          </p:cNvSpPr>
          <p:nvPr/>
        </p:nvSpPr>
        <p:spPr bwMode="auto">
          <a:xfrm>
            <a:off x="8131773" y="3043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Oval 36"/>
          <p:cNvSpPr>
            <a:spLocks noChangeArrowheads="1"/>
          </p:cNvSpPr>
          <p:nvPr/>
        </p:nvSpPr>
        <p:spPr bwMode="auto">
          <a:xfrm>
            <a:off x="6202959" y="3043754"/>
            <a:ext cx="1714500" cy="2000249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6" name="Straight Connector 38"/>
          <p:cNvCxnSpPr>
            <a:cxnSpLocks noChangeShapeType="1"/>
            <a:stCxn id="30" idx="2"/>
            <a:endCxn id="26" idx="2"/>
          </p:cNvCxnSpPr>
          <p:nvPr/>
        </p:nvCxnSpPr>
        <p:spPr bwMode="auto">
          <a:xfrm rot="10800000">
            <a:off x="6652222" y="3547521"/>
            <a:ext cx="303212" cy="54398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41"/>
          <p:cNvCxnSpPr>
            <a:cxnSpLocks noChangeShapeType="1"/>
            <a:stCxn id="30" idx="2"/>
            <a:endCxn id="27" idx="1"/>
          </p:cNvCxnSpPr>
          <p:nvPr/>
        </p:nvCxnSpPr>
        <p:spPr bwMode="auto">
          <a:xfrm rot="10800000">
            <a:off x="6509348" y="4063987"/>
            <a:ext cx="446087" cy="27516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43"/>
          <p:cNvCxnSpPr>
            <a:cxnSpLocks noChangeShapeType="1"/>
            <a:stCxn id="30" idx="1"/>
            <a:endCxn id="29" idx="1"/>
          </p:cNvCxnSpPr>
          <p:nvPr/>
        </p:nvCxnSpPr>
        <p:spPr bwMode="auto">
          <a:xfrm rot="16200000" flipH="1">
            <a:off x="6868386" y="4423026"/>
            <a:ext cx="404284" cy="20638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45"/>
          <p:cNvCxnSpPr>
            <a:cxnSpLocks noChangeShapeType="1"/>
            <a:stCxn id="30" idx="0"/>
            <a:endCxn id="31" idx="2"/>
          </p:cNvCxnSpPr>
          <p:nvPr/>
        </p:nvCxnSpPr>
        <p:spPr bwMode="auto">
          <a:xfrm>
            <a:off x="7164984" y="4091503"/>
            <a:ext cx="3238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47"/>
          <p:cNvCxnSpPr>
            <a:cxnSpLocks noChangeShapeType="1"/>
            <a:stCxn id="30" idx="0"/>
            <a:endCxn id="32" idx="3"/>
          </p:cNvCxnSpPr>
          <p:nvPr/>
        </p:nvCxnSpPr>
        <p:spPr bwMode="auto">
          <a:xfrm flipV="1">
            <a:off x="7164984" y="3587737"/>
            <a:ext cx="58738" cy="50376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440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88900"/>
            <a:ext cx="64008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</a:rPr>
              <a:t>K-NN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Decide if majority of Instances over a given </a:t>
            </a:r>
            <a:br>
              <a:rPr lang="en-US" altLang="en-US" sz="2400" dirty="0"/>
            </a:br>
            <a:r>
              <a:rPr lang="en-US" altLang="en-US" sz="2400" dirty="0"/>
              <a:t>value of K Here, K=5.</a:t>
            </a:r>
            <a:br>
              <a:rPr lang="en-US" altLang="en-US" sz="2400" dirty="0"/>
            </a:br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  <p:sp>
        <p:nvSpPr>
          <p:cNvPr id="25" name="Multiply 24"/>
          <p:cNvSpPr/>
          <p:nvPr/>
        </p:nvSpPr>
        <p:spPr bwMode="auto">
          <a:xfrm>
            <a:off x="834608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6" name="Multiply 25"/>
          <p:cNvSpPr/>
          <p:nvPr/>
        </p:nvSpPr>
        <p:spPr bwMode="auto">
          <a:xfrm>
            <a:off x="6488710" y="3329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7" name="Multiply 26"/>
          <p:cNvSpPr/>
          <p:nvPr/>
        </p:nvSpPr>
        <p:spPr bwMode="auto">
          <a:xfrm>
            <a:off x="6345835" y="39962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8" name="Multiply 27"/>
          <p:cNvSpPr/>
          <p:nvPr/>
        </p:nvSpPr>
        <p:spPr bwMode="auto">
          <a:xfrm>
            <a:off x="5917210" y="4853503"/>
            <a:ext cx="214313" cy="285751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9" name="Multiply 28"/>
          <p:cNvSpPr/>
          <p:nvPr/>
        </p:nvSpPr>
        <p:spPr bwMode="auto">
          <a:xfrm>
            <a:off x="6917335" y="4567754"/>
            <a:ext cx="214313" cy="285749"/>
          </a:xfrm>
          <a:prstGeom prst="mathMultiply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0" name="Plus 29"/>
          <p:cNvSpPr/>
          <p:nvPr/>
        </p:nvSpPr>
        <p:spPr bwMode="auto">
          <a:xfrm>
            <a:off x="6917334" y="3901003"/>
            <a:ext cx="285750" cy="381000"/>
          </a:xfrm>
          <a:prstGeom prst="mathPl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1" name="Oval 32"/>
          <p:cNvSpPr>
            <a:spLocks noChangeArrowheads="1"/>
          </p:cNvSpPr>
          <p:nvPr/>
        </p:nvSpPr>
        <p:spPr bwMode="auto">
          <a:xfrm>
            <a:off x="7488835" y="39962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7203085" y="3424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7988898" y="5044003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Oval 35"/>
          <p:cNvSpPr>
            <a:spLocks noChangeArrowheads="1"/>
          </p:cNvSpPr>
          <p:nvPr/>
        </p:nvSpPr>
        <p:spPr bwMode="auto">
          <a:xfrm>
            <a:off x="8131773" y="3043754"/>
            <a:ext cx="142875" cy="1905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Oval 36"/>
          <p:cNvSpPr>
            <a:spLocks noChangeArrowheads="1"/>
          </p:cNvSpPr>
          <p:nvPr/>
        </p:nvSpPr>
        <p:spPr bwMode="auto">
          <a:xfrm>
            <a:off x="6202959" y="3043754"/>
            <a:ext cx="1714500" cy="2000249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6" name="Straight Connector 38"/>
          <p:cNvCxnSpPr>
            <a:cxnSpLocks noChangeShapeType="1"/>
            <a:stCxn id="30" idx="2"/>
            <a:endCxn id="26" idx="2"/>
          </p:cNvCxnSpPr>
          <p:nvPr/>
        </p:nvCxnSpPr>
        <p:spPr bwMode="auto">
          <a:xfrm rot="10800000">
            <a:off x="6652222" y="3547521"/>
            <a:ext cx="303212" cy="54398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41"/>
          <p:cNvCxnSpPr>
            <a:cxnSpLocks noChangeShapeType="1"/>
            <a:stCxn id="30" idx="2"/>
            <a:endCxn id="27" idx="1"/>
          </p:cNvCxnSpPr>
          <p:nvPr/>
        </p:nvCxnSpPr>
        <p:spPr bwMode="auto">
          <a:xfrm rot="10800000">
            <a:off x="6509348" y="4063987"/>
            <a:ext cx="446087" cy="27516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43"/>
          <p:cNvCxnSpPr>
            <a:cxnSpLocks noChangeShapeType="1"/>
            <a:stCxn id="30" idx="1"/>
            <a:endCxn id="29" idx="1"/>
          </p:cNvCxnSpPr>
          <p:nvPr/>
        </p:nvCxnSpPr>
        <p:spPr bwMode="auto">
          <a:xfrm rot="16200000" flipH="1">
            <a:off x="6868386" y="4423026"/>
            <a:ext cx="404284" cy="20638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45"/>
          <p:cNvCxnSpPr>
            <a:cxnSpLocks noChangeShapeType="1"/>
            <a:stCxn id="30" idx="0"/>
            <a:endCxn id="31" idx="2"/>
          </p:cNvCxnSpPr>
          <p:nvPr/>
        </p:nvCxnSpPr>
        <p:spPr bwMode="auto">
          <a:xfrm>
            <a:off x="7164984" y="4091503"/>
            <a:ext cx="3238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47"/>
          <p:cNvCxnSpPr>
            <a:cxnSpLocks noChangeShapeType="1"/>
            <a:stCxn id="30" idx="0"/>
            <a:endCxn id="32" idx="3"/>
          </p:cNvCxnSpPr>
          <p:nvPr/>
        </p:nvCxnSpPr>
        <p:spPr bwMode="auto">
          <a:xfrm flipV="1">
            <a:off x="7164984" y="3587737"/>
            <a:ext cx="58738" cy="50376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1717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8900"/>
            <a:ext cx="63246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157927"/>
              </p:ext>
            </p:extLst>
          </p:nvPr>
        </p:nvGraphicFramePr>
        <p:xfrm>
          <a:off x="1524000" y="1828800"/>
          <a:ext cx="6477000" cy="28956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3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2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 (Acid Durability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X2(strength)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Y=Classification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3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8900"/>
            <a:ext cx="6324600" cy="977900"/>
          </a:xfrm>
        </p:spPr>
        <p:txBody>
          <a:bodyPr/>
          <a:lstStyle/>
          <a:p>
            <a:r>
              <a:rPr lang="en-US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KNN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20883"/>
              </p:ext>
            </p:extLst>
          </p:nvPr>
        </p:nvGraphicFramePr>
        <p:xfrm>
          <a:off x="1066800" y="2209800"/>
          <a:ext cx="685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X1(Acid Durability)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X2(Strength)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Y(Classification)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652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88900"/>
            <a:ext cx="6172200" cy="84074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Scatter Plot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95" y="1600200"/>
            <a:ext cx="8039210" cy="4525963"/>
          </a:xfrm>
        </p:spPr>
      </p:pic>
    </p:spTree>
    <p:extLst>
      <p:ext uri="{BB962C8B-B14F-4D97-AF65-F5344CB8AC3E}">
        <p14:creationId xmlns:p14="http://schemas.microsoft.com/office/powerpoint/2010/main" val="1179891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88900"/>
            <a:ext cx="6629400" cy="1206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Euclidean Distance From Each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05899438"/>
                  </p:ext>
                </p:extLst>
              </p:nvPr>
            </p:nvGraphicFramePr>
            <p:xfrm>
              <a:off x="457200" y="1600200"/>
              <a:ext cx="8458200" cy="31546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KNN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r>
                            <a:rPr lang="en-US" dirty="0"/>
                            <a:t>Euclidean Distance of P5(3,7) from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3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(7,7)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(7,4)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(3,4)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968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Sqrt((7-3)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(7-7)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smtClean="0">
                                      <a:latin typeface="Cambria Math"/>
                                    </a:rPr>
                                    <m:t>16</m:t>
                                  </m:r>
                                </m:e>
                              </m:rad>
                            </m:oMath>
                          </a14:m>
                          <a:endParaRPr lang="en-US" sz="16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smtClean="0">
                                    <a:latin typeface="Cambria Math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Sqrt((7-3)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smtClean="0">
                                      <a:latin typeface="Cambria Math"/>
                                    </a:rPr>
                                    <m:t>25</m:t>
                                  </m:r>
                                </m:e>
                              </m:rad>
                            </m:oMath>
                          </a14:m>
                          <a:endParaRPr lang="en-US" sz="16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smtClean="0">
                                    <a:latin typeface="Cambria Math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Sqrt((3-3)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smtClean="0">
                                      <a:latin typeface="Cambria Math"/>
                                    </a:rPr>
                                    <m:t>9</m:t>
                                  </m:r>
                                </m:e>
                              </m:rad>
                            </m:oMath>
                          </a14:m>
                          <a:endParaRPr lang="en-US" sz="16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smtClean="0">
                                    <a:latin typeface="Cambria Math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Sqrt((1-3)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smtClean="0">
                                      <a:latin typeface="Cambria Math"/>
                                    </a:rPr>
                                    <m:t>13</m:t>
                                  </m:r>
                                </m:e>
                              </m:rad>
                            </m:oMath>
                          </a14:m>
                          <a:endParaRPr lang="en-US" sz="16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smtClean="0">
                                    <a:latin typeface="Cambria Math"/>
                                  </a:rPr>
                                  <m:t>=3.60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1405899438"/>
                  </p:ext>
                </p:extLst>
              </p:nvPr>
            </p:nvGraphicFramePr>
            <p:xfrm>
              <a:off x="457200" y="1600200"/>
              <a:ext cx="8458200" cy="31546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828800"/>
                    <a:gridCol w="1905000"/>
                    <a:gridCol w="1600200"/>
                    <a:gridCol w="1752600"/>
                  </a:tblGrid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KNN</a:t>
                          </a:r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</a:tr>
                  <a:tr h="370840">
                    <a:tc rowSpan="3">
                      <a:txBody>
                        <a:bodyPr/>
                        <a:lstStyle/>
                        <a:p>
                          <a:r>
                            <a:rPr lang="en-US" dirty="0" smtClean="0"/>
                            <a:t>Euclidean Distance of P5(3,7) from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P4</a:t>
                          </a:r>
                          <a:endParaRPr lang="en-US" dirty="0"/>
                        </a:p>
                      </a:txBody>
                      <a:tcPr anchor="ctr"/>
                    </a:tc>
                  </a:tr>
                  <a:tr h="1163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(7,7)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(7,4)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(3,4)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(1,4)</a:t>
                          </a:r>
                          <a:endParaRPr lang="en-US" dirty="0"/>
                        </a:p>
                      </a:txBody>
                      <a:tcPr anchor="ctr"/>
                    </a:tc>
                  </a:tr>
                  <a:tr h="124968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5000" t="-154634" r="-287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67732" t="-154634" r="-175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847" t="-154634" r="-1099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81944" t="-15463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615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88900"/>
            <a:ext cx="6553200" cy="84074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 Nearest NeighBour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35190536"/>
                  </p:ext>
                </p:extLst>
              </p:nvPr>
            </p:nvGraphicFramePr>
            <p:xfrm>
              <a:off x="457200" y="1600200"/>
              <a:ext cx="8458200" cy="4404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r>
                            <a:rPr lang="en-US" dirty="0"/>
                            <a:t>Euclidean Distance of P5(3,7) from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P1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P3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P4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3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(7,7)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(7,4)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(3,4)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(1,4)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968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Sqrt((7-3)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(7-7)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  <a:ea typeface="Cambria Math"/>
                                    </a:rPr>
                                    <m:t>16</m:t>
                                  </m:r>
                                </m:e>
                              </m:rad>
                            </m:oMath>
                          </a14:m>
                          <a:endParaRPr lang="en-US" sz="1600" b="0" i="1" dirty="0">
                            <a:latin typeface="Cambria Math"/>
                            <a:ea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  <a:ea typeface="Cambria Math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Sqrt((7-3)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  <a:ea typeface="Cambria Math"/>
                                    </a:rPr>
                                    <m:t>25</m:t>
                                  </m:r>
                                </m:e>
                              </m:rad>
                            </m:oMath>
                          </a14:m>
                          <a:endParaRPr lang="en-US" sz="1600" b="0" i="1" dirty="0">
                            <a:latin typeface="Cambria Math"/>
                            <a:ea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  <a:ea typeface="Cambria Math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Sqrt((3-3)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  <a:ea typeface="Cambria Math"/>
                                    </a:rPr>
                                    <m:t>9</m:t>
                                  </m:r>
                                </m:e>
                              </m:rad>
                            </m:oMath>
                          </a14:m>
                          <a:endParaRPr lang="en-US" sz="1600" b="0" i="1" dirty="0">
                            <a:latin typeface="Cambria Math"/>
                            <a:ea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  <a:ea typeface="Cambria Math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Sqrt((1-3) 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+ (4-7)</a:t>
                          </a:r>
                          <a:r>
                            <a:rPr lang="en-US" sz="1600" baseline="30000" dirty="0"/>
                            <a:t>2</a:t>
                          </a:r>
                          <a:r>
                            <a:rPr lang="en-US" sz="1600" dirty="0"/>
                            <a:t> )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  <a:ea typeface="Cambria Math"/>
                                    </a:rPr>
                                    <m:t>13</m:t>
                                  </m:r>
                                </m:e>
                              </m:rad>
                            </m:oMath>
                          </a14:m>
                          <a:endParaRPr lang="en-US" sz="1600" b="0" i="1" dirty="0">
                            <a:latin typeface="Cambria Math"/>
                            <a:ea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  <a:ea typeface="Cambria Math"/>
                                  </a:rPr>
                                  <m:t>=3.60</m:t>
                                </m:r>
                              </m:oMath>
                            </m:oMathPara>
                          </a14:m>
                          <a:endParaRPr lang="en-US" sz="1600" baseline="30000" dirty="0"/>
                        </a:p>
                        <a:p>
                          <a:endParaRPr lang="en-US" sz="1600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249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Class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BAD</a:t>
                          </a:r>
                          <a:endParaRPr lang="en-US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BAD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GOOD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GOOD</a:t>
                          </a: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3835190536"/>
                  </p:ext>
                </p:extLst>
              </p:nvPr>
            </p:nvGraphicFramePr>
            <p:xfrm>
              <a:off x="457200" y="1600200"/>
              <a:ext cx="8458200" cy="4404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/>
                    <a:gridCol w="1828800"/>
                    <a:gridCol w="1905000"/>
                    <a:gridCol w="1600200"/>
                    <a:gridCol w="17526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</a:tr>
                  <a:tr h="370840">
                    <a:tc rowSpan="3">
                      <a:txBody>
                        <a:bodyPr/>
                        <a:lstStyle/>
                        <a:p>
                          <a:r>
                            <a:rPr lang="en-US" dirty="0" smtClean="0"/>
                            <a:t>Euclidean Distance of P5(3,7) from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P3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P4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</a:tr>
                  <a:tr h="1163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(7,7)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(7,4)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(3,4)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(1,4)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</a:tr>
                  <a:tr h="124968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5000" t="-152683" r="-287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67732" t="-152683" r="-17571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847" t="-152683" r="-1099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81944" t="-152683" b="-100000"/>
                          </a:stretch>
                        </a:blipFill>
                      </a:tcPr>
                    </a:tc>
                  </a:tr>
                  <a:tr h="1249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/>
                            <a:t>Class </a:t>
                          </a:r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BAD</a:t>
                          </a:r>
                          <a:endParaRPr lang="en-US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BAD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GOOD</a:t>
                          </a:r>
                          <a:endParaRPr lang="en-US" sz="2000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GOOD</a:t>
                          </a:r>
                          <a:endParaRPr lang="en-US" sz="2000" dirty="0"/>
                        </a:p>
                      </a:txBody>
                      <a:tcPr anchor="ctr">
                        <a:solidFill>
                          <a:schemeClr val="accent6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6505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88900"/>
            <a:ext cx="64008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KNN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17572"/>
              </p:ext>
            </p:extLst>
          </p:nvPr>
        </p:nvGraphicFramePr>
        <p:xfrm>
          <a:off x="1066800" y="2209800"/>
          <a:ext cx="685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X1(Durability)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X2(Strength)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Y(Classification)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950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88900"/>
            <a:ext cx="65532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Variation In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0" name="Picture 4" descr="https://upload.wikimedia.org/wikipedia/commons/thumb/e/e7/KnnClassification.svg/279px-KnnClassificat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43200"/>
            <a:ext cx="289560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038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88900"/>
            <a:ext cx="64008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Different Values of 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720181"/>
            <a:ext cx="2667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24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88900"/>
            <a:ext cx="6477000" cy="9779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/>
              <a:t>Machine Learning : The Art and Science of Algorithms that Make Sense of Data By Peter Flach</a:t>
            </a:r>
          </a:p>
          <a:p>
            <a:r>
              <a:rPr lang="en-US" sz="1800" dirty="0"/>
              <a:t>A presentation on KNN Algorithm : West Virginia University , Published on May 22, 2015</a:t>
            </a:r>
            <a:endParaRPr lang="en-US" sz="1800" i="1" dirty="0"/>
          </a:p>
          <a:p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428696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b="1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99440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665</Words>
  <Application>Microsoft Office PowerPoint</Application>
  <PresentationFormat>On-screen Show (4:3)</PresentationFormat>
  <Paragraphs>187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Office Theme</vt:lpstr>
      <vt:lpstr>Equation</vt:lpstr>
      <vt:lpstr>Distance</vt:lpstr>
      <vt:lpstr>Distance</vt:lpstr>
      <vt:lpstr>Distances</vt:lpstr>
      <vt:lpstr>Distances</vt:lpstr>
      <vt:lpstr>               Properties of Distance</vt:lpstr>
      <vt:lpstr>Distance</vt:lpstr>
      <vt:lpstr>Distances Measure </vt:lpstr>
      <vt:lpstr>Nearest Neighbor and Exemplar</vt:lpstr>
      <vt:lpstr> Exemplar </vt:lpstr>
      <vt:lpstr>Arithmetic Mean</vt:lpstr>
      <vt:lpstr> Geometric Mean </vt:lpstr>
      <vt:lpstr>Nearest Neighbor Search</vt:lpstr>
      <vt:lpstr>K-NN</vt:lpstr>
      <vt:lpstr>K-NN</vt:lpstr>
      <vt:lpstr>K-NN</vt:lpstr>
      <vt:lpstr>K-NN</vt:lpstr>
      <vt:lpstr>Example</vt:lpstr>
      <vt:lpstr>KNN Example</vt:lpstr>
      <vt:lpstr>Scatter Plot</vt:lpstr>
      <vt:lpstr>Euclidean Distance From Each Point</vt:lpstr>
      <vt:lpstr>3 Nearest NeighBour</vt:lpstr>
      <vt:lpstr>KNN Classification</vt:lpstr>
      <vt:lpstr>Variation In KNN</vt:lpstr>
      <vt:lpstr>Different Values of 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Dr. Anant Bagade</cp:lastModifiedBy>
  <cp:revision>183</cp:revision>
  <dcterms:created xsi:type="dcterms:W3CDTF">2017-08-20T16:12:51Z</dcterms:created>
  <dcterms:modified xsi:type="dcterms:W3CDTF">2021-11-15T03:00:33Z</dcterms:modified>
</cp:coreProperties>
</file>