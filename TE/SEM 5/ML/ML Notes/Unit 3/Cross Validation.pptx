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" r:id="rId2"/>
    <p:sldId id="296" r:id="rId3"/>
    <p:sldId id="297" r:id="rId4"/>
    <p:sldId id="298" r:id="rId5"/>
    <p:sldId id="299" r:id="rId6"/>
    <p:sldId id="300" r:id="rId7"/>
    <p:sldId id="301" r:id="rId8"/>
    <p:sldId id="317" r:id="rId9"/>
    <p:sldId id="302" r:id="rId10"/>
    <p:sldId id="303" r:id="rId11"/>
    <p:sldId id="308" r:id="rId12"/>
    <p:sldId id="257" r:id="rId13"/>
    <p:sldId id="266" r:id="rId14"/>
    <p:sldId id="309" r:id="rId15"/>
    <p:sldId id="319" r:id="rId16"/>
    <p:sldId id="320" r:id="rId17"/>
    <p:sldId id="321" r:id="rId18"/>
    <p:sldId id="306" r:id="rId19"/>
    <p:sldId id="307" r:id="rId20"/>
    <p:sldId id="310" r:id="rId21"/>
    <p:sldId id="323" r:id="rId22"/>
    <p:sldId id="322" r:id="rId23"/>
    <p:sldId id="325" r:id="rId24"/>
    <p:sldId id="324" r:id="rId25"/>
    <p:sldId id="311" r:id="rId26"/>
    <p:sldId id="314" r:id="rId27"/>
    <p:sldId id="313" r:id="rId28"/>
    <p:sldId id="31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0.50996481765299995</c:v>
                </c:pt>
                <c:pt idx="1">
                  <c:v>0.54232539540199998</c:v>
                </c:pt>
                <c:pt idx="2">
                  <c:v>0.50332026709099997</c:v>
                </c:pt>
                <c:pt idx="3">
                  <c:v>0.50057789028099997</c:v>
                </c:pt>
              </c:numCache>
            </c:numRef>
          </c:yVal>
        </c:ser>
        <c:ser>
          <c:idx val="1"/>
          <c:order val="1"/>
          <c:tx>
            <c:v>Lower range</c:v>
          </c:tx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</c:numCache>
            </c:numRef>
          </c:xVal>
          <c:yVal>
            <c:numRef>
              <c:f>Sheet1!$G$2:$G$5</c:f>
              <c:numCache>
                <c:formatCode>General</c:formatCode>
                <c:ptCount val="4"/>
                <c:pt idx="0">
                  <c:v>0.48087911904698172</c:v>
                </c:pt>
                <c:pt idx="1">
                  <c:v>0.53946608252673622</c:v>
                </c:pt>
                <c:pt idx="2">
                  <c:v>0.50306561893180912</c:v>
                </c:pt>
                <c:pt idx="3">
                  <c:v>0.50055341979902668</c:v>
                </c:pt>
              </c:numCache>
            </c:numRef>
          </c:yVal>
        </c:ser>
        <c:ser>
          <c:idx val="2"/>
          <c:order val="2"/>
          <c:tx>
            <c:v>Upper range</c:v>
          </c:tx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</c:numCache>
            </c:numRef>
          </c:xVal>
          <c:yVal>
            <c:numRef>
              <c:f>Sheet1!$H$2:$H$5</c:f>
              <c:numCache>
                <c:formatCode>General</c:formatCode>
                <c:ptCount val="4"/>
                <c:pt idx="0">
                  <c:v>0.53905051625901834</c:v>
                </c:pt>
                <c:pt idx="1">
                  <c:v>0.5451847082772634</c:v>
                </c:pt>
                <c:pt idx="2">
                  <c:v>0.50357491525019082</c:v>
                </c:pt>
                <c:pt idx="3">
                  <c:v>0.50060236076297293</c:v>
                </c:pt>
              </c:numCache>
            </c:numRef>
          </c:yVal>
        </c:ser>
        <c:dLbls/>
        <c:axId val="107783296"/>
        <c:axId val="107785216"/>
      </c:scatterChart>
      <c:valAx>
        <c:axId val="107783296"/>
        <c:scaling>
          <c:logBase val="10"/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|Data set|</a:t>
                </a:r>
              </a:p>
            </c:rich>
          </c:tx>
          <c:layout/>
        </c:title>
        <c:numFmt formatCode="General" sourceLinked="1"/>
        <c:tickLblPos val="nextTo"/>
        <c:crossAx val="107785216"/>
        <c:crosses val="autoZero"/>
        <c:crossBetween val="midCat"/>
      </c:valAx>
      <c:valAx>
        <c:axId val="107785216"/>
        <c:scaling>
          <c:orientation val="minMax"/>
        </c:scaling>
        <c:axPos val="l"/>
        <c:majorGridlines/>
        <c:numFmt formatCode="General" sourceLinked="1"/>
        <c:tickLblPos val="nextTo"/>
        <c:crossAx val="107783296"/>
        <c:crosses val="autoZero"/>
        <c:crossBetween val="midCat"/>
      </c:valAx>
    </c:plotArea>
    <c:legend>
      <c:legendPos val="r"/>
      <c:layout/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2DD1DC6-7085-4B24-8870-B7A5611FF6BE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A7AA118-AEB6-449E-883F-D552A92814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Cross-Validation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317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Assessing Performance of a Learning Algorithm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Samples from X are typically unavailable</a:t>
            </a:r>
          </a:p>
          <a:p>
            <a:r>
              <a:rPr lang="en-US"/>
              <a:t>Take out some of the training set</a:t>
            </a:r>
          </a:p>
          <a:p>
            <a:pPr lvl="1"/>
            <a:r>
              <a:rPr lang="en-US"/>
              <a:t>Train on the remaining training set</a:t>
            </a:r>
          </a:p>
          <a:p>
            <a:pPr lvl="1"/>
            <a:r>
              <a:rPr lang="en-US"/>
              <a:t>Test on the excluded instances</a:t>
            </a:r>
          </a:p>
          <a:p>
            <a:pPr lvl="1"/>
            <a:r>
              <a:rPr lang="en-US" i="1">
                <a:solidFill>
                  <a:schemeClr val="accent2"/>
                </a:solidFill>
              </a:rPr>
              <a:t>Cross-validation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504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Cross-Validation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Split original set of examples, train</a:t>
            </a:r>
          </a:p>
          <a:p>
            <a:endParaRPr lang="en-US"/>
          </a:p>
        </p:txBody>
      </p:sp>
      <p:sp>
        <p:nvSpPr>
          <p:cNvPr id="364550" name="Freeform 6"/>
          <p:cNvSpPr>
            <a:spLocks/>
          </p:cNvSpPr>
          <p:nvPr/>
        </p:nvSpPr>
        <p:spPr bwMode="auto">
          <a:xfrm>
            <a:off x="762000" y="2362200"/>
            <a:ext cx="4419600" cy="4081463"/>
          </a:xfrm>
          <a:custGeom>
            <a:avLst/>
            <a:gdLst>
              <a:gd name="T0" fmla="*/ 696 w 2096"/>
              <a:gd name="T1" fmla="*/ 1880 h 1936"/>
              <a:gd name="T2" fmla="*/ 216 w 2096"/>
              <a:gd name="T3" fmla="*/ 1592 h 1936"/>
              <a:gd name="T4" fmla="*/ 24 w 2096"/>
              <a:gd name="T5" fmla="*/ 776 h 1936"/>
              <a:gd name="T6" fmla="*/ 360 w 2096"/>
              <a:gd name="T7" fmla="*/ 104 h 1936"/>
              <a:gd name="T8" fmla="*/ 1512 w 2096"/>
              <a:gd name="T9" fmla="*/ 152 h 1936"/>
              <a:gd name="T10" fmla="*/ 2088 w 2096"/>
              <a:gd name="T11" fmla="*/ 968 h 1936"/>
              <a:gd name="T12" fmla="*/ 1560 w 2096"/>
              <a:gd name="T13" fmla="*/ 1784 h 1936"/>
              <a:gd name="T14" fmla="*/ 696 w 2096"/>
              <a:gd name="T15" fmla="*/ 1880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96" h="1936">
                <a:moveTo>
                  <a:pt x="696" y="1880"/>
                </a:moveTo>
                <a:cubicBezTo>
                  <a:pt x="472" y="1848"/>
                  <a:pt x="328" y="1776"/>
                  <a:pt x="216" y="1592"/>
                </a:cubicBezTo>
                <a:cubicBezTo>
                  <a:pt x="104" y="1408"/>
                  <a:pt x="0" y="1024"/>
                  <a:pt x="24" y="776"/>
                </a:cubicBezTo>
                <a:cubicBezTo>
                  <a:pt x="48" y="528"/>
                  <a:pt x="112" y="208"/>
                  <a:pt x="360" y="104"/>
                </a:cubicBezTo>
                <a:cubicBezTo>
                  <a:pt x="608" y="0"/>
                  <a:pt x="1224" y="8"/>
                  <a:pt x="1512" y="152"/>
                </a:cubicBezTo>
                <a:cubicBezTo>
                  <a:pt x="1800" y="296"/>
                  <a:pt x="2080" y="696"/>
                  <a:pt x="2088" y="968"/>
                </a:cubicBezTo>
                <a:cubicBezTo>
                  <a:pt x="2096" y="1240"/>
                  <a:pt x="1792" y="1632"/>
                  <a:pt x="1560" y="1784"/>
                </a:cubicBezTo>
                <a:cubicBezTo>
                  <a:pt x="1328" y="1936"/>
                  <a:pt x="920" y="1912"/>
                  <a:pt x="696" y="1880"/>
                </a:cubicBezTo>
                <a:close/>
              </a:path>
            </a:pathLst>
          </a:custGeom>
          <a:solidFill>
            <a:srgbClr val="F8F0D0"/>
          </a:solidFill>
          <a:ln w="28575" cmpd="sng">
            <a:solidFill>
              <a:srgbClr val="99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64576" name="Group 32"/>
          <p:cNvGrpSpPr>
            <a:grpSpLocks/>
          </p:cNvGrpSpPr>
          <p:nvPr/>
        </p:nvGrpSpPr>
        <p:grpSpPr bwMode="auto">
          <a:xfrm>
            <a:off x="1217613" y="2794000"/>
            <a:ext cx="3441700" cy="3429000"/>
            <a:chOff x="1583" y="1760"/>
            <a:chExt cx="2168" cy="2160"/>
          </a:xfrm>
        </p:grpSpPr>
        <p:sp>
          <p:nvSpPr>
            <p:cNvPr id="364551" name="Text Box 7"/>
            <p:cNvSpPr txBox="1">
              <a:spLocks noChangeArrowheads="1"/>
            </p:cNvSpPr>
            <p:nvPr/>
          </p:nvSpPr>
          <p:spPr bwMode="auto">
            <a:xfrm>
              <a:off x="2220" y="258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2" name="Text Box 8"/>
            <p:cNvSpPr txBox="1">
              <a:spLocks noChangeArrowheads="1"/>
            </p:cNvSpPr>
            <p:nvPr/>
          </p:nvSpPr>
          <p:spPr bwMode="auto">
            <a:xfrm>
              <a:off x="2794" y="3032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4" name="Text Box 10"/>
            <p:cNvSpPr txBox="1">
              <a:spLocks noChangeArrowheads="1"/>
            </p:cNvSpPr>
            <p:nvPr/>
          </p:nvSpPr>
          <p:spPr bwMode="auto">
            <a:xfrm>
              <a:off x="1583" y="2586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5" name="Text Box 11"/>
            <p:cNvSpPr txBox="1">
              <a:spLocks noChangeArrowheads="1"/>
            </p:cNvSpPr>
            <p:nvPr/>
          </p:nvSpPr>
          <p:spPr bwMode="auto">
            <a:xfrm>
              <a:off x="2284" y="3670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8" name="Text Box 14"/>
            <p:cNvSpPr txBox="1">
              <a:spLocks noChangeArrowheads="1"/>
            </p:cNvSpPr>
            <p:nvPr/>
          </p:nvSpPr>
          <p:spPr bwMode="auto">
            <a:xfrm>
              <a:off x="3368" y="309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9" name="Text Box 15"/>
            <p:cNvSpPr txBox="1">
              <a:spLocks noChangeArrowheads="1"/>
            </p:cNvSpPr>
            <p:nvPr/>
          </p:nvSpPr>
          <p:spPr bwMode="auto">
            <a:xfrm>
              <a:off x="1774" y="3224"/>
              <a:ext cx="20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60" name="Text Box 16"/>
            <p:cNvSpPr txBox="1">
              <a:spLocks noChangeArrowheads="1"/>
            </p:cNvSpPr>
            <p:nvPr/>
          </p:nvSpPr>
          <p:spPr bwMode="auto">
            <a:xfrm>
              <a:off x="2731" y="2523"/>
              <a:ext cx="209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63" name="Text Box 19"/>
            <p:cNvSpPr txBox="1">
              <a:spLocks noChangeArrowheads="1"/>
            </p:cNvSpPr>
            <p:nvPr/>
          </p:nvSpPr>
          <p:spPr bwMode="auto">
            <a:xfrm>
              <a:off x="3177" y="329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65" name="Text Box 21"/>
            <p:cNvSpPr txBox="1">
              <a:spLocks noChangeArrowheads="1"/>
            </p:cNvSpPr>
            <p:nvPr/>
          </p:nvSpPr>
          <p:spPr bwMode="auto">
            <a:xfrm>
              <a:off x="1583" y="1951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66" name="Text Box 22"/>
            <p:cNvSpPr txBox="1">
              <a:spLocks noChangeArrowheads="1"/>
            </p:cNvSpPr>
            <p:nvPr/>
          </p:nvSpPr>
          <p:spPr bwMode="auto">
            <a:xfrm>
              <a:off x="2093" y="3354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71" name="Text Box 27"/>
            <p:cNvSpPr txBox="1">
              <a:spLocks noChangeArrowheads="1"/>
            </p:cNvSpPr>
            <p:nvPr/>
          </p:nvSpPr>
          <p:spPr bwMode="auto">
            <a:xfrm>
              <a:off x="2922" y="2143"/>
              <a:ext cx="19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72" name="Text Box 28"/>
            <p:cNvSpPr txBox="1">
              <a:spLocks noChangeArrowheads="1"/>
            </p:cNvSpPr>
            <p:nvPr/>
          </p:nvSpPr>
          <p:spPr bwMode="auto">
            <a:xfrm>
              <a:off x="3559" y="233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73" name="Text Box 29"/>
            <p:cNvSpPr txBox="1">
              <a:spLocks noChangeArrowheads="1"/>
            </p:cNvSpPr>
            <p:nvPr/>
          </p:nvSpPr>
          <p:spPr bwMode="auto">
            <a:xfrm>
              <a:off x="2157" y="176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</p:grpSp>
      <p:grpSp>
        <p:nvGrpSpPr>
          <p:cNvPr id="364575" name="Group 31"/>
          <p:cNvGrpSpPr>
            <a:grpSpLocks/>
          </p:cNvGrpSpPr>
          <p:nvPr/>
        </p:nvGrpSpPr>
        <p:grpSpPr bwMode="auto">
          <a:xfrm>
            <a:off x="1217613" y="2797175"/>
            <a:ext cx="2922587" cy="3146425"/>
            <a:chOff x="1583" y="1762"/>
            <a:chExt cx="1841" cy="1982"/>
          </a:xfrm>
        </p:grpSpPr>
        <p:sp>
          <p:nvSpPr>
            <p:cNvPr id="364553" name="Text Box 9"/>
            <p:cNvSpPr txBox="1">
              <a:spLocks noChangeArrowheads="1"/>
            </p:cNvSpPr>
            <p:nvPr/>
          </p:nvSpPr>
          <p:spPr bwMode="auto">
            <a:xfrm>
              <a:off x="2220" y="2907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6" name="Text Box 12"/>
            <p:cNvSpPr txBox="1">
              <a:spLocks noChangeArrowheads="1"/>
            </p:cNvSpPr>
            <p:nvPr/>
          </p:nvSpPr>
          <p:spPr bwMode="auto">
            <a:xfrm>
              <a:off x="2539" y="1823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57" name="Text Box 13"/>
            <p:cNvSpPr txBox="1">
              <a:spLocks noChangeArrowheads="1"/>
            </p:cNvSpPr>
            <p:nvPr/>
          </p:nvSpPr>
          <p:spPr bwMode="auto">
            <a:xfrm>
              <a:off x="3177" y="2524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61" name="Text Box 17"/>
            <p:cNvSpPr txBox="1">
              <a:spLocks noChangeArrowheads="1"/>
            </p:cNvSpPr>
            <p:nvPr/>
          </p:nvSpPr>
          <p:spPr bwMode="auto">
            <a:xfrm>
              <a:off x="1902" y="1951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62" name="Text Box 18"/>
            <p:cNvSpPr txBox="1">
              <a:spLocks noChangeArrowheads="1"/>
            </p:cNvSpPr>
            <p:nvPr/>
          </p:nvSpPr>
          <p:spPr bwMode="auto">
            <a:xfrm>
              <a:off x="2794" y="3417"/>
              <a:ext cx="2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64564" name="Text Box 20"/>
            <p:cNvSpPr txBox="1">
              <a:spLocks noChangeArrowheads="1"/>
            </p:cNvSpPr>
            <p:nvPr/>
          </p:nvSpPr>
          <p:spPr bwMode="auto">
            <a:xfrm>
              <a:off x="1710" y="2782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67" name="Text Box 23"/>
            <p:cNvSpPr txBox="1">
              <a:spLocks noChangeArrowheads="1"/>
            </p:cNvSpPr>
            <p:nvPr/>
          </p:nvSpPr>
          <p:spPr bwMode="auto">
            <a:xfrm>
              <a:off x="1583" y="2272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68" name="Text Box 24"/>
            <p:cNvSpPr txBox="1">
              <a:spLocks noChangeArrowheads="1"/>
            </p:cNvSpPr>
            <p:nvPr/>
          </p:nvSpPr>
          <p:spPr bwMode="auto">
            <a:xfrm>
              <a:off x="2603" y="2782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69" name="Text Box 25"/>
            <p:cNvSpPr txBox="1">
              <a:spLocks noChangeArrowheads="1"/>
            </p:cNvSpPr>
            <p:nvPr/>
          </p:nvSpPr>
          <p:spPr bwMode="auto">
            <a:xfrm>
              <a:off x="2922" y="1762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70" name="Text Box 26"/>
            <p:cNvSpPr txBox="1">
              <a:spLocks noChangeArrowheads="1"/>
            </p:cNvSpPr>
            <p:nvPr/>
          </p:nvSpPr>
          <p:spPr bwMode="auto">
            <a:xfrm>
              <a:off x="2093" y="2208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4574" name="Text Box 30"/>
            <p:cNvSpPr txBox="1">
              <a:spLocks noChangeArrowheads="1"/>
            </p:cNvSpPr>
            <p:nvPr/>
          </p:nvSpPr>
          <p:spPr bwMode="auto">
            <a:xfrm>
              <a:off x="2475" y="3228"/>
              <a:ext cx="21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600" b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64577" name="Oval 33"/>
          <p:cNvSpPr>
            <a:spLocks noChangeArrowheads="1"/>
          </p:cNvSpPr>
          <p:nvPr/>
        </p:nvSpPr>
        <p:spPr bwMode="auto">
          <a:xfrm>
            <a:off x="1676400" y="31242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78" name="Oval 34"/>
          <p:cNvSpPr>
            <a:spLocks noChangeArrowheads="1"/>
          </p:cNvSpPr>
          <p:nvPr/>
        </p:nvSpPr>
        <p:spPr bwMode="auto">
          <a:xfrm>
            <a:off x="1981200" y="36576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79" name="Oval 35"/>
          <p:cNvSpPr>
            <a:spLocks noChangeArrowheads="1"/>
          </p:cNvSpPr>
          <p:nvPr/>
        </p:nvSpPr>
        <p:spPr bwMode="auto">
          <a:xfrm>
            <a:off x="1143000" y="37338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0" name="Oval 36"/>
          <p:cNvSpPr>
            <a:spLocks noChangeArrowheads="1"/>
          </p:cNvSpPr>
          <p:nvPr/>
        </p:nvSpPr>
        <p:spPr bwMode="auto">
          <a:xfrm>
            <a:off x="1371600" y="45720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1" name="Oval 37"/>
          <p:cNvSpPr>
            <a:spLocks noChangeArrowheads="1"/>
          </p:cNvSpPr>
          <p:nvPr/>
        </p:nvSpPr>
        <p:spPr bwMode="auto">
          <a:xfrm>
            <a:off x="2209800" y="46482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2" name="Oval 38"/>
          <p:cNvSpPr>
            <a:spLocks noChangeArrowheads="1"/>
          </p:cNvSpPr>
          <p:nvPr/>
        </p:nvSpPr>
        <p:spPr bwMode="auto">
          <a:xfrm>
            <a:off x="2743200" y="45720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3" name="Oval 39"/>
          <p:cNvSpPr>
            <a:spLocks noChangeArrowheads="1"/>
          </p:cNvSpPr>
          <p:nvPr/>
        </p:nvSpPr>
        <p:spPr bwMode="auto">
          <a:xfrm>
            <a:off x="2667000" y="29718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4" name="Oval 40"/>
          <p:cNvSpPr>
            <a:spLocks noChangeArrowheads="1"/>
          </p:cNvSpPr>
          <p:nvPr/>
        </p:nvSpPr>
        <p:spPr bwMode="auto">
          <a:xfrm>
            <a:off x="3276600" y="28956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5" name="Oval 41"/>
          <p:cNvSpPr>
            <a:spLocks noChangeArrowheads="1"/>
          </p:cNvSpPr>
          <p:nvPr/>
        </p:nvSpPr>
        <p:spPr bwMode="auto">
          <a:xfrm>
            <a:off x="3657600" y="40386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6" name="Oval 42"/>
          <p:cNvSpPr>
            <a:spLocks noChangeArrowheads="1"/>
          </p:cNvSpPr>
          <p:nvPr/>
        </p:nvSpPr>
        <p:spPr bwMode="auto">
          <a:xfrm>
            <a:off x="2590800" y="52578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7" name="Oval 43"/>
          <p:cNvSpPr>
            <a:spLocks noChangeArrowheads="1"/>
          </p:cNvSpPr>
          <p:nvPr/>
        </p:nvSpPr>
        <p:spPr bwMode="auto">
          <a:xfrm>
            <a:off x="3124200" y="5486400"/>
            <a:ext cx="457200" cy="4572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88" name="Line 44"/>
          <p:cNvSpPr>
            <a:spLocks noChangeShapeType="1"/>
          </p:cNvSpPr>
          <p:nvPr/>
        </p:nvSpPr>
        <p:spPr bwMode="auto">
          <a:xfrm flipV="1">
            <a:off x="3352800" y="4495800"/>
            <a:ext cx="3124200" cy="1524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4591" name="Rectangle 47"/>
          <p:cNvSpPr>
            <a:spLocks noChangeArrowheads="1"/>
          </p:cNvSpPr>
          <p:nvPr/>
        </p:nvSpPr>
        <p:spPr bwMode="auto">
          <a:xfrm>
            <a:off x="5791200" y="2819400"/>
            <a:ext cx="1828800" cy="27432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2" name="Oval 48"/>
          <p:cNvSpPr>
            <a:spLocks noChangeArrowheads="1"/>
          </p:cNvSpPr>
          <p:nvPr/>
        </p:nvSpPr>
        <p:spPr bwMode="auto">
          <a:xfrm>
            <a:off x="65532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3" name="Oval 49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4" name="Oval 50"/>
          <p:cNvSpPr>
            <a:spLocks noChangeArrowheads="1"/>
          </p:cNvSpPr>
          <p:nvPr/>
        </p:nvSpPr>
        <p:spPr bwMode="auto">
          <a:xfrm>
            <a:off x="6172200" y="3048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5" name="Oval 51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6" name="Oval 52"/>
          <p:cNvSpPr>
            <a:spLocks noChangeArrowheads="1"/>
          </p:cNvSpPr>
          <p:nvPr/>
        </p:nvSpPr>
        <p:spPr bwMode="auto">
          <a:xfrm>
            <a:off x="7467600" y="3810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7" name="Oval 53"/>
          <p:cNvSpPr>
            <a:spLocks noChangeArrowheads="1"/>
          </p:cNvSpPr>
          <p:nvPr/>
        </p:nvSpPr>
        <p:spPr bwMode="auto">
          <a:xfrm>
            <a:off x="59436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8" name="Oval 54"/>
          <p:cNvSpPr>
            <a:spLocks noChangeArrowheads="1"/>
          </p:cNvSpPr>
          <p:nvPr/>
        </p:nvSpPr>
        <p:spPr bwMode="auto">
          <a:xfrm>
            <a:off x="6858000" y="47244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9" name="Oval 55"/>
          <p:cNvSpPr>
            <a:spLocks noChangeArrowheads="1"/>
          </p:cNvSpPr>
          <p:nvPr/>
        </p:nvSpPr>
        <p:spPr bwMode="auto">
          <a:xfrm>
            <a:off x="6019800" y="4572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0" name="Oval 56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1" name="Oval 57"/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2" name="Oval 58"/>
          <p:cNvSpPr>
            <a:spLocks noChangeArrowheads="1"/>
          </p:cNvSpPr>
          <p:nvPr/>
        </p:nvSpPr>
        <p:spPr bwMode="auto">
          <a:xfrm>
            <a:off x="6553200" y="4800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3" name="Oval 59"/>
          <p:cNvSpPr>
            <a:spLocks noChangeArrowheads="1"/>
          </p:cNvSpPr>
          <p:nvPr/>
        </p:nvSpPr>
        <p:spPr bwMode="auto">
          <a:xfrm>
            <a:off x="7086600" y="3276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4" name="Oval 60"/>
          <p:cNvSpPr>
            <a:spLocks noChangeArrowheads="1"/>
          </p:cNvSpPr>
          <p:nvPr/>
        </p:nvSpPr>
        <p:spPr bwMode="auto">
          <a:xfrm>
            <a:off x="7315200" y="4953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5" name="Oval 61"/>
          <p:cNvSpPr>
            <a:spLocks noChangeArrowheads="1"/>
          </p:cNvSpPr>
          <p:nvPr/>
        </p:nvSpPr>
        <p:spPr bwMode="auto">
          <a:xfrm>
            <a:off x="6324600" y="5257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6" name="Oval 62"/>
          <p:cNvSpPr>
            <a:spLocks noChangeArrowheads="1"/>
          </p:cNvSpPr>
          <p:nvPr/>
        </p:nvSpPr>
        <p:spPr bwMode="auto">
          <a:xfrm>
            <a:off x="6477000" y="4343400"/>
            <a:ext cx="228600" cy="228600"/>
          </a:xfrm>
          <a:prstGeom prst="ellipse">
            <a:avLst/>
          </a:prstGeom>
          <a:noFill/>
          <a:ln w="9525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607" name="Text Box 63"/>
          <p:cNvSpPr txBox="1">
            <a:spLocks noChangeArrowheads="1"/>
          </p:cNvSpPr>
          <p:nvPr/>
        </p:nvSpPr>
        <p:spPr bwMode="auto">
          <a:xfrm>
            <a:off x="5248275" y="58039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0"/>
              <a:t>Hypothesis space H</a:t>
            </a:r>
          </a:p>
        </p:txBody>
      </p:sp>
      <p:sp>
        <p:nvSpPr>
          <p:cNvPr id="364608" name="Text Box 64"/>
          <p:cNvSpPr txBox="1">
            <a:spLocks noChangeArrowheads="1"/>
          </p:cNvSpPr>
          <p:nvPr/>
        </p:nvSpPr>
        <p:spPr bwMode="auto">
          <a:xfrm>
            <a:off x="4191000" y="46482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Train</a:t>
            </a:r>
          </a:p>
        </p:txBody>
      </p:sp>
      <p:sp>
        <p:nvSpPr>
          <p:cNvPr id="364609" name="Text Box 65"/>
          <p:cNvSpPr txBox="1">
            <a:spLocks noChangeArrowheads="1"/>
          </p:cNvSpPr>
          <p:nvPr/>
        </p:nvSpPr>
        <p:spPr bwMode="auto">
          <a:xfrm>
            <a:off x="1447800" y="2452688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0"/>
              <a:t>Examples D</a:t>
            </a:r>
          </a:p>
        </p:txBody>
      </p:sp>
    </p:spTree>
    <p:extLst>
      <p:ext uri="{BB962C8B-B14F-4D97-AF65-F5344CB8AC3E}">
        <p14:creationId xmlns:p14="http://schemas.microsoft.com/office/powerpoint/2010/main" xmlns="" val="332198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Cross-Validation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Evaluate hypothesis on testing set</a:t>
            </a:r>
          </a:p>
          <a:p>
            <a:endParaRPr lang="en-US"/>
          </a:p>
        </p:txBody>
      </p:sp>
      <p:sp>
        <p:nvSpPr>
          <p:cNvPr id="386052" name="Freeform 4"/>
          <p:cNvSpPr>
            <a:spLocks/>
          </p:cNvSpPr>
          <p:nvPr/>
        </p:nvSpPr>
        <p:spPr bwMode="auto">
          <a:xfrm>
            <a:off x="762000" y="2362200"/>
            <a:ext cx="4419600" cy="4081463"/>
          </a:xfrm>
          <a:custGeom>
            <a:avLst/>
            <a:gdLst>
              <a:gd name="T0" fmla="*/ 696 w 2096"/>
              <a:gd name="T1" fmla="*/ 1880 h 1936"/>
              <a:gd name="T2" fmla="*/ 216 w 2096"/>
              <a:gd name="T3" fmla="*/ 1592 h 1936"/>
              <a:gd name="T4" fmla="*/ 24 w 2096"/>
              <a:gd name="T5" fmla="*/ 776 h 1936"/>
              <a:gd name="T6" fmla="*/ 360 w 2096"/>
              <a:gd name="T7" fmla="*/ 104 h 1936"/>
              <a:gd name="T8" fmla="*/ 1512 w 2096"/>
              <a:gd name="T9" fmla="*/ 152 h 1936"/>
              <a:gd name="T10" fmla="*/ 2088 w 2096"/>
              <a:gd name="T11" fmla="*/ 968 h 1936"/>
              <a:gd name="T12" fmla="*/ 1560 w 2096"/>
              <a:gd name="T13" fmla="*/ 1784 h 1936"/>
              <a:gd name="T14" fmla="*/ 696 w 2096"/>
              <a:gd name="T15" fmla="*/ 1880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96" h="1936">
                <a:moveTo>
                  <a:pt x="696" y="1880"/>
                </a:moveTo>
                <a:cubicBezTo>
                  <a:pt x="472" y="1848"/>
                  <a:pt x="328" y="1776"/>
                  <a:pt x="216" y="1592"/>
                </a:cubicBezTo>
                <a:cubicBezTo>
                  <a:pt x="104" y="1408"/>
                  <a:pt x="0" y="1024"/>
                  <a:pt x="24" y="776"/>
                </a:cubicBezTo>
                <a:cubicBezTo>
                  <a:pt x="48" y="528"/>
                  <a:pt x="112" y="208"/>
                  <a:pt x="360" y="104"/>
                </a:cubicBezTo>
                <a:cubicBezTo>
                  <a:pt x="608" y="0"/>
                  <a:pt x="1224" y="8"/>
                  <a:pt x="1512" y="152"/>
                </a:cubicBezTo>
                <a:cubicBezTo>
                  <a:pt x="1800" y="296"/>
                  <a:pt x="2080" y="696"/>
                  <a:pt x="2088" y="968"/>
                </a:cubicBezTo>
                <a:cubicBezTo>
                  <a:pt x="2096" y="1240"/>
                  <a:pt x="1792" y="1632"/>
                  <a:pt x="1560" y="1784"/>
                </a:cubicBezTo>
                <a:cubicBezTo>
                  <a:pt x="1328" y="1936"/>
                  <a:pt x="920" y="1912"/>
                  <a:pt x="696" y="1880"/>
                </a:cubicBezTo>
                <a:close/>
              </a:path>
            </a:pathLst>
          </a:custGeom>
          <a:solidFill>
            <a:srgbClr val="F8F0D0"/>
          </a:solidFill>
          <a:ln w="28575" cmpd="sng">
            <a:solidFill>
              <a:srgbClr val="99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86053" name="Group 5"/>
          <p:cNvGrpSpPr>
            <a:grpSpLocks/>
          </p:cNvGrpSpPr>
          <p:nvPr/>
        </p:nvGrpSpPr>
        <p:grpSpPr bwMode="auto">
          <a:xfrm>
            <a:off x="1217613" y="2794000"/>
            <a:ext cx="3441700" cy="3429000"/>
            <a:chOff x="1583" y="1760"/>
            <a:chExt cx="2168" cy="2160"/>
          </a:xfrm>
        </p:grpSpPr>
        <p:sp>
          <p:nvSpPr>
            <p:cNvPr id="386054" name="Text Box 6"/>
            <p:cNvSpPr txBox="1">
              <a:spLocks noChangeArrowheads="1"/>
            </p:cNvSpPr>
            <p:nvPr/>
          </p:nvSpPr>
          <p:spPr bwMode="auto">
            <a:xfrm>
              <a:off x="2220" y="258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55" name="Text Box 7"/>
            <p:cNvSpPr txBox="1">
              <a:spLocks noChangeArrowheads="1"/>
            </p:cNvSpPr>
            <p:nvPr/>
          </p:nvSpPr>
          <p:spPr bwMode="auto">
            <a:xfrm>
              <a:off x="2794" y="3032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56" name="Text Box 8"/>
            <p:cNvSpPr txBox="1">
              <a:spLocks noChangeArrowheads="1"/>
            </p:cNvSpPr>
            <p:nvPr/>
          </p:nvSpPr>
          <p:spPr bwMode="auto">
            <a:xfrm>
              <a:off x="1583" y="2586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57" name="Text Box 9"/>
            <p:cNvSpPr txBox="1">
              <a:spLocks noChangeArrowheads="1"/>
            </p:cNvSpPr>
            <p:nvPr/>
          </p:nvSpPr>
          <p:spPr bwMode="auto">
            <a:xfrm>
              <a:off x="2284" y="3670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58" name="Text Box 10"/>
            <p:cNvSpPr txBox="1">
              <a:spLocks noChangeArrowheads="1"/>
            </p:cNvSpPr>
            <p:nvPr/>
          </p:nvSpPr>
          <p:spPr bwMode="auto">
            <a:xfrm>
              <a:off x="3368" y="309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59" name="Text Box 11"/>
            <p:cNvSpPr txBox="1">
              <a:spLocks noChangeArrowheads="1"/>
            </p:cNvSpPr>
            <p:nvPr/>
          </p:nvSpPr>
          <p:spPr bwMode="auto">
            <a:xfrm>
              <a:off x="1774" y="3224"/>
              <a:ext cx="20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60" name="Text Box 12"/>
            <p:cNvSpPr txBox="1">
              <a:spLocks noChangeArrowheads="1"/>
            </p:cNvSpPr>
            <p:nvPr/>
          </p:nvSpPr>
          <p:spPr bwMode="auto">
            <a:xfrm>
              <a:off x="2731" y="2523"/>
              <a:ext cx="209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6061" name="Text Box 13"/>
            <p:cNvSpPr txBox="1">
              <a:spLocks noChangeArrowheads="1"/>
            </p:cNvSpPr>
            <p:nvPr/>
          </p:nvSpPr>
          <p:spPr bwMode="auto">
            <a:xfrm>
              <a:off x="3177" y="329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6062" name="Text Box 14"/>
            <p:cNvSpPr txBox="1">
              <a:spLocks noChangeArrowheads="1"/>
            </p:cNvSpPr>
            <p:nvPr/>
          </p:nvSpPr>
          <p:spPr bwMode="auto">
            <a:xfrm>
              <a:off x="1583" y="1951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6063" name="Text Box 15"/>
            <p:cNvSpPr txBox="1">
              <a:spLocks noChangeArrowheads="1"/>
            </p:cNvSpPr>
            <p:nvPr/>
          </p:nvSpPr>
          <p:spPr bwMode="auto">
            <a:xfrm>
              <a:off x="2093" y="3354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6064" name="Text Box 16"/>
            <p:cNvSpPr txBox="1">
              <a:spLocks noChangeArrowheads="1"/>
            </p:cNvSpPr>
            <p:nvPr/>
          </p:nvSpPr>
          <p:spPr bwMode="auto">
            <a:xfrm>
              <a:off x="2922" y="2143"/>
              <a:ext cx="19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6065" name="Text Box 17"/>
            <p:cNvSpPr txBox="1">
              <a:spLocks noChangeArrowheads="1"/>
            </p:cNvSpPr>
            <p:nvPr/>
          </p:nvSpPr>
          <p:spPr bwMode="auto">
            <a:xfrm>
              <a:off x="3559" y="233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6066" name="Text Box 18"/>
            <p:cNvSpPr txBox="1">
              <a:spLocks noChangeArrowheads="1"/>
            </p:cNvSpPr>
            <p:nvPr/>
          </p:nvSpPr>
          <p:spPr bwMode="auto">
            <a:xfrm>
              <a:off x="2157" y="176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86067" name="Oval 19"/>
          <p:cNvSpPr>
            <a:spLocks noChangeArrowheads="1"/>
          </p:cNvSpPr>
          <p:nvPr/>
        </p:nvSpPr>
        <p:spPr bwMode="auto">
          <a:xfrm>
            <a:off x="12954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68" name="Rectangle 20"/>
          <p:cNvSpPr>
            <a:spLocks noChangeArrowheads="1"/>
          </p:cNvSpPr>
          <p:nvPr/>
        </p:nvSpPr>
        <p:spPr bwMode="auto">
          <a:xfrm>
            <a:off x="5791200" y="2819400"/>
            <a:ext cx="1828800" cy="27432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69" name="Oval 21"/>
          <p:cNvSpPr>
            <a:spLocks noChangeArrowheads="1"/>
          </p:cNvSpPr>
          <p:nvPr/>
        </p:nvSpPr>
        <p:spPr bwMode="auto">
          <a:xfrm>
            <a:off x="65532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0" name="Oval 22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1" name="Oval 23"/>
          <p:cNvSpPr>
            <a:spLocks noChangeArrowheads="1"/>
          </p:cNvSpPr>
          <p:nvPr/>
        </p:nvSpPr>
        <p:spPr bwMode="auto">
          <a:xfrm>
            <a:off x="6172200" y="3048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2" name="Oval 24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3" name="Oval 25"/>
          <p:cNvSpPr>
            <a:spLocks noChangeArrowheads="1"/>
          </p:cNvSpPr>
          <p:nvPr/>
        </p:nvSpPr>
        <p:spPr bwMode="auto">
          <a:xfrm>
            <a:off x="7467600" y="3810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4" name="Oval 26"/>
          <p:cNvSpPr>
            <a:spLocks noChangeArrowheads="1"/>
          </p:cNvSpPr>
          <p:nvPr/>
        </p:nvSpPr>
        <p:spPr bwMode="auto">
          <a:xfrm>
            <a:off x="59436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5" name="Oval 27"/>
          <p:cNvSpPr>
            <a:spLocks noChangeArrowheads="1"/>
          </p:cNvSpPr>
          <p:nvPr/>
        </p:nvSpPr>
        <p:spPr bwMode="auto">
          <a:xfrm>
            <a:off x="6858000" y="47244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6" name="Oval 28"/>
          <p:cNvSpPr>
            <a:spLocks noChangeArrowheads="1"/>
          </p:cNvSpPr>
          <p:nvPr/>
        </p:nvSpPr>
        <p:spPr bwMode="auto">
          <a:xfrm>
            <a:off x="6019800" y="4572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7" name="Oval 2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8" name="Oval 30"/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79" name="Oval 31"/>
          <p:cNvSpPr>
            <a:spLocks noChangeArrowheads="1"/>
          </p:cNvSpPr>
          <p:nvPr/>
        </p:nvSpPr>
        <p:spPr bwMode="auto">
          <a:xfrm>
            <a:off x="6553200" y="4800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0" name="Oval 32"/>
          <p:cNvSpPr>
            <a:spLocks noChangeArrowheads="1"/>
          </p:cNvSpPr>
          <p:nvPr/>
        </p:nvSpPr>
        <p:spPr bwMode="auto">
          <a:xfrm>
            <a:off x="7086600" y="3276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1" name="Oval 33"/>
          <p:cNvSpPr>
            <a:spLocks noChangeArrowheads="1"/>
          </p:cNvSpPr>
          <p:nvPr/>
        </p:nvSpPr>
        <p:spPr bwMode="auto">
          <a:xfrm>
            <a:off x="7315200" y="4953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2" name="Oval 34"/>
          <p:cNvSpPr>
            <a:spLocks noChangeArrowheads="1"/>
          </p:cNvSpPr>
          <p:nvPr/>
        </p:nvSpPr>
        <p:spPr bwMode="auto">
          <a:xfrm>
            <a:off x="6324600" y="5257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3" name="Oval 35"/>
          <p:cNvSpPr>
            <a:spLocks noChangeArrowheads="1"/>
          </p:cNvSpPr>
          <p:nvPr/>
        </p:nvSpPr>
        <p:spPr bwMode="auto">
          <a:xfrm>
            <a:off x="6477000" y="4343400"/>
            <a:ext cx="228600" cy="228600"/>
          </a:xfrm>
          <a:prstGeom prst="ellipse">
            <a:avLst/>
          </a:prstGeom>
          <a:noFill/>
          <a:ln w="9525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4" name="Text Box 36"/>
          <p:cNvSpPr txBox="1">
            <a:spLocks noChangeArrowheads="1"/>
          </p:cNvSpPr>
          <p:nvPr/>
        </p:nvSpPr>
        <p:spPr bwMode="auto">
          <a:xfrm>
            <a:off x="5248275" y="58039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0"/>
              <a:t>Hypothesis space H</a:t>
            </a:r>
          </a:p>
        </p:txBody>
      </p:sp>
      <p:sp>
        <p:nvSpPr>
          <p:cNvPr id="386085" name="Oval 37"/>
          <p:cNvSpPr>
            <a:spLocks noChangeArrowheads="1"/>
          </p:cNvSpPr>
          <p:nvPr/>
        </p:nvSpPr>
        <p:spPr bwMode="auto">
          <a:xfrm>
            <a:off x="1295400" y="3276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6" name="Oval 38"/>
          <p:cNvSpPr>
            <a:spLocks noChangeArrowheads="1"/>
          </p:cNvSpPr>
          <p:nvPr/>
        </p:nvSpPr>
        <p:spPr bwMode="auto">
          <a:xfrm>
            <a:off x="2133600" y="2971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7" name="Oval 39"/>
          <p:cNvSpPr>
            <a:spLocks noChangeArrowheads="1"/>
          </p:cNvSpPr>
          <p:nvPr/>
        </p:nvSpPr>
        <p:spPr bwMode="auto">
          <a:xfrm>
            <a:off x="22860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8" name="Oval 40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89" name="Oval 41"/>
          <p:cNvSpPr>
            <a:spLocks noChangeArrowheads="1"/>
          </p:cNvSpPr>
          <p:nvPr/>
        </p:nvSpPr>
        <p:spPr bwMode="auto">
          <a:xfrm>
            <a:off x="3352800" y="3581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0" name="Oval 42"/>
          <p:cNvSpPr>
            <a:spLocks noChangeArrowheads="1"/>
          </p:cNvSpPr>
          <p:nvPr/>
        </p:nvSpPr>
        <p:spPr bwMode="auto">
          <a:xfrm>
            <a:off x="4419600" y="3886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1" name="Oval 43"/>
          <p:cNvSpPr>
            <a:spLocks noChangeArrowheads="1"/>
          </p:cNvSpPr>
          <p:nvPr/>
        </p:nvSpPr>
        <p:spPr bwMode="auto">
          <a:xfrm>
            <a:off x="4114800" y="5029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2" name="Oval 44"/>
          <p:cNvSpPr>
            <a:spLocks noChangeArrowheads="1"/>
          </p:cNvSpPr>
          <p:nvPr/>
        </p:nvSpPr>
        <p:spPr bwMode="auto">
          <a:xfrm>
            <a:off x="3200400" y="4876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3" name="Oval 45"/>
          <p:cNvSpPr>
            <a:spLocks noChangeArrowheads="1"/>
          </p:cNvSpPr>
          <p:nvPr/>
        </p:nvSpPr>
        <p:spPr bwMode="auto">
          <a:xfrm>
            <a:off x="2362200" y="5867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4" name="Oval 46"/>
          <p:cNvSpPr>
            <a:spLocks noChangeArrowheads="1"/>
          </p:cNvSpPr>
          <p:nvPr/>
        </p:nvSpPr>
        <p:spPr bwMode="auto">
          <a:xfrm>
            <a:off x="2057400" y="5486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5" name="Oval 47"/>
          <p:cNvSpPr>
            <a:spLocks noChangeArrowheads="1"/>
          </p:cNvSpPr>
          <p:nvPr/>
        </p:nvSpPr>
        <p:spPr bwMode="auto">
          <a:xfrm>
            <a:off x="1600200" y="5181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6" name="Oval 48"/>
          <p:cNvSpPr>
            <a:spLocks noChangeArrowheads="1"/>
          </p:cNvSpPr>
          <p:nvPr/>
        </p:nvSpPr>
        <p:spPr bwMode="auto">
          <a:xfrm>
            <a:off x="3810000" y="5410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098" name="Text Box 50"/>
          <p:cNvSpPr txBox="1">
            <a:spLocks noChangeArrowheads="1"/>
          </p:cNvSpPr>
          <p:nvPr/>
        </p:nvSpPr>
        <p:spPr bwMode="auto">
          <a:xfrm>
            <a:off x="1828800" y="25908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/>
              <a:t>Testing set</a:t>
            </a:r>
          </a:p>
        </p:txBody>
      </p:sp>
    </p:spTree>
    <p:extLst>
      <p:ext uri="{BB962C8B-B14F-4D97-AF65-F5344CB8AC3E}">
        <p14:creationId xmlns:p14="http://schemas.microsoft.com/office/powerpoint/2010/main" xmlns="" val="58900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Cross-Validation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Evaluate hypothesis on testing set</a:t>
            </a:r>
          </a:p>
          <a:p>
            <a:endParaRPr lang="en-US"/>
          </a:p>
        </p:txBody>
      </p:sp>
      <p:sp>
        <p:nvSpPr>
          <p:cNvPr id="385028" name="Freeform 4"/>
          <p:cNvSpPr>
            <a:spLocks/>
          </p:cNvSpPr>
          <p:nvPr/>
        </p:nvSpPr>
        <p:spPr bwMode="auto">
          <a:xfrm>
            <a:off x="762000" y="2362200"/>
            <a:ext cx="4419600" cy="4081463"/>
          </a:xfrm>
          <a:custGeom>
            <a:avLst/>
            <a:gdLst>
              <a:gd name="T0" fmla="*/ 696 w 2096"/>
              <a:gd name="T1" fmla="*/ 1880 h 1936"/>
              <a:gd name="T2" fmla="*/ 216 w 2096"/>
              <a:gd name="T3" fmla="*/ 1592 h 1936"/>
              <a:gd name="T4" fmla="*/ 24 w 2096"/>
              <a:gd name="T5" fmla="*/ 776 h 1936"/>
              <a:gd name="T6" fmla="*/ 360 w 2096"/>
              <a:gd name="T7" fmla="*/ 104 h 1936"/>
              <a:gd name="T8" fmla="*/ 1512 w 2096"/>
              <a:gd name="T9" fmla="*/ 152 h 1936"/>
              <a:gd name="T10" fmla="*/ 2088 w 2096"/>
              <a:gd name="T11" fmla="*/ 968 h 1936"/>
              <a:gd name="T12" fmla="*/ 1560 w 2096"/>
              <a:gd name="T13" fmla="*/ 1784 h 1936"/>
              <a:gd name="T14" fmla="*/ 696 w 2096"/>
              <a:gd name="T15" fmla="*/ 1880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96" h="1936">
                <a:moveTo>
                  <a:pt x="696" y="1880"/>
                </a:moveTo>
                <a:cubicBezTo>
                  <a:pt x="472" y="1848"/>
                  <a:pt x="328" y="1776"/>
                  <a:pt x="216" y="1592"/>
                </a:cubicBezTo>
                <a:cubicBezTo>
                  <a:pt x="104" y="1408"/>
                  <a:pt x="0" y="1024"/>
                  <a:pt x="24" y="776"/>
                </a:cubicBezTo>
                <a:cubicBezTo>
                  <a:pt x="48" y="528"/>
                  <a:pt x="112" y="208"/>
                  <a:pt x="360" y="104"/>
                </a:cubicBezTo>
                <a:cubicBezTo>
                  <a:pt x="608" y="0"/>
                  <a:pt x="1224" y="8"/>
                  <a:pt x="1512" y="152"/>
                </a:cubicBezTo>
                <a:cubicBezTo>
                  <a:pt x="1800" y="296"/>
                  <a:pt x="2080" y="696"/>
                  <a:pt x="2088" y="968"/>
                </a:cubicBezTo>
                <a:cubicBezTo>
                  <a:pt x="2096" y="1240"/>
                  <a:pt x="1792" y="1632"/>
                  <a:pt x="1560" y="1784"/>
                </a:cubicBezTo>
                <a:cubicBezTo>
                  <a:pt x="1328" y="1936"/>
                  <a:pt x="920" y="1912"/>
                  <a:pt x="696" y="1880"/>
                </a:cubicBezTo>
                <a:close/>
              </a:path>
            </a:pathLst>
          </a:custGeom>
          <a:solidFill>
            <a:srgbClr val="F8F0D0"/>
          </a:solidFill>
          <a:ln w="28575" cmpd="sng">
            <a:solidFill>
              <a:srgbClr val="99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5057" name="Oval 33"/>
          <p:cNvSpPr>
            <a:spLocks noChangeArrowheads="1"/>
          </p:cNvSpPr>
          <p:nvPr/>
        </p:nvSpPr>
        <p:spPr bwMode="auto">
          <a:xfrm>
            <a:off x="12954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67" name="Rectangle 43"/>
          <p:cNvSpPr>
            <a:spLocks noChangeArrowheads="1"/>
          </p:cNvSpPr>
          <p:nvPr/>
        </p:nvSpPr>
        <p:spPr bwMode="auto">
          <a:xfrm>
            <a:off x="5791200" y="2819400"/>
            <a:ext cx="1828800" cy="27432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68" name="Oval 44"/>
          <p:cNvSpPr>
            <a:spLocks noChangeArrowheads="1"/>
          </p:cNvSpPr>
          <p:nvPr/>
        </p:nvSpPr>
        <p:spPr bwMode="auto">
          <a:xfrm>
            <a:off x="65532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69" name="Oval 4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0" name="Oval 46"/>
          <p:cNvSpPr>
            <a:spLocks noChangeArrowheads="1"/>
          </p:cNvSpPr>
          <p:nvPr/>
        </p:nvSpPr>
        <p:spPr bwMode="auto">
          <a:xfrm>
            <a:off x="6172200" y="3048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1" name="Oval 47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2" name="Oval 48"/>
          <p:cNvSpPr>
            <a:spLocks noChangeArrowheads="1"/>
          </p:cNvSpPr>
          <p:nvPr/>
        </p:nvSpPr>
        <p:spPr bwMode="auto">
          <a:xfrm>
            <a:off x="7467600" y="3810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3" name="Oval 49"/>
          <p:cNvSpPr>
            <a:spLocks noChangeArrowheads="1"/>
          </p:cNvSpPr>
          <p:nvPr/>
        </p:nvSpPr>
        <p:spPr bwMode="auto">
          <a:xfrm>
            <a:off x="59436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4" name="Oval 50"/>
          <p:cNvSpPr>
            <a:spLocks noChangeArrowheads="1"/>
          </p:cNvSpPr>
          <p:nvPr/>
        </p:nvSpPr>
        <p:spPr bwMode="auto">
          <a:xfrm>
            <a:off x="6858000" y="47244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5" name="Oval 51"/>
          <p:cNvSpPr>
            <a:spLocks noChangeArrowheads="1"/>
          </p:cNvSpPr>
          <p:nvPr/>
        </p:nvSpPr>
        <p:spPr bwMode="auto">
          <a:xfrm>
            <a:off x="6019800" y="4572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6" name="Oval 52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7" name="Oval 53"/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8" name="Oval 54"/>
          <p:cNvSpPr>
            <a:spLocks noChangeArrowheads="1"/>
          </p:cNvSpPr>
          <p:nvPr/>
        </p:nvSpPr>
        <p:spPr bwMode="auto">
          <a:xfrm>
            <a:off x="6553200" y="4800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79" name="Oval 55"/>
          <p:cNvSpPr>
            <a:spLocks noChangeArrowheads="1"/>
          </p:cNvSpPr>
          <p:nvPr/>
        </p:nvSpPr>
        <p:spPr bwMode="auto">
          <a:xfrm>
            <a:off x="7086600" y="3276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0" name="Oval 56"/>
          <p:cNvSpPr>
            <a:spLocks noChangeArrowheads="1"/>
          </p:cNvSpPr>
          <p:nvPr/>
        </p:nvSpPr>
        <p:spPr bwMode="auto">
          <a:xfrm>
            <a:off x="7315200" y="4953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1" name="Oval 57"/>
          <p:cNvSpPr>
            <a:spLocks noChangeArrowheads="1"/>
          </p:cNvSpPr>
          <p:nvPr/>
        </p:nvSpPr>
        <p:spPr bwMode="auto">
          <a:xfrm>
            <a:off x="6324600" y="5257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2" name="Oval 58"/>
          <p:cNvSpPr>
            <a:spLocks noChangeArrowheads="1"/>
          </p:cNvSpPr>
          <p:nvPr/>
        </p:nvSpPr>
        <p:spPr bwMode="auto">
          <a:xfrm>
            <a:off x="6477000" y="4343400"/>
            <a:ext cx="228600" cy="228600"/>
          </a:xfrm>
          <a:prstGeom prst="ellipse">
            <a:avLst/>
          </a:prstGeom>
          <a:noFill/>
          <a:ln w="9525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3" name="Text Box 59"/>
          <p:cNvSpPr txBox="1">
            <a:spLocks noChangeArrowheads="1"/>
          </p:cNvSpPr>
          <p:nvPr/>
        </p:nvSpPr>
        <p:spPr bwMode="auto">
          <a:xfrm>
            <a:off x="5248275" y="58039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0"/>
              <a:t>Hypothesis space H</a:t>
            </a:r>
          </a:p>
        </p:txBody>
      </p:sp>
      <p:sp>
        <p:nvSpPr>
          <p:cNvPr id="385085" name="Oval 61"/>
          <p:cNvSpPr>
            <a:spLocks noChangeArrowheads="1"/>
          </p:cNvSpPr>
          <p:nvPr/>
        </p:nvSpPr>
        <p:spPr bwMode="auto">
          <a:xfrm>
            <a:off x="1295400" y="3276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6" name="Oval 62"/>
          <p:cNvSpPr>
            <a:spLocks noChangeArrowheads="1"/>
          </p:cNvSpPr>
          <p:nvPr/>
        </p:nvSpPr>
        <p:spPr bwMode="auto">
          <a:xfrm>
            <a:off x="2133600" y="2971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7" name="Oval 63"/>
          <p:cNvSpPr>
            <a:spLocks noChangeArrowheads="1"/>
          </p:cNvSpPr>
          <p:nvPr/>
        </p:nvSpPr>
        <p:spPr bwMode="auto">
          <a:xfrm>
            <a:off x="22860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8" name="Oval 64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89" name="Oval 65"/>
          <p:cNvSpPr>
            <a:spLocks noChangeArrowheads="1"/>
          </p:cNvSpPr>
          <p:nvPr/>
        </p:nvSpPr>
        <p:spPr bwMode="auto">
          <a:xfrm>
            <a:off x="3352800" y="3581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0" name="Oval 66"/>
          <p:cNvSpPr>
            <a:spLocks noChangeArrowheads="1"/>
          </p:cNvSpPr>
          <p:nvPr/>
        </p:nvSpPr>
        <p:spPr bwMode="auto">
          <a:xfrm>
            <a:off x="4419600" y="3886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1" name="Oval 67"/>
          <p:cNvSpPr>
            <a:spLocks noChangeArrowheads="1"/>
          </p:cNvSpPr>
          <p:nvPr/>
        </p:nvSpPr>
        <p:spPr bwMode="auto">
          <a:xfrm>
            <a:off x="4114800" y="5029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2" name="Oval 68"/>
          <p:cNvSpPr>
            <a:spLocks noChangeArrowheads="1"/>
          </p:cNvSpPr>
          <p:nvPr/>
        </p:nvSpPr>
        <p:spPr bwMode="auto">
          <a:xfrm>
            <a:off x="3200400" y="4876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3" name="Oval 69"/>
          <p:cNvSpPr>
            <a:spLocks noChangeArrowheads="1"/>
          </p:cNvSpPr>
          <p:nvPr/>
        </p:nvSpPr>
        <p:spPr bwMode="auto">
          <a:xfrm>
            <a:off x="2362200" y="5867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4" name="Oval 70"/>
          <p:cNvSpPr>
            <a:spLocks noChangeArrowheads="1"/>
          </p:cNvSpPr>
          <p:nvPr/>
        </p:nvSpPr>
        <p:spPr bwMode="auto">
          <a:xfrm>
            <a:off x="2057400" y="5486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5" name="Oval 71"/>
          <p:cNvSpPr>
            <a:spLocks noChangeArrowheads="1"/>
          </p:cNvSpPr>
          <p:nvPr/>
        </p:nvSpPr>
        <p:spPr bwMode="auto">
          <a:xfrm>
            <a:off x="1600200" y="5181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6" name="Oval 72"/>
          <p:cNvSpPr>
            <a:spLocks noChangeArrowheads="1"/>
          </p:cNvSpPr>
          <p:nvPr/>
        </p:nvSpPr>
        <p:spPr bwMode="auto">
          <a:xfrm>
            <a:off x="3810000" y="5410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5097" name="Line 73"/>
          <p:cNvSpPr>
            <a:spLocks noChangeShapeType="1"/>
          </p:cNvSpPr>
          <p:nvPr/>
        </p:nvSpPr>
        <p:spPr bwMode="auto">
          <a:xfrm flipH="1" flipV="1">
            <a:off x="3352800" y="4343400"/>
            <a:ext cx="3048000" cy="76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5098" name="Text Box 74"/>
          <p:cNvSpPr txBox="1">
            <a:spLocks noChangeArrowheads="1"/>
          </p:cNvSpPr>
          <p:nvPr/>
        </p:nvSpPr>
        <p:spPr bwMode="auto">
          <a:xfrm>
            <a:off x="1828800" y="25908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/>
              <a:t>Testing set</a:t>
            </a:r>
          </a:p>
        </p:txBody>
      </p:sp>
      <p:sp>
        <p:nvSpPr>
          <p:cNvPr id="385100" name="Text Box 76"/>
          <p:cNvSpPr txBox="1">
            <a:spLocks noChangeArrowheads="1"/>
          </p:cNvSpPr>
          <p:nvPr/>
        </p:nvSpPr>
        <p:spPr bwMode="auto">
          <a:xfrm>
            <a:off x="2459038" y="4105275"/>
            <a:ext cx="331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02" name="Text Box 78"/>
          <p:cNvSpPr txBox="1">
            <a:spLocks noChangeArrowheads="1"/>
          </p:cNvSpPr>
          <p:nvPr/>
        </p:nvSpPr>
        <p:spPr bwMode="auto">
          <a:xfrm>
            <a:off x="1447800" y="4105275"/>
            <a:ext cx="33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04" name="Text Box 80"/>
          <p:cNvSpPr txBox="1">
            <a:spLocks noChangeArrowheads="1"/>
          </p:cNvSpPr>
          <p:nvPr/>
        </p:nvSpPr>
        <p:spPr bwMode="auto">
          <a:xfrm>
            <a:off x="4281488" y="4914900"/>
            <a:ext cx="331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05" name="Text Box 81"/>
          <p:cNvSpPr txBox="1">
            <a:spLocks noChangeArrowheads="1"/>
          </p:cNvSpPr>
          <p:nvPr/>
        </p:nvSpPr>
        <p:spPr bwMode="auto">
          <a:xfrm>
            <a:off x="1751013" y="5118100"/>
            <a:ext cx="331787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06" name="Text Box 82"/>
          <p:cNvSpPr txBox="1">
            <a:spLocks noChangeArrowheads="1"/>
          </p:cNvSpPr>
          <p:nvPr/>
        </p:nvSpPr>
        <p:spPr bwMode="auto">
          <a:xfrm>
            <a:off x="3270250" y="4005263"/>
            <a:ext cx="331788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07" name="Text Box 83"/>
          <p:cNvSpPr txBox="1">
            <a:spLocks noChangeArrowheads="1"/>
          </p:cNvSpPr>
          <p:nvPr/>
        </p:nvSpPr>
        <p:spPr bwMode="auto">
          <a:xfrm>
            <a:off x="3978275" y="52228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09" name="Text Box 85"/>
          <p:cNvSpPr txBox="1">
            <a:spLocks noChangeArrowheads="1"/>
          </p:cNvSpPr>
          <p:nvPr/>
        </p:nvSpPr>
        <p:spPr bwMode="auto">
          <a:xfrm>
            <a:off x="2257425" y="53244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11" name="Text Box 87"/>
          <p:cNvSpPr txBox="1">
            <a:spLocks noChangeArrowheads="1"/>
          </p:cNvSpPr>
          <p:nvPr/>
        </p:nvSpPr>
        <p:spPr bwMode="auto">
          <a:xfrm>
            <a:off x="4584700" y="3705225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12" name="Text Box 88"/>
          <p:cNvSpPr txBox="1">
            <a:spLocks noChangeArrowheads="1"/>
          </p:cNvSpPr>
          <p:nvPr/>
        </p:nvSpPr>
        <p:spPr bwMode="auto">
          <a:xfrm>
            <a:off x="2359025" y="27940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13" name="Text Box 89"/>
          <p:cNvSpPr txBox="1">
            <a:spLocks noChangeArrowheads="1"/>
          </p:cNvSpPr>
          <p:nvPr/>
        </p:nvSpPr>
        <p:spPr bwMode="auto">
          <a:xfrm>
            <a:off x="2590800" y="57150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14" name="Text Box 90"/>
          <p:cNvSpPr txBox="1">
            <a:spLocks noChangeArrowheads="1"/>
          </p:cNvSpPr>
          <p:nvPr/>
        </p:nvSpPr>
        <p:spPr bwMode="auto">
          <a:xfrm>
            <a:off x="3352800" y="47244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5115" name="Text Box 91"/>
          <p:cNvSpPr txBox="1">
            <a:spLocks noChangeArrowheads="1"/>
          </p:cNvSpPr>
          <p:nvPr/>
        </p:nvSpPr>
        <p:spPr bwMode="auto">
          <a:xfrm>
            <a:off x="3505200" y="3505200"/>
            <a:ext cx="331788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16" name="Text Box 92"/>
          <p:cNvSpPr txBox="1">
            <a:spLocks noChangeArrowheads="1"/>
          </p:cNvSpPr>
          <p:nvPr/>
        </p:nvSpPr>
        <p:spPr bwMode="auto">
          <a:xfrm>
            <a:off x="1447800" y="3200400"/>
            <a:ext cx="331788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5117" name="Text Box 93"/>
          <p:cNvSpPr txBox="1">
            <a:spLocks noChangeArrowheads="1"/>
          </p:cNvSpPr>
          <p:nvPr/>
        </p:nvSpPr>
        <p:spPr bwMode="auto">
          <a:xfrm>
            <a:off x="4114800" y="4419600"/>
            <a:ext cx="365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xmlns="" val="155687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Cross-Validation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Compare true concept against prediction</a:t>
            </a:r>
          </a:p>
          <a:p>
            <a:endParaRPr lang="en-US"/>
          </a:p>
        </p:txBody>
      </p:sp>
      <p:sp>
        <p:nvSpPr>
          <p:cNvPr id="388100" name="Freeform 4"/>
          <p:cNvSpPr>
            <a:spLocks/>
          </p:cNvSpPr>
          <p:nvPr/>
        </p:nvSpPr>
        <p:spPr bwMode="auto">
          <a:xfrm>
            <a:off x="762000" y="2362200"/>
            <a:ext cx="4419600" cy="4081463"/>
          </a:xfrm>
          <a:custGeom>
            <a:avLst/>
            <a:gdLst>
              <a:gd name="T0" fmla="*/ 696 w 2096"/>
              <a:gd name="T1" fmla="*/ 1880 h 1936"/>
              <a:gd name="T2" fmla="*/ 216 w 2096"/>
              <a:gd name="T3" fmla="*/ 1592 h 1936"/>
              <a:gd name="T4" fmla="*/ 24 w 2096"/>
              <a:gd name="T5" fmla="*/ 776 h 1936"/>
              <a:gd name="T6" fmla="*/ 360 w 2096"/>
              <a:gd name="T7" fmla="*/ 104 h 1936"/>
              <a:gd name="T8" fmla="*/ 1512 w 2096"/>
              <a:gd name="T9" fmla="*/ 152 h 1936"/>
              <a:gd name="T10" fmla="*/ 2088 w 2096"/>
              <a:gd name="T11" fmla="*/ 968 h 1936"/>
              <a:gd name="T12" fmla="*/ 1560 w 2096"/>
              <a:gd name="T13" fmla="*/ 1784 h 1936"/>
              <a:gd name="T14" fmla="*/ 696 w 2096"/>
              <a:gd name="T15" fmla="*/ 1880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96" h="1936">
                <a:moveTo>
                  <a:pt x="696" y="1880"/>
                </a:moveTo>
                <a:cubicBezTo>
                  <a:pt x="472" y="1848"/>
                  <a:pt x="328" y="1776"/>
                  <a:pt x="216" y="1592"/>
                </a:cubicBezTo>
                <a:cubicBezTo>
                  <a:pt x="104" y="1408"/>
                  <a:pt x="0" y="1024"/>
                  <a:pt x="24" y="776"/>
                </a:cubicBezTo>
                <a:cubicBezTo>
                  <a:pt x="48" y="528"/>
                  <a:pt x="112" y="208"/>
                  <a:pt x="360" y="104"/>
                </a:cubicBezTo>
                <a:cubicBezTo>
                  <a:pt x="608" y="0"/>
                  <a:pt x="1224" y="8"/>
                  <a:pt x="1512" y="152"/>
                </a:cubicBezTo>
                <a:cubicBezTo>
                  <a:pt x="1800" y="296"/>
                  <a:pt x="2080" y="696"/>
                  <a:pt x="2088" y="968"/>
                </a:cubicBezTo>
                <a:cubicBezTo>
                  <a:pt x="2096" y="1240"/>
                  <a:pt x="1792" y="1632"/>
                  <a:pt x="1560" y="1784"/>
                </a:cubicBezTo>
                <a:cubicBezTo>
                  <a:pt x="1328" y="1936"/>
                  <a:pt x="920" y="1912"/>
                  <a:pt x="696" y="1880"/>
                </a:cubicBezTo>
                <a:close/>
              </a:path>
            </a:pathLst>
          </a:custGeom>
          <a:solidFill>
            <a:srgbClr val="F8F0D0"/>
          </a:solidFill>
          <a:ln w="28575" cmpd="sng">
            <a:solidFill>
              <a:srgbClr val="99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88101" name="Group 5"/>
          <p:cNvGrpSpPr>
            <a:grpSpLocks/>
          </p:cNvGrpSpPr>
          <p:nvPr/>
        </p:nvGrpSpPr>
        <p:grpSpPr bwMode="auto">
          <a:xfrm>
            <a:off x="1217613" y="2794000"/>
            <a:ext cx="3441700" cy="3429000"/>
            <a:chOff x="1583" y="1760"/>
            <a:chExt cx="2168" cy="2160"/>
          </a:xfrm>
        </p:grpSpPr>
        <p:sp>
          <p:nvSpPr>
            <p:cNvPr id="388102" name="Text Box 6"/>
            <p:cNvSpPr txBox="1">
              <a:spLocks noChangeArrowheads="1"/>
            </p:cNvSpPr>
            <p:nvPr/>
          </p:nvSpPr>
          <p:spPr bwMode="auto">
            <a:xfrm>
              <a:off x="2220" y="258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3" name="Text Box 7"/>
            <p:cNvSpPr txBox="1">
              <a:spLocks noChangeArrowheads="1"/>
            </p:cNvSpPr>
            <p:nvPr/>
          </p:nvSpPr>
          <p:spPr bwMode="auto">
            <a:xfrm>
              <a:off x="2794" y="3032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4" name="Text Box 8"/>
            <p:cNvSpPr txBox="1">
              <a:spLocks noChangeArrowheads="1"/>
            </p:cNvSpPr>
            <p:nvPr/>
          </p:nvSpPr>
          <p:spPr bwMode="auto">
            <a:xfrm>
              <a:off x="1583" y="2586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5" name="Text Box 9"/>
            <p:cNvSpPr txBox="1">
              <a:spLocks noChangeArrowheads="1"/>
            </p:cNvSpPr>
            <p:nvPr/>
          </p:nvSpPr>
          <p:spPr bwMode="auto">
            <a:xfrm>
              <a:off x="2284" y="3670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6" name="Text Box 10"/>
            <p:cNvSpPr txBox="1">
              <a:spLocks noChangeArrowheads="1"/>
            </p:cNvSpPr>
            <p:nvPr/>
          </p:nvSpPr>
          <p:spPr bwMode="auto">
            <a:xfrm>
              <a:off x="3368" y="309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7" name="Text Box 11"/>
            <p:cNvSpPr txBox="1">
              <a:spLocks noChangeArrowheads="1"/>
            </p:cNvSpPr>
            <p:nvPr/>
          </p:nvSpPr>
          <p:spPr bwMode="auto">
            <a:xfrm>
              <a:off x="1774" y="3224"/>
              <a:ext cx="20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8" name="Text Box 12"/>
            <p:cNvSpPr txBox="1">
              <a:spLocks noChangeArrowheads="1"/>
            </p:cNvSpPr>
            <p:nvPr/>
          </p:nvSpPr>
          <p:spPr bwMode="auto">
            <a:xfrm>
              <a:off x="2731" y="2523"/>
              <a:ext cx="209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388109" name="Text Box 13"/>
            <p:cNvSpPr txBox="1">
              <a:spLocks noChangeArrowheads="1"/>
            </p:cNvSpPr>
            <p:nvPr/>
          </p:nvSpPr>
          <p:spPr bwMode="auto">
            <a:xfrm>
              <a:off x="3177" y="329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8110" name="Text Box 14"/>
            <p:cNvSpPr txBox="1">
              <a:spLocks noChangeArrowheads="1"/>
            </p:cNvSpPr>
            <p:nvPr/>
          </p:nvSpPr>
          <p:spPr bwMode="auto">
            <a:xfrm>
              <a:off x="1583" y="1951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8111" name="Text Box 15"/>
            <p:cNvSpPr txBox="1">
              <a:spLocks noChangeArrowheads="1"/>
            </p:cNvSpPr>
            <p:nvPr/>
          </p:nvSpPr>
          <p:spPr bwMode="auto">
            <a:xfrm>
              <a:off x="2093" y="3354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8112" name="Text Box 16"/>
            <p:cNvSpPr txBox="1">
              <a:spLocks noChangeArrowheads="1"/>
            </p:cNvSpPr>
            <p:nvPr/>
          </p:nvSpPr>
          <p:spPr bwMode="auto">
            <a:xfrm>
              <a:off x="2922" y="2143"/>
              <a:ext cx="19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8113" name="Text Box 17"/>
            <p:cNvSpPr txBox="1">
              <a:spLocks noChangeArrowheads="1"/>
            </p:cNvSpPr>
            <p:nvPr/>
          </p:nvSpPr>
          <p:spPr bwMode="auto">
            <a:xfrm>
              <a:off x="3559" y="2334"/>
              <a:ext cx="1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88114" name="Text Box 18"/>
            <p:cNvSpPr txBox="1">
              <a:spLocks noChangeArrowheads="1"/>
            </p:cNvSpPr>
            <p:nvPr/>
          </p:nvSpPr>
          <p:spPr bwMode="auto">
            <a:xfrm>
              <a:off x="2157" y="1760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b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88115" name="Oval 19"/>
          <p:cNvSpPr>
            <a:spLocks noChangeArrowheads="1"/>
          </p:cNvSpPr>
          <p:nvPr/>
        </p:nvSpPr>
        <p:spPr bwMode="auto">
          <a:xfrm>
            <a:off x="12954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16" name="Rectangle 20"/>
          <p:cNvSpPr>
            <a:spLocks noChangeArrowheads="1"/>
          </p:cNvSpPr>
          <p:nvPr/>
        </p:nvSpPr>
        <p:spPr bwMode="auto">
          <a:xfrm>
            <a:off x="5791200" y="2819400"/>
            <a:ext cx="1828800" cy="27432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17" name="Oval 21"/>
          <p:cNvSpPr>
            <a:spLocks noChangeArrowheads="1"/>
          </p:cNvSpPr>
          <p:nvPr/>
        </p:nvSpPr>
        <p:spPr bwMode="auto">
          <a:xfrm>
            <a:off x="65532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18" name="Oval 22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19" name="Oval 23"/>
          <p:cNvSpPr>
            <a:spLocks noChangeArrowheads="1"/>
          </p:cNvSpPr>
          <p:nvPr/>
        </p:nvSpPr>
        <p:spPr bwMode="auto">
          <a:xfrm>
            <a:off x="6172200" y="3048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0" name="Oval 24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1" name="Oval 25"/>
          <p:cNvSpPr>
            <a:spLocks noChangeArrowheads="1"/>
          </p:cNvSpPr>
          <p:nvPr/>
        </p:nvSpPr>
        <p:spPr bwMode="auto">
          <a:xfrm>
            <a:off x="7467600" y="3810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2" name="Oval 26"/>
          <p:cNvSpPr>
            <a:spLocks noChangeArrowheads="1"/>
          </p:cNvSpPr>
          <p:nvPr/>
        </p:nvSpPr>
        <p:spPr bwMode="auto">
          <a:xfrm>
            <a:off x="59436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3" name="Oval 27"/>
          <p:cNvSpPr>
            <a:spLocks noChangeArrowheads="1"/>
          </p:cNvSpPr>
          <p:nvPr/>
        </p:nvSpPr>
        <p:spPr bwMode="auto">
          <a:xfrm>
            <a:off x="6858000" y="47244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4" name="Oval 28"/>
          <p:cNvSpPr>
            <a:spLocks noChangeArrowheads="1"/>
          </p:cNvSpPr>
          <p:nvPr/>
        </p:nvSpPr>
        <p:spPr bwMode="auto">
          <a:xfrm>
            <a:off x="6019800" y="4572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5" name="Oval 2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6" name="Oval 30"/>
          <p:cNvSpPr>
            <a:spLocks noChangeArrowheads="1"/>
          </p:cNvSpPr>
          <p:nvPr/>
        </p:nvSpPr>
        <p:spPr bwMode="auto">
          <a:xfrm>
            <a:off x="7239000" y="4419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7" name="Oval 31"/>
          <p:cNvSpPr>
            <a:spLocks noChangeArrowheads="1"/>
          </p:cNvSpPr>
          <p:nvPr/>
        </p:nvSpPr>
        <p:spPr bwMode="auto">
          <a:xfrm>
            <a:off x="6553200" y="4800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8" name="Oval 32"/>
          <p:cNvSpPr>
            <a:spLocks noChangeArrowheads="1"/>
          </p:cNvSpPr>
          <p:nvPr/>
        </p:nvSpPr>
        <p:spPr bwMode="auto">
          <a:xfrm>
            <a:off x="7086600" y="32766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29" name="Oval 33"/>
          <p:cNvSpPr>
            <a:spLocks noChangeArrowheads="1"/>
          </p:cNvSpPr>
          <p:nvPr/>
        </p:nvSpPr>
        <p:spPr bwMode="auto">
          <a:xfrm>
            <a:off x="7315200" y="49530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0" name="Oval 34"/>
          <p:cNvSpPr>
            <a:spLocks noChangeArrowheads="1"/>
          </p:cNvSpPr>
          <p:nvPr/>
        </p:nvSpPr>
        <p:spPr bwMode="auto">
          <a:xfrm>
            <a:off x="6324600" y="5257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1" name="Oval 35"/>
          <p:cNvSpPr>
            <a:spLocks noChangeArrowheads="1"/>
          </p:cNvSpPr>
          <p:nvPr/>
        </p:nvSpPr>
        <p:spPr bwMode="auto">
          <a:xfrm>
            <a:off x="6477000" y="4343400"/>
            <a:ext cx="228600" cy="228600"/>
          </a:xfrm>
          <a:prstGeom prst="ellipse">
            <a:avLst/>
          </a:prstGeom>
          <a:noFill/>
          <a:ln w="9525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2" name="Text Box 36"/>
          <p:cNvSpPr txBox="1">
            <a:spLocks noChangeArrowheads="1"/>
          </p:cNvSpPr>
          <p:nvPr/>
        </p:nvSpPr>
        <p:spPr bwMode="auto">
          <a:xfrm>
            <a:off x="5248275" y="58039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0"/>
              <a:t>Hypothesis space H</a:t>
            </a:r>
          </a:p>
        </p:txBody>
      </p:sp>
      <p:sp>
        <p:nvSpPr>
          <p:cNvPr id="388133" name="Oval 37"/>
          <p:cNvSpPr>
            <a:spLocks noChangeArrowheads="1"/>
          </p:cNvSpPr>
          <p:nvPr/>
        </p:nvSpPr>
        <p:spPr bwMode="auto">
          <a:xfrm>
            <a:off x="1295400" y="3276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4" name="Oval 38"/>
          <p:cNvSpPr>
            <a:spLocks noChangeArrowheads="1"/>
          </p:cNvSpPr>
          <p:nvPr/>
        </p:nvSpPr>
        <p:spPr bwMode="auto">
          <a:xfrm>
            <a:off x="2133600" y="2971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5" name="Oval 39"/>
          <p:cNvSpPr>
            <a:spLocks noChangeArrowheads="1"/>
          </p:cNvSpPr>
          <p:nvPr/>
        </p:nvSpPr>
        <p:spPr bwMode="auto">
          <a:xfrm>
            <a:off x="2286000" y="41910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6" name="Oval 40"/>
          <p:cNvSpPr>
            <a:spLocks noChangeArrowheads="1"/>
          </p:cNvSpPr>
          <p:nvPr/>
        </p:nvSpPr>
        <p:spPr bwMode="auto">
          <a:xfrm>
            <a:off x="3124200" y="4114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7" name="Oval 41"/>
          <p:cNvSpPr>
            <a:spLocks noChangeArrowheads="1"/>
          </p:cNvSpPr>
          <p:nvPr/>
        </p:nvSpPr>
        <p:spPr bwMode="auto">
          <a:xfrm>
            <a:off x="3352800" y="3581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8" name="Oval 42"/>
          <p:cNvSpPr>
            <a:spLocks noChangeArrowheads="1"/>
          </p:cNvSpPr>
          <p:nvPr/>
        </p:nvSpPr>
        <p:spPr bwMode="auto">
          <a:xfrm>
            <a:off x="4419600" y="3886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9" name="Oval 43"/>
          <p:cNvSpPr>
            <a:spLocks noChangeArrowheads="1"/>
          </p:cNvSpPr>
          <p:nvPr/>
        </p:nvSpPr>
        <p:spPr bwMode="auto">
          <a:xfrm>
            <a:off x="4114800" y="5029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0" name="Oval 44"/>
          <p:cNvSpPr>
            <a:spLocks noChangeArrowheads="1"/>
          </p:cNvSpPr>
          <p:nvPr/>
        </p:nvSpPr>
        <p:spPr bwMode="auto">
          <a:xfrm>
            <a:off x="3200400" y="48768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1" name="Oval 45"/>
          <p:cNvSpPr>
            <a:spLocks noChangeArrowheads="1"/>
          </p:cNvSpPr>
          <p:nvPr/>
        </p:nvSpPr>
        <p:spPr bwMode="auto">
          <a:xfrm>
            <a:off x="2362200" y="5867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2" name="Oval 46"/>
          <p:cNvSpPr>
            <a:spLocks noChangeArrowheads="1"/>
          </p:cNvSpPr>
          <p:nvPr/>
        </p:nvSpPr>
        <p:spPr bwMode="auto">
          <a:xfrm>
            <a:off x="2057400" y="54864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3" name="Oval 47"/>
          <p:cNvSpPr>
            <a:spLocks noChangeArrowheads="1"/>
          </p:cNvSpPr>
          <p:nvPr/>
        </p:nvSpPr>
        <p:spPr bwMode="auto">
          <a:xfrm>
            <a:off x="1600200" y="51816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4" name="Oval 48"/>
          <p:cNvSpPr>
            <a:spLocks noChangeArrowheads="1"/>
          </p:cNvSpPr>
          <p:nvPr/>
        </p:nvSpPr>
        <p:spPr bwMode="auto">
          <a:xfrm>
            <a:off x="3810000" y="5410200"/>
            <a:ext cx="228600" cy="228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45" name="Text Box 49"/>
          <p:cNvSpPr txBox="1">
            <a:spLocks noChangeArrowheads="1"/>
          </p:cNvSpPr>
          <p:nvPr/>
        </p:nvSpPr>
        <p:spPr bwMode="auto">
          <a:xfrm>
            <a:off x="1828800" y="25908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/>
              <a:t>Testing set</a:t>
            </a:r>
          </a:p>
        </p:txBody>
      </p:sp>
      <p:sp>
        <p:nvSpPr>
          <p:cNvPr id="388146" name="Text Box 50"/>
          <p:cNvSpPr txBox="1">
            <a:spLocks noChangeArrowheads="1"/>
          </p:cNvSpPr>
          <p:nvPr/>
        </p:nvSpPr>
        <p:spPr bwMode="auto">
          <a:xfrm>
            <a:off x="2459038" y="4105275"/>
            <a:ext cx="331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47" name="Text Box 51"/>
          <p:cNvSpPr txBox="1">
            <a:spLocks noChangeArrowheads="1"/>
          </p:cNvSpPr>
          <p:nvPr/>
        </p:nvSpPr>
        <p:spPr bwMode="auto">
          <a:xfrm>
            <a:off x="1447800" y="4105275"/>
            <a:ext cx="33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48" name="Text Box 52"/>
          <p:cNvSpPr txBox="1">
            <a:spLocks noChangeArrowheads="1"/>
          </p:cNvSpPr>
          <p:nvPr/>
        </p:nvSpPr>
        <p:spPr bwMode="auto">
          <a:xfrm>
            <a:off x="4281488" y="4914900"/>
            <a:ext cx="331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49" name="Text Box 53"/>
          <p:cNvSpPr txBox="1">
            <a:spLocks noChangeArrowheads="1"/>
          </p:cNvSpPr>
          <p:nvPr/>
        </p:nvSpPr>
        <p:spPr bwMode="auto">
          <a:xfrm>
            <a:off x="1751013" y="5118100"/>
            <a:ext cx="331787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50" name="Text Box 54"/>
          <p:cNvSpPr txBox="1">
            <a:spLocks noChangeArrowheads="1"/>
          </p:cNvSpPr>
          <p:nvPr/>
        </p:nvSpPr>
        <p:spPr bwMode="auto">
          <a:xfrm>
            <a:off x="3270250" y="4005263"/>
            <a:ext cx="331788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51" name="Text Box 55"/>
          <p:cNvSpPr txBox="1">
            <a:spLocks noChangeArrowheads="1"/>
          </p:cNvSpPr>
          <p:nvPr/>
        </p:nvSpPr>
        <p:spPr bwMode="auto">
          <a:xfrm>
            <a:off x="3978275" y="52228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2" name="Text Box 56"/>
          <p:cNvSpPr txBox="1">
            <a:spLocks noChangeArrowheads="1"/>
          </p:cNvSpPr>
          <p:nvPr/>
        </p:nvSpPr>
        <p:spPr bwMode="auto">
          <a:xfrm>
            <a:off x="2257425" y="53244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3" name="Text Box 57"/>
          <p:cNvSpPr txBox="1">
            <a:spLocks noChangeArrowheads="1"/>
          </p:cNvSpPr>
          <p:nvPr/>
        </p:nvSpPr>
        <p:spPr bwMode="auto">
          <a:xfrm>
            <a:off x="4584700" y="3705225"/>
            <a:ext cx="30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4" name="Text Box 58"/>
          <p:cNvSpPr txBox="1">
            <a:spLocks noChangeArrowheads="1"/>
          </p:cNvSpPr>
          <p:nvPr/>
        </p:nvSpPr>
        <p:spPr bwMode="auto">
          <a:xfrm>
            <a:off x="2359025" y="27940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5" name="Text Box 59"/>
          <p:cNvSpPr txBox="1">
            <a:spLocks noChangeArrowheads="1"/>
          </p:cNvSpPr>
          <p:nvPr/>
        </p:nvSpPr>
        <p:spPr bwMode="auto">
          <a:xfrm>
            <a:off x="2590800" y="57150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6" name="Text Box 60"/>
          <p:cNvSpPr txBox="1">
            <a:spLocks noChangeArrowheads="1"/>
          </p:cNvSpPr>
          <p:nvPr/>
        </p:nvSpPr>
        <p:spPr bwMode="auto">
          <a:xfrm>
            <a:off x="3352800" y="47244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b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88157" name="Text Box 61"/>
          <p:cNvSpPr txBox="1">
            <a:spLocks noChangeArrowheads="1"/>
          </p:cNvSpPr>
          <p:nvPr/>
        </p:nvSpPr>
        <p:spPr bwMode="auto">
          <a:xfrm>
            <a:off x="3505200" y="3505200"/>
            <a:ext cx="331788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58" name="Text Box 62"/>
          <p:cNvSpPr txBox="1">
            <a:spLocks noChangeArrowheads="1"/>
          </p:cNvSpPr>
          <p:nvPr/>
        </p:nvSpPr>
        <p:spPr bwMode="auto">
          <a:xfrm>
            <a:off x="1447800" y="3200400"/>
            <a:ext cx="331788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solidFill>
                  <a:srgbClr val="008000"/>
                </a:solidFill>
              </a:rPr>
              <a:t>+</a:t>
            </a:r>
          </a:p>
        </p:txBody>
      </p:sp>
      <p:sp>
        <p:nvSpPr>
          <p:cNvPr id="388159" name="Oval 63"/>
          <p:cNvSpPr>
            <a:spLocks noChangeArrowheads="1"/>
          </p:cNvSpPr>
          <p:nvPr/>
        </p:nvSpPr>
        <p:spPr bwMode="auto">
          <a:xfrm>
            <a:off x="2209800" y="5715000"/>
            <a:ext cx="7620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60" name="Oval 64"/>
          <p:cNvSpPr>
            <a:spLocks noChangeArrowheads="1"/>
          </p:cNvSpPr>
          <p:nvPr/>
        </p:nvSpPr>
        <p:spPr bwMode="auto">
          <a:xfrm>
            <a:off x="3048000" y="4800600"/>
            <a:ext cx="7620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61" name="Oval 65"/>
          <p:cNvSpPr>
            <a:spLocks noChangeArrowheads="1"/>
          </p:cNvSpPr>
          <p:nvPr/>
        </p:nvSpPr>
        <p:spPr bwMode="auto">
          <a:xfrm>
            <a:off x="3200400" y="3429000"/>
            <a:ext cx="7620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64" name="Oval 68"/>
          <p:cNvSpPr>
            <a:spLocks noChangeArrowheads="1"/>
          </p:cNvSpPr>
          <p:nvPr/>
        </p:nvSpPr>
        <p:spPr bwMode="auto">
          <a:xfrm>
            <a:off x="1066800" y="3124200"/>
            <a:ext cx="762000" cy="5334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65" name="Text Box 69"/>
          <p:cNvSpPr txBox="1">
            <a:spLocks noChangeArrowheads="1"/>
          </p:cNvSpPr>
          <p:nvPr/>
        </p:nvSpPr>
        <p:spPr bwMode="auto">
          <a:xfrm>
            <a:off x="4114800" y="23622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9/13 correct </a:t>
            </a:r>
          </a:p>
        </p:txBody>
      </p:sp>
    </p:spTree>
    <p:extLst>
      <p:ext uri="{BB962C8B-B14F-4D97-AF65-F5344CB8AC3E}">
        <p14:creationId xmlns:p14="http://schemas.microsoft.com/office/powerpoint/2010/main" xmlns="" val="97813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Common Splitting Strategies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k-fold </a:t>
            </a:r>
            <a:r>
              <a:rPr lang="en-US" dirty="0" smtClean="0"/>
              <a:t>cross-validation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90216" name="Rectangle 72"/>
          <p:cNvSpPr>
            <a:spLocks noChangeArrowheads="1"/>
          </p:cNvSpPr>
          <p:nvPr/>
        </p:nvSpPr>
        <p:spPr bwMode="auto">
          <a:xfrm>
            <a:off x="1219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7" name="Rectangle 73"/>
          <p:cNvSpPr>
            <a:spLocks noChangeArrowheads="1"/>
          </p:cNvSpPr>
          <p:nvPr/>
        </p:nvSpPr>
        <p:spPr bwMode="auto">
          <a:xfrm>
            <a:off x="3505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8" name="Rectangle 74"/>
          <p:cNvSpPr>
            <a:spLocks noChangeArrowheads="1"/>
          </p:cNvSpPr>
          <p:nvPr/>
        </p:nvSpPr>
        <p:spPr bwMode="auto">
          <a:xfrm>
            <a:off x="5791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9" name="Rectangle 75"/>
          <p:cNvSpPr>
            <a:spLocks noChangeArrowheads="1"/>
          </p:cNvSpPr>
          <p:nvPr/>
        </p:nvSpPr>
        <p:spPr bwMode="auto">
          <a:xfrm>
            <a:off x="1143000" y="2971800"/>
            <a:ext cx="22860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0" name="Rectangle 76"/>
          <p:cNvSpPr>
            <a:spLocks noChangeArrowheads="1"/>
          </p:cNvSpPr>
          <p:nvPr/>
        </p:nvSpPr>
        <p:spPr bwMode="auto">
          <a:xfrm>
            <a:off x="3429000" y="2971800"/>
            <a:ext cx="22860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1" name="Rectangle 77"/>
          <p:cNvSpPr>
            <a:spLocks noChangeArrowheads="1"/>
          </p:cNvSpPr>
          <p:nvPr/>
        </p:nvSpPr>
        <p:spPr bwMode="auto">
          <a:xfrm>
            <a:off x="5867400" y="2971800"/>
            <a:ext cx="22860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2" name="Text Box 78"/>
          <p:cNvSpPr txBox="1">
            <a:spLocks noChangeArrowheads="1"/>
          </p:cNvSpPr>
          <p:nvPr/>
        </p:nvSpPr>
        <p:spPr bwMode="auto">
          <a:xfrm>
            <a:off x="2286000" y="25908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Train</a:t>
            </a:r>
          </a:p>
        </p:txBody>
      </p:sp>
      <p:sp>
        <p:nvSpPr>
          <p:cNvPr id="390223" name="Text Box 79"/>
          <p:cNvSpPr txBox="1">
            <a:spLocks noChangeArrowheads="1"/>
          </p:cNvSpPr>
          <p:nvPr/>
        </p:nvSpPr>
        <p:spPr bwMode="auto">
          <a:xfrm>
            <a:off x="5715000" y="25908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Test</a:t>
            </a:r>
          </a:p>
        </p:txBody>
      </p:sp>
      <p:grpSp>
        <p:nvGrpSpPr>
          <p:cNvPr id="390243" name="Group 99"/>
          <p:cNvGrpSpPr>
            <a:grpSpLocks/>
          </p:cNvGrpSpPr>
          <p:nvPr/>
        </p:nvGrpSpPr>
        <p:grpSpPr bwMode="auto">
          <a:xfrm>
            <a:off x="1066800" y="3429000"/>
            <a:ext cx="7162800" cy="838200"/>
            <a:chOff x="672" y="2160"/>
            <a:chExt cx="4512" cy="528"/>
          </a:xfrm>
        </p:grpSpPr>
        <p:sp>
          <p:nvSpPr>
            <p:cNvPr id="390224" name="Rectangle 80"/>
            <p:cNvSpPr>
              <a:spLocks noChangeArrowheads="1"/>
            </p:cNvSpPr>
            <p:nvPr/>
          </p:nvSpPr>
          <p:spPr bwMode="auto">
            <a:xfrm>
              <a:off x="720" y="2160"/>
              <a:ext cx="1440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5" name="Rectangle 81"/>
            <p:cNvSpPr>
              <a:spLocks noChangeArrowheads="1"/>
            </p:cNvSpPr>
            <p:nvPr/>
          </p:nvSpPr>
          <p:spPr bwMode="auto">
            <a:xfrm>
              <a:off x="2256" y="2160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6" name="Rectangle 82"/>
            <p:cNvSpPr>
              <a:spLocks noChangeArrowheads="1"/>
            </p:cNvSpPr>
            <p:nvPr/>
          </p:nvSpPr>
          <p:spPr bwMode="auto">
            <a:xfrm>
              <a:off x="3696" y="2160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7" name="Rectangle 83"/>
            <p:cNvSpPr>
              <a:spLocks noChangeArrowheads="1"/>
            </p:cNvSpPr>
            <p:nvPr/>
          </p:nvSpPr>
          <p:spPr bwMode="auto">
            <a:xfrm>
              <a:off x="672" y="2496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8" name="Rectangle 84"/>
            <p:cNvSpPr>
              <a:spLocks noChangeArrowheads="1"/>
            </p:cNvSpPr>
            <p:nvPr/>
          </p:nvSpPr>
          <p:spPr bwMode="auto">
            <a:xfrm>
              <a:off x="2208" y="2496"/>
              <a:ext cx="1440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9" name="Rectangle 85"/>
            <p:cNvSpPr>
              <a:spLocks noChangeArrowheads="1"/>
            </p:cNvSpPr>
            <p:nvPr/>
          </p:nvSpPr>
          <p:spPr bwMode="auto">
            <a:xfrm>
              <a:off x="3744" y="2496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0242" name="Text Box 98"/>
          <p:cNvSpPr txBox="1">
            <a:spLocks noChangeArrowheads="1"/>
          </p:cNvSpPr>
          <p:nvPr/>
        </p:nvSpPr>
        <p:spPr bwMode="auto">
          <a:xfrm>
            <a:off x="76200" y="21336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xmlns="" val="339131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Common Splitting Strategies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k-fold </a:t>
            </a:r>
            <a:r>
              <a:rPr lang="en-US" dirty="0" smtClean="0"/>
              <a:t>cross-validation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Leave-one-out (n-fold cross validation)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90216" name="Rectangle 72"/>
          <p:cNvSpPr>
            <a:spLocks noChangeArrowheads="1"/>
          </p:cNvSpPr>
          <p:nvPr/>
        </p:nvSpPr>
        <p:spPr bwMode="auto">
          <a:xfrm>
            <a:off x="1219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7" name="Rectangle 73"/>
          <p:cNvSpPr>
            <a:spLocks noChangeArrowheads="1"/>
          </p:cNvSpPr>
          <p:nvPr/>
        </p:nvSpPr>
        <p:spPr bwMode="auto">
          <a:xfrm>
            <a:off x="3505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8" name="Rectangle 74"/>
          <p:cNvSpPr>
            <a:spLocks noChangeArrowheads="1"/>
          </p:cNvSpPr>
          <p:nvPr/>
        </p:nvSpPr>
        <p:spPr bwMode="auto">
          <a:xfrm>
            <a:off x="5791200" y="2209800"/>
            <a:ext cx="2286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19" name="Rectangle 75"/>
          <p:cNvSpPr>
            <a:spLocks noChangeArrowheads="1"/>
          </p:cNvSpPr>
          <p:nvPr/>
        </p:nvSpPr>
        <p:spPr bwMode="auto">
          <a:xfrm>
            <a:off x="1143000" y="2971800"/>
            <a:ext cx="22860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0" name="Rectangle 76"/>
          <p:cNvSpPr>
            <a:spLocks noChangeArrowheads="1"/>
          </p:cNvSpPr>
          <p:nvPr/>
        </p:nvSpPr>
        <p:spPr bwMode="auto">
          <a:xfrm>
            <a:off x="3429000" y="2971800"/>
            <a:ext cx="22860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1" name="Rectangle 77"/>
          <p:cNvSpPr>
            <a:spLocks noChangeArrowheads="1"/>
          </p:cNvSpPr>
          <p:nvPr/>
        </p:nvSpPr>
        <p:spPr bwMode="auto">
          <a:xfrm>
            <a:off x="5867400" y="2971800"/>
            <a:ext cx="2286000" cy="304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0222" name="Text Box 78"/>
          <p:cNvSpPr txBox="1">
            <a:spLocks noChangeArrowheads="1"/>
          </p:cNvSpPr>
          <p:nvPr/>
        </p:nvSpPr>
        <p:spPr bwMode="auto">
          <a:xfrm>
            <a:off x="2286000" y="25908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Train</a:t>
            </a:r>
          </a:p>
        </p:txBody>
      </p:sp>
      <p:sp>
        <p:nvSpPr>
          <p:cNvPr id="390223" name="Text Box 79"/>
          <p:cNvSpPr txBox="1">
            <a:spLocks noChangeArrowheads="1"/>
          </p:cNvSpPr>
          <p:nvPr/>
        </p:nvSpPr>
        <p:spPr bwMode="auto">
          <a:xfrm>
            <a:off x="5715000" y="25908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Test</a:t>
            </a:r>
          </a:p>
        </p:txBody>
      </p:sp>
      <p:grpSp>
        <p:nvGrpSpPr>
          <p:cNvPr id="390243" name="Group 99"/>
          <p:cNvGrpSpPr>
            <a:grpSpLocks/>
          </p:cNvGrpSpPr>
          <p:nvPr/>
        </p:nvGrpSpPr>
        <p:grpSpPr bwMode="auto">
          <a:xfrm>
            <a:off x="1066800" y="3429000"/>
            <a:ext cx="7162800" cy="838200"/>
            <a:chOff x="672" y="2160"/>
            <a:chExt cx="4512" cy="528"/>
          </a:xfrm>
        </p:grpSpPr>
        <p:sp>
          <p:nvSpPr>
            <p:cNvPr id="390224" name="Rectangle 80"/>
            <p:cNvSpPr>
              <a:spLocks noChangeArrowheads="1"/>
            </p:cNvSpPr>
            <p:nvPr/>
          </p:nvSpPr>
          <p:spPr bwMode="auto">
            <a:xfrm>
              <a:off x="720" y="2160"/>
              <a:ext cx="1440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5" name="Rectangle 81"/>
            <p:cNvSpPr>
              <a:spLocks noChangeArrowheads="1"/>
            </p:cNvSpPr>
            <p:nvPr/>
          </p:nvSpPr>
          <p:spPr bwMode="auto">
            <a:xfrm>
              <a:off x="2256" y="2160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6" name="Rectangle 82"/>
            <p:cNvSpPr>
              <a:spLocks noChangeArrowheads="1"/>
            </p:cNvSpPr>
            <p:nvPr/>
          </p:nvSpPr>
          <p:spPr bwMode="auto">
            <a:xfrm>
              <a:off x="3696" y="2160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7" name="Rectangle 83"/>
            <p:cNvSpPr>
              <a:spLocks noChangeArrowheads="1"/>
            </p:cNvSpPr>
            <p:nvPr/>
          </p:nvSpPr>
          <p:spPr bwMode="auto">
            <a:xfrm>
              <a:off x="672" y="2496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8" name="Rectangle 84"/>
            <p:cNvSpPr>
              <a:spLocks noChangeArrowheads="1"/>
            </p:cNvSpPr>
            <p:nvPr/>
          </p:nvSpPr>
          <p:spPr bwMode="auto">
            <a:xfrm>
              <a:off x="2208" y="2496"/>
              <a:ext cx="1440" cy="19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29" name="Rectangle 85"/>
            <p:cNvSpPr>
              <a:spLocks noChangeArrowheads="1"/>
            </p:cNvSpPr>
            <p:nvPr/>
          </p:nvSpPr>
          <p:spPr bwMode="auto">
            <a:xfrm>
              <a:off x="3744" y="2496"/>
              <a:ext cx="1440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0244" name="Group 100"/>
          <p:cNvGrpSpPr>
            <a:grpSpLocks/>
          </p:cNvGrpSpPr>
          <p:nvPr/>
        </p:nvGrpSpPr>
        <p:grpSpPr bwMode="auto">
          <a:xfrm>
            <a:off x="1219200" y="4953000"/>
            <a:ext cx="6858000" cy="1600200"/>
            <a:chOff x="816" y="3216"/>
            <a:chExt cx="4320" cy="1008"/>
          </a:xfrm>
        </p:grpSpPr>
        <p:sp>
          <p:nvSpPr>
            <p:cNvPr id="390230" name="Rectangle 86"/>
            <p:cNvSpPr>
              <a:spLocks noChangeArrowheads="1"/>
            </p:cNvSpPr>
            <p:nvPr/>
          </p:nvSpPr>
          <p:spPr bwMode="auto">
            <a:xfrm>
              <a:off x="1152" y="3216"/>
              <a:ext cx="3984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3" name="Oval 89"/>
            <p:cNvSpPr>
              <a:spLocks noChangeArrowheads="1"/>
            </p:cNvSpPr>
            <p:nvPr/>
          </p:nvSpPr>
          <p:spPr bwMode="auto">
            <a:xfrm>
              <a:off x="816" y="3216"/>
              <a:ext cx="192" cy="192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4" name="Rectangle 90"/>
            <p:cNvSpPr>
              <a:spLocks noChangeArrowheads="1"/>
            </p:cNvSpPr>
            <p:nvPr/>
          </p:nvSpPr>
          <p:spPr bwMode="auto">
            <a:xfrm>
              <a:off x="1488" y="3504"/>
              <a:ext cx="3648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5" name="Oval 91"/>
            <p:cNvSpPr>
              <a:spLocks noChangeArrowheads="1"/>
            </p:cNvSpPr>
            <p:nvPr/>
          </p:nvSpPr>
          <p:spPr bwMode="auto">
            <a:xfrm>
              <a:off x="1152" y="3504"/>
              <a:ext cx="192" cy="192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6" name="Rectangle 92"/>
            <p:cNvSpPr>
              <a:spLocks noChangeArrowheads="1"/>
            </p:cNvSpPr>
            <p:nvPr/>
          </p:nvSpPr>
          <p:spPr bwMode="auto">
            <a:xfrm>
              <a:off x="816" y="4032"/>
              <a:ext cx="3984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7" name="Oval 93"/>
            <p:cNvSpPr>
              <a:spLocks noChangeArrowheads="1"/>
            </p:cNvSpPr>
            <p:nvPr/>
          </p:nvSpPr>
          <p:spPr bwMode="auto">
            <a:xfrm>
              <a:off x="4944" y="4032"/>
              <a:ext cx="192" cy="192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8" name="Rectangle 94"/>
            <p:cNvSpPr>
              <a:spLocks noChangeArrowheads="1"/>
            </p:cNvSpPr>
            <p:nvPr/>
          </p:nvSpPr>
          <p:spPr bwMode="auto">
            <a:xfrm>
              <a:off x="816" y="3504"/>
              <a:ext cx="192" cy="19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0239" name="Oval 95"/>
            <p:cNvSpPr>
              <a:spLocks noChangeArrowheads="1"/>
            </p:cNvSpPr>
            <p:nvPr/>
          </p:nvSpPr>
          <p:spPr bwMode="auto">
            <a:xfrm>
              <a:off x="2592" y="3744"/>
              <a:ext cx="48" cy="4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90240" name="Oval 96"/>
            <p:cNvSpPr>
              <a:spLocks noChangeArrowheads="1"/>
            </p:cNvSpPr>
            <p:nvPr/>
          </p:nvSpPr>
          <p:spPr bwMode="auto">
            <a:xfrm>
              <a:off x="2592" y="3840"/>
              <a:ext cx="48" cy="4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90241" name="Oval 97"/>
            <p:cNvSpPr>
              <a:spLocks noChangeArrowheads="1"/>
            </p:cNvSpPr>
            <p:nvPr/>
          </p:nvSpPr>
          <p:spPr bwMode="auto">
            <a:xfrm>
              <a:off x="2592" y="3936"/>
              <a:ext cx="48" cy="4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390242" name="Text Box 98"/>
          <p:cNvSpPr txBox="1">
            <a:spLocks noChangeArrowheads="1"/>
          </p:cNvSpPr>
          <p:nvPr/>
        </p:nvSpPr>
        <p:spPr bwMode="auto">
          <a:xfrm>
            <a:off x="76200" y="2133600"/>
            <a:ext cx="114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xmlns="" val="357051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k-fold cross validation requires</a:t>
            </a:r>
          </a:p>
          <a:p>
            <a:pPr lvl="1"/>
            <a:r>
              <a:rPr lang="en-US" dirty="0" smtClean="0"/>
              <a:t>k training steps on n(k-1)/k </a:t>
            </a:r>
            <a:r>
              <a:rPr lang="en-US" dirty="0" err="1" smtClean="0"/>
              <a:t>datapoints</a:t>
            </a:r>
            <a:endParaRPr lang="en-US" dirty="0" smtClean="0"/>
          </a:p>
          <a:p>
            <a:pPr lvl="1"/>
            <a:r>
              <a:rPr lang="en-US" dirty="0" smtClean="0"/>
              <a:t>k testing steps on n/k </a:t>
            </a:r>
            <a:r>
              <a:rPr lang="en-US" dirty="0" err="1" smtClean="0"/>
              <a:t>datapoints</a:t>
            </a:r>
            <a:endParaRPr lang="en-US" dirty="0"/>
          </a:p>
          <a:p>
            <a:pPr lvl="1"/>
            <a:r>
              <a:rPr lang="en-US" dirty="0" smtClean="0"/>
              <a:t>(There are efficient ways of computing L.O.O. estimates for some </a:t>
            </a:r>
            <a:r>
              <a:rPr lang="en-US" dirty="0"/>
              <a:t>nonparametric </a:t>
            </a:r>
            <a:r>
              <a:rPr lang="en-US" dirty="0" smtClean="0"/>
              <a:t>techniques, e.g. Nearest Neighbors)</a:t>
            </a:r>
          </a:p>
          <a:p>
            <a:r>
              <a:rPr lang="en-US" dirty="0" smtClean="0"/>
              <a:t>Average results reported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948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Similar technique for estimating the </a:t>
            </a:r>
            <a:r>
              <a:rPr lang="en-US" dirty="0" smtClean="0">
                <a:solidFill>
                  <a:srgbClr val="0070C0"/>
                </a:solidFill>
              </a:rPr>
              <a:t>confidence in the </a:t>
            </a:r>
            <a:r>
              <a:rPr lang="en-US" dirty="0">
                <a:solidFill>
                  <a:srgbClr val="0070C0"/>
                </a:solidFill>
              </a:rPr>
              <a:t>model </a:t>
            </a:r>
            <a:r>
              <a:rPr lang="en-US" dirty="0" smtClean="0">
                <a:solidFill>
                  <a:srgbClr val="0070C0"/>
                </a:solidFill>
              </a:rPr>
              <a:t>parameters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</a:t>
            </a:r>
            <a:endParaRPr lang="en-US" dirty="0" smtClean="0"/>
          </a:p>
          <a:p>
            <a:r>
              <a:rPr lang="en-US" dirty="0" smtClean="0"/>
              <a:t>Procedure: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Draw k hypothetical datasets from original data.  Either via cross validation or sampling with replacement.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Fit the model for each dataset to compute parameters </a:t>
            </a:r>
            <a:r>
              <a:rPr lang="en-US" dirty="0" smtClean="0">
                <a:sym typeface="Symbol"/>
              </a:rPr>
              <a:t></a:t>
            </a:r>
            <a:r>
              <a:rPr lang="en-US" baseline="-25000" dirty="0" smtClean="0">
                <a:sym typeface="Symbol"/>
              </a:rPr>
              <a:t>k</a:t>
            </a:r>
            <a:endParaRPr lang="en-US" baseline="-25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 the standard </a:t>
            </a:r>
            <a:r>
              <a:rPr lang="en-US" dirty="0" smtClean="0"/>
              <a:t>deviation of </a:t>
            </a:r>
            <a:r>
              <a:rPr lang="en-US" dirty="0" smtClean="0">
                <a:sym typeface="Symbol"/>
              </a:rPr>
              <a:t>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/>
              <a:t>,…,</a:t>
            </a:r>
            <a:r>
              <a:rPr lang="en-US" dirty="0" smtClean="0">
                <a:sym typeface="Symbol"/>
              </a:rPr>
              <a:t></a:t>
            </a:r>
            <a:r>
              <a:rPr lang="en-US" baseline="-25000" dirty="0" smtClean="0">
                <a:sym typeface="Symbol"/>
              </a:rPr>
              <a:t>k</a:t>
            </a:r>
            <a:r>
              <a:rPr lang="en-US" dirty="0" smtClean="0">
                <a:sym typeface="Symbol"/>
              </a:rPr>
              <a:t> (or </a:t>
            </a:r>
            <a:r>
              <a:rPr lang="en-US" dirty="0" smtClean="0"/>
              <a:t>a </a:t>
            </a:r>
            <a:r>
              <a:rPr lang="en-US" dirty="0"/>
              <a:t>confidence </a:t>
            </a:r>
            <a:r>
              <a:rPr lang="en-US" dirty="0" smtClean="0"/>
              <a:t>interval)</a:t>
            </a:r>
            <a:endParaRPr lang="en-US" baseline="-25000" dirty="0"/>
          </a:p>
          <a:p>
            <a:pPr marL="0" indent="0">
              <a:buNone/>
            </a:pPr>
            <a:r>
              <a:rPr lang="en-US" dirty="0" smtClean="0"/>
              <a:t>Can also estimate confidence in a </a:t>
            </a:r>
            <a:r>
              <a:rPr lang="en-US" b="1" dirty="0" smtClean="0">
                <a:solidFill>
                  <a:srgbClr val="C00000"/>
                </a:solidFill>
              </a:rPr>
              <a:t>prediction</a:t>
            </a:r>
            <a:r>
              <a:rPr lang="en-US" dirty="0" smtClean="0"/>
              <a:t> y=f(x)</a:t>
            </a:r>
            <a:endParaRPr lang="en-US" baseline="-25000" dirty="0" smtClean="0"/>
          </a:p>
        </p:txBody>
      </p:sp>
    </p:spTree>
    <p:extLst>
      <p:ext uri="{BB962C8B-B14F-4D97-AF65-F5344CB8AC3E}">
        <p14:creationId xmlns:p14="http://schemas.microsoft.com/office/powerpoint/2010/main" xmlns="" val="374846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Example: average of N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Data D={x</a:t>
            </a:r>
            <a:r>
              <a:rPr lang="en-US" sz="2000" baseline="30000" dirty="0" smtClean="0"/>
              <a:t>(1)</a:t>
            </a:r>
            <a:r>
              <a:rPr lang="en-US" sz="2000" dirty="0" smtClean="0"/>
              <a:t>,…,x</a:t>
            </a:r>
            <a:r>
              <a:rPr lang="en-US" sz="2000" baseline="30000" dirty="0" smtClean="0"/>
              <a:t>(N)</a:t>
            </a:r>
            <a:r>
              <a:rPr lang="en-US" sz="2000" dirty="0" smtClean="0"/>
              <a:t>}, model is </a:t>
            </a:r>
            <a:r>
              <a:rPr lang="en-US" sz="2000" dirty="0" smtClean="0">
                <a:sym typeface="Symbol"/>
              </a:rPr>
              <a:t>constant </a:t>
            </a:r>
            <a:r>
              <a:rPr lang="en-US" sz="2000" dirty="0">
                <a:sym typeface="Symbol"/>
              </a:rPr>
              <a:t></a:t>
            </a:r>
            <a:endParaRPr lang="en-US" sz="2000" dirty="0" smtClean="0">
              <a:sym typeface="Symbol"/>
            </a:endParaRPr>
          </a:p>
          <a:p>
            <a:r>
              <a:rPr lang="en-US" sz="2000" dirty="0" smtClean="0">
                <a:sym typeface="Symbol"/>
              </a:rPr>
              <a:t>Learning: minimize E</a:t>
            </a:r>
            <a:r>
              <a:rPr lang="en-US" sz="2000" dirty="0">
                <a:sym typeface="Symbol"/>
              </a:rPr>
              <a:t>(</a:t>
            </a:r>
            <a:r>
              <a:rPr lang="en-US" sz="2000" dirty="0" smtClean="0">
                <a:sym typeface="Symbol"/>
              </a:rPr>
              <a:t>) = </a:t>
            </a:r>
            <a:r>
              <a:rPr lang="en-US" sz="2000" baseline="-25000" dirty="0" smtClean="0">
                <a:sym typeface="Symbol"/>
              </a:rPr>
              <a:t>i</a:t>
            </a:r>
            <a:r>
              <a:rPr lang="en-US" sz="2000" dirty="0" smtClean="0">
                <a:sym typeface="Symbol"/>
              </a:rPr>
              <a:t>(x</a:t>
            </a:r>
            <a:r>
              <a:rPr lang="en-US" sz="2000" baseline="30000" dirty="0" smtClean="0">
                <a:sym typeface="Symbol"/>
              </a:rPr>
              <a:t>(i)</a:t>
            </a:r>
            <a:r>
              <a:rPr lang="en-US" sz="2000" dirty="0" smtClean="0">
                <a:sym typeface="Symbol"/>
              </a:rPr>
              <a:t>-)</a:t>
            </a:r>
            <a:r>
              <a:rPr lang="en-US" sz="2000" baseline="30000" dirty="0" smtClean="0">
                <a:sym typeface="Symbol"/>
              </a:rPr>
              <a:t>2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smtClean="0">
                <a:sym typeface="Symbol"/>
              </a:rPr>
              <a:t>=&gt; compute average</a:t>
            </a:r>
            <a:endParaRPr lang="en-US" sz="2000" baseline="30000" dirty="0" smtClean="0">
              <a:sym typeface="Symbol"/>
            </a:endParaRPr>
          </a:p>
          <a:p>
            <a:r>
              <a:rPr lang="en-US" sz="2000" dirty="0" smtClean="0">
                <a:sym typeface="Symbol"/>
              </a:rPr>
              <a:t>Repeat for j=1,…,k :</a:t>
            </a:r>
          </a:p>
          <a:p>
            <a:pPr lvl="1"/>
            <a:r>
              <a:rPr lang="en-US" sz="2000" dirty="0" smtClean="0">
                <a:sym typeface="Symbol"/>
              </a:rPr>
              <a:t>Randomly sample subset x</a:t>
            </a:r>
            <a:r>
              <a:rPr lang="en-US" sz="2000" baseline="30000" dirty="0" smtClean="0">
                <a:sym typeface="Symbol"/>
              </a:rPr>
              <a:t>(1)</a:t>
            </a:r>
            <a:r>
              <a:rPr lang="en-US" sz="2000" dirty="0" smtClean="0">
                <a:sym typeface="Symbol"/>
              </a:rPr>
              <a:t>’,…,x</a:t>
            </a:r>
            <a:r>
              <a:rPr lang="en-US" sz="2000" baseline="30000" dirty="0" smtClean="0">
                <a:sym typeface="Symbol"/>
              </a:rPr>
              <a:t>(N)</a:t>
            </a:r>
            <a:r>
              <a:rPr lang="en-US" sz="2000" dirty="0" smtClean="0">
                <a:sym typeface="Symbol"/>
              </a:rPr>
              <a:t>’ from D</a:t>
            </a:r>
          </a:p>
          <a:p>
            <a:pPr lvl="1"/>
            <a:r>
              <a:rPr lang="en-US" sz="2000" dirty="0" smtClean="0">
                <a:sym typeface="Symbol"/>
              </a:rPr>
              <a:t>Learn </a:t>
            </a:r>
            <a:r>
              <a:rPr lang="en-US" sz="2000" baseline="-25000" dirty="0" smtClean="0">
                <a:sym typeface="Symbol"/>
              </a:rPr>
              <a:t>j</a:t>
            </a:r>
            <a:r>
              <a:rPr lang="en-US" sz="2000" dirty="0" smtClean="0">
                <a:sym typeface="Symbol"/>
              </a:rPr>
              <a:t>  = 1/N </a:t>
            </a:r>
            <a:r>
              <a:rPr lang="en-US" sz="2000" baseline="-25000" dirty="0" smtClean="0">
                <a:sym typeface="Symbol"/>
              </a:rPr>
              <a:t>i </a:t>
            </a:r>
            <a:r>
              <a:rPr lang="en-US" sz="2000" dirty="0" smtClean="0">
                <a:sym typeface="Symbol"/>
              </a:rPr>
              <a:t>x</a:t>
            </a:r>
            <a:r>
              <a:rPr lang="en-US" sz="2000" baseline="30000" dirty="0" smtClean="0">
                <a:sym typeface="Symbol"/>
              </a:rPr>
              <a:t>(i)</a:t>
            </a:r>
            <a:r>
              <a:rPr lang="en-US" sz="2000" dirty="0" smtClean="0">
                <a:sym typeface="Symbol"/>
              </a:rPr>
              <a:t>’</a:t>
            </a:r>
          </a:p>
          <a:p>
            <a:r>
              <a:rPr lang="en-US" sz="2000" dirty="0" smtClean="0">
                <a:sym typeface="Symbol"/>
              </a:rPr>
              <a:t>Return histogram of </a:t>
            </a:r>
            <a:r>
              <a:rPr lang="en-US" sz="2000" baseline="-25000" dirty="0" smtClean="0">
                <a:sym typeface="Symbol"/>
              </a:rPr>
              <a:t>1</a:t>
            </a:r>
            <a:r>
              <a:rPr lang="en-US" sz="2000" dirty="0" smtClean="0">
                <a:sym typeface="Symbol"/>
              </a:rPr>
              <a:t>,…,</a:t>
            </a:r>
            <a:r>
              <a:rPr lang="en-US" sz="2000" baseline="-25000" dirty="0" smtClean="0">
                <a:sym typeface="Symbol"/>
              </a:rPr>
              <a:t>j</a:t>
            </a:r>
            <a:endParaRPr lang="en-US" sz="20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730023942"/>
              </p:ext>
            </p:extLst>
          </p:nvPr>
        </p:nvGraphicFramePr>
        <p:xfrm>
          <a:off x="2286000" y="3962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167118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Precision Recall  Curves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5056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6CF1D-C409-41A3-83C9-71D36F1439F0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03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Precision vs. Recall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Precision</a:t>
            </a:r>
            <a:endParaRPr lang="en-US" dirty="0"/>
          </a:p>
          <a:p>
            <a:pPr lvl="1"/>
            <a:r>
              <a:rPr lang="en-US" dirty="0"/>
              <a:t># of true positives / (# true positives + # false positives)</a:t>
            </a:r>
          </a:p>
          <a:p>
            <a:r>
              <a:rPr lang="en-US" b="1" dirty="0"/>
              <a:t>Recall</a:t>
            </a:r>
          </a:p>
          <a:p>
            <a:pPr lvl="1"/>
            <a:r>
              <a:rPr lang="en-US" dirty="0"/>
              <a:t># of true positives / (# true positives + # false negatives)</a:t>
            </a:r>
          </a:p>
          <a:p>
            <a:r>
              <a:rPr lang="en-US" dirty="0"/>
              <a:t>A precise classifier is </a:t>
            </a:r>
            <a:r>
              <a:rPr lang="en-US" dirty="0">
                <a:solidFill>
                  <a:schemeClr val="accent2"/>
                </a:solidFill>
              </a:rPr>
              <a:t>selective</a:t>
            </a:r>
          </a:p>
          <a:p>
            <a:r>
              <a:rPr lang="en-US" dirty="0"/>
              <a:t>A classifier with high recall is </a:t>
            </a:r>
            <a:r>
              <a:rPr lang="en-US" dirty="0" smtClean="0">
                <a:solidFill>
                  <a:schemeClr val="accent2"/>
                </a:solidFill>
              </a:rPr>
              <a:t>inclusive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EF39C45A-7ADA-48F7-94A6-A5CC747CE0CF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388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Precision-Recall curves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7508420E-1931-40C0-8926-D40AD128A494}" type="slidenum">
              <a:rPr lang="en-US"/>
              <a:pPr/>
              <a:t>14</a:t>
            </a:fld>
            <a:endParaRPr lang="en-US"/>
          </a:p>
        </p:txBody>
      </p:sp>
      <p:sp>
        <p:nvSpPr>
          <p:cNvPr id="466947" name="Line 3"/>
          <p:cNvSpPr>
            <a:spLocks noChangeShapeType="1"/>
          </p:cNvSpPr>
          <p:nvPr/>
        </p:nvSpPr>
        <p:spPr bwMode="auto">
          <a:xfrm>
            <a:off x="1981200" y="63087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8" name="Line 4"/>
          <p:cNvSpPr>
            <a:spLocks noChangeShapeType="1"/>
          </p:cNvSpPr>
          <p:nvPr/>
        </p:nvSpPr>
        <p:spPr bwMode="auto">
          <a:xfrm flipV="1">
            <a:off x="1981200" y="272732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1981200" y="2955925"/>
            <a:ext cx="47244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6950" name="Text Box 6"/>
          <p:cNvSpPr txBox="1">
            <a:spLocks noChangeArrowheads="1"/>
          </p:cNvSpPr>
          <p:nvPr/>
        </p:nvSpPr>
        <p:spPr bwMode="auto">
          <a:xfrm>
            <a:off x="6858000" y="638492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Precision</a:t>
            </a:r>
          </a:p>
        </p:txBody>
      </p:sp>
      <p:sp>
        <p:nvSpPr>
          <p:cNvPr id="466951" name="Text Box 7"/>
          <p:cNvSpPr txBox="1">
            <a:spLocks noChangeArrowheads="1"/>
          </p:cNvSpPr>
          <p:nvPr/>
        </p:nvSpPr>
        <p:spPr bwMode="auto">
          <a:xfrm>
            <a:off x="990600" y="2422525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Recall</a:t>
            </a:r>
          </a:p>
        </p:txBody>
      </p:sp>
      <p:sp>
        <p:nvSpPr>
          <p:cNvPr id="466952" name="Freeform 8"/>
          <p:cNvSpPr>
            <a:spLocks/>
          </p:cNvSpPr>
          <p:nvPr/>
        </p:nvSpPr>
        <p:spPr bwMode="auto">
          <a:xfrm>
            <a:off x="2819400" y="2955925"/>
            <a:ext cx="3886200" cy="2971800"/>
          </a:xfrm>
          <a:custGeom>
            <a:avLst/>
            <a:gdLst>
              <a:gd name="T0" fmla="*/ 0 w 2448"/>
              <a:gd name="T1" fmla="*/ 0 h 1872"/>
              <a:gd name="T2" fmla="*/ 480 w 2448"/>
              <a:gd name="T3" fmla="*/ 96 h 1872"/>
              <a:gd name="T4" fmla="*/ 1056 w 2448"/>
              <a:gd name="T5" fmla="*/ 240 h 1872"/>
              <a:gd name="T6" fmla="*/ 1440 w 2448"/>
              <a:gd name="T7" fmla="*/ 528 h 1872"/>
              <a:gd name="T8" fmla="*/ 1536 w 2448"/>
              <a:gd name="T9" fmla="*/ 912 h 1872"/>
              <a:gd name="T10" fmla="*/ 1968 w 2448"/>
              <a:gd name="T11" fmla="*/ 1152 h 1872"/>
              <a:gd name="T12" fmla="*/ 2162 w 2448"/>
              <a:gd name="T13" fmla="*/ 1603 h 1872"/>
              <a:gd name="T14" fmla="*/ 2448 w 2448"/>
              <a:gd name="T15" fmla="*/ 1872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48" h="1872">
                <a:moveTo>
                  <a:pt x="0" y="0"/>
                </a:moveTo>
                <a:lnTo>
                  <a:pt x="480" y="96"/>
                </a:lnTo>
                <a:lnTo>
                  <a:pt x="1056" y="240"/>
                </a:lnTo>
                <a:lnTo>
                  <a:pt x="1440" y="528"/>
                </a:lnTo>
                <a:lnTo>
                  <a:pt x="1536" y="912"/>
                </a:lnTo>
                <a:lnTo>
                  <a:pt x="1968" y="1152"/>
                </a:lnTo>
                <a:lnTo>
                  <a:pt x="2162" y="1603"/>
                </a:lnTo>
                <a:lnTo>
                  <a:pt x="2448" y="1872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53" name="Text Box 9"/>
          <p:cNvSpPr txBox="1">
            <a:spLocks noChangeArrowheads="1"/>
          </p:cNvSpPr>
          <p:nvPr/>
        </p:nvSpPr>
        <p:spPr bwMode="auto">
          <a:xfrm>
            <a:off x="990600" y="1463675"/>
            <a:ext cx="716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Measure Precision </a:t>
            </a:r>
            <a:r>
              <a:rPr lang="en-US" sz="2400" dirty="0" err="1"/>
              <a:t>vs</a:t>
            </a:r>
            <a:r>
              <a:rPr lang="en-US" sz="2400" dirty="0"/>
              <a:t> Recall as </a:t>
            </a:r>
            <a:r>
              <a:rPr lang="en-US" sz="2400" dirty="0" smtClean="0"/>
              <a:t>the classification boundary is </a:t>
            </a:r>
            <a:r>
              <a:rPr lang="en-US" sz="2400" dirty="0"/>
              <a:t>tuned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486400" y="3276600"/>
            <a:ext cx="9144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0" y="3392269"/>
            <a:ext cx="1824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Better learning</a:t>
            </a:r>
            <a:br>
              <a:rPr lang="en-US" dirty="0" smtClean="0"/>
            </a:br>
            <a:r>
              <a:rPr lang="en-US" dirty="0" smtClean="0"/>
              <a:t>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823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Precision-Recall curves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7508420E-1931-40C0-8926-D40AD128A494}" type="slidenum">
              <a:rPr lang="en-US"/>
              <a:pPr/>
              <a:t>15</a:t>
            </a:fld>
            <a:endParaRPr lang="en-US"/>
          </a:p>
        </p:txBody>
      </p:sp>
      <p:sp>
        <p:nvSpPr>
          <p:cNvPr id="466947" name="Line 3"/>
          <p:cNvSpPr>
            <a:spLocks noChangeShapeType="1"/>
          </p:cNvSpPr>
          <p:nvPr/>
        </p:nvSpPr>
        <p:spPr bwMode="auto">
          <a:xfrm>
            <a:off x="1981200" y="63087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8" name="Line 4"/>
          <p:cNvSpPr>
            <a:spLocks noChangeShapeType="1"/>
          </p:cNvSpPr>
          <p:nvPr/>
        </p:nvSpPr>
        <p:spPr bwMode="auto">
          <a:xfrm flipV="1">
            <a:off x="1981200" y="272732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1981200" y="2955925"/>
            <a:ext cx="47244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6950" name="Text Box 6"/>
          <p:cNvSpPr txBox="1">
            <a:spLocks noChangeArrowheads="1"/>
          </p:cNvSpPr>
          <p:nvPr/>
        </p:nvSpPr>
        <p:spPr bwMode="auto">
          <a:xfrm>
            <a:off x="6858000" y="638492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Precision</a:t>
            </a:r>
          </a:p>
        </p:txBody>
      </p:sp>
      <p:sp>
        <p:nvSpPr>
          <p:cNvPr id="466951" name="Text Box 7"/>
          <p:cNvSpPr txBox="1">
            <a:spLocks noChangeArrowheads="1"/>
          </p:cNvSpPr>
          <p:nvPr/>
        </p:nvSpPr>
        <p:spPr bwMode="auto">
          <a:xfrm>
            <a:off x="990600" y="2422525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Recall</a:t>
            </a:r>
          </a:p>
        </p:txBody>
      </p:sp>
      <p:sp>
        <p:nvSpPr>
          <p:cNvPr id="466952" name="Freeform 8"/>
          <p:cNvSpPr>
            <a:spLocks/>
          </p:cNvSpPr>
          <p:nvPr/>
        </p:nvSpPr>
        <p:spPr bwMode="auto">
          <a:xfrm>
            <a:off x="2819400" y="2955925"/>
            <a:ext cx="3886200" cy="2971800"/>
          </a:xfrm>
          <a:custGeom>
            <a:avLst/>
            <a:gdLst>
              <a:gd name="T0" fmla="*/ 0 w 2448"/>
              <a:gd name="T1" fmla="*/ 0 h 1872"/>
              <a:gd name="T2" fmla="*/ 480 w 2448"/>
              <a:gd name="T3" fmla="*/ 96 h 1872"/>
              <a:gd name="T4" fmla="*/ 1056 w 2448"/>
              <a:gd name="T5" fmla="*/ 240 h 1872"/>
              <a:gd name="T6" fmla="*/ 1440 w 2448"/>
              <a:gd name="T7" fmla="*/ 528 h 1872"/>
              <a:gd name="T8" fmla="*/ 1536 w 2448"/>
              <a:gd name="T9" fmla="*/ 912 h 1872"/>
              <a:gd name="T10" fmla="*/ 1968 w 2448"/>
              <a:gd name="T11" fmla="*/ 1152 h 1872"/>
              <a:gd name="T12" fmla="*/ 2162 w 2448"/>
              <a:gd name="T13" fmla="*/ 1603 h 1872"/>
              <a:gd name="T14" fmla="*/ 2448 w 2448"/>
              <a:gd name="T15" fmla="*/ 1872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48" h="1872">
                <a:moveTo>
                  <a:pt x="0" y="0"/>
                </a:moveTo>
                <a:lnTo>
                  <a:pt x="480" y="96"/>
                </a:lnTo>
                <a:lnTo>
                  <a:pt x="1056" y="240"/>
                </a:lnTo>
                <a:lnTo>
                  <a:pt x="1440" y="528"/>
                </a:lnTo>
                <a:lnTo>
                  <a:pt x="1536" y="912"/>
                </a:lnTo>
                <a:lnTo>
                  <a:pt x="1968" y="1152"/>
                </a:lnTo>
                <a:lnTo>
                  <a:pt x="2162" y="1603"/>
                </a:lnTo>
                <a:lnTo>
                  <a:pt x="2448" y="1872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53" name="Text Box 9"/>
          <p:cNvSpPr txBox="1">
            <a:spLocks noChangeArrowheads="1"/>
          </p:cNvSpPr>
          <p:nvPr/>
        </p:nvSpPr>
        <p:spPr bwMode="auto">
          <a:xfrm>
            <a:off x="990600" y="1463675"/>
            <a:ext cx="716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Measure Precision </a:t>
            </a:r>
            <a:r>
              <a:rPr lang="en-US" sz="2400" dirty="0" err="1"/>
              <a:t>vs</a:t>
            </a:r>
            <a:r>
              <a:rPr lang="en-US" sz="2400" dirty="0"/>
              <a:t> Recall as </a:t>
            </a:r>
            <a:r>
              <a:rPr lang="en-US" sz="2400" dirty="0" smtClean="0"/>
              <a:t>the classification boundary is </a:t>
            </a:r>
            <a:r>
              <a:rPr lang="en-US" sz="2400" dirty="0"/>
              <a:t>tuned</a:t>
            </a:r>
          </a:p>
        </p:txBody>
      </p:sp>
      <p:sp>
        <p:nvSpPr>
          <p:cNvPr id="2" name="Freeform 1"/>
          <p:cNvSpPr/>
          <p:nvPr/>
        </p:nvSpPr>
        <p:spPr>
          <a:xfrm>
            <a:off x="2327564" y="2964873"/>
            <a:ext cx="4378036" cy="2590800"/>
          </a:xfrm>
          <a:custGeom>
            <a:avLst/>
            <a:gdLst>
              <a:gd name="connsiteX0" fmla="*/ 4378036 w 4378036"/>
              <a:gd name="connsiteY0" fmla="*/ 2590800 h 2590800"/>
              <a:gd name="connsiteX1" fmla="*/ 4073236 w 4378036"/>
              <a:gd name="connsiteY1" fmla="*/ 1814945 h 2590800"/>
              <a:gd name="connsiteX2" fmla="*/ 3879272 w 4378036"/>
              <a:gd name="connsiteY2" fmla="*/ 983672 h 2590800"/>
              <a:gd name="connsiteX3" fmla="*/ 2479963 w 4378036"/>
              <a:gd name="connsiteY3" fmla="*/ 831272 h 2590800"/>
              <a:gd name="connsiteX4" fmla="*/ 692727 w 4378036"/>
              <a:gd name="connsiteY4" fmla="*/ 318654 h 2590800"/>
              <a:gd name="connsiteX5" fmla="*/ 0 w 4378036"/>
              <a:gd name="connsiteY5" fmla="*/ 0 h 259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8036" h="2590800">
                <a:moveTo>
                  <a:pt x="4378036" y="2590800"/>
                </a:moveTo>
                <a:lnTo>
                  <a:pt x="4073236" y="1814945"/>
                </a:lnTo>
                <a:lnTo>
                  <a:pt x="3879272" y="983672"/>
                </a:lnTo>
                <a:lnTo>
                  <a:pt x="2479963" y="831272"/>
                </a:lnTo>
                <a:lnTo>
                  <a:pt x="692727" y="318654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76800" y="542642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Learner 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173573" y="3392269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Learner B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181600" y="2133600"/>
            <a:ext cx="3657600" cy="1258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Which learner is better?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411766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Area Under Curve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7508420E-1931-40C0-8926-D40AD128A494}" type="slidenum">
              <a:rPr lang="en-US"/>
              <a:pPr/>
              <a:t>16</a:t>
            </a:fld>
            <a:endParaRPr lang="en-US"/>
          </a:p>
        </p:txBody>
      </p:sp>
      <p:sp>
        <p:nvSpPr>
          <p:cNvPr id="466947" name="Line 3"/>
          <p:cNvSpPr>
            <a:spLocks noChangeShapeType="1"/>
          </p:cNvSpPr>
          <p:nvPr/>
        </p:nvSpPr>
        <p:spPr bwMode="auto">
          <a:xfrm>
            <a:off x="1981200" y="63087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8" name="Line 4"/>
          <p:cNvSpPr>
            <a:spLocks noChangeShapeType="1"/>
          </p:cNvSpPr>
          <p:nvPr/>
        </p:nvSpPr>
        <p:spPr bwMode="auto">
          <a:xfrm flipV="1">
            <a:off x="1981200" y="272732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1981200" y="2955925"/>
            <a:ext cx="47244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6950" name="Text Box 6"/>
          <p:cNvSpPr txBox="1">
            <a:spLocks noChangeArrowheads="1"/>
          </p:cNvSpPr>
          <p:nvPr/>
        </p:nvSpPr>
        <p:spPr bwMode="auto">
          <a:xfrm>
            <a:off x="6858000" y="638492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Precision</a:t>
            </a:r>
          </a:p>
        </p:txBody>
      </p:sp>
      <p:sp>
        <p:nvSpPr>
          <p:cNvPr id="466951" name="Text Box 7"/>
          <p:cNvSpPr txBox="1">
            <a:spLocks noChangeArrowheads="1"/>
          </p:cNvSpPr>
          <p:nvPr/>
        </p:nvSpPr>
        <p:spPr bwMode="auto">
          <a:xfrm>
            <a:off x="990600" y="2422525"/>
            <a:ext cx="121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Recall</a:t>
            </a:r>
          </a:p>
        </p:txBody>
      </p:sp>
      <p:sp>
        <p:nvSpPr>
          <p:cNvPr id="466952" name="Freeform 8"/>
          <p:cNvSpPr>
            <a:spLocks/>
          </p:cNvSpPr>
          <p:nvPr/>
        </p:nvSpPr>
        <p:spPr bwMode="auto">
          <a:xfrm>
            <a:off x="2819400" y="2955925"/>
            <a:ext cx="3886200" cy="2971800"/>
          </a:xfrm>
          <a:custGeom>
            <a:avLst/>
            <a:gdLst>
              <a:gd name="T0" fmla="*/ 0 w 2448"/>
              <a:gd name="T1" fmla="*/ 0 h 1872"/>
              <a:gd name="T2" fmla="*/ 480 w 2448"/>
              <a:gd name="T3" fmla="*/ 96 h 1872"/>
              <a:gd name="T4" fmla="*/ 1056 w 2448"/>
              <a:gd name="T5" fmla="*/ 240 h 1872"/>
              <a:gd name="T6" fmla="*/ 1440 w 2448"/>
              <a:gd name="T7" fmla="*/ 528 h 1872"/>
              <a:gd name="T8" fmla="*/ 1536 w 2448"/>
              <a:gd name="T9" fmla="*/ 912 h 1872"/>
              <a:gd name="T10" fmla="*/ 1968 w 2448"/>
              <a:gd name="T11" fmla="*/ 1152 h 1872"/>
              <a:gd name="T12" fmla="*/ 2162 w 2448"/>
              <a:gd name="T13" fmla="*/ 1603 h 1872"/>
              <a:gd name="T14" fmla="*/ 2448 w 2448"/>
              <a:gd name="T15" fmla="*/ 1872 h 1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48" h="1872">
                <a:moveTo>
                  <a:pt x="0" y="0"/>
                </a:moveTo>
                <a:lnTo>
                  <a:pt x="480" y="96"/>
                </a:lnTo>
                <a:lnTo>
                  <a:pt x="1056" y="240"/>
                </a:lnTo>
                <a:lnTo>
                  <a:pt x="1440" y="528"/>
                </a:lnTo>
                <a:lnTo>
                  <a:pt x="1536" y="912"/>
                </a:lnTo>
                <a:lnTo>
                  <a:pt x="1968" y="1152"/>
                </a:lnTo>
                <a:lnTo>
                  <a:pt x="2162" y="1603"/>
                </a:lnTo>
                <a:lnTo>
                  <a:pt x="2448" y="1872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6953" name="Text Box 9"/>
          <p:cNvSpPr txBox="1">
            <a:spLocks noChangeArrowheads="1"/>
          </p:cNvSpPr>
          <p:nvPr/>
        </p:nvSpPr>
        <p:spPr bwMode="auto">
          <a:xfrm>
            <a:off x="990600" y="1463675"/>
            <a:ext cx="716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/>
              <a:t>AUC-PR: measure the area under the precision-recall curve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249773" y="2964873"/>
            <a:ext cx="0" cy="33438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14600" y="2964873"/>
            <a:ext cx="0" cy="33438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784764" y="2964873"/>
            <a:ext cx="0" cy="33438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046409" y="3020291"/>
            <a:ext cx="0" cy="32884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311236" y="3061855"/>
            <a:ext cx="0" cy="32468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581400" y="3117273"/>
            <a:ext cx="0" cy="31914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843045" y="3200400"/>
            <a:ext cx="0" cy="31083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107872" y="3255818"/>
            <a:ext cx="0" cy="30529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378036" y="3352800"/>
            <a:ext cx="0" cy="295592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646609" y="3477491"/>
            <a:ext cx="0" cy="28312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911436" y="3643745"/>
            <a:ext cx="0" cy="26649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181600" y="4142509"/>
            <a:ext cx="0" cy="21662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484809" y="4544291"/>
            <a:ext cx="0" cy="17644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49636" y="4682836"/>
            <a:ext cx="0" cy="16258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19800" y="4973782"/>
            <a:ext cx="0" cy="133494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283036" y="5541818"/>
            <a:ext cx="0" cy="7669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553200" y="5805055"/>
            <a:ext cx="0" cy="5036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196073" y="4973782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AUC=0.68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2427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AUC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single number that measures “overall” performance across multiple thresholds</a:t>
            </a:r>
          </a:p>
          <a:p>
            <a:pPr lvl="1"/>
            <a:r>
              <a:rPr lang="en-US" dirty="0" smtClean="0"/>
              <a:t>Useful for comparing many learners</a:t>
            </a:r>
          </a:p>
          <a:p>
            <a:pPr lvl="1"/>
            <a:r>
              <a:rPr lang="en-US" dirty="0" smtClean="0"/>
              <a:t>“Smears </a:t>
            </a:r>
            <a:r>
              <a:rPr lang="en-US" dirty="0"/>
              <a:t>out</a:t>
            </a:r>
            <a:r>
              <a:rPr lang="en-US" dirty="0" smtClean="0"/>
              <a:t>” PR curve</a:t>
            </a:r>
          </a:p>
          <a:p>
            <a:r>
              <a:rPr lang="en-US" dirty="0" smtClean="0"/>
              <a:t>Note training / testing set dependence</a:t>
            </a:r>
          </a:p>
        </p:txBody>
      </p:sp>
    </p:spTree>
    <p:extLst>
      <p:ext uri="{BB962C8B-B14F-4D97-AF65-F5344CB8AC3E}">
        <p14:creationId xmlns:p14="http://schemas.microsoft.com/office/powerpoint/2010/main" xmlns="" val="199583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Model Selection and Regularization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937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Vs. Goodness of Fit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More complex models can fit the data better, but can </a:t>
            </a:r>
            <a:r>
              <a:rPr lang="en-US" dirty="0" err="1" smtClean="0"/>
              <a:t>overfit</a:t>
            </a:r>
            <a:endParaRPr lang="en-US" dirty="0" smtClean="0"/>
          </a:p>
          <a:p>
            <a:r>
              <a:rPr lang="en-US" dirty="0" smtClean="0">
                <a:solidFill>
                  <a:schemeClr val="accent3"/>
                </a:solidFill>
              </a:rPr>
              <a:t>Model selection</a:t>
            </a:r>
            <a:r>
              <a:rPr lang="en-US" dirty="0" smtClean="0"/>
              <a:t>: enumerate several possible hypothesis classes of increasing complexity, stop when cross-validated error levels off</a:t>
            </a:r>
          </a:p>
          <a:p>
            <a:r>
              <a:rPr lang="en-US" dirty="0" smtClean="0">
                <a:solidFill>
                  <a:schemeClr val="accent3"/>
                </a:solidFill>
              </a:rPr>
              <a:t>Regularization</a:t>
            </a:r>
            <a:r>
              <a:rPr lang="en-US" dirty="0" smtClean="0"/>
              <a:t>: explicitly define a metric of complexity and penalize it in addition to loss</a:t>
            </a:r>
          </a:p>
        </p:txBody>
      </p:sp>
    </p:spTree>
    <p:extLst>
      <p:ext uri="{BB962C8B-B14F-4D97-AF65-F5344CB8AC3E}">
        <p14:creationId xmlns:p14="http://schemas.microsoft.com/office/powerpoint/2010/main" xmlns="" val="425893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Selection with k-fold Cross-Validation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Parameterize learner by a complexity level C</a:t>
            </a:r>
          </a:p>
          <a:p>
            <a:r>
              <a:rPr lang="en-US" dirty="0" smtClean="0"/>
              <a:t>Model selection </a:t>
            </a:r>
            <a:r>
              <a:rPr lang="en-US" dirty="0" err="1" smtClean="0"/>
              <a:t>pseudocode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For increasing levels of complexity C:</a:t>
            </a:r>
          </a:p>
          <a:p>
            <a:pPr lvl="2"/>
            <a:r>
              <a:rPr lang="en-US" dirty="0" err="1" smtClean="0"/>
              <a:t>errT</a:t>
            </a:r>
            <a:r>
              <a:rPr lang="en-US" dirty="0" smtClean="0"/>
              <a:t>[C],</a:t>
            </a:r>
            <a:r>
              <a:rPr lang="en-US" dirty="0" err="1" smtClean="0"/>
              <a:t>errV</a:t>
            </a:r>
            <a:r>
              <a:rPr lang="en-US" dirty="0"/>
              <a:t>[C]</a:t>
            </a:r>
            <a:r>
              <a:rPr lang="en-US" dirty="0" smtClean="0"/>
              <a:t> = Cross-Validate(</a:t>
            </a:r>
            <a:r>
              <a:rPr lang="en-US" dirty="0" err="1" smtClean="0"/>
              <a:t>Learner,C,examples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[average k-fold CV training error, testing error]</a:t>
            </a:r>
          </a:p>
          <a:p>
            <a:pPr lvl="2"/>
            <a:r>
              <a:rPr lang="en-US" dirty="0" smtClean="0"/>
              <a:t>If </a:t>
            </a:r>
            <a:r>
              <a:rPr lang="en-US" dirty="0" err="1" smtClean="0"/>
              <a:t>errT</a:t>
            </a:r>
            <a:r>
              <a:rPr lang="en-US" dirty="0" smtClean="0"/>
              <a:t> has converged,</a:t>
            </a:r>
          </a:p>
          <a:p>
            <a:pPr lvl="3"/>
            <a:r>
              <a:rPr lang="en-US" dirty="0" smtClean="0"/>
              <a:t>Find value </a:t>
            </a:r>
            <a:r>
              <a:rPr lang="en-US" dirty="0" err="1" smtClean="0"/>
              <a:t>Cbest</a:t>
            </a:r>
            <a:r>
              <a:rPr lang="en-US" dirty="0" smtClean="0"/>
              <a:t> that minimizes </a:t>
            </a:r>
            <a:r>
              <a:rPr lang="en-US" dirty="0" err="1" smtClean="0"/>
              <a:t>errV</a:t>
            </a:r>
            <a:r>
              <a:rPr lang="en-US" dirty="0" smtClean="0"/>
              <a:t>[C]</a:t>
            </a:r>
          </a:p>
          <a:p>
            <a:pPr lvl="3"/>
            <a:r>
              <a:rPr lang="en-US" dirty="0" smtClean="0"/>
              <a:t>Return Learner(</a:t>
            </a:r>
            <a:r>
              <a:rPr lang="en-US" dirty="0" err="1" smtClean="0"/>
              <a:t>Cbest,examples</a:t>
            </a:r>
            <a:r>
              <a:rPr lang="en-US" dirty="0" smtClean="0"/>
              <a:t>)</a:t>
            </a:r>
          </a:p>
          <a:p>
            <a:pPr lvl="2"/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 flipH="1">
            <a:off x="5410200" y="358140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67400" y="35052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</a:rPr>
              <a:t>Needed capacity reached</a:t>
            </a:r>
            <a:endParaRPr lang="en-US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900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Selection: 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 is max depth of decision tree.  Suppose N attributes</a:t>
            </a:r>
          </a:p>
          <a:p>
            <a:r>
              <a:rPr lang="en-US" dirty="0" smtClean="0"/>
              <a:t>For C=1,…,N:</a:t>
            </a:r>
          </a:p>
          <a:p>
            <a:pPr lvl="1"/>
            <a:r>
              <a:rPr lang="en-US" dirty="0" err="1" smtClean="0"/>
              <a:t>errT</a:t>
            </a:r>
            <a:r>
              <a:rPr lang="en-US" dirty="0" smtClean="0"/>
              <a:t>[C],</a:t>
            </a:r>
            <a:r>
              <a:rPr lang="en-US" dirty="0" err="1" smtClean="0"/>
              <a:t>errV</a:t>
            </a:r>
            <a:r>
              <a:rPr lang="en-US" dirty="0"/>
              <a:t>[C]</a:t>
            </a:r>
            <a:r>
              <a:rPr lang="en-US" dirty="0" smtClean="0"/>
              <a:t> = Cross-Validate(</a:t>
            </a:r>
            <a:r>
              <a:rPr lang="en-US" dirty="0" err="1" smtClean="0"/>
              <a:t>Learner,C</a:t>
            </a:r>
            <a:r>
              <a:rPr lang="en-US" dirty="0" smtClean="0"/>
              <a:t>, examples)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errT</a:t>
            </a:r>
            <a:r>
              <a:rPr lang="en-US" dirty="0" smtClean="0"/>
              <a:t> has converged,</a:t>
            </a:r>
          </a:p>
          <a:p>
            <a:pPr lvl="2"/>
            <a:r>
              <a:rPr lang="en-US" dirty="0" smtClean="0"/>
              <a:t>Find value </a:t>
            </a:r>
            <a:r>
              <a:rPr lang="en-US" dirty="0" err="1" smtClean="0"/>
              <a:t>Cbest</a:t>
            </a:r>
            <a:r>
              <a:rPr lang="en-US" dirty="0" smtClean="0"/>
              <a:t> that minimizes </a:t>
            </a:r>
            <a:r>
              <a:rPr lang="en-US" dirty="0" err="1" smtClean="0"/>
              <a:t>errV</a:t>
            </a:r>
            <a:r>
              <a:rPr lang="en-US" dirty="0" smtClean="0"/>
              <a:t>[C]</a:t>
            </a:r>
          </a:p>
          <a:p>
            <a:pPr lvl="2"/>
            <a:r>
              <a:rPr lang="en-US" dirty="0" smtClean="0"/>
              <a:t>Return Learner(</a:t>
            </a:r>
            <a:r>
              <a:rPr lang="en-US" dirty="0" err="1" smtClean="0"/>
              <a:t>Cbest,examples</a:t>
            </a:r>
            <a:r>
              <a:rPr lang="en-US" dirty="0" smtClean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881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Selection: Feature selection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Have many potential features f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f</a:t>
            </a:r>
            <a:r>
              <a:rPr lang="en-US" baseline="-25000" dirty="0" err="1" smtClean="0"/>
              <a:t>N</a:t>
            </a:r>
            <a:endParaRPr lang="en-US" baseline="-25000" dirty="0" smtClean="0"/>
          </a:p>
          <a:p>
            <a:r>
              <a:rPr lang="en-US" dirty="0" smtClean="0"/>
              <a:t>Complexity level C indicates number of features allowed for learning</a:t>
            </a:r>
          </a:p>
          <a:p>
            <a:r>
              <a:rPr lang="en-US" dirty="0" smtClean="0"/>
              <a:t>For C = 1,…,N</a:t>
            </a:r>
          </a:p>
          <a:p>
            <a:pPr lvl="1"/>
            <a:r>
              <a:rPr lang="en-US" dirty="0" err="1" smtClean="0"/>
              <a:t>errT</a:t>
            </a:r>
            <a:r>
              <a:rPr lang="en-US" dirty="0" smtClean="0"/>
              <a:t>[C],</a:t>
            </a:r>
            <a:r>
              <a:rPr lang="en-US" dirty="0" err="1" smtClean="0"/>
              <a:t>errV</a:t>
            </a:r>
            <a:r>
              <a:rPr lang="en-US" dirty="0"/>
              <a:t>[C]</a:t>
            </a:r>
            <a:r>
              <a:rPr lang="en-US" dirty="0" smtClean="0"/>
              <a:t> = Cross-Validate(Learner, examples[f</a:t>
            </a:r>
            <a:r>
              <a:rPr lang="en-US" baseline="-25000" dirty="0" smtClean="0"/>
              <a:t>1</a:t>
            </a:r>
            <a:r>
              <a:rPr lang="en-US" dirty="0" smtClean="0"/>
              <a:t>,..,f</a:t>
            </a:r>
            <a:r>
              <a:rPr lang="en-US" baseline="-25000" dirty="0" smtClean="0"/>
              <a:t>C</a:t>
            </a:r>
            <a:r>
              <a:rPr lang="en-US" dirty="0" smtClean="0"/>
              <a:t>])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errT</a:t>
            </a:r>
            <a:r>
              <a:rPr lang="en-US" dirty="0" smtClean="0"/>
              <a:t> has converged,</a:t>
            </a:r>
          </a:p>
          <a:p>
            <a:pPr lvl="2"/>
            <a:r>
              <a:rPr lang="en-US" dirty="0" smtClean="0"/>
              <a:t>Find value </a:t>
            </a:r>
            <a:r>
              <a:rPr lang="en-US" dirty="0" err="1" smtClean="0"/>
              <a:t>Cbest</a:t>
            </a:r>
            <a:r>
              <a:rPr lang="en-US" dirty="0" smtClean="0"/>
              <a:t> that minimizes </a:t>
            </a:r>
            <a:r>
              <a:rPr lang="en-US" dirty="0" err="1" smtClean="0"/>
              <a:t>errV</a:t>
            </a:r>
            <a:r>
              <a:rPr lang="en-US" dirty="0" smtClean="0"/>
              <a:t>[C]</a:t>
            </a:r>
          </a:p>
          <a:p>
            <a:pPr lvl="2"/>
            <a:r>
              <a:rPr lang="en-US" dirty="0" smtClean="0"/>
              <a:t>Return Learner(</a:t>
            </a:r>
            <a:r>
              <a:rPr lang="en-US" dirty="0" err="1" smtClean="0"/>
              <a:t>Cbest,examples</a:t>
            </a:r>
            <a:r>
              <a:rPr lang="en-US" dirty="0" smtClean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883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/ Drawbacks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Automatically chooses complexity level to perform well on hold-out sets</a:t>
            </a:r>
          </a:p>
          <a:p>
            <a:r>
              <a:rPr lang="en-US" dirty="0" smtClean="0"/>
              <a:t>Expensive: many training / testing iterations</a:t>
            </a:r>
          </a:p>
          <a:p>
            <a:endParaRPr lang="en-US" dirty="0"/>
          </a:p>
          <a:p>
            <a:r>
              <a:rPr lang="en-US" dirty="0" smtClean="0"/>
              <a:t>[But wait, if we fit complexity level to the testing set, aren’t we “peeking?”]</a:t>
            </a:r>
            <a:endParaRPr lang="en-US" dirty="0"/>
          </a:p>
        </p:txBody>
      </p:sp>
      <p:sp>
        <p:nvSpPr>
          <p:cNvPr id="4" name="Smiley Face 3"/>
          <p:cNvSpPr/>
          <p:nvPr/>
        </p:nvSpPr>
        <p:spPr>
          <a:xfrm>
            <a:off x="7391400" y="1676400"/>
            <a:ext cx="533400" cy="533400"/>
          </a:xfrm>
          <a:prstGeom prst="smileyFac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7391400" y="2362200"/>
            <a:ext cx="533400" cy="53340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255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the learner </a:t>
            </a:r>
            <a:r>
              <a:rPr lang="en-US" dirty="0" smtClean="0">
                <a:solidFill>
                  <a:schemeClr val="accent3"/>
                </a:solidFill>
              </a:rPr>
              <a:t>penalize</a:t>
            </a:r>
            <a:r>
              <a:rPr lang="en-US" dirty="0" smtClean="0"/>
              <a:t> the inclusion of new features vs. accuracy on </a:t>
            </a:r>
            <a:r>
              <a:rPr lang="en-US" dirty="0"/>
              <a:t>training set </a:t>
            </a:r>
            <a:endParaRPr lang="en-US" dirty="0" smtClean="0"/>
          </a:p>
          <a:p>
            <a:pPr lvl="1"/>
            <a:r>
              <a:rPr lang="en-US" dirty="0" smtClean="0"/>
              <a:t>A feature is included if it improves accuracy significantly, otherwise it is left out</a:t>
            </a:r>
          </a:p>
          <a:p>
            <a:r>
              <a:rPr lang="en-US" dirty="0" smtClean="0"/>
              <a:t>Leads to </a:t>
            </a:r>
            <a:r>
              <a:rPr lang="en-US" i="1" dirty="0" smtClean="0"/>
              <a:t>sparser models</a:t>
            </a:r>
          </a:p>
          <a:p>
            <a:r>
              <a:rPr lang="en-US" dirty="0"/>
              <a:t>Generalization to test set is considered </a:t>
            </a:r>
            <a:r>
              <a:rPr lang="en-US" i="1" dirty="0" smtClean="0"/>
              <a:t>implicitly</a:t>
            </a:r>
          </a:p>
          <a:p>
            <a:pPr lvl="1"/>
            <a:r>
              <a:rPr lang="en-US" dirty="0" smtClean="0"/>
              <a:t>Much faster than cross-validation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0696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Minimize:</a:t>
            </a:r>
          </a:p>
          <a:p>
            <a:pPr lvl="1"/>
            <a:r>
              <a:rPr lang="en-US" dirty="0" smtClean="0"/>
              <a:t>Cost(h) = Loss(h) + </a:t>
            </a:r>
            <a:r>
              <a:rPr lang="en-US" dirty="0" smtClean="0">
                <a:sym typeface="Symbol"/>
              </a:rPr>
              <a:t> Complexity(h)</a:t>
            </a:r>
          </a:p>
          <a:p>
            <a:r>
              <a:rPr lang="en-US" dirty="0" smtClean="0">
                <a:sym typeface="Symbol"/>
              </a:rPr>
              <a:t>Example with linear models y = </a:t>
            </a:r>
            <a:r>
              <a:rPr lang="en-US" baseline="30000" dirty="0" err="1" smtClean="0">
                <a:sym typeface="Symbol"/>
              </a:rPr>
              <a:t>T</a:t>
            </a:r>
            <a:r>
              <a:rPr lang="en-US" dirty="0" err="1">
                <a:sym typeface="Symbol"/>
              </a:rPr>
              <a:t>x</a:t>
            </a:r>
            <a:r>
              <a:rPr lang="en-US" dirty="0" smtClean="0">
                <a:sym typeface="Symbol"/>
              </a:rPr>
              <a:t>:</a:t>
            </a:r>
          </a:p>
          <a:p>
            <a:pPr lvl="1"/>
            <a:r>
              <a:rPr lang="en-US" dirty="0" smtClean="0">
                <a:sym typeface="Symbol"/>
              </a:rPr>
              <a:t>L</a:t>
            </a:r>
            <a:r>
              <a:rPr lang="en-US" baseline="-25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 error: Loss(</a:t>
            </a:r>
            <a:r>
              <a:rPr lang="en-US" dirty="0">
                <a:sym typeface="Symbol"/>
              </a:rPr>
              <a:t></a:t>
            </a:r>
            <a:r>
              <a:rPr lang="en-US" dirty="0" smtClean="0">
                <a:sym typeface="Symbol"/>
              </a:rPr>
              <a:t>) = </a:t>
            </a:r>
            <a:r>
              <a:rPr lang="en-US" baseline="-25000" dirty="0" smtClean="0">
                <a:sym typeface="Symbol"/>
              </a:rPr>
              <a:t>i</a:t>
            </a:r>
            <a:r>
              <a:rPr lang="en-US" dirty="0" smtClean="0">
                <a:sym typeface="Symbol"/>
              </a:rPr>
              <a:t> (y</a:t>
            </a:r>
            <a:r>
              <a:rPr lang="en-US" baseline="30000" dirty="0" smtClean="0">
                <a:sym typeface="Symbol"/>
              </a:rPr>
              <a:t>(i)</a:t>
            </a:r>
            <a:r>
              <a:rPr lang="en-US" dirty="0" smtClean="0">
                <a:sym typeface="Symbol"/>
              </a:rPr>
              <a:t>-</a:t>
            </a:r>
            <a:r>
              <a:rPr lang="en-US" baseline="30000" dirty="0" err="1" smtClean="0">
                <a:sym typeface="Symbol"/>
              </a:rPr>
              <a:t>T</a:t>
            </a:r>
            <a:r>
              <a:rPr lang="en-US" dirty="0" err="1" smtClean="0">
                <a:sym typeface="Symbol"/>
              </a:rPr>
              <a:t>x</a:t>
            </a:r>
            <a:r>
              <a:rPr lang="en-US" baseline="30000" dirty="0" smtClean="0">
                <a:sym typeface="Symbol"/>
              </a:rPr>
              <a:t>(i)</a:t>
            </a:r>
            <a:r>
              <a:rPr lang="en-US" dirty="0" smtClean="0">
                <a:sym typeface="Symbol"/>
              </a:rPr>
              <a:t>)</a:t>
            </a:r>
            <a:r>
              <a:rPr lang="en-US" baseline="30000" dirty="0" smtClean="0">
                <a:sym typeface="Symbol"/>
              </a:rPr>
              <a:t>2</a:t>
            </a:r>
          </a:p>
          <a:p>
            <a:pPr lvl="1"/>
            <a:r>
              <a:rPr lang="en-US" dirty="0" err="1" smtClean="0">
                <a:sym typeface="Symbol"/>
              </a:rPr>
              <a:t>L</a:t>
            </a:r>
            <a:r>
              <a:rPr lang="en-US" baseline="-25000" dirty="0" err="1" smtClean="0">
                <a:sym typeface="Symbol"/>
              </a:rPr>
              <a:t>q</a:t>
            </a:r>
            <a:r>
              <a:rPr lang="en-US" dirty="0" smtClean="0">
                <a:sym typeface="Symbol"/>
              </a:rPr>
              <a:t> regularization: Complexity(): </a:t>
            </a:r>
            <a:r>
              <a:rPr lang="en-US" baseline="-25000" dirty="0" smtClean="0">
                <a:sym typeface="Symbol"/>
              </a:rPr>
              <a:t>j</a:t>
            </a:r>
            <a:r>
              <a:rPr lang="en-US" dirty="0">
                <a:sym typeface="Symbol"/>
              </a:rPr>
              <a:t> </a:t>
            </a:r>
            <a:r>
              <a:rPr lang="en-US" dirty="0" smtClean="0">
                <a:sym typeface="Symbol"/>
              </a:rPr>
              <a:t>|</a:t>
            </a:r>
            <a:r>
              <a:rPr lang="en-US" baseline="-25000" dirty="0" err="1" smtClean="0">
                <a:sym typeface="Symbol"/>
              </a:rPr>
              <a:t>j</a:t>
            </a:r>
            <a:r>
              <a:rPr lang="en-US" dirty="0" err="1" smtClean="0">
                <a:sym typeface="Symbol"/>
              </a:rPr>
              <a:t>|</a:t>
            </a:r>
            <a:r>
              <a:rPr lang="en-US" baseline="30000" dirty="0" err="1" smtClean="0">
                <a:sym typeface="Symbol"/>
              </a:rPr>
              <a:t>q</a:t>
            </a:r>
            <a:endParaRPr lang="en-US" baseline="30000" dirty="0" smtClean="0">
              <a:sym typeface="Symbol"/>
            </a:endParaRPr>
          </a:p>
          <a:p>
            <a:pPr lvl="1"/>
            <a:r>
              <a:rPr lang="en-US" dirty="0" smtClean="0">
                <a:sym typeface="Symbol"/>
              </a:rPr>
              <a:t>L</a:t>
            </a:r>
            <a:r>
              <a:rPr lang="en-US" baseline="-25000" dirty="0" smtClean="0">
                <a:sym typeface="Symbol"/>
              </a:rPr>
              <a:t>2 </a:t>
            </a:r>
            <a:r>
              <a:rPr lang="en-US" dirty="0">
                <a:sym typeface="Symbol"/>
              </a:rPr>
              <a:t>and </a:t>
            </a:r>
            <a:r>
              <a:rPr lang="en-US" dirty="0" smtClean="0">
                <a:sym typeface="Symbol"/>
              </a:rPr>
              <a:t>L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>
                <a:sym typeface="Symbol"/>
              </a:rPr>
              <a:t> are </a:t>
            </a:r>
            <a:r>
              <a:rPr lang="en-US" dirty="0" smtClean="0">
                <a:sym typeface="Symbol"/>
              </a:rPr>
              <a:t>most popular in linear regularization</a:t>
            </a:r>
          </a:p>
          <a:p>
            <a:r>
              <a:rPr lang="en-US" dirty="0" smtClean="0">
                <a:sym typeface="Symbol"/>
              </a:rPr>
              <a:t>L</a:t>
            </a:r>
            <a:r>
              <a:rPr lang="en-US" baseline="-25000" dirty="0" smtClean="0">
                <a:sym typeface="Symbol"/>
              </a:rPr>
              <a:t>2</a:t>
            </a:r>
            <a:r>
              <a:rPr lang="en-US" dirty="0">
                <a:sym typeface="Symbol"/>
              </a:rPr>
              <a:t> </a:t>
            </a:r>
            <a:r>
              <a:rPr lang="en-US" dirty="0" smtClean="0">
                <a:sym typeface="Symbol"/>
              </a:rPr>
              <a:t>regularization leads to simple computation of optimal </a:t>
            </a:r>
          </a:p>
          <a:p>
            <a:r>
              <a:rPr lang="en-US" dirty="0" smtClean="0">
                <a:sym typeface="Symbol"/>
              </a:rPr>
              <a:t>L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 is more complex to optimize, but produces sparse models in which many coefficients are 0!</a:t>
            </a:r>
            <a:endParaRPr lang="en-US" baseline="-25000" dirty="0">
              <a:sym typeface="Symbol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284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Dredging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 the number of attributes increases, the likelihood of a learner to pick up on patterns that arise purely from chance increases</a:t>
            </a:r>
          </a:p>
          <a:p>
            <a:r>
              <a:rPr lang="en-US" dirty="0" smtClean="0"/>
              <a:t>In the extreme case where there are more attributes than </a:t>
            </a:r>
            <a:r>
              <a:rPr lang="en-US" dirty="0" err="1" smtClean="0"/>
              <a:t>datapoints</a:t>
            </a:r>
            <a:r>
              <a:rPr lang="en-US" dirty="0" smtClean="0"/>
              <a:t> (e.g., pixels in a video), even very simple hypothesis classes can </a:t>
            </a:r>
            <a:r>
              <a:rPr lang="en-US" dirty="0" err="1" smtClean="0"/>
              <a:t>overfit</a:t>
            </a:r>
            <a:endParaRPr lang="en-US" dirty="0"/>
          </a:p>
          <a:p>
            <a:pPr lvl="1"/>
            <a:r>
              <a:rPr lang="en-US" dirty="0" smtClean="0"/>
              <a:t>E.g., linear classifiers</a:t>
            </a:r>
          </a:p>
          <a:p>
            <a:pPr lvl="1"/>
            <a:r>
              <a:rPr lang="en-US" dirty="0" err="1" smtClean="0"/>
              <a:t>Sparsity</a:t>
            </a:r>
            <a:r>
              <a:rPr lang="en-US" dirty="0" smtClean="0"/>
              <a:t> important to enforce</a:t>
            </a:r>
          </a:p>
          <a:p>
            <a:r>
              <a:rPr lang="en-US" dirty="0" smtClean="0"/>
              <a:t>Many opportunities for charlatans in the big data age!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3122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in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distinctions between learning algorithms diminish when you have a lot of data</a:t>
            </a:r>
          </a:p>
          <a:p>
            <a:r>
              <a:rPr lang="en-US" dirty="0" smtClean="0"/>
              <a:t>The web has made it much easier to gather large scale datasets than in early days of ML</a:t>
            </a:r>
          </a:p>
          <a:p>
            <a:r>
              <a:rPr lang="en-US" dirty="0" smtClean="0"/>
              <a:t>Understanding data with </a:t>
            </a:r>
            <a:r>
              <a:rPr lang="en-US" dirty="0"/>
              <a:t>many </a:t>
            </a:r>
            <a:r>
              <a:rPr lang="en-US" dirty="0" smtClean="0"/>
              <a:t>more attributes than examples is still a major challenge!</a:t>
            </a:r>
          </a:p>
          <a:p>
            <a:pPr lvl="1"/>
            <a:r>
              <a:rPr lang="en-US" dirty="0" smtClean="0"/>
              <a:t>Do humans just have really great priors?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7023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Intelligent agents (R&amp;N </a:t>
            </a:r>
            <a:r>
              <a:rPr lang="en-US" dirty="0" err="1" smtClean="0"/>
              <a:t>Ch</a:t>
            </a:r>
            <a:r>
              <a:rPr lang="en-US" smtClean="0"/>
              <a:t> 2)</a:t>
            </a:r>
            <a:endParaRPr lang="en-US" dirty="0" smtClean="0"/>
          </a:p>
          <a:p>
            <a:r>
              <a:rPr lang="en-US" dirty="0" smtClean="0"/>
              <a:t>Markov Decision Processes</a:t>
            </a:r>
          </a:p>
          <a:p>
            <a:r>
              <a:rPr lang="en-US" dirty="0" smtClean="0"/>
              <a:t>Reinforcement learning</a:t>
            </a:r>
          </a:p>
          <a:p>
            <a:r>
              <a:rPr lang="en-US" dirty="0" smtClean="0"/>
              <a:t>Applications of AI: computer vision, robotics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7150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1375</TotalTime>
  <Words>1004</Words>
  <Application>Microsoft Office PowerPoint</Application>
  <PresentationFormat>On-screen Show (4:3)</PresentationFormat>
  <Paragraphs>242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Oriel</vt:lpstr>
      <vt:lpstr>Cross-Validation</vt:lpstr>
      <vt:lpstr>Assessing Performance of a Learning Algorithm</vt:lpstr>
      <vt:lpstr>Cross-Validation</vt:lpstr>
      <vt:lpstr>Cross-Validation</vt:lpstr>
      <vt:lpstr>Cross-Validation</vt:lpstr>
      <vt:lpstr>Cross-Validation</vt:lpstr>
      <vt:lpstr>Common Splitting Strategies</vt:lpstr>
      <vt:lpstr>Common Splitting Strategies</vt:lpstr>
      <vt:lpstr>Computational complexity</vt:lpstr>
      <vt:lpstr>Bootstrapping</vt:lpstr>
      <vt:lpstr>Simple Example: average of N numbers</vt:lpstr>
      <vt:lpstr>Precision Recall  Curves</vt:lpstr>
      <vt:lpstr>Precision vs. Recall</vt:lpstr>
      <vt:lpstr>Precision-Recall curves</vt:lpstr>
      <vt:lpstr>Precision-Recall curves</vt:lpstr>
      <vt:lpstr>Area Under Curve</vt:lpstr>
      <vt:lpstr>AUC metrics</vt:lpstr>
      <vt:lpstr>Model Selection and Regularization</vt:lpstr>
      <vt:lpstr>Complexity Vs. Goodness of Fit</vt:lpstr>
      <vt:lpstr>Model Selection with k-fold Cross-Validation</vt:lpstr>
      <vt:lpstr>Model Selection: Decision Trees</vt:lpstr>
      <vt:lpstr>Model Selection: Feature selection example</vt:lpstr>
      <vt:lpstr>Benefits / Drawbacks</vt:lpstr>
      <vt:lpstr>Regularization</vt:lpstr>
      <vt:lpstr>Regularization</vt:lpstr>
      <vt:lpstr>Data Dredging</vt:lpstr>
      <vt:lpstr>Issues in Practice</vt:lpstr>
      <vt:lpstr>Next Lectures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hauser</dc:creator>
  <cp:lastModifiedBy>HODIT</cp:lastModifiedBy>
  <cp:revision>91</cp:revision>
  <dcterms:created xsi:type="dcterms:W3CDTF">2010-11-29T22:07:29Z</dcterms:created>
  <dcterms:modified xsi:type="dcterms:W3CDTF">2021-09-21T08:28:26Z</dcterms:modified>
</cp:coreProperties>
</file>