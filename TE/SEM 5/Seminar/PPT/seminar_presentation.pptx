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media/image10.jpg" ContentType="image/jp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5" r:id="rId10"/>
    <p:sldId id="275" r:id="rId11"/>
    <p:sldId id="276" r:id="rId12"/>
    <p:sldId id="266" r:id="rId13"/>
    <p:sldId id="267" r:id="rId14"/>
    <p:sldId id="268" r:id="rId15"/>
    <p:sldId id="269" r:id="rId16"/>
    <p:sldId id="270" r:id="rId17"/>
    <p:sldId id="271" r:id="rId18"/>
    <p:sldId id="272" r:id="rId19"/>
    <p:sldId id="273" r:id="rId20"/>
    <p:sldId id="274" r:id="rId21"/>
  </p:sldIdLst>
  <p:sldSz cx="18288000" cy="10287000"/>
  <p:notesSz cx="18288000" cy="10287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91" autoAdjust="0"/>
    <p:restoredTop sz="94660"/>
  </p:normalViewPr>
  <p:slideViewPr>
    <p:cSldViewPr>
      <p:cViewPr varScale="1">
        <p:scale>
          <a:sx n="56" d="100"/>
          <a:sy n="56" d="100"/>
        </p:scale>
        <p:origin x="749"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000" b="1" i="0">
                <a:solidFill>
                  <a:srgbClr val="231F20"/>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sz="2900" b="0" i="0">
                <a:solidFill>
                  <a:srgbClr val="F5FFF5"/>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000" b="1" i="0">
                <a:solidFill>
                  <a:srgbClr val="231F20"/>
                </a:solidFill>
                <a:latin typeface="Trebuchet MS"/>
                <a:cs typeface="Trebuchet MS"/>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000" b="1" i="0">
                <a:solidFill>
                  <a:srgbClr val="231F20"/>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8288000" cy="10287000"/>
          </a:xfrm>
          <a:custGeom>
            <a:avLst/>
            <a:gdLst/>
            <a:ahLst/>
            <a:cxnLst/>
            <a:rect l="l" t="t" r="r" b="b"/>
            <a:pathLst>
              <a:path w="18288000" h="10287000">
                <a:moveTo>
                  <a:pt x="18287998" y="10286999"/>
                </a:moveTo>
                <a:lnTo>
                  <a:pt x="0" y="10286999"/>
                </a:lnTo>
                <a:lnTo>
                  <a:pt x="0" y="0"/>
                </a:lnTo>
                <a:lnTo>
                  <a:pt x="18287998" y="0"/>
                </a:lnTo>
                <a:lnTo>
                  <a:pt x="18287998" y="10286999"/>
                </a:lnTo>
                <a:close/>
              </a:path>
            </a:pathLst>
          </a:custGeom>
          <a:solidFill>
            <a:srgbClr val="F1F4F5"/>
          </a:solidFill>
        </p:spPr>
        <p:txBody>
          <a:bodyPr wrap="square" lIns="0" tIns="0" rIns="0" bIns="0" rtlCol="0"/>
          <a:lstStyle/>
          <a:p>
            <a:endParaRPr/>
          </a:p>
        </p:txBody>
      </p:sp>
      <p:sp>
        <p:nvSpPr>
          <p:cNvPr id="2" name="Holder 2"/>
          <p:cNvSpPr>
            <a:spLocks noGrp="1"/>
          </p:cNvSpPr>
          <p:nvPr>
            <p:ph type="title"/>
          </p:nvPr>
        </p:nvSpPr>
        <p:spPr>
          <a:xfrm>
            <a:off x="6391585" y="267702"/>
            <a:ext cx="5504829" cy="787400"/>
          </a:xfrm>
          <a:prstGeom prst="rect">
            <a:avLst/>
          </a:prstGeom>
        </p:spPr>
        <p:txBody>
          <a:bodyPr wrap="square" lIns="0" tIns="0" rIns="0" bIns="0">
            <a:spAutoFit/>
          </a:bodyPr>
          <a:lstStyle>
            <a:lvl1pPr>
              <a:defRPr sz="5000" b="1" i="0">
                <a:solidFill>
                  <a:srgbClr val="231F20"/>
                </a:solidFill>
                <a:latin typeface="Trebuchet MS"/>
                <a:cs typeface="Trebuchet MS"/>
              </a:defRPr>
            </a:lvl1pPr>
          </a:lstStyle>
          <a:p>
            <a:endParaRPr/>
          </a:p>
        </p:txBody>
      </p:sp>
      <p:sp>
        <p:nvSpPr>
          <p:cNvPr id="3" name="Holder 3"/>
          <p:cNvSpPr>
            <a:spLocks noGrp="1"/>
          </p:cNvSpPr>
          <p:nvPr>
            <p:ph type="body" idx="1"/>
          </p:nvPr>
        </p:nvSpPr>
        <p:spPr>
          <a:xfrm>
            <a:off x="1244343" y="4815339"/>
            <a:ext cx="15301594" cy="3054350"/>
          </a:xfrm>
          <a:prstGeom prst="rect">
            <a:avLst/>
          </a:prstGeom>
        </p:spPr>
        <p:txBody>
          <a:bodyPr wrap="square" lIns="0" tIns="0" rIns="0" bIns="0">
            <a:spAutoFit/>
          </a:bodyPr>
          <a:lstStyle>
            <a:lvl1pPr>
              <a:defRPr sz="2900" b="0" i="0">
                <a:solidFill>
                  <a:srgbClr val="F5FFF5"/>
                </a:solidFill>
                <a:latin typeface="Tahoma"/>
                <a:cs typeface="Tahoma"/>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10/17/2024</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xml"/><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eb.archive.org/web/20210620061255/https:/who.is/"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66373" y="0"/>
            <a:ext cx="18297827" cy="10294686"/>
            <a:chOff x="0" y="0"/>
            <a:chExt cx="18297827" cy="10294686"/>
          </a:xfrm>
        </p:grpSpPr>
        <p:pic>
          <p:nvPicPr>
            <p:cNvPr id="3" name="object 3"/>
            <p:cNvPicPr/>
            <p:nvPr/>
          </p:nvPicPr>
          <p:blipFill>
            <a:blip r:embed="rId2" cstate="print"/>
            <a:stretch>
              <a:fillRect/>
            </a:stretch>
          </p:blipFill>
          <p:spPr>
            <a:xfrm>
              <a:off x="0" y="0"/>
              <a:ext cx="18287999" cy="10286999"/>
            </a:xfrm>
            <a:prstGeom prst="rect">
              <a:avLst/>
            </a:prstGeom>
          </p:spPr>
        </p:pic>
        <p:pic>
          <p:nvPicPr>
            <p:cNvPr id="4" name="object 4"/>
            <p:cNvPicPr/>
            <p:nvPr/>
          </p:nvPicPr>
          <p:blipFill>
            <a:blip r:embed="rId3" cstate="print"/>
            <a:stretch>
              <a:fillRect/>
            </a:stretch>
          </p:blipFill>
          <p:spPr>
            <a:xfrm>
              <a:off x="15795905" y="6459426"/>
              <a:ext cx="2501922" cy="3835260"/>
            </a:xfrm>
            <a:prstGeom prst="rect">
              <a:avLst/>
            </a:prstGeom>
          </p:spPr>
        </p:pic>
        <p:pic>
          <p:nvPicPr>
            <p:cNvPr id="5" name="object 5"/>
            <p:cNvPicPr/>
            <p:nvPr/>
          </p:nvPicPr>
          <p:blipFill>
            <a:blip r:embed="rId4" cstate="print"/>
            <a:stretch>
              <a:fillRect/>
            </a:stretch>
          </p:blipFill>
          <p:spPr>
            <a:xfrm>
              <a:off x="0" y="0"/>
              <a:ext cx="5382080" cy="4622799"/>
            </a:xfrm>
            <a:prstGeom prst="rect">
              <a:avLst/>
            </a:prstGeom>
          </p:spPr>
        </p:pic>
        <p:pic>
          <p:nvPicPr>
            <p:cNvPr id="6" name="object 6"/>
            <p:cNvPicPr/>
            <p:nvPr/>
          </p:nvPicPr>
          <p:blipFill>
            <a:blip r:embed="rId5">
              <a:extLst>
                <a:ext uri="{28A0092B-C50C-407E-A947-70E740481C1C}">
                  <a14:useLocalDpi xmlns:a14="http://schemas.microsoft.com/office/drawing/2010/main" val="0"/>
                </a:ext>
              </a:extLst>
            </a:blip>
            <a:srcRect/>
            <a:stretch/>
          </p:blipFill>
          <p:spPr>
            <a:xfrm>
              <a:off x="2832077" y="1291815"/>
              <a:ext cx="12954000" cy="5910566"/>
            </a:xfrm>
            <a:prstGeom prst="rect">
              <a:avLst/>
            </a:prstGeom>
          </p:spPr>
        </p:pic>
      </p:grpSp>
      <p:sp>
        <p:nvSpPr>
          <p:cNvPr id="7" name="object 7"/>
          <p:cNvSpPr txBox="1"/>
          <p:nvPr/>
        </p:nvSpPr>
        <p:spPr>
          <a:xfrm>
            <a:off x="381000" y="7929508"/>
            <a:ext cx="8061079" cy="1059264"/>
          </a:xfrm>
          <a:prstGeom prst="rect">
            <a:avLst/>
          </a:prstGeom>
        </p:spPr>
        <p:txBody>
          <a:bodyPr vert="horz" wrap="square" lIns="0" tIns="12700" rIns="0" bIns="0" rtlCol="0">
            <a:spAutoFit/>
          </a:bodyPr>
          <a:lstStyle/>
          <a:p>
            <a:pPr marL="12700">
              <a:lnSpc>
                <a:spcPct val="100000"/>
              </a:lnSpc>
              <a:spcBef>
                <a:spcPts val="100"/>
              </a:spcBef>
            </a:pPr>
            <a:r>
              <a:rPr sz="3400" spc="-45" dirty="0">
                <a:latin typeface="Verdana"/>
                <a:cs typeface="Verdana"/>
              </a:rPr>
              <a:t>Student</a:t>
            </a:r>
            <a:r>
              <a:rPr sz="3400" spc="-365" dirty="0">
                <a:latin typeface="Verdana"/>
                <a:cs typeface="Verdana"/>
              </a:rPr>
              <a:t> </a:t>
            </a:r>
            <a:r>
              <a:rPr lang="en-US" sz="3400" spc="-260" dirty="0">
                <a:latin typeface="Verdana"/>
                <a:cs typeface="Verdana"/>
              </a:rPr>
              <a:t>–</a:t>
            </a:r>
            <a:r>
              <a:rPr sz="3400" spc="-360" dirty="0">
                <a:latin typeface="Verdana"/>
                <a:cs typeface="Verdana"/>
              </a:rPr>
              <a:t> </a:t>
            </a:r>
            <a:r>
              <a:rPr lang="en-US" sz="3400" spc="-10" dirty="0">
                <a:latin typeface="Verdana"/>
                <a:cs typeface="Verdana"/>
              </a:rPr>
              <a:t>Rajvardhan     Deshmukh</a:t>
            </a:r>
            <a:r>
              <a:rPr sz="3400" spc="-175" dirty="0">
                <a:latin typeface="Verdana"/>
                <a:cs typeface="Verdana"/>
              </a:rPr>
              <a:t>(33</a:t>
            </a:r>
            <a:r>
              <a:rPr lang="en-US" sz="3400" spc="-175" dirty="0">
                <a:latin typeface="Verdana"/>
                <a:cs typeface="Verdana"/>
              </a:rPr>
              <a:t>224</a:t>
            </a:r>
            <a:r>
              <a:rPr sz="3400" spc="-175" dirty="0">
                <a:latin typeface="Verdana"/>
                <a:cs typeface="Verdana"/>
              </a:rPr>
              <a:t>)</a:t>
            </a:r>
            <a:endParaRPr sz="3400" dirty="0">
              <a:latin typeface="Verdana"/>
              <a:cs typeface="Verdana"/>
            </a:endParaRPr>
          </a:p>
        </p:txBody>
      </p:sp>
      <p:sp>
        <p:nvSpPr>
          <p:cNvPr id="8" name="object 8"/>
          <p:cNvSpPr txBox="1"/>
          <p:nvPr/>
        </p:nvSpPr>
        <p:spPr>
          <a:xfrm>
            <a:off x="9982200" y="7929508"/>
            <a:ext cx="7317740" cy="2131353"/>
          </a:xfrm>
          <a:prstGeom prst="rect">
            <a:avLst/>
          </a:prstGeom>
        </p:spPr>
        <p:txBody>
          <a:bodyPr vert="horz" wrap="square" lIns="0" tIns="12700" rIns="0" bIns="0" rtlCol="0">
            <a:spAutoFit/>
          </a:bodyPr>
          <a:lstStyle/>
          <a:p>
            <a:pPr marL="12700">
              <a:lnSpc>
                <a:spcPct val="100000"/>
              </a:lnSpc>
              <a:spcBef>
                <a:spcPts val="100"/>
              </a:spcBef>
            </a:pPr>
            <a:r>
              <a:rPr sz="3400" spc="-120" dirty="0">
                <a:latin typeface="Verdana"/>
                <a:cs typeface="Verdana"/>
              </a:rPr>
              <a:t>G</a:t>
            </a:r>
            <a:r>
              <a:rPr sz="3400" spc="-80" dirty="0">
                <a:latin typeface="Verdana"/>
                <a:cs typeface="Verdana"/>
              </a:rPr>
              <a:t>u</a:t>
            </a:r>
            <a:r>
              <a:rPr sz="3400" spc="-25" dirty="0">
                <a:latin typeface="Verdana"/>
                <a:cs typeface="Verdana"/>
              </a:rPr>
              <a:t>i</a:t>
            </a:r>
            <a:r>
              <a:rPr sz="3400" spc="60" dirty="0">
                <a:latin typeface="Verdana"/>
                <a:cs typeface="Verdana"/>
              </a:rPr>
              <a:t>d</a:t>
            </a:r>
            <a:r>
              <a:rPr sz="3400" spc="-80" dirty="0">
                <a:latin typeface="Verdana"/>
                <a:cs typeface="Verdana"/>
              </a:rPr>
              <a:t>e</a:t>
            </a:r>
            <a:r>
              <a:rPr sz="3400" spc="-265" dirty="0">
                <a:latin typeface="Verdana"/>
                <a:cs typeface="Verdana"/>
              </a:rPr>
              <a:t>-</a:t>
            </a:r>
            <a:r>
              <a:rPr lang="en-US" sz="3400" spc="-265" dirty="0">
                <a:latin typeface="Verdana"/>
                <a:cs typeface="Verdana"/>
              </a:rPr>
              <a:t> </a:t>
            </a:r>
            <a:r>
              <a:rPr lang="en-US" sz="3400" spc="-45" dirty="0">
                <a:latin typeface="Verdana"/>
                <a:cs typeface="Verdana"/>
              </a:rPr>
              <a:t>Mr. Tushar A. Rane</a:t>
            </a:r>
            <a:endParaRPr lang="en-US" sz="3400" dirty="0">
              <a:latin typeface="Verdana"/>
              <a:cs typeface="Verdana"/>
            </a:endParaRPr>
          </a:p>
          <a:p>
            <a:pPr marL="12700">
              <a:lnSpc>
                <a:spcPct val="100000"/>
              </a:lnSpc>
              <a:spcBef>
                <a:spcPts val="100"/>
              </a:spcBef>
            </a:pPr>
            <a:endParaRPr lang="en-US" sz="3400" spc="-125" dirty="0">
              <a:latin typeface="Verdana"/>
              <a:cs typeface="Verdana"/>
            </a:endParaRPr>
          </a:p>
          <a:p>
            <a:pPr marL="12700">
              <a:lnSpc>
                <a:spcPct val="100000"/>
              </a:lnSpc>
              <a:spcBef>
                <a:spcPts val="100"/>
              </a:spcBef>
            </a:pPr>
            <a:r>
              <a:rPr sz="3400" spc="-125" dirty="0">
                <a:latin typeface="Verdana"/>
                <a:cs typeface="Verdana"/>
              </a:rPr>
              <a:t>R</a:t>
            </a:r>
            <a:r>
              <a:rPr sz="3400" spc="-80" dirty="0">
                <a:latin typeface="Verdana"/>
                <a:cs typeface="Verdana"/>
              </a:rPr>
              <a:t>ev</a:t>
            </a:r>
            <a:r>
              <a:rPr sz="3400" spc="-25" dirty="0">
                <a:latin typeface="Verdana"/>
                <a:cs typeface="Verdana"/>
              </a:rPr>
              <a:t>i</a:t>
            </a:r>
            <a:r>
              <a:rPr sz="3400" spc="-80" dirty="0">
                <a:latin typeface="Verdana"/>
                <a:cs typeface="Verdana"/>
              </a:rPr>
              <a:t>e</a:t>
            </a:r>
            <a:r>
              <a:rPr sz="3400" spc="-120" dirty="0">
                <a:latin typeface="Verdana"/>
                <a:cs typeface="Verdana"/>
              </a:rPr>
              <a:t>w</a:t>
            </a:r>
            <a:r>
              <a:rPr sz="3400" spc="-80" dirty="0">
                <a:latin typeface="Verdana"/>
                <a:cs typeface="Verdana"/>
              </a:rPr>
              <a:t>e</a:t>
            </a:r>
            <a:r>
              <a:rPr sz="3400" spc="-45" dirty="0">
                <a:latin typeface="Verdana"/>
                <a:cs typeface="Verdana"/>
              </a:rPr>
              <a:t>r</a:t>
            </a:r>
            <a:r>
              <a:rPr sz="3400" spc="-265" dirty="0">
                <a:latin typeface="Verdana"/>
                <a:cs typeface="Verdana"/>
              </a:rPr>
              <a:t>-</a:t>
            </a:r>
            <a:r>
              <a:rPr lang="en-US" sz="3400" spc="-265" dirty="0">
                <a:latin typeface="Verdana"/>
                <a:cs typeface="Verdana"/>
              </a:rPr>
              <a:t> </a:t>
            </a:r>
            <a:r>
              <a:rPr sz="3400" spc="200" dirty="0">
                <a:latin typeface="Verdana"/>
                <a:cs typeface="Verdana"/>
              </a:rPr>
              <a:t>M</a:t>
            </a:r>
            <a:r>
              <a:rPr sz="3400" spc="-45" dirty="0">
                <a:latin typeface="Verdana"/>
                <a:cs typeface="Verdana"/>
              </a:rPr>
              <a:t>r</a:t>
            </a:r>
            <a:r>
              <a:rPr sz="3400" spc="-85" dirty="0">
                <a:latin typeface="Verdana"/>
                <a:cs typeface="Verdana"/>
              </a:rPr>
              <a:t>s</a:t>
            </a:r>
            <a:r>
              <a:rPr sz="3400" spc="-345" dirty="0">
                <a:latin typeface="Verdana"/>
                <a:cs typeface="Verdana"/>
              </a:rPr>
              <a:t>.</a:t>
            </a:r>
            <a:r>
              <a:rPr sz="3400" spc="-365" dirty="0">
                <a:latin typeface="Verdana"/>
                <a:cs typeface="Verdana"/>
              </a:rPr>
              <a:t> </a:t>
            </a:r>
            <a:r>
              <a:rPr lang="en-US" sz="3400" spc="155" dirty="0">
                <a:latin typeface="Verdana"/>
                <a:cs typeface="Verdana"/>
              </a:rPr>
              <a:t>Jayashree   </a:t>
            </a:r>
            <a:r>
              <a:rPr lang="en-US" sz="3400" spc="155" dirty="0" err="1">
                <a:latin typeface="Verdana"/>
                <a:cs typeface="Verdana"/>
              </a:rPr>
              <a:t>Jagdale</a:t>
            </a:r>
            <a:endParaRPr sz="3400" dirty="0">
              <a:latin typeface="Verdana"/>
              <a:cs typeface="Verdana"/>
            </a:endParaRPr>
          </a:p>
        </p:txBody>
      </p:sp>
      <p:sp>
        <p:nvSpPr>
          <p:cNvPr id="9" name="object 9"/>
          <p:cNvSpPr txBox="1">
            <a:spLocks noGrp="1"/>
          </p:cNvSpPr>
          <p:nvPr>
            <p:ph type="title"/>
          </p:nvPr>
        </p:nvSpPr>
        <p:spPr>
          <a:xfrm>
            <a:off x="5371795" y="2095500"/>
            <a:ext cx="7883525" cy="4773102"/>
          </a:xfrm>
          <a:prstGeom prst="rect">
            <a:avLst/>
          </a:prstGeom>
        </p:spPr>
        <p:txBody>
          <a:bodyPr vert="horz" wrap="square" lIns="0" tIns="12065" rIns="0" bIns="0" rtlCol="0">
            <a:spAutoFit/>
          </a:bodyPr>
          <a:lstStyle/>
          <a:p>
            <a:pPr marL="12700" marR="5080" algn="ctr">
              <a:lnSpc>
                <a:spcPct val="116199"/>
              </a:lnSpc>
              <a:spcBef>
                <a:spcPts val="95"/>
              </a:spcBef>
            </a:pPr>
            <a:r>
              <a:rPr lang="en-US" sz="9200" spc="-225" dirty="0">
                <a:solidFill>
                  <a:srgbClr val="FFFFFF"/>
                </a:solidFill>
                <a:latin typeface="Verdana"/>
                <a:cs typeface="Verdana"/>
              </a:rPr>
              <a:t>Phishing Website</a:t>
            </a:r>
            <a:r>
              <a:rPr sz="9200" spc="-720" dirty="0">
                <a:solidFill>
                  <a:srgbClr val="FFFFFF"/>
                </a:solidFill>
                <a:latin typeface="Verdana"/>
                <a:cs typeface="Verdana"/>
              </a:rPr>
              <a:t> </a:t>
            </a:r>
            <a:r>
              <a:rPr sz="9200" spc="-790" dirty="0">
                <a:solidFill>
                  <a:srgbClr val="FFFFFF"/>
                </a:solidFill>
                <a:latin typeface="Verdana"/>
                <a:cs typeface="Verdana"/>
              </a:rPr>
              <a:t>D</a:t>
            </a:r>
            <a:r>
              <a:rPr lang="en-US" sz="9200" spc="-790" dirty="0">
                <a:solidFill>
                  <a:srgbClr val="FFFFFF"/>
                </a:solidFill>
                <a:latin typeface="Verdana"/>
                <a:cs typeface="Verdana"/>
              </a:rPr>
              <a:t>etection</a:t>
            </a:r>
            <a:endParaRPr sz="9200" dirty="0">
              <a:latin typeface="Verdana"/>
              <a:cs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45226" y="9588"/>
            <a:ext cx="4598035" cy="787400"/>
          </a:xfrm>
          <a:prstGeom prst="rect">
            <a:avLst/>
          </a:prstGeom>
        </p:spPr>
        <p:txBody>
          <a:bodyPr vert="horz" wrap="square" lIns="0" tIns="12700" rIns="0" bIns="0" rtlCol="0">
            <a:spAutoFit/>
          </a:bodyPr>
          <a:lstStyle/>
          <a:p>
            <a:pPr marL="12700">
              <a:lnSpc>
                <a:spcPct val="100000"/>
              </a:lnSpc>
              <a:spcBef>
                <a:spcPts val="100"/>
              </a:spcBef>
            </a:pPr>
            <a:r>
              <a:rPr spc="50" dirty="0"/>
              <a:t>INTRODUCTION</a:t>
            </a:r>
          </a:p>
        </p:txBody>
      </p:sp>
      <p:sp>
        <p:nvSpPr>
          <p:cNvPr id="3" name="object 3"/>
          <p:cNvSpPr txBox="1"/>
          <p:nvPr/>
        </p:nvSpPr>
        <p:spPr>
          <a:xfrm>
            <a:off x="57908" y="1895495"/>
            <a:ext cx="18256250" cy="6496009"/>
          </a:xfrm>
          <a:prstGeom prst="rect">
            <a:avLst/>
          </a:prstGeom>
        </p:spPr>
        <p:txBody>
          <a:bodyPr vert="horz" wrap="square" lIns="0" tIns="65405" rIns="0" bIns="0" rtlCol="0">
            <a:spAutoFit/>
          </a:bodyPr>
          <a:lstStyle/>
          <a:p>
            <a:pPr marL="12700">
              <a:lnSpc>
                <a:spcPct val="100000"/>
              </a:lnSpc>
              <a:spcBef>
                <a:spcPts val="515"/>
              </a:spcBef>
            </a:pPr>
            <a:r>
              <a:rPr lang="en-US" sz="3200" b="1" dirty="0"/>
              <a:t>Phishing Websites:</a:t>
            </a:r>
          </a:p>
          <a:p>
            <a:pPr marL="12700">
              <a:lnSpc>
                <a:spcPct val="100000"/>
              </a:lnSpc>
              <a:spcBef>
                <a:spcPts val="515"/>
              </a:spcBef>
            </a:pPr>
            <a:r>
              <a:rPr lang="en-US" sz="2800" dirty="0"/>
              <a:t>Phishing websites are fraudulent sites that imitate legitimate ones to trick users into providing sensitive information, such as passwords or credit card details. These sites are commonly used in cyberattacks, leading to identity theft, financial fraud, and malware distribution. As one of the most prevalent cyber threats, phishing has a significant impact on cybersecurity, resulting in billions of dollars in losses worldwide.</a:t>
            </a:r>
          </a:p>
          <a:p>
            <a:pPr marL="12700">
              <a:lnSpc>
                <a:spcPct val="100000"/>
              </a:lnSpc>
              <a:spcBef>
                <a:spcPts val="515"/>
              </a:spcBef>
            </a:pPr>
            <a:endParaRPr lang="en-US" sz="2800" b="1" spc="-75" dirty="0">
              <a:solidFill>
                <a:srgbClr val="231F20"/>
              </a:solidFill>
              <a:latin typeface="Verdana"/>
              <a:cs typeface="Verdana"/>
            </a:endParaRPr>
          </a:p>
          <a:p>
            <a:pPr marL="12700">
              <a:lnSpc>
                <a:spcPct val="100000"/>
              </a:lnSpc>
              <a:spcBef>
                <a:spcPts val="515"/>
              </a:spcBef>
            </a:pPr>
            <a:r>
              <a:rPr lang="en-US" sz="3200" b="1" dirty="0"/>
              <a:t>Role of Machine Learning:</a:t>
            </a:r>
            <a:br>
              <a:rPr lang="en-US" sz="2800" b="1" spc="-75" dirty="0">
                <a:solidFill>
                  <a:srgbClr val="231F20"/>
                </a:solidFill>
                <a:latin typeface="Verdana"/>
              </a:rPr>
            </a:br>
            <a:r>
              <a:rPr lang="en-US" sz="2800" dirty="0"/>
              <a:t>Developing automated phishing detection systems is crucial in mitigating these attacks. Traditional methods, which rely on predefined rules, are insufficient to handle the increasing volume and sophistication of phishing schemes. Machine learning plays a pivotal role in automating phishing detection by identifying patterns and anomalies in website features. By learning from large datasets, machine learning models can adapt to new phishing techniques, providing more accurate and scalable solutions compared to manual detection methods.</a:t>
            </a:r>
            <a:endParaRPr lang="en-US" sz="2800" b="1" spc="-75" dirty="0">
              <a:solidFill>
                <a:srgbClr val="231F20"/>
              </a:solidFill>
              <a:latin typeface="Verdana"/>
              <a:cs typeface="Verdana"/>
            </a:endParaRPr>
          </a:p>
          <a:p>
            <a:pPr marL="12700">
              <a:lnSpc>
                <a:spcPct val="100000"/>
              </a:lnSpc>
              <a:spcBef>
                <a:spcPts val="515"/>
              </a:spcBef>
            </a:pPr>
            <a:endParaRPr lang="en-US" sz="2650" dirty="0">
              <a:latin typeface="Verdana"/>
              <a:cs typeface="Verdana"/>
            </a:endParaRPr>
          </a:p>
          <a:p>
            <a:pPr marL="12700">
              <a:lnSpc>
                <a:spcPct val="100000"/>
              </a:lnSpc>
              <a:spcBef>
                <a:spcPts val="515"/>
              </a:spcBef>
            </a:pPr>
            <a:endParaRPr sz="2650" dirty="0">
              <a:latin typeface="Verdana"/>
              <a:cs typeface="Verdan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96268" y="925750"/>
            <a:ext cx="6285230" cy="787400"/>
          </a:xfrm>
          <a:prstGeom prst="rect">
            <a:avLst/>
          </a:prstGeom>
        </p:spPr>
        <p:txBody>
          <a:bodyPr vert="horz" wrap="square" lIns="0" tIns="12700" rIns="0" bIns="0" rtlCol="0">
            <a:spAutoFit/>
          </a:bodyPr>
          <a:lstStyle/>
          <a:p>
            <a:pPr marL="12700">
              <a:lnSpc>
                <a:spcPct val="100000"/>
              </a:lnSpc>
              <a:spcBef>
                <a:spcPts val="100"/>
              </a:spcBef>
              <a:tabLst>
                <a:tab pos="3949700" algn="l"/>
              </a:tabLst>
            </a:pPr>
            <a:r>
              <a:rPr spc="-65" dirty="0"/>
              <a:t>L</a:t>
            </a:r>
            <a:r>
              <a:rPr spc="595" dirty="0"/>
              <a:t>I</a:t>
            </a:r>
            <a:r>
              <a:rPr spc="-350" dirty="0"/>
              <a:t>T</a:t>
            </a:r>
            <a:r>
              <a:rPr spc="-125" dirty="0"/>
              <a:t>E</a:t>
            </a:r>
            <a:r>
              <a:rPr spc="430" dirty="0"/>
              <a:t>R</a:t>
            </a:r>
            <a:r>
              <a:rPr spc="70" dirty="0"/>
              <a:t>A</a:t>
            </a:r>
            <a:r>
              <a:rPr spc="-350" dirty="0"/>
              <a:t>T</a:t>
            </a:r>
            <a:r>
              <a:rPr spc="35" dirty="0"/>
              <a:t>U</a:t>
            </a:r>
            <a:r>
              <a:rPr spc="430" dirty="0"/>
              <a:t>R</a:t>
            </a:r>
            <a:r>
              <a:rPr spc="-610" dirty="0"/>
              <a:t>E</a:t>
            </a:r>
            <a:r>
              <a:rPr dirty="0"/>
              <a:t>	</a:t>
            </a:r>
            <a:r>
              <a:rPr spc="495" dirty="0"/>
              <a:t>S</a:t>
            </a:r>
            <a:r>
              <a:rPr spc="35" dirty="0"/>
              <a:t>U</a:t>
            </a:r>
            <a:r>
              <a:rPr spc="430" dirty="0"/>
              <a:t>R</a:t>
            </a:r>
            <a:r>
              <a:rPr spc="5" dirty="0"/>
              <a:t>V</a:t>
            </a:r>
            <a:r>
              <a:rPr spc="-125" dirty="0"/>
              <a:t>E</a:t>
            </a:r>
            <a:r>
              <a:rPr spc="-605" dirty="0"/>
              <a:t>Y</a:t>
            </a:r>
          </a:p>
        </p:txBody>
      </p:sp>
      <p:grpSp>
        <p:nvGrpSpPr>
          <p:cNvPr id="3" name="object 3"/>
          <p:cNvGrpSpPr/>
          <p:nvPr/>
        </p:nvGrpSpPr>
        <p:grpSpPr>
          <a:xfrm>
            <a:off x="0" y="0"/>
            <a:ext cx="18287998" cy="10285745"/>
            <a:chOff x="0" y="0"/>
            <a:chExt cx="18287998" cy="10285745"/>
          </a:xfrm>
        </p:grpSpPr>
        <p:pic>
          <p:nvPicPr>
            <p:cNvPr id="4" name="object 4"/>
            <p:cNvPicPr/>
            <p:nvPr/>
          </p:nvPicPr>
          <p:blipFill>
            <a:blip r:embed="rId2" cstate="print"/>
            <a:stretch>
              <a:fillRect/>
            </a:stretch>
          </p:blipFill>
          <p:spPr>
            <a:xfrm>
              <a:off x="12957712" y="7593345"/>
              <a:ext cx="5330286" cy="2692400"/>
            </a:xfrm>
            <a:prstGeom prst="rect">
              <a:avLst/>
            </a:prstGeom>
          </p:spPr>
        </p:pic>
        <p:pic>
          <p:nvPicPr>
            <p:cNvPr id="5" name="object 5"/>
            <p:cNvPicPr/>
            <p:nvPr/>
          </p:nvPicPr>
          <p:blipFill>
            <a:blip r:embed="rId3" cstate="print"/>
            <a:stretch>
              <a:fillRect/>
            </a:stretch>
          </p:blipFill>
          <p:spPr>
            <a:xfrm>
              <a:off x="0" y="0"/>
              <a:ext cx="3553911" cy="2463800"/>
            </a:xfrm>
            <a:prstGeom prst="rect">
              <a:avLst/>
            </a:prstGeom>
          </p:spPr>
        </p:pic>
        <p:pic>
          <p:nvPicPr>
            <p:cNvPr id="6" name="object 6"/>
            <p:cNvPicPr/>
            <p:nvPr/>
          </p:nvPicPr>
          <p:blipFill>
            <a:blip r:embed="rId4">
              <a:extLst>
                <a:ext uri="{28A0092B-C50C-407E-A947-70E740481C1C}">
                  <a14:useLocalDpi xmlns:a14="http://schemas.microsoft.com/office/drawing/2010/main" val="0"/>
                </a:ext>
              </a:extLst>
            </a:blip>
            <a:srcRect/>
            <a:stretch/>
          </p:blipFill>
          <p:spPr>
            <a:xfrm>
              <a:off x="2819400" y="2060073"/>
              <a:ext cx="13182600" cy="7029449"/>
            </a:xfrm>
            <a:prstGeom prst="rect">
              <a:avLst/>
            </a:prstGeom>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96268" y="925750"/>
            <a:ext cx="6285230" cy="787400"/>
          </a:xfrm>
          <a:prstGeom prst="rect">
            <a:avLst/>
          </a:prstGeom>
        </p:spPr>
        <p:txBody>
          <a:bodyPr vert="horz" wrap="square" lIns="0" tIns="12700" rIns="0" bIns="0" rtlCol="0">
            <a:spAutoFit/>
          </a:bodyPr>
          <a:lstStyle/>
          <a:p>
            <a:pPr marL="12700">
              <a:lnSpc>
                <a:spcPct val="100000"/>
              </a:lnSpc>
              <a:spcBef>
                <a:spcPts val="100"/>
              </a:spcBef>
              <a:tabLst>
                <a:tab pos="3949700" algn="l"/>
              </a:tabLst>
            </a:pPr>
            <a:r>
              <a:rPr spc="-65" dirty="0"/>
              <a:t>L</a:t>
            </a:r>
            <a:r>
              <a:rPr spc="595" dirty="0"/>
              <a:t>I</a:t>
            </a:r>
            <a:r>
              <a:rPr spc="-350" dirty="0"/>
              <a:t>T</a:t>
            </a:r>
            <a:r>
              <a:rPr spc="-125" dirty="0"/>
              <a:t>E</a:t>
            </a:r>
            <a:r>
              <a:rPr spc="430" dirty="0"/>
              <a:t>R</a:t>
            </a:r>
            <a:r>
              <a:rPr spc="70" dirty="0"/>
              <a:t>A</a:t>
            </a:r>
            <a:r>
              <a:rPr spc="-350" dirty="0"/>
              <a:t>T</a:t>
            </a:r>
            <a:r>
              <a:rPr spc="35" dirty="0"/>
              <a:t>U</a:t>
            </a:r>
            <a:r>
              <a:rPr spc="430" dirty="0"/>
              <a:t>R</a:t>
            </a:r>
            <a:r>
              <a:rPr spc="-610" dirty="0"/>
              <a:t>E</a:t>
            </a:r>
            <a:r>
              <a:rPr dirty="0"/>
              <a:t>	</a:t>
            </a:r>
            <a:r>
              <a:rPr spc="495" dirty="0"/>
              <a:t>S</a:t>
            </a:r>
            <a:r>
              <a:rPr spc="35" dirty="0"/>
              <a:t>U</a:t>
            </a:r>
            <a:r>
              <a:rPr spc="430" dirty="0"/>
              <a:t>R</a:t>
            </a:r>
            <a:r>
              <a:rPr spc="5" dirty="0"/>
              <a:t>V</a:t>
            </a:r>
            <a:r>
              <a:rPr spc="-125" dirty="0"/>
              <a:t>E</a:t>
            </a:r>
            <a:r>
              <a:rPr spc="-605" dirty="0"/>
              <a:t>Y</a:t>
            </a:r>
          </a:p>
        </p:txBody>
      </p:sp>
      <p:grpSp>
        <p:nvGrpSpPr>
          <p:cNvPr id="3" name="object 3"/>
          <p:cNvGrpSpPr/>
          <p:nvPr/>
        </p:nvGrpSpPr>
        <p:grpSpPr>
          <a:xfrm>
            <a:off x="0" y="0"/>
            <a:ext cx="18287998" cy="10285745"/>
            <a:chOff x="0" y="0"/>
            <a:chExt cx="18287998" cy="10285745"/>
          </a:xfrm>
        </p:grpSpPr>
        <p:pic>
          <p:nvPicPr>
            <p:cNvPr id="4" name="object 4"/>
            <p:cNvPicPr/>
            <p:nvPr/>
          </p:nvPicPr>
          <p:blipFill>
            <a:blip r:embed="rId2" cstate="print"/>
            <a:stretch>
              <a:fillRect/>
            </a:stretch>
          </p:blipFill>
          <p:spPr>
            <a:xfrm>
              <a:off x="12957712" y="7593345"/>
              <a:ext cx="5330286" cy="2692400"/>
            </a:xfrm>
            <a:prstGeom prst="rect">
              <a:avLst/>
            </a:prstGeom>
          </p:spPr>
        </p:pic>
        <p:pic>
          <p:nvPicPr>
            <p:cNvPr id="5" name="object 5"/>
            <p:cNvPicPr/>
            <p:nvPr/>
          </p:nvPicPr>
          <p:blipFill>
            <a:blip r:embed="rId3" cstate="print"/>
            <a:stretch>
              <a:fillRect/>
            </a:stretch>
          </p:blipFill>
          <p:spPr>
            <a:xfrm>
              <a:off x="0" y="0"/>
              <a:ext cx="3553911" cy="2463800"/>
            </a:xfrm>
            <a:prstGeom prst="rect">
              <a:avLst/>
            </a:prstGeom>
          </p:spPr>
        </p:pic>
        <p:pic>
          <p:nvPicPr>
            <p:cNvPr id="6" name="object 6"/>
            <p:cNvPicPr/>
            <p:nvPr/>
          </p:nvPicPr>
          <p:blipFill>
            <a:blip r:embed="rId4">
              <a:extLst>
                <a:ext uri="{28A0092B-C50C-407E-A947-70E740481C1C}">
                  <a14:useLocalDpi xmlns:a14="http://schemas.microsoft.com/office/drawing/2010/main" val="0"/>
                </a:ext>
              </a:extLst>
            </a:blip>
            <a:srcRect/>
            <a:stretch/>
          </p:blipFill>
          <p:spPr>
            <a:xfrm>
              <a:off x="1109900" y="2270323"/>
              <a:ext cx="16459199" cy="6838120"/>
            </a:xfrm>
            <a:prstGeom prst="rect">
              <a:avLst/>
            </a:prstGeom>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a:extLst>
              <a:ext uri="{28A0092B-C50C-407E-A947-70E740481C1C}">
                <a14:useLocalDpi xmlns:a14="http://schemas.microsoft.com/office/drawing/2010/main" val="0"/>
              </a:ext>
            </a:extLst>
          </a:blip>
          <a:srcRect/>
          <a:stretch/>
        </p:blipFill>
        <p:spPr>
          <a:xfrm>
            <a:off x="5257800" y="1398269"/>
            <a:ext cx="7924800" cy="4514849"/>
          </a:xfrm>
          <a:prstGeom prst="rect">
            <a:avLst/>
          </a:prstGeom>
        </p:spPr>
      </p:pic>
      <p:pic>
        <p:nvPicPr>
          <p:cNvPr id="3" name="object 3"/>
          <p:cNvPicPr/>
          <p:nvPr/>
        </p:nvPicPr>
        <p:blipFill>
          <a:blip r:embed="rId3" cstate="print"/>
          <a:stretch>
            <a:fillRect/>
          </a:stretch>
        </p:blipFill>
        <p:spPr>
          <a:xfrm>
            <a:off x="3599955" y="6520839"/>
            <a:ext cx="11944349" cy="3571874"/>
          </a:xfrm>
          <a:prstGeom prst="rect">
            <a:avLst/>
          </a:prstGeom>
        </p:spPr>
      </p:pic>
      <p:sp>
        <p:nvSpPr>
          <p:cNvPr id="4" name="object 4"/>
          <p:cNvSpPr txBox="1">
            <a:spLocks noGrp="1"/>
          </p:cNvSpPr>
          <p:nvPr>
            <p:ph type="title"/>
          </p:nvPr>
        </p:nvSpPr>
        <p:spPr>
          <a:xfrm>
            <a:off x="6777577" y="419734"/>
            <a:ext cx="4916805" cy="482600"/>
          </a:xfrm>
          <a:prstGeom prst="rect">
            <a:avLst/>
          </a:prstGeom>
        </p:spPr>
        <p:txBody>
          <a:bodyPr vert="horz" wrap="square" lIns="0" tIns="12700" rIns="0" bIns="0" rtlCol="0">
            <a:spAutoFit/>
          </a:bodyPr>
          <a:lstStyle/>
          <a:p>
            <a:pPr marL="12700">
              <a:lnSpc>
                <a:spcPct val="100000"/>
              </a:lnSpc>
              <a:spcBef>
                <a:spcPts val="100"/>
              </a:spcBef>
              <a:tabLst>
                <a:tab pos="2145665" algn="l"/>
              </a:tabLst>
            </a:pPr>
            <a:r>
              <a:rPr sz="3000" spc="80" dirty="0"/>
              <a:t>PROPOSED	</a:t>
            </a:r>
            <a:r>
              <a:rPr sz="3000" spc="35" dirty="0"/>
              <a:t>ARCHITECTURE</a:t>
            </a:r>
            <a:endParaRPr sz="3000"/>
          </a:p>
        </p:txBody>
      </p:sp>
      <p:sp>
        <p:nvSpPr>
          <p:cNvPr id="5" name="object 5"/>
          <p:cNvSpPr txBox="1"/>
          <p:nvPr/>
        </p:nvSpPr>
        <p:spPr>
          <a:xfrm>
            <a:off x="6813741" y="6031889"/>
            <a:ext cx="4844415" cy="482600"/>
          </a:xfrm>
          <a:prstGeom prst="rect">
            <a:avLst/>
          </a:prstGeom>
        </p:spPr>
        <p:txBody>
          <a:bodyPr vert="horz" wrap="square" lIns="0" tIns="12700" rIns="0" bIns="0" rtlCol="0">
            <a:spAutoFit/>
          </a:bodyPr>
          <a:lstStyle/>
          <a:p>
            <a:pPr marL="12700">
              <a:lnSpc>
                <a:spcPct val="100000"/>
              </a:lnSpc>
              <a:spcBef>
                <a:spcPts val="100"/>
              </a:spcBef>
              <a:tabLst>
                <a:tab pos="2145665" algn="l"/>
              </a:tabLst>
            </a:pPr>
            <a:r>
              <a:rPr sz="3000" b="1" spc="80" dirty="0">
                <a:solidFill>
                  <a:srgbClr val="231F20"/>
                </a:solidFill>
                <a:latin typeface="Trebuchet MS"/>
                <a:cs typeface="Trebuchet MS"/>
              </a:rPr>
              <a:t>PROPOSED	</a:t>
            </a:r>
            <a:r>
              <a:rPr sz="3000" b="1" spc="-45" dirty="0">
                <a:solidFill>
                  <a:srgbClr val="231F20"/>
                </a:solidFill>
                <a:latin typeface="Trebuchet MS"/>
                <a:cs typeface="Trebuchet MS"/>
              </a:rPr>
              <a:t>METHODOLOGY</a:t>
            </a:r>
            <a:endParaRPr sz="3000">
              <a:latin typeface="Trebuchet MS"/>
              <a:cs typeface="Trebuchet M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a:extLst>
              <a:ext uri="{28A0092B-C50C-407E-A947-70E740481C1C}">
                <a14:useLocalDpi xmlns:a14="http://schemas.microsoft.com/office/drawing/2010/main" val="0"/>
              </a:ext>
            </a:extLst>
          </a:blip>
          <a:srcRect/>
          <a:stretch/>
        </p:blipFill>
        <p:spPr>
          <a:xfrm>
            <a:off x="398079" y="1257300"/>
            <a:ext cx="9382124" cy="6223899"/>
          </a:xfrm>
          <a:prstGeom prst="rect">
            <a:avLst/>
          </a:prstGeom>
        </p:spPr>
      </p:pic>
      <p:pic>
        <p:nvPicPr>
          <p:cNvPr id="3" name="object 3"/>
          <p:cNvPicPr/>
          <p:nvPr/>
        </p:nvPicPr>
        <p:blipFill>
          <a:blip r:embed="rId3">
            <a:extLst>
              <a:ext uri="{28A0092B-C50C-407E-A947-70E740481C1C}">
                <a14:useLocalDpi xmlns:a14="http://schemas.microsoft.com/office/drawing/2010/main" val="0"/>
              </a:ext>
            </a:extLst>
          </a:blip>
          <a:srcRect/>
          <a:stretch/>
        </p:blipFill>
        <p:spPr>
          <a:xfrm>
            <a:off x="2075731" y="7855400"/>
            <a:ext cx="4152748" cy="2152649"/>
          </a:xfrm>
          <a:prstGeom prst="rect">
            <a:avLst/>
          </a:prstGeom>
        </p:spPr>
      </p:pic>
      <p:sp>
        <p:nvSpPr>
          <p:cNvPr id="4" name="object 4"/>
          <p:cNvSpPr txBox="1"/>
          <p:nvPr/>
        </p:nvSpPr>
        <p:spPr>
          <a:xfrm>
            <a:off x="2052985" y="9588"/>
            <a:ext cx="4849495" cy="787400"/>
          </a:xfrm>
          <a:prstGeom prst="rect">
            <a:avLst/>
          </a:prstGeom>
        </p:spPr>
        <p:txBody>
          <a:bodyPr vert="horz" wrap="square" lIns="0" tIns="12700" rIns="0" bIns="0" rtlCol="0">
            <a:spAutoFit/>
          </a:bodyPr>
          <a:lstStyle/>
          <a:p>
            <a:pPr marL="12700">
              <a:lnSpc>
                <a:spcPct val="100000"/>
              </a:lnSpc>
              <a:spcBef>
                <a:spcPts val="100"/>
              </a:spcBef>
              <a:tabLst>
                <a:tab pos="2919730" algn="l"/>
              </a:tabLst>
            </a:pPr>
            <a:r>
              <a:rPr sz="5000" b="1" spc="-375" dirty="0">
                <a:solidFill>
                  <a:srgbClr val="231F20"/>
                </a:solidFill>
                <a:latin typeface="Tahoma"/>
                <a:cs typeface="Tahoma"/>
              </a:rPr>
              <a:t>D</a:t>
            </a:r>
            <a:r>
              <a:rPr sz="5000" b="1" spc="-185" dirty="0">
                <a:solidFill>
                  <a:srgbClr val="231F20"/>
                </a:solidFill>
                <a:latin typeface="Tahoma"/>
                <a:cs typeface="Tahoma"/>
              </a:rPr>
              <a:t>A</a:t>
            </a:r>
            <a:r>
              <a:rPr sz="5000" b="1" spc="-355" dirty="0">
                <a:solidFill>
                  <a:srgbClr val="231F20"/>
                </a:solidFill>
                <a:latin typeface="Tahoma"/>
                <a:cs typeface="Tahoma"/>
              </a:rPr>
              <a:t>T</a:t>
            </a:r>
            <a:r>
              <a:rPr sz="5000" b="1" spc="-185" dirty="0">
                <a:solidFill>
                  <a:srgbClr val="231F20"/>
                </a:solidFill>
                <a:latin typeface="Tahoma"/>
                <a:cs typeface="Tahoma"/>
              </a:rPr>
              <a:t>A</a:t>
            </a:r>
            <a:r>
              <a:rPr sz="5000" b="1" spc="-114" dirty="0">
                <a:solidFill>
                  <a:srgbClr val="231F20"/>
                </a:solidFill>
                <a:latin typeface="Tahoma"/>
                <a:cs typeface="Tahoma"/>
              </a:rPr>
              <a:t>S</a:t>
            </a:r>
            <a:r>
              <a:rPr sz="5000" b="1" spc="-360" dirty="0">
                <a:solidFill>
                  <a:srgbClr val="231F20"/>
                </a:solidFill>
                <a:latin typeface="Tahoma"/>
                <a:cs typeface="Tahoma"/>
              </a:rPr>
              <a:t>E</a:t>
            </a:r>
            <a:r>
              <a:rPr sz="5000" b="1" spc="-840" dirty="0">
                <a:solidFill>
                  <a:srgbClr val="231F20"/>
                </a:solidFill>
                <a:latin typeface="Tahoma"/>
                <a:cs typeface="Tahoma"/>
              </a:rPr>
              <a:t>T</a:t>
            </a:r>
            <a:r>
              <a:rPr sz="5000" b="1" dirty="0">
                <a:solidFill>
                  <a:srgbClr val="231F20"/>
                </a:solidFill>
                <a:latin typeface="Tahoma"/>
                <a:cs typeface="Tahoma"/>
              </a:rPr>
              <a:t>	</a:t>
            </a:r>
            <a:r>
              <a:rPr sz="5000" b="1" spc="-114" dirty="0">
                <a:solidFill>
                  <a:srgbClr val="231F20"/>
                </a:solidFill>
                <a:latin typeface="Tahoma"/>
                <a:cs typeface="Tahoma"/>
              </a:rPr>
              <a:t>S</a:t>
            </a:r>
            <a:r>
              <a:rPr sz="5000" b="1" spc="-355" dirty="0">
                <a:solidFill>
                  <a:srgbClr val="231F20"/>
                </a:solidFill>
                <a:latin typeface="Tahoma"/>
                <a:cs typeface="Tahoma"/>
              </a:rPr>
              <a:t>T</a:t>
            </a:r>
            <a:r>
              <a:rPr sz="5000" b="1" spc="-270" dirty="0">
                <a:solidFill>
                  <a:srgbClr val="231F20"/>
                </a:solidFill>
                <a:latin typeface="Tahoma"/>
                <a:cs typeface="Tahoma"/>
              </a:rPr>
              <a:t>U</a:t>
            </a:r>
            <a:r>
              <a:rPr sz="5000" b="1" spc="-375" dirty="0">
                <a:solidFill>
                  <a:srgbClr val="231F20"/>
                </a:solidFill>
                <a:latin typeface="Tahoma"/>
                <a:cs typeface="Tahoma"/>
              </a:rPr>
              <a:t>D</a:t>
            </a:r>
            <a:r>
              <a:rPr sz="5000" b="1" spc="-890" dirty="0">
                <a:solidFill>
                  <a:srgbClr val="231F20"/>
                </a:solidFill>
                <a:latin typeface="Tahoma"/>
                <a:cs typeface="Tahoma"/>
              </a:rPr>
              <a:t>Y</a:t>
            </a:r>
            <a:endParaRPr sz="5000">
              <a:latin typeface="Tahoma"/>
              <a:cs typeface="Tahoma"/>
            </a:endParaRPr>
          </a:p>
        </p:txBody>
      </p:sp>
      <p:sp>
        <p:nvSpPr>
          <p:cNvPr id="6" name="object 6"/>
          <p:cNvSpPr txBox="1">
            <a:spLocks noGrp="1"/>
          </p:cNvSpPr>
          <p:nvPr>
            <p:ph type="title"/>
          </p:nvPr>
        </p:nvSpPr>
        <p:spPr>
          <a:xfrm>
            <a:off x="18516600" y="1104899"/>
            <a:ext cx="152400" cy="133350"/>
          </a:xfrm>
          <a:prstGeom prst="rect">
            <a:avLst/>
          </a:prstGeom>
        </p:spPr>
        <p:txBody>
          <a:bodyPr vert="horz" wrap="square" lIns="0" tIns="12700" rIns="0" bIns="0" rtlCol="0">
            <a:spAutoFit/>
          </a:bodyPr>
          <a:lstStyle/>
          <a:p>
            <a:pPr marL="12700">
              <a:lnSpc>
                <a:spcPct val="100000"/>
              </a:lnSpc>
              <a:spcBef>
                <a:spcPts val="100"/>
              </a:spcBef>
            </a:pPr>
            <a:endParaRPr sz="3000" dirty="0">
              <a:latin typeface="Verdana"/>
              <a:cs typeface="Verdana"/>
            </a:endParaRPr>
          </a:p>
        </p:txBody>
      </p:sp>
      <p:pic>
        <p:nvPicPr>
          <p:cNvPr id="7" name="object 7"/>
          <p:cNvPicPr/>
          <p:nvPr/>
        </p:nvPicPr>
        <p:blipFill>
          <a:blip r:embed="rId4" cstate="print"/>
          <a:stretch>
            <a:fillRect/>
          </a:stretch>
        </p:blipFill>
        <p:spPr>
          <a:xfrm>
            <a:off x="10289737" y="571500"/>
            <a:ext cx="133349" cy="133349"/>
          </a:xfrm>
          <a:prstGeom prst="rect">
            <a:avLst/>
          </a:prstGeom>
        </p:spPr>
      </p:pic>
      <p:pic>
        <p:nvPicPr>
          <p:cNvPr id="8" name="object 8"/>
          <p:cNvPicPr/>
          <p:nvPr/>
        </p:nvPicPr>
        <p:blipFill>
          <a:blip r:embed="rId4" cstate="print"/>
          <a:stretch>
            <a:fillRect/>
          </a:stretch>
        </p:blipFill>
        <p:spPr>
          <a:xfrm>
            <a:off x="10289737" y="1140581"/>
            <a:ext cx="133349" cy="133349"/>
          </a:xfrm>
          <a:prstGeom prst="rect">
            <a:avLst/>
          </a:prstGeom>
        </p:spPr>
      </p:pic>
      <p:pic>
        <p:nvPicPr>
          <p:cNvPr id="9" name="object 9"/>
          <p:cNvPicPr/>
          <p:nvPr/>
        </p:nvPicPr>
        <p:blipFill>
          <a:blip r:embed="rId4" cstate="print"/>
          <a:stretch>
            <a:fillRect/>
          </a:stretch>
        </p:blipFill>
        <p:spPr>
          <a:xfrm>
            <a:off x="10290182" y="1700850"/>
            <a:ext cx="133349" cy="133349"/>
          </a:xfrm>
          <a:prstGeom prst="rect">
            <a:avLst/>
          </a:prstGeom>
        </p:spPr>
      </p:pic>
      <p:pic>
        <p:nvPicPr>
          <p:cNvPr id="10" name="object 10"/>
          <p:cNvPicPr/>
          <p:nvPr/>
        </p:nvPicPr>
        <p:blipFill>
          <a:blip r:embed="rId4" cstate="print"/>
          <a:stretch>
            <a:fillRect/>
          </a:stretch>
        </p:blipFill>
        <p:spPr>
          <a:xfrm>
            <a:off x="10261321" y="2763525"/>
            <a:ext cx="133349" cy="133349"/>
          </a:xfrm>
          <a:prstGeom prst="rect">
            <a:avLst/>
          </a:prstGeom>
        </p:spPr>
      </p:pic>
      <p:pic>
        <p:nvPicPr>
          <p:cNvPr id="12" name="object 12"/>
          <p:cNvPicPr/>
          <p:nvPr/>
        </p:nvPicPr>
        <p:blipFill>
          <a:blip r:embed="rId4" cstate="print"/>
          <a:stretch>
            <a:fillRect/>
          </a:stretch>
        </p:blipFill>
        <p:spPr>
          <a:xfrm>
            <a:off x="10327060" y="6416157"/>
            <a:ext cx="133349" cy="133349"/>
          </a:xfrm>
          <a:prstGeom prst="rect">
            <a:avLst/>
          </a:prstGeom>
        </p:spPr>
      </p:pic>
      <p:pic>
        <p:nvPicPr>
          <p:cNvPr id="13" name="object 13"/>
          <p:cNvPicPr/>
          <p:nvPr/>
        </p:nvPicPr>
        <p:blipFill>
          <a:blip r:embed="rId4" cstate="print"/>
          <a:stretch>
            <a:fillRect/>
          </a:stretch>
        </p:blipFill>
        <p:spPr>
          <a:xfrm>
            <a:off x="10393734" y="8576763"/>
            <a:ext cx="133349" cy="133348"/>
          </a:xfrm>
          <a:prstGeom prst="rect">
            <a:avLst/>
          </a:prstGeom>
        </p:spPr>
      </p:pic>
      <p:sp>
        <p:nvSpPr>
          <p:cNvPr id="14" name="object 14"/>
          <p:cNvSpPr txBox="1"/>
          <p:nvPr/>
        </p:nvSpPr>
        <p:spPr>
          <a:xfrm>
            <a:off x="10659496" y="283997"/>
            <a:ext cx="6885940" cy="10255628"/>
          </a:xfrm>
          <a:prstGeom prst="rect">
            <a:avLst/>
          </a:prstGeom>
        </p:spPr>
        <p:txBody>
          <a:bodyPr vert="horz" wrap="square" lIns="0" tIns="12065" rIns="0" bIns="0" rtlCol="0">
            <a:spAutoFit/>
          </a:bodyPr>
          <a:lstStyle/>
          <a:p>
            <a:pPr marL="12700" marR="1532255">
              <a:lnSpc>
                <a:spcPct val="116700"/>
              </a:lnSpc>
              <a:spcBef>
                <a:spcPts val="95"/>
              </a:spcBef>
            </a:pPr>
            <a:r>
              <a:rPr sz="3000" spc="-80" dirty="0">
                <a:latin typeface="Verdana"/>
                <a:cs typeface="Verdana"/>
              </a:rPr>
              <a:t>Shape</a:t>
            </a:r>
            <a:r>
              <a:rPr sz="3000" spc="-320" dirty="0">
                <a:latin typeface="Verdana"/>
                <a:cs typeface="Verdana"/>
              </a:rPr>
              <a:t> </a:t>
            </a:r>
            <a:r>
              <a:rPr sz="3000" spc="65" dirty="0">
                <a:latin typeface="Verdana"/>
                <a:cs typeface="Verdana"/>
              </a:rPr>
              <a:t>of</a:t>
            </a:r>
            <a:r>
              <a:rPr sz="3000" spc="-320" dirty="0">
                <a:latin typeface="Verdana"/>
                <a:cs typeface="Verdana"/>
              </a:rPr>
              <a:t> </a:t>
            </a:r>
            <a:r>
              <a:rPr sz="3000" spc="-160" dirty="0">
                <a:latin typeface="Verdana"/>
                <a:cs typeface="Verdana"/>
              </a:rPr>
              <a:t>dataset:(</a:t>
            </a:r>
            <a:r>
              <a:rPr lang="en-US" sz="3200" b="0" i="0" dirty="0">
                <a:solidFill>
                  <a:srgbClr val="000000"/>
                </a:solidFill>
                <a:effectLst/>
                <a:latin typeface="-apple-system"/>
              </a:rPr>
              <a:t> </a:t>
            </a:r>
            <a:r>
              <a:rPr lang="en-US" sz="3200" b="1" i="0" dirty="0">
                <a:solidFill>
                  <a:srgbClr val="000000"/>
                </a:solidFill>
                <a:effectLst/>
                <a:latin typeface="-apple-system"/>
              </a:rPr>
              <a:t>6,51,191</a:t>
            </a:r>
            <a:r>
              <a:rPr sz="3000" spc="-160" dirty="0">
                <a:latin typeface="Verdana"/>
                <a:cs typeface="Verdana"/>
              </a:rPr>
              <a:t>)  </a:t>
            </a:r>
            <a:r>
              <a:rPr sz="3000" spc="35" dirty="0">
                <a:latin typeface="Verdana"/>
                <a:cs typeface="Verdana"/>
              </a:rPr>
              <a:t>No</a:t>
            </a:r>
            <a:r>
              <a:rPr sz="3000" spc="-320" dirty="0">
                <a:latin typeface="Verdana"/>
                <a:cs typeface="Verdana"/>
              </a:rPr>
              <a:t> </a:t>
            </a:r>
            <a:r>
              <a:rPr sz="3000" spc="-90" dirty="0">
                <a:latin typeface="Verdana"/>
                <a:cs typeface="Verdana"/>
              </a:rPr>
              <a:t>missing</a:t>
            </a:r>
            <a:r>
              <a:rPr sz="3000" spc="-320" dirty="0">
                <a:latin typeface="Verdana"/>
                <a:cs typeface="Verdana"/>
              </a:rPr>
              <a:t> </a:t>
            </a:r>
            <a:r>
              <a:rPr sz="3000" spc="-60" dirty="0">
                <a:latin typeface="Verdana"/>
                <a:cs typeface="Verdana"/>
              </a:rPr>
              <a:t>values</a:t>
            </a:r>
            <a:endParaRPr sz="3000" dirty="0">
              <a:latin typeface="Verdana"/>
              <a:cs typeface="Verdana"/>
            </a:endParaRPr>
          </a:p>
          <a:p>
            <a:pPr marL="12700" marR="457200">
              <a:lnSpc>
                <a:spcPts val="4200"/>
              </a:lnSpc>
              <a:spcBef>
                <a:spcPts val="240"/>
              </a:spcBef>
            </a:pPr>
            <a:r>
              <a:rPr sz="3000" spc="-65" dirty="0">
                <a:latin typeface="Verdana"/>
                <a:cs typeface="Verdana"/>
              </a:rPr>
              <a:t>Have</a:t>
            </a:r>
            <a:r>
              <a:rPr sz="3000" spc="-320" dirty="0">
                <a:latin typeface="Verdana"/>
                <a:cs typeface="Verdana"/>
              </a:rPr>
              <a:t> </a:t>
            </a:r>
            <a:r>
              <a:rPr sz="3000" spc="-35" dirty="0">
                <a:latin typeface="Verdana"/>
                <a:cs typeface="Verdana"/>
              </a:rPr>
              <a:t>implemented</a:t>
            </a:r>
            <a:r>
              <a:rPr sz="3000" spc="-320" dirty="0">
                <a:latin typeface="Verdana"/>
                <a:cs typeface="Verdana"/>
              </a:rPr>
              <a:t> </a:t>
            </a:r>
            <a:r>
              <a:rPr sz="3000" spc="35" dirty="0">
                <a:latin typeface="Verdana"/>
                <a:cs typeface="Verdana"/>
              </a:rPr>
              <a:t>PCA</a:t>
            </a:r>
            <a:r>
              <a:rPr sz="3000" spc="-320" dirty="0">
                <a:latin typeface="Verdana"/>
                <a:cs typeface="Verdana"/>
              </a:rPr>
              <a:t> </a:t>
            </a:r>
            <a:r>
              <a:rPr sz="3000" spc="-5" dirty="0">
                <a:latin typeface="Verdana"/>
                <a:cs typeface="Verdana"/>
              </a:rPr>
              <a:t>no</a:t>
            </a:r>
            <a:r>
              <a:rPr sz="3000" spc="-320" dirty="0">
                <a:latin typeface="Verdana"/>
                <a:cs typeface="Verdana"/>
              </a:rPr>
              <a:t> </a:t>
            </a:r>
            <a:r>
              <a:rPr sz="3000" spc="-30" dirty="0">
                <a:latin typeface="Verdana"/>
                <a:cs typeface="Verdana"/>
              </a:rPr>
              <a:t>need</a:t>
            </a:r>
            <a:r>
              <a:rPr sz="3000" spc="-320" dirty="0">
                <a:latin typeface="Verdana"/>
                <a:cs typeface="Verdana"/>
              </a:rPr>
              <a:t> </a:t>
            </a:r>
            <a:r>
              <a:rPr sz="3000" spc="30" dirty="0">
                <a:latin typeface="Verdana"/>
                <a:cs typeface="Verdana"/>
              </a:rPr>
              <a:t>to  </a:t>
            </a:r>
            <a:r>
              <a:rPr sz="3000" spc="-40" dirty="0">
                <a:latin typeface="Verdana"/>
                <a:cs typeface="Verdana"/>
              </a:rPr>
              <a:t>implement</a:t>
            </a:r>
            <a:r>
              <a:rPr sz="3000" spc="-320" dirty="0">
                <a:latin typeface="Verdana"/>
                <a:cs typeface="Verdana"/>
              </a:rPr>
              <a:t> </a:t>
            </a:r>
            <a:r>
              <a:rPr sz="3000" spc="-15" dirty="0">
                <a:latin typeface="Verdana"/>
                <a:cs typeface="Verdana"/>
              </a:rPr>
              <a:t>outliers</a:t>
            </a:r>
            <a:r>
              <a:rPr sz="3000" spc="-320" dirty="0">
                <a:latin typeface="Verdana"/>
                <a:cs typeface="Verdana"/>
              </a:rPr>
              <a:t> </a:t>
            </a:r>
            <a:r>
              <a:rPr sz="3000" spc="-40" dirty="0">
                <a:latin typeface="Verdana"/>
                <a:cs typeface="Verdana"/>
              </a:rPr>
              <a:t>treatment</a:t>
            </a:r>
            <a:endParaRPr sz="3000" dirty="0">
              <a:latin typeface="Verdana"/>
              <a:cs typeface="Verdana"/>
            </a:endParaRPr>
          </a:p>
          <a:p>
            <a:pPr marL="12700" marR="598170">
              <a:lnSpc>
                <a:spcPts val="4200"/>
              </a:lnSpc>
            </a:pPr>
            <a:r>
              <a:rPr lang="en-US" sz="3000" spc="-30" dirty="0" err="1">
                <a:latin typeface="Verdana"/>
                <a:cs typeface="Verdana"/>
              </a:rPr>
              <a:t>Maleware</a:t>
            </a:r>
            <a:r>
              <a:rPr sz="3000" spc="-320" dirty="0">
                <a:latin typeface="Verdana"/>
                <a:cs typeface="Verdana"/>
              </a:rPr>
              <a:t> </a:t>
            </a:r>
            <a:r>
              <a:rPr lang="en-US" sz="3000" spc="-25" dirty="0" err="1">
                <a:latin typeface="Verdana"/>
                <a:cs typeface="Verdana"/>
              </a:rPr>
              <a:t>urls</a:t>
            </a:r>
            <a:r>
              <a:rPr sz="3000" spc="-320" dirty="0">
                <a:latin typeface="Verdana"/>
                <a:cs typeface="Verdana"/>
              </a:rPr>
              <a:t> </a:t>
            </a:r>
            <a:r>
              <a:rPr sz="3000" spc="-70" dirty="0">
                <a:latin typeface="Verdana"/>
                <a:cs typeface="Verdana"/>
              </a:rPr>
              <a:t>are  </a:t>
            </a:r>
            <a:r>
              <a:rPr sz="3000" dirty="0">
                <a:latin typeface="Verdana"/>
                <a:cs typeface="Verdana"/>
              </a:rPr>
              <a:t>concentrated</a:t>
            </a:r>
            <a:r>
              <a:rPr sz="3000" spc="-320" dirty="0">
                <a:latin typeface="Verdana"/>
                <a:cs typeface="Verdana"/>
              </a:rPr>
              <a:t> </a:t>
            </a:r>
            <a:r>
              <a:rPr sz="3000" spc="-30" dirty="0">
                <a:latin typeface="Verdana"/>
                <a:cs typeface="Verdana"/>
              </a:rPr>
              <a:t>in</a:t>
            </a:r>
            <a:r>
              <a:rPr sz="3000" spc="-320" dirty="0">
                <a:latin typeface="Verdana"/>
                <a:cs typeface="Verdana"/>
              </a:rPr>
              <a:t> </a:t>
            </a:r>
            <a:r>
              <a:rPr sz="3000" spc="-20" dirty="0">
                <a:latin typeface="Verdana"/>
                <a:cs typeface="Verdana"/>
              </a:rPr>
              <a:t>the</a:t>
            </a:r>
            <a:r>
              <a:rPr sz="3000" spc="-320" dirty="0">
                <a:latin typeface="Verdana"/>
                <a:cs typeface="Verdana"/>
              </a:rPr>
              <a:t> </a:t>
            </a:r>
            <a:r>
              <a:rPr sz="3000" spc="-25" dirty="0">
                <a:latin typeface="Verdana"/>
                <a:cs typeface="Verdana"/>
              </a:rPr>
              <a:t>lower</a:t>
            </a:r>
            <a:r>
              <a:rPr sz="3000" spc="-320" dirty="0">
                <a:latin typeface="Verdana"/>
                <a:cs typeface="Verdana"/>
              </a:rPr>
              <a:t> </a:t>
            </a:r>
            <a:r>
              <a:rPr sz="3000" spc="-50" dirty="0">
                <a:latin typeface="Verdana"/>
                <a:cs typeface="Verdana"/>
              </a:rPr>
              <a:t>amount  </a:t>
            </a:r>
            <a:r>
              <a:rPr sz="3000" spc="-130" dirty="0">
                <a:latin typeface="Verdana"/>
                <a:cs typeface="Verdana"/>
              </a:rPr>
              <a:t>range,</a:t>
            </a:r>
            <a:r>
              <a:rPr sz="3000" spc="-320" dirty="0">
                <a:latin typeface="Verdana"/>
                <a:cs typeface="Verdana"/>
              </a:rPr>
              <a:t> </a:t>
            </a:r>
            <a:r>
              <a:rPr sz="3000" spc="-35" dirty="0">
                <a:latin typeface="Verdana"/>
                <a:cs typeface="Verdana"/>
              </a:rPr>
              <a:t>while</a:t>
            </a:r>
            <a:r>
              <a:rPr sz="3000" spc="-320" dirty="0">
                <a:latin typeface="Verdana"/>
                <a:cs typeface="Verdana"/>
              </a:rPr>
              <a:t> </a:t>
            </a:r>
            <a:r>
              <a:rPr lang="en-US" sz="3000" spc="-30" dirty="0">
                <a:latin typeface="Verdana"/>
                <a:cs typeface="Verdana"/>
              </a:rPr>
              <a:t>benign</a:t>
            </a:r>
            <a:r>
              <a:rPr lang="en-US" sz="3000" dirty="0">
                <a:latin typeface="Verdana"/>
                <a:cs typeface="Verdana"/>
              </a:rPr>
              <a:t> </a:t>
            </a:r>
            <a:r>
              <a:rPr lang="en-US" sz="3000" dirty="0" err="1">
                <a:latin typeface="Verdana"/>
                <a:cs typeface="Verdana"/>
              </a:rPr>
              <a:t>urls</a:t>
            </a:r>
            <a:r>
              <a:rPr lang="en-US" sz="3000" dirty="0">
                <a:latin typeface="Verdana"/>
                <a:cs typeface="Verdana"/>
              </a:rPr>
              <a:t> </a:t>
            </a:r>
            <a:r>
              <a:rPr sz="3000" spc="-80" dirty="0">
                <a:latin typeface="Verdana"/>
                <a:cs typeface="Verdana"/>
              </a:rPr>
              <a:t>are</a:t>
            </a:r>
            <a:r>
              <a:rPr sz="3000" spc="-320" dirty="0">
                <a:latin typeface="Verdana"/>
                <a:cs typeface="Verdana"/>
              </a:rPr>
              <a:t> </a:t>
            </a:r>
            <a:r>
              <a:rPr sz="3000" spc="-30" dirty="0">
                <a:latin typeface="Verdana"/>
                <a:cs typeface="Verdana"/>
              </a:rPr>
              <a:t>spread</a:t>
            </a:r>
            <a:r>
              <a:rPr sz="3000" spc="-320" dirty="0">
                <a:latin typeface="Verdana"/>
                <a:cs typeface="Verdana"/>
              </a:rPr>
              <a:t> </a:t>
            </a:r>
            <a:r>
              <a:rPr sz="3000" spc="-30" dirty="0">
                <a:latin typeface="Verdana"/>
                <a:cs typeface="Verdana"/>
              </a:rPr>
              <a:t>across</a:t>
            </a:r>
            <a:r>
              <a:rPr sz="3000" spc="-320" dirty="0">
                <a:latin typeface="Verdana"/>
                <a:cs typeface="Verdana"/>
              </a:rPr>
              <a:t> </a:t>
            </a:r>
            <a:r>
              <a:rPr sz="3000" spc="-80" dirty="0">
                <a:latin typeface="Verdana"/>
                <a:cs typeface="Verdana"/>
              </a:rPr>
              <a:t>high</a:t>
            </a:r>
            <a:r>
              <a:rPr sz="3000" spc="-320" dirty="0">
                <a:latin typeface="Verdana"/>
                <a:cs typeface="Verdana"/>
              </a:rPr>
              <a:t> </a:t>
            </a:r>
            <a:r>
              <a:rPr sz="3000" spc="-90" dirty="0">
                <a:latin typeface="Verdana"/>
                <a:cs typeface="Verdana"/>
              </a:rPr>
              <a:t>amounts.</a:t>
            </a:r>
            <a:endParaRPr sz="3000" dirty="0">
              <a:latin typeface="Verdana"/>
              <a:cs typeface="Verdana"/>
            </a:endParaRPr>
          </a:p>
          <a:p>
            <a:pPr marL="12700" marR="88265">
              <a:lnSpc>
                <a:spcPts val="4200"/>
              </a:lnSpc>
            </a:pPr>
            <a:r>
              <a:rPr sz="3000" spc="-20" dirty="0">
                <a:latin typeface="Verdana"/>
                <a:cs typeface="Verdana"/>
              </a:rPr>
              <a:t>Only</a:t>
            </a:r>
            <a:r>
              <a:rPr sz="3000" spc="-320" dirty="0">
                <a:latin typeface="Verdana"/>
                <a:cs typeface="Verdana"/>
              </a:rPr>
              <a:t> </a:t>
            </a:r>
            <a:r>
              <a:rPr sz="3000" spc="-20" dirty="0">
                <a:latin typeface="Verdana"/>
                <a:cs typeface="Verdana"/>
              </a:rPr>
              <a:t>the</a:t>
            </a:r>
            <a:r>
              <a:rPr sz="3000" spc="-320" dirty="0">
                <a:latin typeface="Verdana"/>
                <a:cs typeface="Verdana"/>
              </a:rPr>
              <a:t> </a:t>
            </a:r>
            <a:r>
              <a:rPr sz="3000" spc="-40" dirty="0">
                <a:latin typeface="Verdana"/>
                <a:cs typeface="Verdana"/>
              </a:rPr>
              <a:t>Amount</a:t>
            </a:r>
            <a:r>
              <a:rPr sz="3000" spc="-320" dirty="0">
                <a:latin typeface="Verdana"/>
                <a:cs typeface="Verdana"/>
              </a:rPr>
              <a:t> </a:t>
            </a:r>
            <a:r>
              <a:rPr sz="3000" spc="-15" dirty="0">
                <a:latin typeface="Verdana"/>
                <a:cs typeface="Verdana"/>
              </a:rPr>
              <a:t>column</a:t>
            </a:r>
            <a:r>
              <a:rPr sz="3000" spc="-320" dirty="0">
                <a:latin typeface="Verdana"/>
                <a:cs typeface="Verdana"/>
              </a:rPr>
              <a:t> </a:t>
            </a:r>
            <a:r>
              <a:rPr sz="3000" spc="-100" dirty="0">
                <a:latin typeface="Verdana"/>
                <a:cs typeface="Verdana"/>
              </a:rPr>
              <a:t>was</a:t>
            </a:r>
            <a:r>
              <a:rPr sz="3000" spc="-320" dirty="0">
                <a:latin typeface="Verdana"/>
                <a:cs typeface="Verdana"/>
              </a:rPr>
              <a:t> </a:t>
            </a:r>
            <a:r>
              <a:rPr sz="3000" spc="-50" dirty="0">
                <a:latin typeface="Verdana"/>
                <a:cs typeface="Verdana"/>
              </a:rPr>
              <a:t>scaled,  </a:t>
            </a:r>
            <a:r>
              <a:rPr sz="3000" spc="-100" dirty="0">
                <a:latin typeface="Verdana"/>
                <a:cs typeface="Verdana"/>
              </a:rPr>
              <a:t>as</a:t>
            </a:r>
            <a:r>
              <a:rPr sz="3000" spc="-320" dirty="0">
                <a:latin typeface="Verdana"/>
                <a:cs typeface="Verdana"/>
              </a:rPr>
              <a:t> </a:t>
            </a:r>
            <a:r>
              <a:rPr sz="3000" spc="-20" dirty="0">
                <a:latin typeface="Verdana"/>
                <a:cs typeface="Verdana"/>
              </a:rPr>
              <a:t>the</a:t>
            </a:r>
            <a:r>
              <a:rPr sz="3000" spc="-320" dirty="0">
                <a:latin typeface="Verdana"/>
                <a:cs typeface="Verdana"/>
              </a:rPr>
              <a:t> </a:t>
            </a:r>
            <a:r>
              <a:rPr sz="3000" spc="-15" dirty="0">
                <a:latin typeface="Verdana"/>
                <a:cs typeface="Verdana"/>
              </a:rPr>
              <a:t>other</a:t>
            </a:r>
            <a:r>
              <a:rPr sz="3000" spc="-320" dirty="0">
                <a:latin typeface="Verdana"/>
                <a:cs typeface="Verdana"/>
              </a:rPr>
              <a:t> </a:t>
            </a:r>
            <a:r>
              <a:rPr sz="3000" spc="-35" dirty="0">
                <a:latin typeface="Verdana"/>
                <a:cs typeface="Verdana"/>
              </a:rPr>
              <a:t>features</a:t>
            </a:r>
            <a:r>
              <a:rPr sz="3000" spc="-320" dirty="0">
                <a:latin typeface="Verdana"/>
                <a:cs typeface="Verdana"/>
              </a:rPr>
              <a:t> </a:t>
            </a:r>
            <a:r>
              <a:rPr sz="3000" spc="-80" dirty="0">
                <a:latin typeface="Verdana"/>
                <a:cs typeface="Verdana"/>
              </a:rPr>
              <a:t>are</a:t>
            </a:r>
            <a:r>
              <a:rPr sz="3000" spc="-320" dirty="0">
                <a:latin typeface="Verdana"/>
                <a:cs typeface="Verdana"/>
              </a:rPr>
              <a:t> </a:t>
            </a:r>
            <a:r>
              <a:rPr sz="3000" spc="30" dirty="0">
                <a:latin typeface="Verdana"/>
                <a:cs typeface="Verdana"/>
              </a:rPr>
              <a:t>PCA  </a:t>
            </a:r>
            <a:r>
              <a:rPr sz="3000" spc="-30" dirty="0">
                <a:latin typeface="Verdana"/>
                <a:cs typeface="Verdana"/>
              </a:rPr>
              <a:t>transformed</a:t>
            </a:r>
            <a:endParaRPr sz="3000" dirty="0">
              <a:latin typeface="Verdana"/>
              <a:cs typeface="Verdana"/>
            </a:endParaRPr>
          </a:p>
          <a:p>
            <a:pPr marL="12700" marR="5080">
              <a:lnSpc>
                <a:spcPts val="4200"/>
              </a:lnSpc>
            </a:pPr>
            <a:r>
              <a:rPr sz="3000" spc="-60" dirty="0">
                <a:latin typeface="Verdana"/>
                <a:cs typeface="Verdana"/>
              </a:rPr>
              <a:t>Oversampling</a:t>
            </a:r>
            <a:r>
              <a:rPr sz="3000" spc="-320" dirty="0">
                <a:latin typeface="Verdana"/>
                <a:cs typeface="Verdana"/>
              </a:rPr>
              <a:t> </a:t>
            </a:r>
            <a:r>
              <a:rPr sz="3000" spc="-20" dirty="0">
                <a:latin typeface="Verdana"/>
                <a:cs typeface="Verdana"/>
              </a:rPr>
              <a:t>the</a:t>
            </a:r>
            <a:r>
              <a:rPr sz="3000" spc="-320" dirty="0">
                <a:latin typeface="Verdana"/>
                <a:cs typeface="Verdana"/>
              </a:rPr>
              <a:t> </a:t>
            </a:r>
            <a:r>
              <a:rPr sz="3000" spc="-35" dirty="0">
                <a:latin typeface="Verdana"/>
                <a:cs typeface="Verdana"/>
              </a:rPr>
              <a:t>minority</a:t>
            </a:r>
            <a:r>
              <a:rPr sz="3000" spc="-320" dirty="0">
                <a:latin typeface="Verdana"/>
                <a:cs typeface="Verdana"/>
              </a:rPr>
              <a:t> </a:t>
            </a:r>
            <a:r>
              <a:rPr sz="3000" spc="-25" dirty="0">
                <a:latin typeface="Verdana"/>
                <a:cs typeface="Verdana"/>
              </a:rPr>
              <a:t>class</a:t>
            </a:r>
            <a:r>
              <a:rPr sz="3000" spc="-320" dirty="0">
                <a:latin typeface="Verdana"/>
                <a:cs typeface="Verdana"/>
              </a:rPr>
              <a:t> </a:t>
            </a:r>
            <a:r>
              <a:rPr sz="3000" spc="-250" dirty="0">
                <a:latin typeface="Verdana"/>
                <a:cs typeface="Verdana"/>
              </a:rPr>
              <a:t>(e.g.,  </a:t>
            </a:r>
            <a:r>
              <a:rPr sz="3000" spc="-50" dirty="0">
                <a:latin typeface="Verdana"/>
                <a:cs typeface="Verdana"/>
              </a:rPr>
              <a:t>SMOTE</a:t>
            </a:r>
            <a:r>
              <a:rPr sz="3000" spc="-320" dirty="0">
                <a:latin typeface="Verdana"/>
                <a:cs typeface="Verdana"/>
              </a:rPr>
              <a:t> </a:t>
            </a:r>
            <a:r>
              <a:rPr sz="3000" spc="-229" dirty="0">
                <a:latin typeface="Verdana"/>
                <a:cs typeface="Verdana"/>
              </a:rPr>
              <a:t>-</a:t>
            </a:r>
            <a:r>
              <a:rPr sz="3000" spc="-320" dirty="0">
                <a:latin typeface="Verdana"/>
                <a:cs typeface="Verdana"/>
              </a:rPr>
              <a:t> </a:t>
            </a:r>
            <a:r>
              <a:rPr sz="3000" spc="-30" dirty="0">
                <a:latin typeface="Verdana"/>
                <a:cs typeface="Verdana"/>
              </a:rPr>
              <a:t>Synthetic</a:t>
            </a:r>
            <a:r>
              <a:rPr sz="3000" spc="-320" dirty="0">
                <a:latin typeface="Verdana"/>
                <a:cs typeface="Verdana"/>
              </a:rPr>
              <a:t> </a:t>
            </a:r>
            <a:r>
              <a:rPr sz="3000" spc="5" dirty="0">
                <a:latin typeface="Verdana"/>
                <a:cs typeface="Verdana"/>
              </a:rPr>
              <a:t>Minority</a:t>
            </a:r>
            <a:r>
              <a:rPr sz="3000" spc="-320" dirty="0">
                <a:latin typeface="Verdana"/>
                <a:cs typeface="Verdana"/>
              </a:rPr>
              <a:t> </a:t>
            </a:r>
            <a:r>
              <a:rPr sz="3000" spc="-80" dirty="0">
                <a:latin typeface="Verdana"/>
                <a:cs typeface="Verdana"/>
              </a:rPr>
              <a:t>Over-</a:t>
            </a:r>
            <a:endParaRPr sz="3000" dirty="0">
              <a:latin typeface="Verdana"/>
              <a:cs typeface="Verdana"/>
            </a:endParaRPr>
          </a:p>
          <a:p>
            <a:pPr marL="12700" marR="823594">
              <a:lnSpc>
                <a:spcPts val="4200"/>
              </a:lnSpc>
            </a:pPr>
            <a:r>
              <a:rPr sz="3000" spc="-70" dirty="0">
                <a:latin typeface="Verdana"/>
                <a:cs typeface="Verdana"/>
              </a:rPr>
              <a:t>sampling</a:t>
            </a:r>
            <a:r>
              <a:rPr sz="3000" spc="-320" dirty="0">
                <a:latin typeface="Verdana"/>
                <a:cs typeface="Verdana"/>
              </a:rPr>
              <a:t> </a:t>
            </a:r>
            <a:r>
              <a:rPr sz="3000" spc="-65" dirty="0">
                <a:latin typeface="Verdana"/>
                <a:cs typeface="Verdana"/>
              </a:rPr>
              <a:t>Technique)</a:t>
            </a:r>
            <a:r>
              <a:rPr sz="3000" spc="-320" dirty="0">
                <a:latin typeface="Verdana"/>
                <a:cs typeface="Verdana"/>
              </a:rPr>
              <a:t> </a:t>
            </a:r>
            <a:r>
              <a:rPr sz="3000" spc="-40" dirty="0">
                <a:latin typeface="Verdana"/>
                <a:cs typeface="Verdana"/>
              </a:rPr>
              <a:t>needs</a:t>
            </a:r>
            <a:r>
              <a:rPr sz="3000" spc="-320" dirty="0">
                <a:latin typeface="Verdana"/>
                <a:cs typeface="Verdana"/>
              </a:rPr>
              <a:t> </a:t>
            </a:r>
            <a:r>
              <a:rPr sz="3000" spc="40" dirty="0">
                <a:latin typeface="Verdana"/>
                <a:cs typeface="Verdana"/>
              </a:rPr>
              <a:t>to</a:t>
            </a:r>
            <a:r>
              <a:rPr sz="3000" spc="-320" dirty="0">
                <a:latin typeface="Verdana"/>
                <a:cs typeface="Verdana"/>
              </a:rPr>
              <a:t> </a:t>
            </a:r>
            <a:r>
              <a:rPr sz="3000" spc="-5" dirty="0">
                <a:latin typeface="Verdana"/>
                <a:cs typeface="Verdana"/>
              </a:rPr>
              <a:t>be </a:t>
            </a:r>
            <a:r>
              <a:rPr sz="3000" spc="-1040" dirty="0">
                <a:latin typeface="Verdana"/>
                <a:cs typeface="Verdana"/>
              </a:rPr>
              <a:t> </a:t>
            </a:r>
            <a:r>
              <a:rPr sz="3000" dirty="0">
                <a:latin typeface="Verdana"/>
                <a:cs typeface="Verdana"/>
              </a:rPr>
              <a:t>applied</a:t>
            </a:r>
            <a:endParaRPr lang="en-US" sz="3000" dirty="0">
              <a:latin typeface="Verdana"/>
              <a:cs typeface="Verdana"/>
            </a:endParaRPr>
          </a:p>
          <a:p>
            <a:pPr marL="12700" marR="823594">
              <a:lnSpc>
                <a:spcPts val="4200"/>
              </a:lnSpc>
            </a:pPr>
            <a:r>
              <a:rPr lang="en-US" sz="3000" dirty="0">
                <a:latin typeface="Verdana"/>
                <a:cs typeface="Verdana"/>
              </a:rPr>
              <a:t>Dataset:</a:t>
            </a:r>
          </a:p>
          <a:p>
            <a:pPr marL="12700" marR="823594">
              <a:lnSpc>
                <a:spcPts val="4200"/>
              </a:lnSpc>
            </a:pPr>
            <a:r>
              <a:rPr lang="en-US" sz="3000" dirty="0">
                <a:latin typeface="Verdana"/>
                <a:cs typeface="Verdana"/>
              </a:rPr>
              <a:t>https://www.kaggle.com/datasets/sid321axn/malicious-urls-dataset</a:t>
            </a:r>
            <a:endParaRPr sz="3000" dirty="0">
              <a:latin typeface="Verdana"/>
              <a:cs typeface="Verdan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202723" y="267702"/>
            <a:ext cx="4066540" cy="787400"/>
          </a:xfrm>
          <a:prstGeom prst="rect">
            <a:avLst/>
          </a:prstGeom>
        </p:spPr>
        <p:txBody>
          <a:bodyPr vert="horz" wrap="square" lIns="0" tIns="12700" rIns="0" bIns="0" rtlCol="0">
            <a:spAutoFit/>
          </a:bodyPr>
          <a:lstStyle/>
          <a:p>
            <a:pPr marL="12700">
              <a:lnSpc>
                <a:spcPct val="100000"/>
              </a:lnSpc>
              <a:spcBef>
                <a:spcPts val="100"/>
              </a:spcBef>
            </a:pPr>
            <a:r>
              <a:rPr spc="-409" dirty="0">
                <a:latin typeface="Tahoma"/>
                <a:cs typeface="Tahoma"/>
              </a:rPr>
              <a:t>METHODLOGY</a:t>
            </a:r>
          </a:p>
        </p:txBody>
      </p:sp>
      <p:sp>
        <p:nvSpPr>
          <p:cNvPr id="12" name="object 12"/>
          <p:cNvSpPr txBox="1"/>
          <p:nvPr/>
        </p:nvSpPr>
        <p:spPr>
          <a:xfrm>
            <a:off x="1143000" y="1485900"/>
            <a:ext cx="13990955" cy="7879080"/>
          </a:xfrm>
          <a:prstGeom prst="rect">
            <a:avLst/>
          </a:prstGeom>
        </p:spPr>
        <p:txBody>
          <a:bodyPr vert="horz" wrap="square" lIns="0" tIns="12700" rIns="0" bIns="0" rtlCol="0">
            <a:spAutoFit/>
          </a:bodyPr>
          <a:lstStyle/>
          <a:p>
            <a:pPr marL="544830" indent="-457200">
              <a:lnSpc>
                <a:spcPct val="100000"/>
              </a:lnSpc>
              <a:spcBef>
                <a:spcPts val="100"/>
              </a:spcBef>
              <a:buFont typeface="Arial" panose="020B0604020202020204" pitchFamily="34" charset="0"/>
              <a:buChar char="•"/>
            </a:pPr>
            <a:r>
              <a:rPr sz="3000" b="1" spc="-40" dirty="0">
                <a:latin typeface="Tahoma"/>
                <a:cs typeface="Tahoma"/>
              </a:rPr>
              <a:t>Data</a:t>
            </a:r>
            <a:r>
              <a:rPr sz="3000" b="1" spc="-175" dirty="0">
                <a:latin typeface="Tahoma"/>
                <a:cs typeface="Tahoma"/>
              </a:rPr>
              <a:t> </a:t>
            </a:r>
            <a:r>
              <a:rPr sz="3000" b="1" spc="-30" dirty="0">
                <a:latin typeface="Tahoma"/>
                <a:cs typeface="Tahoma"/>
              </a:rPr>
              <a:t>Preprocessing</a:t>
            </a:r>
            <a:r>
              <a:rPr lang="en-US" sz="3000" b="1" spc="-30" dirty="0">
                <a:latin typeface="Tahoma"/>
                <a:cs typeface="Tahoma"/>
              </a:rPr>
              <a:t>:</a:t>
            </a:r>
          </a:p>
          <a:p>
            <a:pPr marL="601980" indent="-514350">
              <a:lnSpc>
                <a:spcPct val="100000"/>
              </a:lnSpc>
              <a:spcBef>
                <a:spcPts val="100"/>
              </a:spcBef>
              <a:buFont typeface="+mj-lt"/>
              <a:buAutoNum type="arabicPeriod"/>
            </a:pPr>
            <a:r>
              <a:rPr lang="en-US" sz="3200" dirty="0"/>
              <a:t>Cleanse data: Handle missing values, outliers, inconsistencies.</a:t>
            </a:r>
            <a:endParaRPr lang="en-US" sz="3000" b="1" spc="-30" dirty="0">
              <a:latin typeface="Tahoma"/>
              <a:cs typeface="Tahoma"/>
            </a:endParaRPr>
          </a:p>
          <a:p>
            <a:pPr marL="601980" indent="-514350">
              <a:lnSpc>
                <a:spcPct val="100000"/>
              </a:lnSpc>
              <a:spcBef>
                <a:spcPts val="100"/>
              </a:spcBef>
              <a:buFont typeface="+mj-lt"/>
              <a:buAutoNum type="arabicPeriod"/>
            </a:pPr>
            <a:r>
              <a:rPr lang="en-US" sz="3200" dirty="0"/>
              <a:t>Extract features: Extract meaningful patterns (e.g., length of </a:t>
            </a:r>
            <a:r>
              <a:rPr lang="en-US" sz="3200" dirty="0" err="1"/>
              <a:t>url</a:t>
            </a:r>
            <a:r>
              <a:rPr lang="en-US" sz="3200" dirty="0"/>
              <a:t>). </a:t>
            </a:r>
          </a:p>
          <a:p>
            <a:pPr marL="601980" indent="-514350">
              <a:lnSpc>
                <a:spcPct val="100000"/>
              </a:lnSpc>
              <a:spcBef>
                <a:spcPts val="100"/>
              </a:spcBef>
              <a:buFont typeface="+mj-lt"/>
              <a:buAutoNum type="arabicPeriod"/>
            </a:pPr>
            <a:r>
              <a:rPr lang="en-US" sz="3200" dirty="0">
                <a:latin typeface="Tahoma"/>
                <a:cs typeface="Tahoma"/>
              </a:rPr>
              <a:t>Normalize </a:t>
            </a:r>
            <a:r>
              <a:rPr lang="en-US" sz="3200" dirty="0"/>
              <a:t>data: Scale features for consistent range.</a:t>
            </a:r>
          </a:p>
          <a:p>
            <a:pPr marL="87630">
              <a:lnSpc>
                <a:spcPct val="100000"/>
              </a:lnSpc>
              <a:spcBef>
                <a:spcPts val="100"/>
              </a:spcBef>
            </a:pPr>
            <a:endParaRPr lang="en-US" sz="3200" dirty="0">
              <a:latin typeface="Tahoma"/>
              <a:cs typeface="Tahoma"/>
            </a:endParaRPr>
          </a:p>
          <a:p>
            <a:pPr marL="544830" indent="-457200">
              <a:spcBef>
                <a:spcPts val="100"/>
              </a:spcBef>
              <a:buFont typeface="Arial" panose="020B0604020202020204" pitchFamily="34" charset="0"/>
              <a:buChar char="•"/>
            </a:pPr>
            <a:r>
              <a:rPr lang="en-US" sz="2800" b="1" dirty="0">
                <a:latin typeface="Verdana" panose="020B0604030504040204" pitchFamily="34" charset="0"/>
                <a:ea typeface="Verdana" panose="020B0604030504040204" pitchFamily="34" charset="0"/>
              </a:rPr>
              <a:t>Data Distribution Analysis</a:t>
            </a:r>
            <a:endParaRPr lang="en-US" sz="2800" b="1" spc="-10" dirty="0">
              <a:latin typeface="Verdana" panose="020B0604030504040204" pitchFamily="34" charset="0"/>
              <a:ea typeface="Verdana" panose="020B0604030504040204" pitchFamily="34" charset="0"/>
              <a:cs typeface="Tahoma"/>
            </a:endParaRPr>
          </a:p>
          <a:p>
            <a:pPr marL="544830" indent="-457200">
              <a:lnSpc>
                <a:spcPct val="100000"/>
              </a:lnSpc>
              <a:spcBef>
                <a:spcPts val="100"/>
              </a:spcBef>
              <a:buFont typeface="Arial" panose="020B0604020202020204" pitchFamily="34" charset="0"/>
              <a:buChar char="•"/>
            </a:pPr>
            <a:r>
              <a:rPr lang="en-US" sz="3200" dirty="0"/>
              <a:t>Analyzing the distribution of phishing and legitimate websites helps identify patterns and anomalies, guiding feature selection for accurate predictions. Visualization methods like his to grams and scatter plots are utilized for clearer insights into the dataset’s structure and feature significance</a:t>
            </a:r>
            <a:endParaRPr lang="en-US" sz="3000" dirty="0">
              <a:latin typeface="Tahoma"/>
              <a:cs typeface="Tahoma"/>
            </a:endParaRPr>
          </a:p>
          <a:p>
            <a:pPr marL="544830" indent="-457200">
              <a:lnSpc>
                <a:spcPct val="100000"/>
              </a:lnSpc>
              <a:spcBef>
                <a:spcPts val="100"/>
              </a:spcBef>
              <a:buFont typeface="Arial" panose="020B0604020202020204" pitchFamily="34" charset="0"/>
              <a:buChar char="•"/>
            </a:pPr>
            <a:endParaRPr lang="en-US" sz="3000" dirty="0">
              <a:latin typeface="Tahoma"/>
              <a:cs typeface="Tahoma"/>
            </a:endParaRPr>
          </a:p>
          <a:p>
            <a:pPr marL="544830" indent="-457200">
              <a:lnSpc>
                <a:spcPct val="100000"/>
              </a:lnSpc>
              <a:spcBef>
                <a:spcPts val="100"/>
              </a:spcBef>
              <a:buFont typeface="Arial" panose="020B0604020202020204" pitchFamily="34" charset="0"/>
              <a:buChar char="•"/>
            </a:pPr>
            <a:r>
              <a:rPr lang="en-US" sz="3000" b="1" dirty="0">
                <a:latin typeface="Tahoma"/>
                <a:cs typeface="Tahoma"/>
              </a:rPr>
              <a:t>Machine Learning Algorithms:</a:t>
            </a:r>
          </a:p>
          <a:p>
            <a:pPr marL="544830" indent="-457200">
              <a:lnSpc>
                <a:spcPct val="100000"/>
              </a:lnSpc>
              <a:spcBef>
                <a:spcPts val="100"/>
              </a:spcBef>
              <a:buFont typeface="Arial" panose="020B0604020202020204" pitchFamily="34" charset="0"/>
              <a:buChar char="•"/>
            </a:pPr>
            <a:r>
              <a:rPr lang="en-US" sz="3200" dirty="0" err="1"/>
              <a:t>XGBoost</a:t>
            </a:r>
            <a:r>
              <a:rPr lang="en-US" sz="3200" dirty="0"/>
              <a:t>: Powerful, often top performer, requires tuning</a:t>
            </a:r>
          </a:p>
          <a:p>
            <a:pPr marL="544830" indent="-457200">
              <a:lnSpc>
                <a:spcPct val="100000"/>
              </a:lnSpc>
              <a:spcBef>
                <a:spcPts val="100"/>
              </a:spcBef>
              <a:buFont typeface="Arial" panose="020B0604020202020204" pitchFamily="34" charset="0"/>
              <a:buChar char="•"/>
            </a:pPr>
            <a:r>
              <a:rPr lang="en-US" sz="3200" dirty="0"/>
              <a:t>Random Forest: Multiple trees for better accuracy, reduced overfitting. </a:t>
            </a:r>
          </a:p>
          <a:p>
            <a:pPr marL="544830" indent="-457200">
              <a:lnSpc>
                <a:spcPct val="100000"/>
              </a:lnSpc>
              <a:spcBef>
                <a:spcPts val="100"/>
              </a:spcBef>
              <a:buFont typeface="Arial" panose="020B0604020202020204" pitchFamily="34" charset="0"/>
              <a:buChar char="•"/>
            </a:pPr>
            <a:r>
              <a:rPr lang="en-US" sz="3200" dirty="0" err="1"/>
              <a:t>LightGBM:A</a:t>
            </a:r>
            <a:r>
              <a:rPr lang="en-US" sz="3200" dirty="0"/>
              <a:t> highly efficient gradient boosting algorithm , offers faster training times</a:t>
            </a:r>
            <a:endParaRPr lang="en-US" sz="3200" b="1" dirty="0">
              <a:latin typeface="Tahoma"/>
              <a:cs typeface="Tahom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20871" y="1012290"/>
            <a:ext cx="133349" cy="133349"/>
          </a:xfrm>
          <a:prstGeom prst="rect">
            <a:avLst/>
          </a:prstGeom>
        </p:spPr>
      </p:pic>
      <p:pic>
        <p:nvPicPr>
          <p:cNvPr id="3" name="object 3"/>
          <p:cNvPicPr/>
          <p:nvPr/>
        </p:nvPicPr>
        <p:blipFill>
          <a:blip r:embed="rId2" cstate="print"/>
          <a:stretch>
            <a:fillRect/>
          </a:stretch>
        </p:blipFill>
        <p:spPr>
          <a:xfrm>
            <a:off x="820871" y="1545689"/>
            <a:ext cx="133349" cy="133349"/>
          </a:xfrm>
          <a:prstGeom prst="rect">
            <a:avLst/>
          </a:prstGeom>
        </p:spPr>
      </p:pic>
      <p:pic>
        <p:nvPicPr>
          <p:cNvPr id="4" name="object 4"/>
          <p:cNvPicPr/>
          <p:nvPr/>
        </p:nvPicPr>
        <p:blipFill>
          <a:blip r:embed="rId3" cstate="print"/>
          <a:stretch>
            <a:fillRect/>
          </a:stretch>
        </p:blipFill>
        <p:spPr>
          <a:xfrm>
            <a:off x="820871" y="2079089"/>
            <a:ext cx="133349" cy="133349"/>
          </a:xfrm>
          <a:prstGeom prst="rect">
            <a:avLst/>
          </a:prstGeom>
        </p:spPr>
      </p:pic>
      <p:pic>
        <p:nvPicPr>
          <p:cNvPr id="5" name="object 5"/>
          <p:cNvPicPr/>
          <p:nvPr/>
        </p:nvPicPr>
        <p:blipFill>
          <a:blip r:embed="rId4" cstate="print"/>
          <a:stretch>
            <a:fillRect/>
          </a:stretch>
        </p:blipFill>
        <p:spPr>
          <a:xfrm>
            <a:off x="820871" y="2612489"/>
            <a:ext cx="133349" cy="133349"/>
          </a:xfrm>
          <a:prstGeom prst="rect">
            <a:avLst/>
          </a:prstGeom>
        </p:spPr>
      </p:pic>
      <p:pic>
        <p:nvPicPr>
          <p:cNvPr id="6" name="object 6"/>
          <p:cNvPicPr/>
          <p:nvPr/>
        </p:nvPicPr>
        <p:blipFill>
          <a:blip r:embed="rId5" cstate="print"/>
          <a:stretch>
            <a:fillRect/>
          </a:stretch>
        </p:blipFill>
        <p:spPr>
          <a:xfrm>
            <a:off x="771969" y="5848349"/>
            <a:ext cx="133349" cy="133349"/>
          </a:xfrm>
          <a:prstGeom prst="rect">
            <a:avLst/>
          </a:prstGeom>
        </p:spPr>
      </p:pic>
      <p:pic>
        <p:nvPicPr>
          <p:cNvPr id="7" name="object 7"/>
          <p:cNvPicPr/>
          <p:nvPr/>
        </p:nvPicPr>
        <p:blipFill>
          <a:blip r:embed="rId5" cstate="print"/>
          <a:stretch>
            <a:fillRect/>
          </a:stretch>
        </p:blipFill>
        <p:spPr>
          <a:xfrm>
            <a:off x="771969" y="6372225"/>
            <a:ext cx="133349" cy="133349"/>
          </a:xfrm>
          <a:prstGeom prst="rect">
            <a:avLst/>
          </a:prstGeom>
        </p:spPr>
      </p:pic>
      <p:pic>
        <p:nvPicPr>
          <p:cNvPr id="8" name="object 8"/>
          <p:cNvPicPr/>
          <p:nvPr/>
        </p:nvPicPr>
        <p:blipFill>
          <a:blip r:embed="rId3" cstate="print"/>
          <a:stretch>
            <a:fillRect/>
          </a:stretch>
        </p:blipFill>
        <p:spPr>
          <a:xfrm>
            <a:off x="921270" y="3819525"/>
            <a:ext cx="133349" cy="133349"/>
          </a:xfrm>
          <a:prstGeom prst="rect">
            <a:avLst/>
          </a:prstGeom>
        </p:spPr>
      </p:pic>
      <p:pic>
        <p:nvPicPr>
          <p:cNvPr id="9" name="object 9"/>
          <p:cNvPicPr/>
          <p:nvPr/>
        </p:nvPicPr>
        <p:blipFill>
          <a:blip r:embed="rId3" cstate="print"/>
          <a:stretch>
            <a:fillRect/>
          </a:stretch>
        </p:blipFill>
        <p:spPr>
          <a:xfrm>
            <a:off x="921270" y="4343400"/>
            <a:ext cx="133349" cy="133349"/>
          </a:xfrm>
          <a:prstGeom prst="rect">
            <a:avLst/>
          </a:prstGeom>
        </p:spPr>
      </p:pic>
      <p:sp>
        <p:nvSpPr>
          <p:cNvPr id="10" name="object 10"/>
          <p:cNvSpPr txBox="1"/>
          <p:nvPr/>
        </p:nvSpPr>
        <p:spPr>
          <a:xfrm>
            <a:off x="444944" y="212748"/>
            <a:ext cx="14966315" cy="6448425"/>
          </a:xfrm>
          <a:prstGeom prst="rect">
            <a:avLst/>
          </a:prstGeom>
        </p:spPr>
        <p:txBody>
          <a:bodyPr vert="horz" wrap="square" lIns="0" tIns="86995" rIns="0" bIns="0" rtlCol="0">
            <a:spAutoFit/>
          </a:bodyPr>
          <a:lstStyle/>
          <a:p>
            <a:pPr marL="12700">
              <a:lnSpc>
                <a:spcPct val="100000"/>
              </a:lnSpc>
              <a:spcBef>
                <a:spcPts val="685"/>
              </a:spcBef>
            </a:pPr>
            <a:r>
              <a:rPr sz="3000" b="1" spc="30" dirty="0">
                <a:latin typeface="Tahoma"/>
                <a:cs typeface="Tahoma"/>
              </a:rPr>
              <a:t>Model</a:t>
            </a:r>
            <a:r>
              <a:rPr sz="3000" b="1" spc="-195" dirty="0">
                <a:latin typeface="Tahoma"/>
                <a:cs typeface="Tahoma"/>
              </a:rPr>
              <a:t> </a:t>
            </a:r>
            <a:r>
              <a:rPr sz="3000" b="1" spc="-25" dirty="0">
                <a:latin typeface="Tahoma"/>
                <a:cs typeface="Tahoma"/>
              </a:rPr>
              <a:t>Evaluation</a:t>
            </a:r>
            <a:r>
              <a:rPr sz="3000" b="1" spc="-190" dirty="0">
                <a:latin typeface="Tahoma"/>
                <a:cs typeface="Tahoma"/>
              </a:rPr>
              <a:t> </a:t>
            </a:r>
            <a:r>
              <a:rPr sz="3000" b="1" dirty="0">
                <a:latin typeface="Tahoma"/>
                <a:cs typeface="Tahoma"/>
              </a:rPr>
              <a:t>Metrics</a:t>
            </a:r>
            <a:endParaRPr sz="3000" dirty="0">
              <a:latin typeface="Tahoma"/>
              <a:cs typeface="Tahoma"/>
            </a:endParaRPr>
          </a:p>
          <a:p>
            <a:pPr marL="709295">
              <a:lnSpc>
                <a:spcPct val="100000"/>
              </a:lnSpc>
              <a:spcBef>
                <a:spcPts val="585"/>
              </a:spcBef>
            </a:pPr>
            <a:r>
              <a:rPr sz="3000" spc="-15" dirty="0">
                <a:latin typeface="Verdana"/>
                <a:cs typeface="Verdana"/>
              </a:rPr>
              <a:t>Beyond</a:t>
            </a:r>
            <a:r>
              <a:rPr sz="3000" spc="-315" dirty="0">
                <a:latin typeface="Verdana"/>
                <a:cs typeface="Verdana"/>
              </a:rPr>
              <a:t> </a:t>
            </a:r>
            <a:r>
              <a:rPr sz="3000" spc="-80" dirty="0">
                <a:latin typeface="Verdana"/>
                <a:cs typeface="Verdana"/>
              </a:rPr>
              <a:t>accuracy:</a:t>
            </a:r>
            <a:r>
              <a:rPr sz="3000" spc="-315" dirty="0">
                <a:latin typeface="Verdana"/>
                <a:cs typeface="Verdana"/>
              </a:rPr>
              <a:t> </a:t>
            </a:r>
            <a:r>
              <a:rPr sz="3000" spc="-20" dirty="0">
                <a:latin typeface="Verdana"/>
                <a:cs typeface="Verdana"/>
              </a:rPr>
              <a:t>Consider</a:t>
            </a:r>
            <a:r>
              <a:rPr sz="3000" spc="-315" dirty="0">
                <a:latin typeface="Verdana"/>
                <a:cs typeface="Verdana"/>
              </a:rPr>
              <a:t> </a:t>
            </a:r>
            <a:r>
              <a:rPr sz="3000" spc="-30" dirty="0">
                <a:latin typeface="Verdana"/>
                <a:cs typeface="Verdana"/>
              </a:rPr>
              <a:t>imbalanced</a:t>
            </a:r>
            <a:r>
              <a:rPr sz="3000" spc="-315" dirty="0">
                <a:latin typeface="Verdana"/>
                <a:cs typeface="Verdana"/>
              </a:rPr>
              <a:t> </a:t>
            </a:r>
            <a:r>
              <a:rPr sz="3000" spc="-95" dirty="0">
                <a:latin typeface="Verdana"/>
                <a:cs typeface="Verdana"/>
              </a:rPr>
              <a:t>data.</a:t>
            </a:r>
            <a:endParaRPr sz="3000" dirty="0">
              <a:latin typeface="Verdana"/>
              <a:cs typeface="Verdana"/>
            </a:endParaRPr>
          </a:p>
          <a:p>
            <a:pPr marL="709295" marR="4638040">
              <a:lnSpc>
                <a:spcPts val="4200"/>
              </a:lnSpc>
              <a:spcBef>
                <a:spcPts val="240"/>
              </a:spcBef>
            </a:pPr>
            <a:r>
              <a:rPr sz="3000" dirty="0">
                <a:latin typeface="Verdana"/>
                <a:cs typeface="Verdana"/>
              </a:rPr>
              <a:t>Precision</a:t>
            </a:r>
            <a:r>
              <a:rPr sz="3000" spc="-320" dirty="0">
                <a:latin typeface="Verdana"/>
                <a:cs typeface="Verdana"/>
              </a:rPr>
              <a:t> </a:t>
            </a:r>
            <a:r>
              <a:rPr sz="3000" spc="-145" dirty="0">
                <a:latin typeface="Verdana"/>
                <a:cs typeface="Verdana"/>
              </a:rPr>
              <a:t>vs.</a:t>
            </a:r>
            <a:r>
              <a:rPr sz="3000" spc="-320" dirty="0">
                <a:latin typeface="Verdana"/>
                <a:cs typeface="Verdana"/>
              </a:rPr>
              <a:t> </a:t>
            </a:r>
            <a:r>
              <a:rPr sz="3000" spc="-85" dirty="0">
                <a:latin typeface="Verdana"/>
                <a:cs typeface="Verdana"/>
              </a:rPr>
              <a:t>recall:</a:t>
            </a:r>
            <a:r>
              <a:rPr sz="3000" spc="-320" dirty="0">
                <a:latin typeface="Verdana"/>
                <a:cs typeface="Verdana"/>
              </a:rPr>
              <a:t> </a:t>
            </a:r>
            <a:r>
              <a:rPr sz="3000" spc="-5" dirty="0">
                <a:latin typeface="Verdana"/>
                <a:cs typeface="Verdana"/>
              </a:rPr>
              <a:t>Focus</a:t>
            </a:r>
            <a:r>
              <a:rPr sz="3000" spc="-320" dirty="0">
                <a:latin typeface="Verdana"/>
                <a:cs typeface="Verdana"/>
              </a:rPr>
              <a:t> </a:t>
            </a:r>
            <a:r>
              <a:rPr sz="3000" spc="-5" dirty="0">
                <a:latin typeface="Verdana"/>
                <a:cs typeface="Verdana"/>
              </a:rPr>
              <a:t>on</a:t>
            </a:r>
            <a:r>
              <a:rPr sz="3000" spc="-320" dirty="0">
                <a:latin typeface="Verdana"/>
                <a:cs typeface="Verdana"/>
              </a:rPr>
              <a:t> </a:t>
            </a:r>
            <a:r>
              <a:rPr sz="3000" spc="-25" dirty="0">
                <a:latin typeface="Verdana"/>
                <a:cs typeface="Verdana"/>
              </a:rPr>
              <a:t>catching</a:t>
            </a:r>
            <a:r>
              <a:rPr sz="3000" spc="-320" dirty="0">
                <a:latin typeface="Verdana"/>
                <a:cs typeface="Verdana"/>
              </a:rPr>
              <a:t> </a:t>
            </a:r>
            <a:r>
              <a:rPr lang="en-US" sz="3000" spc="-15" dirty="0">
                <a:latin typeface="Verdana"/>
                <a:cs typeface="Verdana"/>
              </a:rPr>
              <a:t>phishing </a:t>
            </a:r>
            <a:r>
              <a:rPr lang="en-US" sz="3000" spc="-15" dirty="0" err="1">
                <a:latin typeface="Verdana"/>
                <a:cs typeface="Verdana"/>
              </a:rPr>
              <a:t>urls</a:t>
            </a:r>
            <a:r>
              <a:rPr sz="3000" spc="-125" dirty="0">
                <a:latin typeface="Verdana"/>
                <a:cs typeface="Verdana"/>
              </a:rPr>
              <a:t> </a:t>
            </a:r>
            <a:r>
              <a:rPr sz="3000" spc="-120" dirty="0">
                <a:latin typeface="Verdana"/>
                <a:cs typeface="Verdana"/>
              </a:rPr>
              <a:t> </a:t>
            </a:r>
            <a:r>
              <a:rPr sz="3000" spc="-10" dirty="0">
                <a:latin typeface="Verdana"/>
                <a:cs typeface="Verdana"/>
              </a:rPr>
              <a:t>Confusion</a:t>
            </a:r>
            <a:r>
              <a:rPr sz="3000" spc="-320" dirty="0">
                <a:latin typeface="Verdana"/>
                <a:cs typeface="Verdana"/>
              </a:rPr>
              <a:t> </a:t>
            </a:r>
            <a:r>
              <a:rPr sz="3000" spc="-165" dirty="0">
                <a:latin typeface="Verdana"/>
                <a:cs typeface="Verdana"/>
              </a:rPr>
              <a:t>matrix:</a:t>
            </a:r>
            <a:r>
              <a:rPr sz="3000" spc="-320" dirty="0">
                <a:latin typeface="Verdana"/>
                <a:cs typeface="Verdana"/>
              </a:rPr>
              <a:t> </a:t>
            </a:r>
            <a:r>
              <a:rPr sz="3000" spc="-20" dirty="0">
                <a:latin typeface="Verdana"/>
                <a:cs typeface="Verdana"/>
              </a:rPr>
              <a:t>Detailed</a:t>
            </a:r>
            <a:r>
              <a:rPr sz="3000" spc="-320" dirty="0">
                <a:latin typeface="Verdana"/>
                <a:cs typeface="Verdana"/>
              </a:rPr>
              <a:t> </a:t>
            </a:r>
            <a:r>
              <a:rPr sz="3000" spc="-25" dirty="0">
                <a:latin typeface="Verdana"/>
                <a:cs typeface="Verdana"/>
              </a:rPr>
              <a:t>performance</a:t>
            </a:r>
            <a:r>
              <a:rPr sz="3000" spc="-320" dirty="0">
                <a:latin typeface="Verdana"/>
                <a:cs typeface="Verdana"/>
              </a:rPr>
              <a:t> </a:t>
            </a:r>
            <a:r>
              <a:rPr sz="3000" spc="-80" dirty="0">
                <a:latin typeface="Verdana"/>
                <a:cs typeface="Verdana"/>
              </a:rPr>
              <a:t>breakdown. </a:t>
            </a:r>
            <a:r>
              <a:rPr sz="3000" spc="-1040" dirty="0">
                <a:latin typeface="Verdana"/>
                <a:cs typeface="Verdana"/>
              </a:rPr>
              <a:t> </a:t>
            </a:r>
            <a:r>
              <a:rPr sz="3000" spc="-55" dirty="0">
                <a:latin typeface="Verdana"/>
                <a:cs typeface="Verdana"/>
              </a:rPr>
              <a:t>ROC-AUC</a:t>
            </a:r>
            <a:r>
              <a:rPr sz="3000" spc="-320" dirty="0">
                <a:latin typeface="Verdana"/>
                <a:cs typeface="Verdana"/>
              </a:rPr>
              <a:t> </a:t>
            </a:r>
            <a:r>
              <a:rPr sz="3000" spc="-120" dirty="0">
                <a:latin typeface="Verdana"/>
                <a:cs typeface="Verdana"/>
              </a:rPr>
              <a:t>curve:</a:t>
            </a:r>
            <a:r>
              <a:rPr sz="3000" spc="-320" dirty="0">
                <a:latin typeface="Verdana"/>
                <a:cs typeface="Verdana"/>
              </a:rPr>
              <a:t> </a:t>
            </a:r>
            <a:r>
              <a:rPr sz="3000" spc="-30" dirty="0">
                <a:latin typeface="Verdana"/>
                <a:cs typeface="Verdana"/>
              </a:rPr>
              <a:t>Overall</a:t>
            </a:r>
            <a:r>
              <a:rPr sz="3000" spc="-320" dirty="0">
                <a:latin typeface="Verdana"/>
                <a:cs typeface="Verdana"/>
              </a:rPr>
              <a:t> </a:t>
            </a:r>
            <a:r>
              <a:rPr sz="3000" spc="-20" dirty="0">
                <a:latin typeface="Verdana"/>
                <a:cs typeface="Verdana"/>
              </a:rPr>
              <a:t>model</a:t>
            </a:r>
            <a:r>
              <a:rPr sz="3000" spc="-320" dirty="0">
                <a:latin typeface="Verdana"/>
                <a:cs typeface="Verdana"/>
              </a:rPr>
              <a:t> </a:t>
            </a:r>
            <a:r>
              <a:rPr sz="3000" spc="-45" dirty="0">
                <a:latin typeface="Verdana"/>
                <a:cs typeface="Verdana"/>
              </a:rPr>
              <a:t>performance.</a:t>
            </a:r>
            <a:endParaRPr sz="3000" dirty="0">
              <a:latin typeface="Verdana"/>
              <a:cs typeface="Verdana"/>
            </a:endParaRPr>
          </a:p>
          <a:p>
            <a:pPr marL="32384">
              <a:lnSpc>
                <a:spcPct val="100000"/>
              </a:lnSpc>
              <a:spcBef>
                <a:spcPts val="1460"/>
              </a:spcBef>
            </a:pPr>
            <a:r>
              <a:rPr sz="3000" b="1" spc="-25" dirty="0">
                <a:latin typeface="Tahoma"/>
                <a:cs typeface="Tahoma"/>
              </a:rPr>
              <a:t>Cross-Validation</a:t>
            </a:r>
            <a:endParaRPr sz="3000" dirty="0">
              <a:latin typeface="Tahoma"/>
              <a:cs typeface="Tahoma"/>
            </a:endParaRPr>
          </a:p>
          <a:p>
            <a:pPr marL="808990" marR="5080">
              <a:lnSpc>
                <a:spcPct val="114599"/>
              </a:lnSpc>
              <a:spcBef>
                <a:spcPts val="80"/>
              </a:spcBef>
            </a:pPr>
            <a:r>
              <a:rPr sz="3000" spc="-60" dirty="0">
                <a:latin typeface="Verdana"/>
                <a:cs typeface="Verdana"/>
              </a:rPr>
              <a:t>Evaluate</a:t>
            </a:r>
            <a:r>
              <a:rPr sz="3000" spc="-320" dirty="0">
                <a:latin typeface="Verdana"/>
                <a:cs typeface="Verdana"/>
              </a:rPr>
              <a:t> </a:t>
            </a:r>
            <a:r>
              <a:rPr sz="3000" spc="-20" dirty="0">
                <a:latin typeface="Verdana"/>
                <a:cs typeface="Verdana"/>
              </a:rPr>
              <a:t>model</a:t>
            </a:r>
            <a:r>
              <a:rPr sz="3000" spc="-320" dirty="0">
                <a:latin typeface="Verdana"/>
                <a:cs typeface="Verdana"/>
              </a:rPr>
              <a:t> </a:t>
            </a:r>
            <a:r>
              <a:rPr sz="3000" spc="-75" dirty="0">
                <a:latin typeface="Verdana"/>
                <a:cs typeface="Verdana"/>
              </a:rPr>
              <a:t>performance:</a:t>
            </a:r>
            <a:r>
              <a:rPr sz="3000" spc="-320" dirty="0">
                <a:latin typeface="Verdana"/>
                <a:cs typeface="Verdana"/>
              </a:rPr>
              <a:t> </a:t>
            </a:r>
            <a:r>
              <a:rPr sz="3000" spc="-20" dirty="0">
                <a:latin typeface="Verdana"/>
                <a:cs typeface="Verdana"/>
              </a:rPr>
              <a:t>Split</a:t>
            </a:r>
            <a:r>
              <a:rPr sz="3000" spc="-315" dirty="0">
                <a:latin typeface="Verdana"/>
                <a:cs typeface="Verdana"/>
              </a:rPr>
              <a:t> </a:t>
            </a:r>
            <a:r>
              <a:rPr sz="3000" spc="-45" dirty="0">
                <a:latin typeface="Verdana"/>
                <a:cs typeface="Verdana"/>
              </a:rPr>
              <a:t>data</a:t>
            </a:r>
            <a:r>
              <a:rPr sz="3000" spc="-320" dirty="0">
                <a:latin typeface="Verdana"/>
                <a:cs typeface="Verdana"/>
              </a:rPr>
              <a:t> </a:t>
            </a:r>
            <a:r>
              <a:rPr sz="3000" dirty="0">
                <a:latin typeface="Verdana"/>
                <a:cs typeface="Verdana"/>
              </a:rPr>
              <a:t>into</a:t>
            </a:r>
            <a:r>
              <a:rPr sz="3000" spc="-320" dirty="0">
                <a:latin typeface="Verdana"/>
                <a:cs typeface="Verdana"/>
              </a:rPr>
              <a:t> </a:t>
            </a:r>
            <a:r>
              <a:rPr sz="3000" spc="-25" dirty="0">
                <a:latin typeface="Verdana"/>
                <a:cs typeface="Verdana"/>
              </a:rPr>
              <a:t>folds,</a:t>
            </a:r>
            <a:r>
              <a:rPr sz="3000" spc="-315" dirty="0">
                <a:latin typeface="Verdana"/>
                <a:cs typeface="Verdana"/>
              </a:rPr>
              <a:t> </a:t>
            </a:r>
            <a:r>
              <a:rPr sz="3000" spc="-40" dirty="0">
                <a:latin typeface="Verdana"/>
                <a:cs typeface="Verdana"/>
              </a:rPr>
              <a:t>train</a:t>
            </a:r>
            <a:r>
              <a:rPr sz="3000" spc="-320" dirty="0">
                <a:latin typeface="Verdana"/>
                <a:cs typeface="Verdana"/>
              </a:rPr>
              <a:t> </a:t>
            </a:r>
            <a:r>
              <a:rPr sz="3000" spc="-5" dirty="0">
                <a:latin typeface="Verdana"/>
                <a:cs typeface="Verdana"/>
              </a:rPr>
              <a:t>on</a:t>
            </a:r>
            <a:r>
              <a:rPr sz="3000" spc="-320" dirty="0">
                <a:latin typeface="Verdana"/>
                <a:cs typeface="Verdana"/>
              </a:rPr>
              <a:t> </a:t>
            </a:r>
            <a:r>
              <a:rPr sz="3000" spc="-95" dirty="0">
                <a:latin typeface="Verdana"/>
                <a:cs typeface="Verdana"/>
              </a:rPr>
              <a:t>most,</a:t>
            </a:r>
            <a:r>
              <a:rPr sz="3000" spc="-320" dirty="0">
                <a:latin typeface="Verdana"/>
                <a:cs typeface="Verdana"/>
              </a:rPr>
              <a:t> </a:t>
            </a:r>
            <a:r>
              <a:rPr sz="3000" spc="-15" dirty="0">
                <a:latin typeface="Verdana"/>
                <a:cs typeface="Verdana"/>
              </a:rPr>
              <a:t>test</a:t>
            </a:r>
            <a:r>
              <a:rPr sz="3000" spc="-315" dirty="0">
                <a:latin typeface="Verdana"/>
                <a:cs typeface="Verdana"/>
              </a:rPr>
              <a:t> </a:t>
            </a:r>
            <a:r>
              <a:rPr sz="3000" spc="-5" dirty="0">
                <a:latin typeface="Verdana"/>
                <a:cs typeface="Verdana"/>
              </a:rPr>
              <a:t>on</a:t>
            </a:r>
            <a:r>
              <a:rPr sz="3000" spc="-320" dirty="0">
                <a:latin typeface="Verdana"/>
                <a:cs typeface="Verdana"/>
              </a:rPr>
              <a:t> </a:t>
            </a:r>
            <a:r>
              <a:rPr sz="3000" spc="-100" dirty="0">
                <a:latin typeface="Verdana"/>
                <a:cs typeface="Verdana"/>
              </a:rPr>
              <a:t>one. </a:t>
            </a:r>
            <a:r>
              <a:rPr sz="3000" spc="-1040" dirty="0">
                <a:latin typeface="Verdana"/>
                <a:cs typeface="Verdana"/>
              </a:rPr>
              <a:t> </a:t>
            </a:r>
            <a:r>
              <a:rPr sz="3000" spc="-20" dirty="0">
                <a:latin typeface="Verdana"/>
                <a:cs typeface="Verdana"/>
              </a:rPr>
              <a:t>Robust</a:t>
            </a:r>
            <a:r>
              <a:rPr sz="3000" spc="-315" dirty="0">
                <a:latin typeface="Verdana"/>
                <a:cs typeface="Verdana"/>
              </a:rPr>
              <a:t> </a:t>
            </a:r>
            <a:r>
              <a:rPr sz="3000" spc="-95" dirty="0">
                <a:latin typeface="Verdana"/>
                <a:cs typeface="Verdana"/>
              </a:rPr>
              <a:t>evaluation:</a:t>
            </a:r>
            <a:r>
              <a:rPr sz="3000" spc="-315" dirty="0">
                <a:latin typeface="Verdana"/>
                <a:cs typeface="Verdana"/>
              </a:rPr>
              <a:t> </a:t>
            </a:r>
            <a:r>
              <a:rPr sz="3000" spc="-95" dirty="0">
                <a:latin typeface="Verdana"/>
                <a:cs typeface="Verdana"/>
              </a:rPr>
              <a:t>Average</a:t>
            </a:r>
            <a:r>
              <a:rPr sz="3000" spc="-310" dirty="0">
                <a:latin typeface="Verdana"/>
                <a:cs typeface="Verdana"/>
              </a:rPr>
              <a:t> </a:t>
            </a:r>
            <a:r>
              <a:rPr sz="3000" spc="-30" dirty="0">
                <a:latin typeface="Verdana"/>
                <a:cs typeface="Verdana"/>
              </a:rPr>
              <a:t>performance</a:t>
            </a:r>
            <a:r>
              <a:rPr sz="3000" spc="-315" dirty="0">
                <a:latin typeface="Verdana"/>
                <a:cs typeface="Verdana"/>
              </a:rPr>
              <a:t> </a:t>
            </a:r>
            <a:r>
              <a:rPr sz="3000" spc="-35" dirty="0">
                <a:latin typeface="Verdana"/>
                <a:cs typeface="Verdana"/>
              </a:rPr>
              <a:t>across</a:t>
            </a:r>
            <a:r>
              <a:rPr sz="3000" spc="-310" dirty="0">
                <a:latin typeface="Verdana"/>
                <a:cs typeface="Verdana"/>
              </a:rPr>
              <a:t> </a:t>
            </a:r>
            <a:r>
              <a:rPr sz="3000" spc="30" dirty="0">
                <a:latin typeface="Verdana"/>
                <a:cs typeface="Verdana"/>
              </a:rPr>
              <a:t>folds</a:t>
            </a:r>
            <a:r>
              <a:rPr sz="3000" spc="-315" dirty="0">
                <a:latin typeface="Verdana"/>
                <a:cs typeface="Verdana"/>
              </a:rPr>
              <a:t> </a:t>
            </a:r>
            <a:r>
              <a:rPr sz="3000" spc="25" dirty="0">
                <a:latin typeface="Verdana"/>
                <a:cs typeface="Verdana"/>
              </a:rPr>
              <a:t>for</a:t>
            </a:r>
            <a:r>
              <a:rPr sz="3000" spc="-315" dirty="0">
                <a:latin typeface="Verdana"/>
                <a:cs typeface="Verdana"/>
              </a:rPr>
              <a:t> </a:t>
            </a:r>
            <a:r>
              <a:rPr sz="3000" spc="-25" dirty="0">
                <a:latin typeface="Verdana"/>
                <a:cs typeface="Verdana"/>
              </a:rPr>
              <a:t>reliable</a:t>
            </a:r>
            <a:r>
              <a:rPr sz="3000" spc="-310" dirty="0">
                <a:latin typeface="Verdana"/>
                <a:cs typeface="Verdana"/>
              </a:rPr>
              <a:t> </a:t>
            </a:r>
            <a:r>
              <a:rPr sz="3000" spc="-70" dirty="0">
                <a:latin typeface="Verdana"/>
                <a:cs typeface="Verdana"/>
              </a:rPr>
              <a:t>results.</a:t>
            </a:r>
            <a:endParaRPr sz="3000" dirty="0">
              <a:latin typeface="Verdana"/>
              <a:cs typeface="Verdana"/>
            </a:endParaRPr>
          </a:p>
          <a:p>
            <a:pPr>
              <a:lnSpc>
                <a:spcPct val="100000"/>
              </a:lnSpc>
              <a:spcBef>
                <a:spcPts val="35"/>
              </a:spcBef>
            </a:pPr>
            <a:endParaRPr sz="3300" dirty="0">
              <a:latin typeface="Verdana"/>
              <a:cs typeface="Verdana"/>
            </a:endParaRPr>
          </a:p>
          <a:p>
            <a:pPr marL="177165">
              <a:lnSpc>
                <a:spcPct val="100000"/>
              </a:lnSpc>
            </a:pPr>
            <a:r>
              <a:rPr sz="3000" b="1" spc="-35" dirty="0">
                <a:latin typeface="Tahoma"/>
                <a:cs typeface="Tahoma"/>
              </a:rPr>
              <a:t>Feature</a:t>
            </a:r>
            <a:r>
              <a:rPr sz="3000" b="1" spc="-175" dirty="0">
                <a:latin typeface="Tahoma"/>
                <a:cs typeface="Tahoma"/>
              </a:rPr>
              <a:t> </a:t>
            </a:r>
            <a:r>
              <a:rPr sz="3000" b="1" spc="-55" dirty="0">
                <a:latin typeface="Tahoma"/>
                <a:cs typeface="Tahoma"/>
              </a:rPr>
              <a:t>Importance</a:t>
            </a:r>
            <a:endParaRPr sz="3000" dirty="0">
              <a:latin typeface="Tahoma"/>
              <a:cs typeface="Tahoma"/>
            </a:endParaRPr>
          </a:p>
          <a:p>
            <a:pPr marL="659765" marR="2891155">
              <a:lnSpc>
                <a:spcPct val="114599"/>
              </a:lnSpc>
              <a:spcBef>
                <a:spcPts val="75"/>
              </a:spcBef>
            </a:pPr>
            <a:r>
              <a:rPr sz="3000" spc="-55" dirty="0">
                <a:latin typeface="Verdana"/>
                <a:cs typeface="Verdana"/>
              </a:rPr>
              <a:t>Feature </a:t>
            </a:r>
            <a:r>
              <a:rPr sz="3000" spc="-80" dirty="0">
                <a:latin typeface="Verdana"/>
                <a:cs typeface="Verdana"/>
              </a:rPr>
              <a:t>importance: </a:t>
            </a:r>
            <a:r>
              <a:rPr sz="3000" spc="-50" dirty="0">
                <a:latin typeface="Verdana"/>
                <a:cs typeface="Verdana"/>
              </a:rPr>
              <a:t>Identify </a:t>
            </a:r>
            <a:r>
              <a:rPr sz="3000" spc="-140" dirty="0">
                <a:latin typeface="Verdana"/>
                <a:cs typeface="Verdana"/>
              </a:rPr>
              <a:t>key </a:t>
            </a:r>
            <a:r>
              <a:rPr sz="3000" dirty="0">
                <a:latin typeface="Verdana"/>
                <a:cs typeface="Verdana"/>
              </a:rPr>
              <a:t>factors </a:t>
            </a:r>
            <a:r>
              <a:rPr sz="3000" spc="-55" dirty="0">
                <a:latin typeface="Verdana"/>
                <a:cs typeface="Verdana"/>
              </a:rPr>
              <a:t>driving </a:t>
            </a:r>
            <a:r>
              <a:rPr sz="3000" spc="-30" dirty="0">
                <a:latin typeface="Verdana"/>
                <a:cs typeface="Verdana"/>
              </a:rPr>
              <a:t>predictions. </a:t>
            </a:r>
            <a:r>
              <a:rPr sz="3000" spc="-25" dirty="0">
                <a:latin typeface="Verdana"/>
                <a:cs typeface="Verdana"/>
              </a:rPr>
              <a:t> </a:t>
            </a:r>
            <a:r>
              <a:rPr sz="3000" spc="-225" dirty="0">
                <a:latin typeface="Verdana"/>
                <a:cs typeface="Verdana"/>
              </a:rPr>
              <a:t>S</a:t>
            </a:r>
            <a:r>
              <a:rPr sz="3000" spc="5" dirty="0">
                <a:latin typeface="Verdana"/>
                <a:cs typeface="Verdana"/>
              </a:rPr>
              <a:t>H</a:t>
            </a:r>
            <a:r>
              <a:rPr sz="3000" spc="-45" dirty="0">
                <a:latin typeface="Verdana"/>
                <a:cs typeface="Verdana"/>
              </a:rPr>
              <a:t>A</a:t>
            </a:r>
            <a:r>
              <a:rPr sz="3000" spc="140" dirty="0">
                <a:latin typeface="Verdana"/>
                <a:cs typeface="Verdana"/>
              </a:rPr>
              <a:t>P</a:t>
            </a:r>
            <a:r>
              <a:rPr sz="3000" spc="-320" dirty="0">
                <a:latin typeface="Verdana"/>
                <a:cs typeface="Verdana"/>
              </a:rPr>
              <a:t> </a:t>
            </a:r>
            <a:r>
              <a:rPr sz="3000" spc="-70" dirty="0">
                <a:latin typeface="Verdana"/>
                <a:cs typeface="Verdana"/>
              </a:rPr>
              <a:t>v</a:t>
            </a:r>
            <a:r>
              <a:rPr sz="3000" spc="-140" dirty="0">
                <a:latin typeface="Verdana"/>
                <a:cs typeface="Verdana"/>
              </a:rPr>
              <a:t>a</a:t>
            </a:r>
            <a:r>
              <a:rPr sz="3000" spc="50" dirty="0">
                <a:latin typeface="Verdana"/>
                <a:cs typeface="Verdana"/>
              </a:rPr>
              <a:t>l</a:t>
            </a:r>
            <a:r>
              <a:rPr sz="3000" spc="-70" dirty="0">
                <a:latin typeface="Verdana"/>
                <a:cs typeface="Verdana"/>
              </a:rPr>
              <a:t>ue</a:t>
            </a:r>
            <a:r>
              <a:rPr sz="3000" spc="-75" dirty="0">
                <a:latin typeface="Verdana"/>
                <a:cs typeface="Verdana"/>
              </a:rPr>
              <a:t>s</a:t>
            </a:r>
            <a:r>
              <a:rPr sz="3000" spc="-575" dirty="0">
                <a:latin typeface="Verdana"/>
                <a:cs typeface="Verdana"/>
              </a:rPr>
              <a:t>:</a:t>
            </a:r>
            <a:r>
              <a:rPr sz="3000" spc="-320" dirty="0">
                <a:latin typeface="Verdana"/>
                <a:cs typeface="Verdana"/>
              </a:rPr>
              <a:t> </a:t>
            </a:r>
            <a:r>
              <a:rPr sz="3000" spc="-95" dirty="0">
                <a:latin typeface="Verdana"/>
                <a:cs typeface="Verdana"/>
              </a:rPr>
              <a:t>E</a:t>
            </a:r>
            <a:r>
              <a:rPr sz="3000" spc="-275" dirty="0">
                <a:latin typeface="Verdana"/>
                <a:cs typeface="Verdana"/>
              </a:rPr>
              <a:t>x</a:t>
            </a:r>
            <a:r>
              <a:rPr sz="3000" spc="50" dirty="0">
                <a:latin typeface="Verdana"/>
                <a:cs typeface="Verdana"/>
              </a:rPr>
              <a:t>pl</a:t>
            </a:r>
            <a:r>
              <a:rPr sz="3000" spc="-140" dirty="0">
                <a:latin typeface="Verdana"/>
                <a:cs typeface="Verdana"/>
              </a:rPr>
              <a:t>a</a:t>
            </a:r>
            <a:r>
              <a:rPr sz="3000" spc="-30" dirty="0">
                <a:latin typeface="Verdana"/>
                <a:cs typeface="Verdana"/>
              </a:rPr>
              <a:t>i</a:t>
            </a:r>
            <a:r>
              <a:rPr sz="3000" spc="-40" dirty="0">
                <a:latin typeface="Verdana"/>
                <a:cs typeface="Verdana"/>
              </a:rPr>
              <a:t>n</a:t>
            </a:r>
            <a:r>
              <a:rPr sz="3000" spc="-320" dirty="0">
                <a:latin typeface="Verdana"/>
                <a:cs typeface="Verdana"/>
              </a:rPr>
              <a:t> </a:t>
            </a:r>
            <a:r>
              <a:rPr sz="3000" spc="-30" dirty="0">
                <a:latin typeface="Verdana"/>
                <a:cs typeface="Verdana"/>
              </a:rPr>
              <a:t>i</a:t>
            </a:r>
            <a:r>
              <a:rPr sz="3000" spc="-45" dirty="0">
                <a:latin typeface="Verdana"/>
                <a:cs typeface="Verdana"/>
              </a:rPr>
              <a:t>n</a:t>
            </a:r>
            <a:r>
              <a:rPr sz="3000" spc="55" dirty="0">
                <a:latin typeface="Verdana"/>
                <a:cs typeface="Verdana"/>
              </a:rPr>
              <a:t>d</a:t>
            </a:r>
            <a:r>
              <a:rPr sz="3000" spc="-30" dirty="0">
                <a:latin typeface="Verdana"/>
                <a:cs typeface="Verdana"/>
              </a:rPr>
              <a:t>i</a:t>
            </a:r>
            <a:r>
              <a:rPr sz="3000" spc="-70" dirty="0">
                <a:latin typeface="Verdana"/>
                <a:cs typeface="Verdana"/>
              </a:rPr>
              <a:t>v</a:t>
            </a:r>
            <a:r>
              <a:rPr sz="3000" spc="-30" dirty="0">
                <a:latin typeface="Verdana"/>
                <a:cs typeface="Verdana"/>
              </a:rPr>
              <a:t>i</a:t>
            </a:r>
            <a:r>
              <a:rPr sz="3000" spc="55" dirty="0">
                <a:latin typeface="Verdana"/>
                <a:cs typeface="Verdana"/>
              </a:rPr>
              <a:t>d</a:t>
            </a:r>
            <a:r>
              <a:rPr sz="3000" spc="-70" dirty="0">
                <a:latin typeface="Verdana"/>
                <a:cs typeface="Verdana"/>
              </a:rPr>
              <a:t>u</a:t>
            </a:r>
            <a:r>
              <a:rPr sz="3000" spc="-140" dirty="0">
                <a:latin typeface="Verdana"/>
                <a:cs typeface="Verdana"/>
              </a:rPr>
              <a:t>a</a:t>
            </a:r>
            <a:r>
              <a:rPr sz="3000" spc="55" dirty="0">
                <a:latin typeface="Verdana"/>
                <a:cs typeface="Verdana"/>
              </a:rPr>
              <a:t>l</a:t>
            </a:r>
            <a:r>
              <a:rPr sz="3000" spc="-320" dirty="0">
                <a:latin typeface="Verdana"/>
                <a:cs typeface="Verdana"/>
              </a:rPr>
              <a:t> </a:t>
            </a:r>
            <a:r>
              <a:rPr sz="3000" spc="50" dirty="0">
                <a:latin typeface="Verdana"/>
                <a:cs typeface="Verdana"/>
              </a:rPr>
              <a:t>p</a:t>
            </a:r>
            <a:r>
              <a:rPr sz="3000" spc="-40" dirty="0">
                <a:latin typeface="Verdana"/>
                <a:cs typeface="Verdana"/>
              </a:rPr>
              <a:t>r</a:t>
            </a:r>
            <a:r>
              <a:rPr sz="3000" spc="-70" dirty="0">
                <a:latin typeface="Verdana"/>
                <a:cs typeface="Verdana"/>
              </a:rPr>
              <a:t>e</a:t>
            </a:r>
            <a:r>
              <a:rPr sz="3000" spc="55" dirty="0">
                <a:latin typeface="Verdana"/>
                <a:cs typeface="Verdana"/>
              </a:rPr>
              <a:t>d</a:t>
            </a:r>
            <a:r>
              <a:rPr sz="3000" spc="-30" dirty="0">
                <a:latin typeface="Verdana"/>
                <a:cs typeface="Verdana"/>
              </a:rPr>
              <a:t>i</a:t>
            </a:r>
            <a:r>
              <a:rPr sz="3000" spc="95" dirty="0">
                <a:latin typeface="Verdana"/>
                <a:cs typeface="Verdana"/>
              </a:rPr>
              <a:t>c</a:t>
            </a:r>
            <a:r>
              <a:rPr sz="3000" spc="40" dirty="0">
                <a:latin typeface="Verdana"/>
                <a:cs typeface="Verdana"/>
              </a:rPr>
              <a:t>t</a:t>
            </a:r>
            <a:r>
              <a:rPr sz="3000" spc="-30" dirty="0">
                <a:latin typeface="Verdana"/>
                <a:cs typeface="Verdana"/>
              </a:rPr>
              <a:t>i</a:t>
            </a:r>
            <a:r>
              <a:rPr sz="3000" spc="25" dirty="0">
                <a:latin typeface="Verdana"/>
                <a:cs typeface="Verdana"/>
              </a:rPr>
              <a:t>o</a:t>
            </a:r>
            <a:r>
              <a:rPr sz="3000" spc="-45" dirty="0">
                <a:latin typeface="Verdana"/>
                <a:cs typeface="Verdana"/>
              </a:rPr>
              <a:t>n</a:t>
            </a:r>
            <a:r>
              <a:rPr sz="3000" spc="-70" dirty="0">
                <a:latin typeface="Verdana"/>
                <a:cs typeface="Verdana"/>
              </a:rPr>
              <a:t>s</a:t>
            </a:r>
            <a:r>
              <a:rPr sz="3000" spc="-320" dirty="0">
                <a:latin typeface="Verdana"/>
                <a:cs typeface="Verdana"/>
              </a:rPr>
              <a:t> </a:t>
            </a:r>
            <a:r>
              <a:rPr sz="3000" spc="50" dirty="0">
                <a:latin typeface="Verdana"/>
                <a:cs typeface="Verdana"/>
              </a:rPr>
              <a:t>b</a:t>
            </a:r>
            <a:r>
              <a:rPr sz="3000" spc="-140" dirty="0">
                <a:latin typeface="Verdana"/>
                <a:cs typeface="Verdana"/>
              </a:rPr>
              <a:t>a</a:t>
            </a:r>
            <a:r>
              <a:rPr sz="3000" spc="-75" dirty="0">
                <a:latin typeface="Verdana"/>
                <a:cs typeface="Verdana"/>
              </a:rPr>
              <a:t>s</a:t>
            </a:r>
            <a:r>
              <a:rPr sz="3000" spc="-70" dirty="0">
                <a:latin typeface="Verdana"/>
                <a:cs typeface="Verdana"/>
              </a:rPr>
              <a:t>e</a:t>
            </a:r>
            <a:r>
              <a:rPr sz="3000" spc="60" dirty="0">
                <a:latin typeface="Verdana"/>
                <a:cs typeface="Verdana"/>
              </a:rPr>
              <a:t>d</a:t>
            </a:r>
            <a:r>
              <a:rPr sz="3000" spc="-320" dirty="0">
                <a:latin typeface="Verdana"/>
                <a:cs typeface="Verdana"/>
              </a:rPr>
              <a:t> </a:t>
            </a:r>
            <a:r>
              <a:rPr sz="3000" spc="25" dirty="0">
                <a:latin typeface="Verdana"/>
                <a:cs typeface="Verdana"/>
              </a:rPr>
              <a:t>o</a:t>
            </a:r>
            <a:r>
              <a:rPr sz="3000" spc="-40" dirty="0">
                <a:latin typeface="Verdana"/>
                <a:cs typeface="Verdana"/>
              </a:rPr>
              <a:t>n</a:t>
            </a:r>
            <a:r>
              <a:rPr sz="3000" spc="-320" dirty="0">
                <a:latin typeface="Verdana"/>
                <a:cs typeface="Verdana"/>
              </a:rPr>
              <a:t> </a:t>
            </a:r>
            <a:r>
              <a:rPr sz="3000" spc="90" dirty="0">
                <a:latin typeface="Verdana"/>
                <a:cs typeface="Verdana"/>
              </a:rPr>
              <a:t>f</a:t>
            </a:r>
            <a:r>
              <a:rPr sz="3000" spc="-70" dirty="0">
                <a:latin typeface="Verdana"/>
                <a:cs typeface="Verdana"/>
              </a:rPr>
              <a:t>e</a:t>
            </a:r>
            <a:r>
              <a:rPr sz="3000" spc="-140" dirty="0">
                <a:latin typeface="Verdana"/>
                <a:cs typeface="Verdana"/>
              </a:rPr>
              <a:t>a</a:t>
            </a:r>
            <a:r>
              <a:rPr sz="3000" spc="40" dirty="0">
                <a:latin typeface="Verdana"/>
                <a:cs typeface="Verdana"/>
              </a:rPr>
              <a:t>t</a:t>
            </a:r>
            <a:r>
              <a:rPr sz="3000" spc="-70" dirty="0">
                <a:latin typeface="Verdana"/>
                <a:cs typeface="Verdana"/>
              </a:rPr>
              <a:t>u</a:t>
            </a:r>
            <a:r>
              <a:rPr sz="3000" spc="-40" dirty="0">
                <a:latin typeface="Verdana"/>
                <a:cs typeface="Verdana"/>
              </a:rPr>
              <a:t>r</a:t>
            </a:r>
            <a:r>
              <a:rPr sz="3000" spc="-70" dirty="0">
                <a:latin typeface="Verdana"/>
                <a:cs typeface="Verdana"/>
              </a:rPr>
              <a:t>e</a:t>
            </a:r>
            <a:r>
              <a:rPr sz="3000" spc="-75" dirty="0">
                <a:latin typeface="Verdana"/>
                <a:cs typeface="Verdana"/>
              </a:rPr>
              <a:t>s</a:t>
            </a:r>
            <a:r>
              <a:rPr sz="3000" spc="-305" dirty="0">
                <a:latin typeface="Verdana"/>
                <a:cs typeface="Verdana"/>
              </a:rPr>
              <a:t>.</a:t>
            </a:r>
            <a:endParaRPr sz="3000" dirty="0">
              <a:latin typeface="Verdana"/>
              <a:cs typeface="Verdan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96215">
              <a:lnSpc>
                <a:spcPct val="100000"/>
              </a:lnSpc>
              <a:spcBef>
                <a:spcPts val="100"/>
              </a:spcBef>
            </a:pPr>
            <a:r>
              <a:rPr spc="35" dirty="0"/>
              <a:t>IMPLEMENTATION</a:t>
            </a:r>
          </a:p>
        </p:txBody>
      </p:sp>
      <p:sp>
        <p:nvSpPr>
          <p:cNvPr id="12" name="object 12"/>
          <p:cNvSpPr txBox="1"/>
          <p:nvPr/>
        </p:nvSpPr>
        <p:spPr>
          <a:xfrm>
            <a:off x="643417" y="1055102"/>
            <a:ext cx="17001163" cy="5429692"/>
          </a:xfrm>
          <a:prstGeom prst="rect">
            <a:avLst/>
          </a:prstGeom>
        </p:spPr>
        <p:txBody>
          <a:bodyPr vert="horz" wrap="square" lIns="0" tIns="12700" rIns="0" bIns="0" rtlCol="0">
            <a:spAutoFit/>
          </a:bodyPr>
          <a:lstStyle/>
          <a:p>
            <a:pPr algn="l"/>
            <a:r>
              <a:rPr lang="en-US" sz="3200" b="1" i="0" dirty="0">
                <a:effectLst/>
                <a:latin typeface="-apple-system"/>
              </a:rPr>
              <a:t>What is URL?</a:t>
            </a:r>
          </a:p>
          <a:p>
            <a:pPr algn="l"/>
            <a:r>
              <a:rPr lang="en-US" sz="3200" b="0" i="0" dirty="0">
                <a:solidFill>
                  <a:srgbClr val="000000"/>
                </a:solidFill>
                <a:effectLst/>
                <a:latin typeface="-apple-system"/>
              </a:rPr>
              <a:t>The Uniform Resource Locator (URL) is the well-defined structured format unique address for accessing websites over World Wide Web (WWW).</a:t>
            </a:r>
          </a:p>
          <a:p>
            <a:pPr algn="l"/>
            <a:r>
              <a:rPr lang="en-US" sz="3200" b="0" i="0" dirty="0">
                <a:solidFill>
                  <a:srgbClr val="000000"/>
                </a:solidFill>
                <a:effectLst/>
                <a:latin typeface="-apple-system"/>
              </a:rPr>
              <a:t>Generally, there are three basic components that make up a legitimate URL</a:t>
            </a:r>
          </a:p>
          <a:p>
            <a:pPr algn="l"/>
            <a:endParaRPr lang="en-US" sz="3200" b="0" i="0" dirty="0">
              <a:solidFill>
                <a:srgbClr val="000000"/>
              </a:solidFill>
              <a:effectLst/>
              <a:latin typeface="-apple-system"/>
            </a:endParaRPr>
          </a:p>
          <a:p>
            <a:pPr algn="l"/>
            <a:r>
              <a:rPr lang="en-US" sz="3200" b="1" i="0" dirty="0" err="1">
                <a:solidFill>
                  <a:srgbClr val="000000"/>
                </a:solidFill>
                <a:effectLst/>
                <a:latin typeface="-apple-system"/>
              </a:rPr>
              <a:t>i</a:t>
            </a:r>
            <a:r>
              <a:rPr lang="en-US" sz="3200" b="1" i="0" dirty="0">
                <a:solidFill>
                  <a:srgbClr val="000000"/>
                </a:solidFill>
                <a:effectLst/>
                <a:latin typeface="-apple-system"/>
              </a:rPr>
              <a:t>.) Protocol</a:t>
            </a:r>
            <a:r>
              <a:rPr lang="en-US" sz="3200" b="0" i="0" dirty="0">
                <a:solidFill>
                  <a:srgbClr val="000000"/>
                </a:solidFill>
                <a:effectLst/>
                <a:latin typeface="-apple-system"/>
              </a:rPr>
              <a:t>: It is basically an identifier that determines what protocol to use e.g., HTTP, HTTPS, etc.</a:t>
            </a:r>
          </a:p>
          <a:p>
            <a:pPr algn="l"/>
            <a:endParaRPr lang="en-US" sz="3200" b="0" i="0" dirty="0">
              <a:solidFill>
                <a:srgbClr val="000000"/>
              </a:solidFill>
              <a:effectLst/>
              <a:latin typeface="-apple-system"/>
            </a:endParaRPr>
          </a:p>
          <a:p>
            <a:pPr algn="l"/>
            <a:r>
              <a:rPr lang="en-US" sz="3200" b="1" i="0" dirty="0">
                <a:solidFill>
                  <a:srgbClr val="000000"/>
                </a:solidFill>
                <a:effectLst/>
                <a:latin typeface="-apple-system"/>
              </a:rPr>
              <a:t>ii) Hostname</a:t>
            </a:r>
            <a:r>
              <a:rPr lang="en-US" sz="3200" b="0" i="0" dirty="0">
                <a:solidFill>
                  <a:srgbClr val="000000"/>
                </a:solidFill>
                <a:effectLst/>
                <a:latin typeface="-apple-system"/>
              </a:rPr>
              <a:t>: Also known as the resource name. It contains the IP address or the domain name where the actual resource is located.</a:t>
            </a:r>
          </a:p>
          <a:p>
            <a:pPr algn="l"/>
            <a:endParaRPr lang="en-US" sz="3200" b="0" i="0" dirty="0">
              <a:solidFill>
                <a:srgbClr val="000000"/>
              </a:solidFill>
              <a:effectLst/>
              <a:latin typeface="-apple-system"/>
            </a:endParaRPr>
          </a:p>
          <a:p>
            <a:pPr algn="l"/>
            <a:r>
              <a:rPr lang="en-US" sz="3200" b="1" i="0" dirty="0">
                <a:solidFill>
                  <a:srgbClr val="000000"/>
                </a:solidFill>
                <a:effectLst/>
                <a:latin typeface="-apple-system"/>
              </a:rPr>
              <a:t>iii) Path: </a:t>
            </a:r>
            <a:r>
              <a:rPr lang="en-US" sz="3200" b="0" i="0" dirty="0">
                <a:solidFill>
                  <a:srgbClr val="000000"/>
                </a:solidFill>
                <a:effectLst/>
                <a:latin typeface="-apple-system"/>
              </a:rPr>
              <a:t>It specifies the actual path where the resource is located</a:t>
            </a:r>
          </a:p>
        </p:txBody>
      </p:sp>
      <p:pic>
        <p:nvPicPr>
          <p:cNvPr id="14" name="Picture 13">
            <a:extLst>
              <a:ext uri="{FF2B5EF4-FFF2-40B4-BE49-F238E27FC236}">
                <a16:creationId xmlns:a16="http://schemas.microsoft.com/office/drawing/2014/main" id="{5F2EB67D-C80D-38E1-B4FF-6DF79AF4C0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4600" y="6438363"/>
            <a:ext cx="11506200" cy="384863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282F9-5C90-43B6-51C0-FD1BCFC6FEAD}"/>
              </a:ext>
            </a:extLst>
          </p:cNvPr>
          <p:cNvSpPr>
            <a:spLocks noGrp="1"/>
          </p:cNvSpPr>
          <p:nvPr>
            <p:ph type="title"/>
          </p:nvPr>
        </p:nvSpPr>
        <p:spPr/>
        <p:txBody>
          <a:bodyPr/>
          <a:lstStyle/>
          <a:p>
            <a:r>
              <a:rPr lang="en-US" dirty="0"/>
              <a:t>IMPLEMENTATION</a:t>
            </a:r>
          </a:p>
        </p:txBody>
      </p:sp>
      <p:sp>
        <p:nvSpPr>
          <p:cNvPr id="3" name="Text Placeholder 2">
            <a:extLst>
              <a:ext uri="{FF2B5EF4-FFF2-40B4-BE49-F238E27FC236}">
                <a16:creationId xmlns:a16="http://schemas.microsoft.com/office/drawing/2014/main" id="{0AA29E5D-884B-AC58-8378-F0586F239E4B}"/>
              </a:ext>
            </a:extLst>
          </p:cNvPr>
          <p:cNvSpPr>
            <a:spLocks noGrp="1"/>
          </p:cNvSpPr>
          <p:nvPr>
            <p:ph type="body" idx="1"/>
          </p:nvPr>
        </p:nvSpPr>
        <p:spPr>
          <a:xfrm>
            <a:off x="1244343" y="1055102"/>
            <a:ext cx="15301594" cy="8925520"/>
          </a:xfrm>
        </p:spPr>
        <p:txBody>
          <a:bodyPr/>
          <a:lstStyle/>
          <a:p>
            <a:pPr algn="l"/>
            <a:r>
              <a:rPr lang="en-US" i="0" dirty="0">
                <a:effectLst/>
                <a:highlight>
                  <a:srgbClr val="000000"/>
                </a:highlight>
                <a:latin typeface="-apple-system"/>
              </a:rPr>
              <a:t>Feature engineering</a:t>
            </a:r>
          </a:p>
          <a:p>
            <a:pPr algn="l"/>
            <a:r>
              <a:rPr lang="en-US" b="0" i="0" dirty="0">
                <a:solidFill>
                  <a:srgbClr val="000000"/>
                </a:solidFill>
                <a:effectLst/>
                <a:latin typeface="-apple-system"/>
              </a:rPr>
              <a:t>In this step, we will extract the following </a:t>
            </a:r>
            <a:r>
              <a:rPr lang="en-US" b="1" i="0" dirty="0">
                <a:solidFill>
                  <a:srgbClr val="000000"/>
                </a:solidFill>
                <a:effectLst/>
                <a:latin typeface="-apple-system"/>
              </a:rPr>
              <a:t>lexical features </a:t>
            </a:r>
            <a:r>
              <a:rPr lang="en-US" b="0" i="0" dirty="0">
                <a:solidFill>
                  <a:srgbClr val="000000"/>
                </a:solidFill>
                <a:effectLst/>
                <a:latin typeface="-apple-system"/>
              </a:rPr>
              <a:t>from raw URLs, as these features will be used as the input features for training the machine learning model. The following features are created as follows:</a:t>
            </a:r>
          </a:p>
          <a:p>
            <a:pPr algn="l"/>
            <a:endParaRPr lang="en-US" b="0" i="0" dirty="0">
              <a:solidFill>
                <a:srgbClr val="000000"/>
              </a:solidFill>
              <a:effectLst/>
              <a:latin typeface="-apple-system"/>
            </a:endParaRPr>
          </a:p>
          <a:p>
            <a:pPr algn="l">
              <a:buFont typeface="Arial" panose="020B0604020202020204" pitchFamily="34" charset="0"/>
              <a:buChar char="•"/>
            </a:pPr>
            <a:r>
              <a:rPr lang="en-US" b="1" i="0" dirty="0" err="1">
                <a:solidFill>
                  <a:srgbClr val="000000"/>
                </a:solidFill>
                <a:effectLst/>
                <a:latin typeface="-apple-system"/>
              </a:rPr>
              <a:t>having_ip_address</a:t>
            </a:r>
            <a:r>
              <a:rPr lang="en-US" b="0" i="0" dirty="0">
                <a:solidFill>
                  <a:srgbClr val="000000"/>
                </a:solidFill>
                <a:effectLst/>
                <a:latin typeface="-apple-system"/>
              </a:rPr>
              <a:t>: Generally cyber attackers use an IP address in place of the domain name to hide the identity of the website. this feature will check whether the URL has IP address or not.</a:t>
            </a:r>
          </a:p>
          <a:p>
            <a:pPr algn="l">
              <a:buFont typeface="Arial" panose="020B0604020202020204" pitchFamily="34" charset="0"/>
              <a:buChar char="•"/>
            </a:pPr>
            <a:r>
              <a:rPr lang="en-US" b="1" i="0" dirty="0" err="1">
                <a:solidFill>
                  <a:srgbClr val="000000"/>
                </a:solidFill>
                <a:effectLst/>
                <a:latin typeface="-apple-system"/>
              </a:rPr>
              <a:t>abnormal_url</a:t>
            </a:r>
            <a:r>
              <a:rPr lang="en-US" b="0" i="0" dirty="0">
                <a:solidFill>
                  <a:srgbClr val="000000"/>
                </a:solidFill>
                <a:effectLst/>
                <a:latin typeface="-apple-system"/>
              </a:rPr>
              <a:t>: This feature can be extracted from the </a:t>
            </a:r>
            <a:r>
              <a:rPr lang="en-US" b="0" i="0" u="none" strike="noStrike" dirty="0">
                <a:solidFill>
                  <a:srgbClr val="000000"/>
                </a:solidFill>
                <a:effectLst/>
                <a:latin typeface="-apple-system"/>
                <a:hlinkClick r:id="rId2"/>
              </a:rPr>
              <a:t>WHOIS</a:t>
            </a:r>
            <a:r>
              <a:rPr lang="en-US" b="0" i="0" dirty="0">
                <a:solidFill>
                  <a:srgbClr val="000000"/>
                </a:solidFill>
                <a:effectLst/>
                <a:latin typeface="-apple-system"/>
              </a:rPr>
              <a:t> database. For a legitimate website, identity is typically part of its URL.</a:t>
            </a:r>
          </a:p>
          <a:p>
            <a:pPr algn="l">
              <a:buFont typeface="Arial" panose="020B0604020202020204" pitchFamily="34" charset="0"/>
              <a:buChar char="•"/>
            </a:pPr>
            <a:r>
              <a:rPr lang="en-US" b="1" i="0" dirty="0" err="1">
                <a:solidFill>
                  <a:srgbClr val="000000"/>
                </a:solidFill>
                <a:effectLst/>
                <a:latin typeface="-apple-system"/>
              </a:rPr>
              <a:t>google_index</a:t>
            </a:r>
            <a:r>
              <a:rPr lang="en-US" b="1" i="0" dirty="0">
                <a:solidFill>
                  <a:srgbClr val="000000"/>
                </a:solidFill>
                <a:effectLst/>
                <a:latin typeface="-apple-system"/>
              </a:rPr>
              <a:t>:</a:t>
            </a:r>
            <a:r>
              <a:rPr lang="en-US" b="0" i="0" dirty="0">
                <a:solidFill>
                  <a:srgbClr val="000000"/>
                </a:solidFill>
                <a:effectLst/>
                <a:latin typeface="-apple-system"/>
              </a:rPr>
              <a:t> In this feature, we check whether the URL is indexed in google search console or not.</a:t>
            </a:r>
          </a:p>
          <a:p>
            <a:pPr algn="l">
              <a:buFont typeface="Arial" panose="020B0604020202020204" pitchFamily="34" charset="0"/>
              <a:buChar char="•"/>
            </a:pPr>
            <a:r>
              <a:rPr lang="en-US" b="1" i="0" dirty="0">
                <a:solidFill>
                  <a:srgbClr val="000000"/>
                </a:solidFill>
                <a:effectLst/>
                <a:latin typeface="-apple-system"/>
              </a:rPr>
              <a:t>Count. :</a:t>
            </a:r>
            <a:r>
              <a:rPr lang="en-US" b="0" i="0" dirty="0">
                <a:solidFill>
                  <a:srgbClr val="000000"/>
                </a:solidFill>
                <a:effectLst/>
                <a:latin typeface="-apple-system"/>
              </a:rPr>
              <a:t> The phishing or malware websites generally use more than two sub-domains in the URL. Each domain is separated by dot (.). If any URL contains more than three dots(.), then it increases the probability of a malicious site.</a:t>
            </a:r>
          </a:p>
          <a:p>
            <a:pPr algn="l">
              <a:buFont typeface="Arial" panose="020B0604020202020204" pitchFamily="34" charset="0"/>
              <a:buChar char="•"/>
            </a:pPr>
            <a:r>
              <a:rPr lang="en-US" b="1" i="0" dirty="0">
                <a:solidFill>
                  <a:srgbClr val="000000"/>
                </a:solidFill>
                <a:effectLst/>
                <a:latin typeface="-apple-system"/>
              </a:rPr>
              <a:t>Count-www:</a:t>
            </a:r>
            <a:r>
              <a:rPr lang="en-US" b="0" i="0" dirty="0">
                <a:solidFill>
                  <a:srgbClr val="000000"/>
                </a:solidFill>
                <a:effectLst/>
                <a:latin typeface="-apple-system"/>
              </a:rPr>
              <a:t> Generally most of the safe websites have one www in its URL. This feature helps in detecting malicious websites if the URL has no or more than one www in its URL.</a:t>
            </a:r>
          </a:p>
          <a:p>
            <a:pPr algn="l">
              <a:buFont typeface="Arial" panose="020B0604020202020204" pitchFamily="34" charset="0"/>
              <a:buChar char="•"/>
            </a:pPr>
            <a:r>
              <a:rPr lang="en-US" b="1" i="0" dirty="0">
                <a:solidFill>
                  <a:srgbClr val="000000"/>
                </a:solidFill>
                <a:effectLst/>
                <a:latin typeface="-apple-system"/>
              </a:rPr>
              <a:t>count@:</a:t>
            </a:r>
            <a:r>
              <a:rPr lang="en-US" b="0" i="0" dirty="0">
                <a:solidFill>
                  <a:srgbClr val="000000"/>
                </a:solidFill>
                <a:effectLst/>
                <a:latin typeface="-apple-system"/>
              </a:rPr>
              <a:t> The presence of the “@” symbol in the URL ignores everything previous to it.</a:t>
            </a:r>
          </a:p>
          <a:p>
            <a:pPr algn="l">
              <a:buFont typeface="Arial" panose="020B0604020202020204" pitchFamily="34" charset="0"/>
              <a:buChar char="•"/>
            </a:pPr>
            <a:r>
              <a:rPr lang="en-US" b="1" i="0" dirty="0" err="1">
                <a:solidFill>
                  <a:srgbClr val="000000"/>
                </a:solidFill>
                <a:effectLst/>
                <a:latin typeface="-apple-system"/>
              </a:rPr>
              <a:t>Count_dir</a:t>
            </a:r>
            <a:r>
              <a:rPr lang="en-US" b="1" i="0" dirty="0">
                <a:solidFill>
                  <a:srgbClr val="000000"/>
                </a:solidFill>
                <a:effectLst/>
                <a:latin typeface="-apple-system"/>
              </a:rPr>
              <a:t>:</a:t>
            </a:r>
            <a:r>
              <a:rPr lang="en-US" b="0" i="0" dirty="0">
                <a:solidFill>
                  <a:srgbClr val="000000"/>
                </a:solidFill>
                <a:effectLst/>
                <a:latin typeface="-apple-system"/>
              </a:rPr>
              <a:t> The presence of multiple directories in the URL generally indicates suspicious websites.</a:t>
            </a:r>
          </a:p>
          <a:p>
            <a:pPr algn="l">
              <a:buFont typeface="Arial" panose="020B0604020202020204" pitchFamily="34" charset="0"/>
              <a:buChar char="•"/>
            </a:pPr>
            <a:r>
              <a:rPr lang="en-US" b="1" i="0" dirty="0" err="1">
                <a:solidFill>
                  <a:srgbClr val="000000"/>
                </a:solidFill>
                <a:effectLst/>
                <a:latin typeface="-apple-system"/>
              </a:rPr>
              <a:t>Count_embed_domain</a:t>
            </a:r>
            <a:r>
              <a:rPr lang="en-US" b="0" i="0" dirty="0">
                <a:solidFill>
                  <a:srgbClr val="000000"/>
                </a:solidFill>
                <a:effectLst/>
                <a:latin typeface="-apple-system"/>
              </a:rPr>
              <a:t>: The number of the embedded domains can be helpful in detecting malicious URLs. It can be done by checking the occurrence of “</a:t>
            </a:r>
            <a:r>
              <a:rPr lang="en-US" b="1" i="0" dirty="0">
                <a:solidFill>
                  <a:srgbClr val="000000"/>
                </a:solidFill>
                <a:effectLst/>
                <a:latin typeface="-apple-system"/>
              </a:rPr>
              <a:t>//</a:t>
            </a:r>
            <a:r>
              <a:rPr lang="en-US" b="0" i="0" dirty="0">
                <a:solidFill>
                  <a:srgbClr val="000000"/>
                </a:solidFill>
                <a:effectLst/>
                <a:latin typeface="-apple-system"/>
              </a:rPr>
              <a:t>” in the URL.</a:t>
            </a:r>
          </a:p>
          <a:p>
            <a:endParaRPr lang="en-US" dirty="0"/>
          </a:p>
        </p:txBody>
      </p:sp>
    </p:spTree>
    <p:extLst>
      <p:ext uri="{BB962C8B-B14F-4D97-AF65-F5344CB8AC3E}">
        <p14:creationId xmlns:p14="http://schemas.microsoft.com/office/powerpoint/2010/main" val="2841691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B7186-EBEF-343A-1CA5-7B83759C90F9}"/>
              </a:ext>
            </a:extLst>
          </p:cNvPr>
          <p:cNvSpPr>
            <a:spLocks noGrp="1"/>
          </p:cNvSpPr>
          <p:nvPr>
            <p:ph type="title"/>
          </p:nvPr>
        </p:nvSpPr>
        <p:spPr/>
        <p:txBody>
          <a:bodyPr/>
          <a:lstStyle/>
          <a:p>
            <a:r>
              <a:rPr lang="en-US" dirty="0"/>
              <a:t>IMPLEMENTATION</a:t>
            </a:r>
          </a:p>
        </p:txBody>
      </p:sp>
      <p:sp>
        <p:nvSpPr>
          <p:cNvPr id="3" name="Text Placeholder 2">
            <a:extLst>
              <a:ext uri="{FF2B5EF4-FFF2-40B4-BE49-F238E27FC236}">
                <a16:creationId xmlns:a16="http://schemas.microsoft.com/office/drawing/2014/main" id="{B0685A7E-7D07-81FE-A69E-202EAE540BCF}"/>
              </a:ext>
            </a:extLst>
          </p:cNvPr>
          <p:cNvSpPr>
            <a:spLocks noGrp="1"/>
          </p:cNvSpPr>
          <p:nvPr>
            <p:ph type="body" idx="1"/>
          </p:nvPr>
        </p:nvSpPr>
        <p:spPr>
          <a:xfrm flipV="1">
            <a:off x="15849599" y="8191499"/>
            <a:ext cx="696337" cy="2514599"/>
          </a:xfrm>
        </p:spPr>
        <p:txBody>
          <a:bodyPr/>
          <a:lstStyle/>
          <a:p>
            <a:endParaRPr lang="en-US" dirty="0"/>
          </a:p>
        </p:txBody>
      </p:sp>
      <p:pic>
        <p:nvPicPr>
          <p:cNvPr id="5" name="Picture 4">
            <a:extLst>
              <a:ext uri="{FF2B5EF4-FFF2-40B4-BE49-F238E27FC236}">
                <a16:creationId xmlns:a16="http://schemas.microsoft.com/office/drawing/2014/main" id="{64E534FE-0E5B-BDF5-D1CC-A6793692B2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24200" y="1257300"/>
            <a:ext cx="10936226" cy="4477375"/>
          </a:xfrm>
          <a:prstGeom prst="rect">
            <a:avLst/>
          </a:prstGeom>
        </p:spPr>
      </p:pic>
      <p:pic>
        <p:nvPicPr>
          <p:cNvPr id="7" name="Picture 6">
            <a:extLst>
              <a:ext uri="{FF2B5EF4-FFF2-40B4-BE49-F238E27FC236}">
                <a16:creationId xmlns:a16="http://schemas.microsoft.com/office/drawing/2014/main" id="{F087DC40-9EC5-BF3F-8EDB-22755FA27B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62400" y="6362700"/>
            <a:ext cx="9526329" cy="2124371"/>
          </a:xfrm>
          <a:prstGeom prst="rect">
            <a:avLst/>
          </a:prstGeom>
        </p:spPr>
      </p:pic>
      <p:graphicFrame>
        <p:nvGraphicFramePr>
          <p:cNvPr id="8" name="Table 7">
            <a:extLst>
              <a:ext uri="{FF2B5EF4-FFF2-40B4-BE49-F238E27FC236}">
                <a16:creationId xmlns:a16="http://schemas.microsoft.com/office/drawing/2014/main" id="{F30D654A-A082-693E-7A72-9F4F48A03B98}"/>
              </a:ext>
            </a:extLst>
          </p:cNvPr>
          <p:cNvGraphicFramePr>
            <a:graphicFrameLocks noGrp="1"/>
          </p:cNvGraphicFramePr>
          <p:nvPr/>
        </p:nvGraphicFramePr>
        <p:xfrm>
          <a:off x="3125337" y="1241946"/>
          <a:ext cx="10918209" cy="4449170"/>
        </p:xfrm>
        <a:graphic>
          <a:graphicData uri="http://schemas.openxmlformats.org/drawingml/2006/table">
            <a:tbl>
              <a:tblPr/>
              <a:tblGrid>
                <a:gridCol w="10918209">
                  <a:extLst>
                    <a:ext uri="{9D8B030D-6E8A-4147-A177-3AD203B41FA5}">
                      <a16:colId xmlns:a16="http://schemas.microsoft.com/office/drawing/2014/main" val="3797182046"/>
                    </a:ext>
                  </a:extLst>
                </a:gridCol>
              </a:tblGrid>
              <a:tr h="4449170">
                <a:tc>
                  <a:txBody>
                    <a:bodyPr/>
                    <a:lstStyle/>
                    <a:p>
                      <a:endParaRPr lang="en-US"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411728866"/>
                  </a:ext>
                </a:extLst>
              </a:tr>
            </a:tbl>
          </a:graphicData>
        </a:graphic>
      </p:graphicFrame>
      <p:graphicFrame>
        <p:nvGraphicFramePr>
          <p:cNvPr id="10" name="Table 9">
            <a:extLst>
              <a:ext uri="{FF2B5EF4-FFF2-40B4-BE49-F238E27FC236}">
                <a16:creationId xmlns:a16="http://schemas.microsoft.com/office/drawing/2014/main" id="{2E2FA055-6ACB-EFDF-2734-5C6D7B359A63}"/>
              </a:ext>
            </a:extLst>
          </p:cNvPr>
          <p:cNvGraphicFramePr>
            <a:graphicFrameLocks noGrp="1"/>
          </p:cNvGraphicFramePr>
          <p:nvPr/>
        </p:nvGraphicFramePr>
        <p:xfrm>
          <a:off x="3903260" y="6373504"/>
          <a:ext cx="9498841" cy="2115403"/>
        </p:xfrm>
        <a:graphic>
          <a:graphicData uri="http://schemas.openxmlformats.org/drawingml/2006/table">
            <a:tbl>
              <a:tblPr/>
              <a:tblGrid>
                <a:gridCol w="9498841">
                  <a:extLst>
                    <a:ext uri="{9D8B030D-6E8A-4147-A177-3AD203B41FA5}">
                      <a16:colId xmlns:a16="http://schemas.microsoft.com/office/drawing/2014/main" val="2324951205"/>
                    </a:ext>
                  </a:extLst>
                </a:gridCol>
              </a:tblGrid>
              <a:tr h="2115403">
                <a:tc>
                  <a:txBody>
                    <a:bodyPr/>
                    <a:lstStyle/>
                    <a:p>
                      <a:endParaRPr lang="en-US"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350300947"/>
                  </a:ext>
                </a:extLst>
              </a:tr>
            </a:tbl>
          </a:graphicData>
        </a:graphic>
      </p:graphicFrame>
    </p:spTree>
    <p:extLst>
      <p:ext uri="{BB962C8B-B14F-4D97-AF65-F5344CB8AC3E}">
        <p14:creationId xmlns:p14="http://schemas.microsoft.com/office/powerpoint/2010/main" val="18836758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a:extLst>
              <a:ext uri="{28A0092B-C50C-407E-A947-70E740481C1C}">
                <a14:useLocalDpi xmlns:a14="http://schemas.microsoft.com/office/drawing/2010/main" val="0"/>
              </a:ext>
            </a:extLst>
          </a:blip>
          <a:srcRect/>
          <a:stretch/>
        </p:blipFill>
        <p:spPr>
          <a:xfrm>
            <a:off x="9709376" y="1028700"/>
            <a:ext cx="6015698" cy="8000999"/>
          </a:xfrm>
          <a:prstGeom prst="rect">
            <a:avLst/>
          </a:prstGeom>
        </p:spPr>
      </p:pic>
      <p:pic>
        <p:nvPicPr>
          <p:cNvPr id="3" name="object 3"/>
          <p:cNvPicPr/>
          <p:nvPr/>
        </p:nvPicPr>
        <p:blipFill>
          <a:blip r:embed="rId3">
            <a:extLst>
              <a:ext uri="{28A0092B-C50C-407E-A947-70E740481C1C}">
                <a14:useLocalDpi xmlns:a14="http://schemas.microsoft.com/office/drawing/2010/main" val="0"/>
              </a:ext>
            </a:extLst>
          </a:blip>
          <a:srcRect/>
          <a:stretch/>
        </p:blipFill>
        <p:spPr>
          <a:xfrm>
            <a:off x="1780527" y="1020114"/>
            <a:ext cx="6235810" cy="8010524"/>
          </a:xfrm>
          <a:prstGeom prst="rect">
            <a:avLst/>
          </a:prstGeom>
        </p:spPr>
      </p:pic>
      <p:sp>
        <p:nvSpPr>
          <p:cNvPr id="4" name="object 4"/>
          <p:cNvSpPr txBox="1">
            <a:spLocks noGrp="1"/>
          </p:cNvSpPr>
          <p:nvPr>
            <p:ph type="title"/>
          </p:nvPr>
        </p:nvSpPr>
        <p:spPr>
          <a:xfrm>
            <a:off x="7909061" y="267702"/>
            <a:ext cx="2653665" cy="787400"/>
          </a:xfrm>
          <a:prstGeom prst="rect">
            <a:avLst/>
          </a:prstGeom>
        </p:spPr>
        <p:txBody>
          <a:bodyPr vert="horz" wrap="square" lIns="0" tIns="12700" rIns="0" bIns="0" rtlCol="0">
            <a:spAutoFit/>
          </a:bodyPr>
          <a:lstStyle/>
          <a:p>
            <a:pPr marL="12700">
              <a:lnSpc>
                <a:spcPct val="100000"/>
              </a:lnSpc>
              <a:spcBef>
                <a:spcPts val="100"/>
              </a:spcBef>
            </a:pPr>
            <a:r>
              <a:rPr spc="60" dirty="0"/>
              <a:t>RESULTS</a:t>
            </a:r>
          </a:p>
        </p:txBody>
      </p:sp>
      <p:sp>
        <p:nvSpPr>
          <p:cNvPr id="5" name="object 5"/>
          <p:cNvSpPr txBox="1"/>
          <p:nvPr/>
        </p:nvSpPr>
        <p:spPr>
          <a:xfrm>
            <a:off x="1816626" y="9031287"/>
            <a:ext cx="3091180" cy="482600"/>
          </a:xfrm>
          <a:prstGeom prst="rect">
            <a:avLst/>
          </a:prstGeom>
        </p:spPr>
        <p:txBody>
          <a:bodyPr vert="horz" wrap="square" lIns="0" tIns="12700" rIns="0" bIns="0" rtlCol="0">
            <a:spAutoFit/>
          </a:bodyPr>
          <a:lstStyle/>
          <a:p>
            <a:pPr marL="12700">
              <a:lnSpc>
                <a:spcPct val="100000"/>
              </a:lnSpc>
              <a:spcBef>
                <a:spcPts val="100"/>
              </a:spcBef>
              <a:tabLst>
                <a:tab pos="1737995" algn="l"/>
              </a:tabLst>
            </a:pPr>
            <a:r>
              <a:rPr sz="3000" b="1" spc="254" dirty="0">
                <a:solidFill>
                  <a:srgbClr val="231F20"/>
                </a:solidFill>
                <a:latin typeface="Trebuchet MS"/>
                <a:cs typeface="Trebuchet MS"/>
              </a:rPr>
              <a:t>R</a:t>
            </a:r>
            <a:r>
              <a:rPr sz="3000" b="1" spc="40" dirty="0">
                <a:solidFill>
                  <a:srgbClr val="231F20"/>
                </a:solidFill>
                <a:latin typeface="Trebuchet MS"/>
                <a:cs typeface="Trebuchet MS"/>
              </a:rPr>
              <a:t>A</a:t>
            </a:r>
            <a:r>
              <a:rPr sz="3000" b="1" spc="-30" dirty="0">
                <a:solidFill>
                  <a:srgbClr val="231F20"/>
                </a:solidFill>
                <a:latin typeface="Trebuchet MS"/>
                <a:cs typeface="Trebuchet MS"/>
              </a:rPr>
              <a:t>N</a:t>
            </a:r>
            <a:r>
              <a:rPr sz="3000" b="1" spc="120" dirty="0">
                <a:solidFill>
                  <a:srgbClr val="231F20"/>
                </a:solidFill>
                <a:latin typeface="Trebuchet MS"/>
                <a:cs typeface="Trebuchet MS"/>
              </a:rPr>
              <a:t>D</a:t>
            </a:r>
            <a:r>
              <a:rPr sz="3000" b="1" spc="-65" dirty="0">
                <a:solidFill>
                  <a:srgbClr val="231F20"/>
                </a:solidFill>
                <a:latin typeface="Trebuchet MS"/>
                <a:cs typeface="Trebuchet MS"/>
              </a:rPr>
              <a:t>O</a:t>
            </a:r>
            <a:r>
              <a:rPr sz="3000" b="1" spc="-125" dirty="0">
                <a:solidFill>
                  <a:srgbClr val="231F20"/>
                </a:solidFill>
                <a:latin typeface="Trebuchet MS"/>
                <a:cs typeface="Trebuchet MS"/>
              </a:rPr>
              <a:t>M</a:t>
            </a:r>
            <a:r>
              <a:rPr sz="3000" b="1" dirty="0">
                <a:solidFill>
                  <a:srgbClr val="231F20"/>
                </a:solidFill>
                <a:latin typeface="Trebuchet MS"/>
                <a:cs typeface="Trebuchet MS"/>
              </a:rPr>
              <a:t>	</a:t>
            </a:r>
            <a:r>
              <a:rPr sz="3000" b="1" spc="-160" dirty="0">
                <a:solidFill>
                  <a:srgbClr val="231F20"/>
                </a:solidFill>
                <a:latin typeface="Trebuchet MS"/>
                <a:cs typeface="Trebuchet MS"/>
              </a:rPr>
              <a:t>F</a:t>
            </a:r>
            <a:r>
              <a:rPr sz="3000" b="1" spc="-65" dirty="0">
                <a:solidFill>
                  <a:srgbClr val="231F20"/>
                </a:solidFill>
                <a:latin typeface="Trebuchet MS"/>
                <a:cs typeface="Trebuchet MS"/>
              </a:rPr>
              <a:t>O</a:t>
            </a:r>
            <a:r>
              <a:rPr sz="3000" b="1" spc="254" dirty="0">
                <a:solidFill>
                  <a:srgbClr val="231F20"/>
                </a:solidFill>
                <a:latin typeface="Trebuchet MS"/>
                <a:cs typeface="Trebuchet MS"/>
              </a:rPr>
              <a:t>R</a:t>
            </a:r>
            <a:r>
              <a:rPr sz="3000" b="1" spc="-80" dirty="0">
                <a:solidFill>
                  <a:srgbClr val="231F20"/>
                </a:solidFill>
                <a:latin typeface="Trebuchet MS"/>
                <a:cs typeface="Trebuchet MS"/>
              </a:rPr>
              <a:t>E</a:t>
            </a:r>
            <a:r>
              <a:rPr sz="3000" b="1" spc="295" dirty="0">
                <a:solidFill>
                  <a:srgbClr val="231F20"/>
                </a:solidFill>
                <a:latin typeface="Trebuchet MS"/>
                <a:cs typeface="Trebuchet MS"/>
              </a:rPr>
              <a:t>S</a:t>
            </a:r>
            <a:r>
              <a:rPr sz="3000" b="1" spc="-505" dirty="0">
                <a:solidFill>
                  <a:srgbClr val="231F20"/>
                </a:solidFill>
                <a:latin typeface="Trebuchet MS"/>
                <a:cs typeface="Trebuchet MS"/>
              </a:rPr>
              <a:t>T</a:t>
            </a:r>
            <a:endParaRPr sz="3000">
              <a:latin typeface="Trebuchet MS"/>
              <a:cs typeface="Trebuchet MS"/>
            </a:endParaRPr>
          </a:p>
        </p:txBody>
      </p:sp>
      <p:sp>
        <p:nvSpPr>
          <p:cNvPr id="6" name="object 6"/>
          <p:cNvSpPr txBox="1"/>
          <p:nvPr/>
        </p:nvSpPr>
        <p:spPr>
          <a:xfrm>
            <a:off x="9842021" y="9031287"/>
            <a:ext cx="1838325" cy="482600"/>
          </a:xfrm>
          <a:prstGeom prst="rect">
            <a:avLst/>
          </a:prstGeom>
        </p:spPr>
        <p:txBody>
          <a:bodyPr vert="horz" wrap="square" lIns="0" tIns="12700" rIns="0" bIns="0" rtlCol="0">
            <a:spAutoFit/>
          </a:bodyPr>
          <a:lstStyle/>
          <a:p>
            <a:pPr marL="12700">
              <a:lnSpc>
                <a:spcPct val="100000"/>
              </a:lnSpc>
              <a:spcBef>
                <a:spcPts val="100"/>
              </a:spcBef>
              <a:tabLst>
                <a:tab pos="640080" algn="l"/>
              </a:tabLst>
            </a:pPr>
            <a:r>
              <a:rPr sz="3000" b="1" spc="30" dirty="0">
                <a:solidFill>
                  <a:srgbClr val="231F20"/>
                </a:solidFill>
                <a:latin typeface="Trebuchet MS"/>
                <a:cs typeface="Trebuchet MS"/>
              </a:rPr>
              <a:t>X</a:t>
            </a:r>
            <a:r>
              <a:rPr sz="3000" b="1" spc="-270" dirty="0">
                <a:solidFill>
                  <a:srgbClr val="231F20"/>
                </a:solidFill>
                <a:latin typeface="Trebuchet MS"/>
                <a:cs typeface="Trebuchet MS"/>
              </a:rPr>
              <a:t>G</a:t>
            </a:r>
            <a:r>
              <a:rPr sz="3000" b="1" dirty="0">
                <a:solidFill>
                  <a:srgbClr val="231F20"/>
                </a:solidFill>
                <a:latin typeface="Trebuchet MS"/>
                <a:cs typeface="Trebuchet MS"/>
              </a:rPr>
              <a:t>	</a:t>
            </a:r>
            <a:r>
              <a:rPr sz="3000" b="1" spc="265" dirty="0">
                <a:solidFill>
                  <a:srgbClr val="231F20"/>
                </a:solidFill>
                <a:latin typeface="Trebuchet MS"/>
                <a:cs typeface="Trebuchet MS"/>
              </a:rPr>
              <a:t>B</a:t>
            </a:r>
            <a:r>
              <a:rPr sz="3000" b="1" spc="-65" dirty="0">
                <a:solidFill>
                  <a:srgbClr val="231F20"/>
                </a:solidFill>
                <a:latin typeface="Trebuchet MS"/>
                <a:cs typeface="Trebuchet MS"/>
              </a:rPr>
              <a:t>OO</a:t>
            </a:r>
            <a:r>
              <a:rPr sz="3000" b="1" spc="295" dirty="0">
                <a:solidFill>
                  <a:srgbClr val="231F20"/>
                </a:solidFill>
                <a:latin typeface="Trebuchet MS"/>
                <a:cs typeface="Trebuchet MS"/>
              </a:rPr>
              <a:t>S</a:t>
            </a:r>
            <a:r>
              <a:rPr sz="3000" b="1" spc="-505" dirty="0">
                <a:solidFill>
                  <a:srgbClr val="231F20"/>
                </a:solidFill>
                <a:latin typeface="Trebuchet MS"/>
                <a:cs typeface="Trebuchet MS"/>
              </a:rPr>
              <a:t>T</a:t>
            </a:r>
            <a:endParaRPr sz="3000">
              <a:latin typeface="Trebuchet MS"/>
              <a:cs typeface="Trebuchet M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a:extLst>
              <a:ext uri="{28A0092B-C50C-407E-A947-70E740481C1C}">
                <a14:useLocalDpi xmlns:a14="http://schemas.microsoft.com/office/drawing/2010/main" val="0"/>
              </a:ext>
            </a:extLst>
          </a:blip>
          <a:srcRect/>
          <a:stretch/>
        </p:blipFill>
        <p:spPr>
          <a:xfrm>
            <a:off x="5615314" y="419100"/>
            <a:ext cx="6562071" cy="8486774"/>
          </a:xfrm>
          <a:prstGeom prst="rect">
            <a:avLst/>
          </a:prstGeom>
        </p:spPr>
      </p:pic>
      <p:sp>
        <p:nvSpPr>
          <p:cNvPr id="4" name="object 4"/>
          <p:cNvSpPr txBox="1"/>
          <p:nvPr/>
        </p:nvSpPr>
        <p:spPr>
          <a:xfrm>
            <a:off x="7848600" y="9372221"/>
            <a:ext cx="2780030" cy="482600"/>
          </a:xfrm>
          <a:prstGeom prst="rect">
            <a:avLst/>
          </a:prstGeom>
        </p:spPr>
        <p:txBody>
          <a:bodyPr vert="horz" wrap="square" lIns="0" tIns="12700" rIns="0" bIns="0" rtlCol="0">
            <a:spAutoFit/>
          </a:bodyPr>
          <a:lstStyle/>
          <a:p>
            <a:pPr marL="12700">
              <a:lnSpc>
                <a:spcPct val="100000"/>
              </a:lnSpc>
              <a:spcBef>
                <a:spcPts val="100"/>
              </a:spcBef>
              <a:tabLst>
                <a:tab pos="1916430" algn="l"/>
              </a:tabLst>
            </a:pPr>
            <a:r>
              <a:rPr lang="en-US" sz="3000" b="1" spc="120" dirty="0">
                <a:solidFill>
                  <a:srgbClr val="231F20"/>
                </a:solidFill>
                <a:latin typeface="Trebuchet MS"/>
                <a:cs typeface="Trebuchet MS"/>
              </a:rPr>
              <a:t>Light GBM</a:t>
            </a:r>
            <a:endParaRPr sz="3000" dirty="0">
              <a:latin typeface="Trebuchet MS"/>
              <a:cs typeface="Trebuchet M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a:extLst>
              <a:ext uri="{28A0092B-C50C-407E-A947-70E740481C1C}">
                <a14:useLocalDpi xmlns:a14="http://schemas.microsoft.com/office/drawing/2010/main" val="0"/>
              </a:ext>
            </a:extLst>
          </a:blip>
          <a:srcRect/>
          <a:stretch/>
        </p:blipFill>
        <p:spPr>
          <a:xfrm>
            <a:off x="5054488" y="1714500"/>
            <a:ext cx="8362949" cy="6366958"/>
          </a:xfrm>
          <a:prstGeom prst="rect">
            <a:avLst/>
          </a:prstGeom>
        </p:spPr>
      </p:pic>
      <p:sp>
        <p:nvSpPr>
          <p:cNvPr id="4" name="object 4"/>
          <p:cNvSpPr txBox="1"/>
          <p:nvPr/>
        </p:nvSpPr>
        <p:spPr>
          <a:xfrm>
            <a:off x="7543800" y="8994446"/>
            <a:ext cx="4552950" cy="482600"/>
          </a:xfrm>
          <a:prstGeom prst="rect">
            <a:avLst/>
          </a:prstGeom>
        </p:spPr>
        <p:txBody>
          <a:bodyPr vert="horz" wrap="square" lIns="0" tIns="12700" rIns="0" bIns="0" rtlCol="0">
            <a:spAutoFit/>
          </a:bodyPr>
          <a:lstStyle/>
          <a:p>
            <a:pPr marL="12700">
              <a:lnSpc>
                <a:spcPct val="100000"/>
              </a:lnSpc>
              <a:spcBef>
                <a:spcPts val="100"/>
              </a:spcBef>
              <a:tabLst>
                <a:tab pos="3357245" algn="l"/>
              </a:tabLst>
            </a:pPr>
            <a:r>
              <a:rPr sz="3000" b="1" spc="80" dirty="0">
                <a:solidFill>
                  <a:srgbClr val="231F20"/>
                </a:solidFill>
                <a:latin typeface="Trebuchet MS"/>
                <a:cs typeface="Trebuchet MS"/>
              </a:rPr>
              <a:t>COMPARATIVE-</a:t>
            </a:r>
            <a:r>
              <a:rPr sz="3000" b="1" spc="-610" dirty="0">
                <a:solidFill>
                  <a:srgbClr val="231F20"/>
                </a:solidFill>
                <a:latin typeface="Trebuchet MS"/>
                <a:cs typeface="Trebuchet MS"/>
              </a:rPr>
              <a:t> </a:t>
            </a:r>
            <a:r>
              <a:rPr lang="en-US" sz="3000" b="1" spc="-450" dirty="0">
                <a:solidFill>
                  <a:srgbClr val="231F20"/>
                </a:solidFill>
                <a:latin typeface="Trebuchet MS"/>
                <a:cs typeface="Trebuchet MS"/>
              </a:rPr>
              <a:t>ROC</a:t>
            </a:r>
            <a:endParaRPr sz="3000" dirty="0">
              <a:latin typeface="Trebuchet MS"/>
              <a:cs typeface="Trebuchet MS"/>
            </a:endParaRPr>
          </a:p>
        </p:txBody>
      </p:sp>
      <p:sp>
        <p:nvSpPr>
          <p:cNvPr id="6" name="object 6"/>
          <p:cNvSpPr txBox="1">
            <a:spLocks noGrp="1"/>
          </p:cNvSpPr>
          <p:nvPr>
            <p:ph type="title"/>
          </p:nvPr>
        </p:nvSpPr>
        <p:spPr>
          <a:xfrm>
            <a:off x="5448188" y="267702"/>
            <a:ext cx="7575550" cy="787400"/>
          </a:xfrm>
          <a:prstGeom prst="rect">
            <a:avLst/>
          </a:prstGeom>
        </p:spPr>
        <p:txBody>
          <a:bodyPr vert="horz" wrap="square" lIns="0" tIns="12700" rIns="0" bIns="0" rtlCol="0">
            <a:spAutoFit/>
          </a:bodyPr>
          <a:lstStyle/>
          <a:p>
            <a:pPr marL="12700">
              <a:lnSpc>
                <a:spcPct val="100000"/>
              </a:lnSpc>
              <a:spcBef>
                <a:spcPts val="100"/>
              </a:spcBef>
              <a:tabLst>
                <a:tab pos="4632325" algn="l"/>
              </a:tabLst>
            </a:pPr>
            <a:r>
              <a:rPr spc="95" dirty="0"/>
              <a:t>COMPARATIVE	</a:t>
            </a:r>
            <a:r>
              <a:rPr spc="125" dirty="0"/>
              <a:t>ANALYSIS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a:extLst>
              <a:ext uri="{28A0092B-C50C-407E-A947-70E740481C1C}">
                <a14:useLocalDpi xmlns:a14="http://schemas.microsoft.com/office/drawing/2010/main" val="0"/>
              </a:ext>
            </a:extLst>
          </a:blip>
          <a:srcRect/>
          <a:stretch/>
        </p:blipFill>
        <p:spPr>
          <a:xfrm>
            <a:off x="1552575" y="2781300"/>
            <a:ext cx="15182849" cy="3772528"/>
          </a:xfrm>
          <a:prstGeom prst="rect">
            <a:avLst/>
          </a:prstGeom>
        </p:spPr>
      </p:pic>
      <p:sp>
        <p:nvSpPr>
          <p:cNvPr id="4" name="object 4"/>
          <p:cNvSpPr txBox="1"/>
          <p:nvPr/>
        </p:nvSpPr>
        <p:spPr>
          <a:xfrm>
            <a:off x="6781800" y="7581900"/>
            <a:ext cx="4996815" cy="421640"/>
          </a:xfrm>
          <a:prstGeom prst="rect">
            <a:avLst/>
          </a:prstGeom>
        </p:spPr>
        <p:txBody>
          <a:bodyPr vert="horz" wrap="square" lIns="0" tIns="12700" rIns="0" bIns="0" rtlCol="0">
            <a:spAutoFit/>
          </a:bodyPr>
          <a:lstStyle/>
          <a:p>
            <a:pPr marL="12700">
              <a:lnSpc>
                <a:spcPct val="100000"/>
              </a:lnSpc>
              <a:spcBef>
                <a:spcPts val="100"/>
              </a:spcBef>
            </a:pPr>
            <a:r>
              <a:rPr sz="2600" b="1" spc="110" dirty="0">
                <a:solidFill>
                  <a:srgbClr val="231F20"/>
                </a:solidFill>
                <a:latin typeface="Trebuchet MS"/>
                <a:cs typeface="Trebuchet MS"/>
              </a:rPr>
              <a:t>COMPARISION</a:t>
            </a:r>
            <a:r>
              <a:rPr sz="2600" b="1" spc="360" dirty="0">
                <a:solidFill>
                  <a:srgbClr val="231F20"/>
                </a:solidFill>
                <a:latin typeface="Trebuchet MS"/>
                <a:cs typeface="Trebuchet MS"/>
              </a:rPr>
              <a:t> </a:t>
            </a:r>
            <a:r>
              <a:rPr sz="2600" b="1" spc="-225" dirty="0">
                <a:solidFill>
                  <a:srgbClr val="231F20"/>
                </a:solidFill>
                <a:latin typeface="Trebuchet MS"/>
                <a:cs typeface="Trebuchet MS"/>
              </a:rPr>
              <a:t>OF</a:t>
            </a:r>
            <a:r>
              <a:rPr sz="2600" b="1" spc="360" dirty="0">
                <a:solidFill>
                  <a:srgbClr val="231F20"/>
                </a:solidFill>
                <a:latin typeface="Trebuchet MS"/>
                <a:cs typeface="Trebuchet MS"/>
              </a:rPr>
              <a:t> </a:t>
            </a:r>
            <a:r>
              <a:rPr sz="2600" b="1" spc="50" dirty="0">
                <a:solidFill>
                  <a:srgbClr val="231F20"/>
                </a:solidFill>
                <a:latin typeface="Trebuchet MS"/>
                <a:cs typeface="Trebuchet MS"/>
              </a:rPr>
              <a:t>ALGORITHMS</a:t>
            </a:r>
            <a:endParaRPr sz="2600" dirty="0">
              <a:latin typeface="Trebuchet MS"/>
              <a:cs typeface="Trebuchet M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8288000" cy="10287000"/>
            <a:chOff x="0" y="0"/>
            <a:chExt cx="18288000" cy="10287000"/>
          </a:xfrm>
        </p:grpSpPr>
        <p:pic>
          <p:nvPicPr>
            <p:cNvPr id="3" name="object 3"/>
            <p:cNvPicPr/>
            <p:nvPr/>
          </p:nvPicPr>
          <p:blipFill>
            <a:blip r:embed="rId2" cstate="print"/>
            <a:stretch>
              <a:fillRect/>
            </a:stretch>
          </p:blipFill>
          <p:spPr>
            <a:xfrm>
              <a:off x="0" y="0"/>
              <a:ext cx="18287999" cy="10286999"/>
            </a:xfrm>
            <a:prstGeom prst="rect">
              <a:avLst/>
            </a:prstGeom>
          </p:spPr>
        </p:pic>
        <p:sp>
          <p:nvSpPr>
            <p:cNvPr id="4" name="object 4"/>
            <p:cNvSpPr/>
            <p:nvPr/>
          </p:nvSpPr>
          <p:spPr>
            <a:xfrm>
              <a:off x="2991466" y="1918684"/>
              <a:ext cx="1602105" cy="2498725"/>
            </a:xfrm>
            <a:custGeom>
              <a:avLst/>
              <a:gdLst/>
              <a:ahLst/>
              <a:cxnLst/>
              <a:rect l="l" t="t" r="r" b="b"/>
              <a:pathLst>
                <a:path w="1602104" h="2498725">
                  <a:moveTo>
                    <a:pt x="812698" y="2498496"/>
                  </a:moveTo>
                  <a:lnTo>
                    <a:pt x="760126" y="2482260"/>
                  </a:lnTo>
                  <a:lnTo>
                    <a:pt x="497615" y="2027088"/>
                  </a:lnTo>
                  <a:lnTo>
                    <a:pt x="379880" y="1806297"/>
                  </a:lnTo>
                  <a:lnTo>
                    <a:pt x="290821" y="1630145"/>
                  </a:lnTo>
                  <a:lnTo>
                    <a:pt x="233599" y="1511091"/>
                  </a:lnTo>
                  <a:lnTo>
                    <a:pt x="179661" y="1392861"/>
                  </a:lnTo>
                  <a:lnTo>
                    <a:pt x="130345" y="1277275"/>
                  </a:lnTo>
                  <a:lnTo>
                    <a:pt x="86992" y="1166150"/>
                  </a:lnTo>
                  <a:lnTo>
                    <a:pt x="67971" y="1112828"/>
                  </a:lnTo>
                  <a:lnTo>
                    <a:pt x="50942" y="1061303"/>
                  </a:lnTo>
                  <a:lnTo>
                    <a:pt x="36073" y="1011802"/>
                  </a:lnTo>
                  <a:lnTo>
                    <a:pt x="23533" y="964553"/>
                  </a:lnTo>
                  <a:lnTo>
                    <a:pt x="13488" y="919783"/>
                  </a:lnTo>
                  <a:lnTo>
                    <a:pt x="6105" y="877718"/>
                  </a:lnTo>
                  <a:lnTo>
                    <a:pt x="1553" y="838587"/>
                  </a:lnTo>
                  <a:lnTo>
                    <a:pt x="0" y="802616"/>
                  </a:lnTo>
                  <a:lnTo>
                    <a:pt x="964" y="763221"/>
                  </a:lnTo>
                  <a:lnTo>
                    <a:pt x="6022" y="704331"/>
                  </a:lnTo>
                  <a:lnTo>
                    <a:pt x="15387" y="645986"/>
                  </a:lnTo>
                  <a:lnTo>
                    <a:pt x="29006" y="588489"/>
                  </a:lnTo>
                  <a:lnTo>
                    <a:pt x="46811" y="532141"/>
                  </a:lnTo>
                  <a:lnTo>
                    <a:pt x="68704" y="477259"/>
                  </a:lnTo>
                  <a:lnTo>
                    <a:pt x="94558" y="424151"/>
                  </a:lnTo>
                  <a:lnTo>
                    <a:pt x="124239" y="373093"/>
                  </a:lnTo>
                  <a:lnTo>
                    <a:pt x="157593" y="324353"/>
                  </a:lnTo>
                  <a:lnTo>
                    <a:pt x="194434" y="278206"/>
                  </a:lnTo>
                  <a:lnTo>
                    <a:pt x="234552" y="234909"/>
                  </a:lnTo>
                  <a:lnTo>
                    <a:pt x="277739" y="194688"/>
                  </a:lnTo>
                  <a:lnTo>
                    <a:pt x="323769" y="157754"/>
                  </a:lnTo>
                  <a:lnTo>
                    <a:pt x="372385" y="124315"/>
                  </a:lnTo>
                  <a:lnTo>
                    <a:pt x="423312" y="94558"/>
                  </a:lnTo>
                  <a:lnTo>
                    <a:pt x="476285" y="68637"/>
                  </a:lnTo>
                  <a:lnTo>
                    <a:pt x="531027" y="46689"/>
                  </a:lnTo>
                  <a:lnTo>
                    <a:pt x="587232" y="28839"/>
                  </a:lnTo>
                  <a:lnTo>
                    <a:pt x="644583" y="15185"/>
                  </a:lnTo>
                  <a:lnTo>
                    <a:pt x="702780" y="5796"/>
                  </a:lnTo>
                  <a:lnTo>
                    <a:pt x="761520" y="724"/>
                  </a:lnTo>
                  <a:lnTo>
                    <a:pt x="820473" y="0"/>
                  </a:lnTo>
                  <a:lnTo>
                    <a:pt x="879307" y="3624"/>
                  </a:lnTo>
                  <a:lnTo>
                    <a:pt x="937717" y="11576"/>
                  </a:lnTo>
                  <a:lnTo>
                    <a:pt x="995396" y="23818"/>
                  </a:lnTo>
                  <a:lnTo>
                    <a:pt x="1052020" y="40281"/>
                  </a:lnTo>
                  <a:lnTo>
                    <a:pt x="1107272" y="60872"/>
                  </a:lnTo>
                  <a:lnTo>
                    <a:pt x="1160864" y="85481"/>
                  </a:lnTo>
                  <a:lnTo>
                    <a:pt x="1212515" y="113981"/>
                  </a:lnTo>
                  <a:lnTo>
                    <a:pt x="1261934" y="146214"/>
                  </a:lnTo>
                  <a:lnTo>
                    <a:pt x="1308845" y="181998"/>
                  </a:lnTo>
                  <a:lnTo>
                    <a:pt x="1353004" y="221144"/>
                  </a:lnTo>
                  <a:lnTo>
                    <a:pt x="1394178" y="263449"/>
                  </a:lnTo>
                  <a:lnTo>
                    <a:pt x="1432137" y="308677"/>
                  </a:lnTo>
                  <a:lnTo>
                    <a:pt x="1466666" y="356572"/>
                  </a:lnTo>
                  <a:lnTo>
                    <a:pt x="1497589" y="406883"/>
                  </a:lnTo>
                  <a:lnTo>
                    <a:pt x="1524742" y="459349"/>
                  </a:lnTo>
                  <a:lnTo>
                    <a:pt x="1547970" y="513677"/>
                  </a:lnTo>
                  <a:lnTo>
                    <a:pt x="1567145" y="569558"/>
                  </a:lnTo>
                  <a:lnTo>
                    <a:pt x="1582169" y="626703"/>
                  </a:lnTo>
                  <a:lnTo>
                    <a:pt x="1592961" y="684812"/>
                  </a:lnTo>
                  <a:lnTo>
                    <a:pt x="1599459" y="743560"/>
                  </a:lnTo>
                  <a:lnTo>
                    <a:pt x="1601628" y="802616"/>
                  </a:lnTo>
                  <a:lnTo>
                    <a:pt x="1600074" y="838587"/>
                  </a:lnTo>
                  <a:lnTo>
                    <a:pt x="1595522" y="877718"/>
                  </a:lnTo>
                  <a:lnTo>
                    <a:pt x="1588139" y="919783"/>
                  </a:lnTo>
                  <a:lnTo>
                    <a:pt x="1578094" y="964553"/>
                  </a:lnTo>
                  <a:lnTo>
                    <a:pt x="1565554" y="1011802"/>
                  </a:lnTo>
                  <a:lnTo>
                    <a:pt x="1550686" y="1061303"/>
                  </a:lnTo>
                  <a:lnTo>
                    <a:pt x="1533658" y="1112828"/>
                  </a:lnTo>
                  <a:lnTo>
                    <a:pt x="1514637" y="1166150"/>
                  </a:lnTo>
                  <a:lnTo>
                    <a:pt x="1471286" y="1277275"/>
                  </a:lnTo>
                  <a:lnTo>
                    <a:pt x="1421972" y="1392861"/>
                  </a:lnTo>
                  <a:lnTo>
                    <a:pt x="1368035" y="1511091"/>
                  </a:lnTo>
                  <a:lnTo>
                    <a:pt x="1310814" y="1630145"/>
                  </a:lnTo>
                  <a:lnTo>
                    <a:pt x="1221757" y="1806297"/>
                  </a:lnTo>
                  <a:lnTo>
                    <a:pt x="1132847" y="1974080"/>
                  </a:lnTo>
                  <a:lnTo>
                    <a:pt x="997267" y="2218456"/>
                  </a:lnTo>
                  <a:lnTo>
                    <a:pt x="848719" y="2472716"/>
                  </a:lnTo>
                  <a:lnTo>
                    <a:pt x="812698" y="2498496"/>
                  </a:lnTo>
                  <a:close/>
                </a:path>
              </a:pathLst>
            </a:custGeom>
            <a:solidFill>
              <a:srgbClr val="000000"/>
            </a:solidFill>
          </p:spPr>
          <p:txBody>
            <a:bodyPr wrap="square" lIns="0" tIns="0" rIns="0" bIns="0" rtlCol="0"/>
            <a:lstStyle/>
            <a:p>
              <a:endParaRPr/>
            </a:p>
          </p:txBody>
        </p:sp>
      </p:grpSp>
      <p:pic>
        <p:nvPicPr>
          <p:cNvPr id="5" name="object 5"/>
          <p:cNvPicPr/>
          <p:nvPr/>
        </p:nvPicPr>
        <p:blipFill>
          <a:blip r:embed="rId3" cstate="print"/>
          <a:stretch>
            <a:fillRect/>
          </a:stretch>
        </p:blipFill>
        <p:spPr>
          <a:xfrm>
            <a:off x="14531674" y="6978471"/>
            <a:ext cx="3763048" cy="3308123"/>
          </a:xfrm>
          <a:prstGeom prst="rect">
            <a:avLst/>
          </a:prstGeom>
        </p:spPr>
      </p:pic>
      <p:grpSp>
        <p:nvGrpSpPr>
          <p:cNvPr id="6" name="object 6"/>
          <p:cNvGrpSpPr/>
          <p:nvPr/>
        </p:nvGrpSpPr>
        <p:grpSpPr>
          <a:xfrm>
            <a:off x="1570490" y="1918684"/>
            <a:ext cx="15147290" cy="2814955"/>
            <a:chOff x="1570490" y="1918684"/>
            <a:chExt cx="15147290" cy="2814955"/>
          </a:xfrm>
        </p:grpSpPr>
        <p:sp>
          <p:nvSpPr>
            <p:cNvPr id="7" name="object 7"/>
            <p:cNvSpPr/>
            <p:nvPr/>
          </p:nvSpPr>
          <p:spPr>
            <a:xfrm>
              <a:off x="1589540" y="4430951"/>
              <a:ext cx="15109190" cy="0"/>
            </a:xfrm>
            <a:custGeom>
              <a:avLst/>
              <a:gdLst/>
              <a:ahLst/>
              <a:cxnLst/>
              <a:rect l="l" t="t" r="r" b="b"/>
              <a:pathLst>
                <a:path w="15109190">
                  <a:moveTo>
                    <a:pt x="0" y="0"/>
                  </a:moveTo>
                  <a:lnTo>
                    <a:pt x="15108917" y="0"/>
                  </a:lnTo>
                </a:path>
              </a:pathLst>
            </a:custGeom>
            <a:ln w="38099">
              <a:solidFill>
                <a:srgbClr val="000000"/>
              </a:solidFill>
            </a:ln>
          </p:spPr>
          <p:txBody>
            <a:bodyPr wrap="square" lIns="0" tIns="0" rIns="0" bIns="0" rtlCol="0"/>
            <a:lstStyle/>
            <a:p>
              <a:endParaRPr/>
            </a:p>
          </p:txBody>
        </p:sp>
        <p:sp>
          <p:nvSpPr>
            <p:cNvPr id="8" name="object 8"/>
            <p:cNvSpPr/>
            <p:nvPr/>
          </p:nvSpPr>
          <p:spPr>
            <a:xfrm>
              <a:off x="3542437" y="4180409"/>
              <a:ext cx="501650" cy="501650"/>
            </a:xfrm>
            <a:custGeom>
              <a:avLst/>
              <a:gdLst/>
              <a:ahLst/>
              <a:cxnLst/>
              <a:rect l="l" t="t" r="r" b="b"/>
              <a:pathLst>
                <a:path w="501650" h="501650">
                  <a:moveTo>
                    <a:pt x="250543" y="501081"/>
                  </a:moveTo>
                  <a:lnTo>
                    <a:pt x="205505" y="497045"/>
                  </a:lnTo>
                  <a:lnTo>
                    <a:pt x="163118" y="485407"/>
                  </a:lnTo>
                  <a:lnTo>
                    <a:pt x="124087" y="466875"/>
                  </a:lnTo>
                  <a:lnTo>
                    <a:pt x="89120" y="442157"/>
                  </a:lnTo>
                  <a:lnTo>
                    <a:pt x="58923" y="411961"/>
                  </a:lnTo>
                  <a:lnTo>
                    <a:pt x="34205" y="376993"/>
                  </a:lnTo>
                  <a:lnTo>
                    <a:pt x="15674" y="337962"/>
                  </a:lnTo>
                  <a:lnTo>
                    <a:pt x="4036" y="295576"/>
                  </a:lnTo>
                  <a:lnTo>
                    <a:pt x="0" y="250538"/>
                  </a:lnTo>
                  <a:lnTo>
                    <a:pt x="4036" y="205505"/>
                  </a:lnTo>
                  <a:lnTo>
                    <a:pt x="15674" y="163119"/>
                  </a:lnTo>
                  <a:lnTo>
                    <a:pt x="34205" y="124088"/>
                  </a:lnTo>
                  <a:lnTo>
                    <a:pt x="58923" y="89120"/>
                  </a:lnTo>
                  <a:lnTo>
                    <a:pt x="89120" y="58924"/>
                  </a:lnTo>
                  <a:lnTo>
                    <a:pt x="124087" y="34206"/>
                  </a:lnTo>
                  <a:lnTo>
                    <a:pt x="163118" y="15674"/>
                  </a:lnTo>
                  <a:lnTo>
                    <a:pt x="205505" y="4036"/>
                  </a:lnTo>
                  <a:lnTo>
                    <a:pt x="250540" y="0"/>
                  </a:lnTo>
                  <a:lnTo>
                    <a:pt x="295575" y="4036"/>
                  </a:lnTo>
                  <a:lnTo>
                    <a:pt x="337962" y="15674"/>
                  </a:lnTo>
                  <a:lnTo>
                    <a:pt x="376993" y="34206"/>
                  </a:lnTo>
                  <a:lnTo>
                    <a:pt x="411961" y="58924"/>
                  </a:lnTo>
                  <a:lnTo>
                    <a:pt x="442157" y="89120"/>
                  </a:lnTo>
                  <a:lnTo>
                    <a:pt x="466875" y="124088"/>
                  </a:lnTo>
                  <a:lnTo>
                    <a:pt x="485407" y="163119"/>
                  </a:lnTo>
                  <a:lnTo>
                    <a:pt x="497045" y="205505"/>
                  </a:lnTo>
                  <a:lnTo>
                    <a:pt x="501081" y="250541"/>
                  </a:lnTo>
                  <a:lnTo>
                    <a:pt x="497045" y="295576"/>
                  </a:lnTo>
                  <a:lnTo>
                    <a:pt x="485407" y="337962"/>
                  </a:lnTo>
                  <a:lnTo>
                    <a:pt x="466875" y="376993"/>
                  </a:lnTo>
                  <a:lnTo>
                    <a:pt x="442157" y="411961"/>
                  </a:lnTo>
                  <a:lnTo>
                    <a:pt x="411961" y="442157"/>
                  </a:lnTo>
                  <a:lnTo>
                    <a:pt x="376993" y="466875"/>
                  </a:lnTo>
                  <a:lnTo>
                    <a:pt x="337962" y="485407"/>
                  </a:lnTo>
                  <a:lnTo>
                    <a:pt x="295575" y="497045"/>
                  </a:lnTo>
                  <a:lnTo>
                    <a:pt x="250543" y="501081"/>
                  </a:lnTo>
                  <a:close/>
                </a:path>
              </a:pathLst>
            </a:custGeom>
            <a:solidFill>
              <a:srgbClr val="121211"/>
            </a:solidFill>
          </p:spPr>
          <p:txBody>
            <a:bodyPr wrap="square" lIns="0" tIns="0" rIns="0" bIns="0" rtlCol="0"/>
            <a:lstStyle/>
            <a:p>
              <a:endParaRPr/>
            </a:p>
          </p:txBody>
        </p:sp>
        <p:sp>
          <p:nvSpPr>
            <p:cNvPr id="9" name="object 9"/>
            <p:cNvSpPr/>
            <p:nvPr/>
          </p:nvSpPr>
          <p:spPr>
            <a:xfrm>
              <a:off x="6479352" y="1918684"/>
              <a:ext cx="1602105" cy="2498725"/>
            </a:xfrm>
            <a:custGeom>
              <a:avLst/>
              <a:gdLst/>
              <a:ahLst/>
              <a:cxnLst/>
              <a:rect l="l" t="t" r="r" b="b"/>
              <a:pathLst>
                <a:path w="1602104" h="2498725">
                  <a:moveTo>
                    <a:pt x="812698" y="2498496"/>
                  </a:moveTo>
                  <a:lnTo>
                    <a:pt x="760126" y="2482260"/>
                  </a:lnTo>
                  <a:lnTo>
                    <a:pt x="497615" y="2027088"/>
                  </a:lnTo>
                  <a:lnTo>
                    <a:pt x="379880" y="1806297"/>
                  </a:lnTo>
                  <a:lnTo>
                    <a:pt x="290821" y="1630145"/>
                  </a:lnTo>
                  <a:lnTo>
                    <a:pt x="233599" y="1511091"/>
                  </a:lnTo>
                  <a:lnTo>
                    <a:pt x="179661" y="1392861"/>
                  </a:lnTo>
                  <a:lnTo>
                    <a:pt x="130345" y="1277275"/>
                  </a:lnTo>
                  <a:lnTo>
                    <a:pt x="86992" y="1166150"/>
                  </a:lnTo>
                  <a:lnTo>
                    <a:pt x="67971" y="1112828"/>
                  </a:lnTo>
                  <a:lnTo>
                    <a:pt x="50942" y="1061303"/>
                  </a:lnTo>
                  <a:lnTo>
                    <a:pt x="36073" y="1011802"/>
                  </a:lnTo>
                  <a:lnTo>
                    <a:pt x="23533" y="964553"/>
                  </a:lnTo>
                  <a:lnTo>
                    <a:pt x="13488" y="919783"/>
                  </a:lnTo>
                  <a:lnTo>
                    <a:pt x="6105" y="877718"/>
                  </a:lnTo>
                  <a:lnTo>
                    <a:pt x="1553" y="838587"/>
                  </a:lnTo>
                  <a:lnTo>
                    <a:pt x="0" y="802616"/>
                  </a:lnTo>
                  <a:lnTo>
                    <a:pt x="964" y="763221"/>
                  </a:lnTo>
                  <a:lnTo>
                    <a:pt x="6022" y="704331"/>
                  </a:lnTo>
                  <a:lnTo>
                    <a:pt x="15387" y="645986"/>
                  </a:lnTo>
                  <a:lnTo>
                    <a:pt x="29006" y="588489"/>
                  </a:lnTo>
                  <a:lnTo>
                    <a:pt x="46811" y="532141"/>
                  </a:lnTo>
                  <a:lnTo>
                    <a:pt x="68704" y="477259"/>
                  </a:lnTo>
                  <a:lnTo>
                    <a:pt x="94558" y="424151"/>
                  </a:lnTo>
                  <a:lnTo>
                    <a:pt x="124239" y="373093"/>
                  </a:lnTo>
                  <a:lnTo>
                    <a:pt x="157593" y="324353"/>
                  </a:lnTo>
                  <a:lnTo>
                    <a:pt x="194434" y="278206"/>
                  </a:lnTo>
                  <a:lnTo>
                    <a:pt x="234552" y="234909"/>
                  </a:lnTo>
                  <a:lnTo>
                    <a:pt x="277739" y="194688"/>
                  </a:lnTo>
                  <a:lnTo>
                    <a:pt x="323769" y="157754"/>
                  </a:lnTo>
                  <a:lnTo>
                    <a:pt x="372385" y="124315"/>
                  </a:lnTo>
                  <a:lnTo>
                    <a:pt x="423312" y="94558"/>
                  </a:lnTo>
                  <a:lnTo>
                    <a:pt x="476285" y="68637"/>
                  </a:lnTo>
                  <a:lnTo>
                    <a:pt x="531027" y="46689"/>
                  </a:lnTo>
                  <a:lnTo>
                    <a:pt x="587232" y="28839"/>
                  </a:lnTo>
                  <a:lnTo>
                    <a:pt x="644583" y="15185"/>
                  </a:lnTo>
                  <a:lnTo>
                    <a:pt x="702780" y="5796"/>
                  </a:lnTo>
                  <a:lnTo>
                    <a:pt x="761520" y="724"/>
                  </a:lnTo>
                  <a:lnTo>
                    <a:pt x="820473" y="0"/>
                  </a:lnTo>
                  <a:lnTo>
                    <a:pt x="879307" y="3624"/>
                  </a:lnTo>
                  <a:lnTo>
                    <a:pt x="937717" y="11576"/>
                  </a:lnTo>
                  <a:lnTo>
                    <a:pt x="995396" y="23818"/>
                  </a:lnTo>
                  <a:lnTo>
                    <a:pt x="1052020" y="40281"/>
                  </a:lnTo>
                  <a:lnTo>
                    <a:pt x="1107272" y="60872"/>
                  </a:lnTo>
                  <a:lnTo>
                    <a:pt x="1160864" y="85481"/>
                  </a:lnTo>
                  <a:lnTo>
                    <a:pt x="1212515" y="113981"/>
                  </a:lnTo>
                  <a:lnTo>
                    <a:pt x="1261934" y="146214"/>
                  </a:lnTo>
                  <a:lnTo>
                    <a:pt x="1308845" y="181998"/>
                  </a:lnTo>
                  <a:lnTo>
                    <a:pt x="1353004" y="221144"/>
                  </a:lnTo>
                  <a:lnTo>
                    <a:pt x="1394178" y="263449"/>
                  </a:lnTo>
                  <a:lnTo>
                    <a:pt x="1432137" y="308677"/>
                  </a:lnTo>
                  <a:lnTo>
                    <a:pt x="1466666" y="356572"/>
                  </a:lnTo>
                  <a:lnTo>
                    <a:pt x="1497589" y="406883"/>
                  </a:lnTo>
                  <a:lnTo>
                    <a:pt x="1524742" y="459349"/>
                  </a:lnTo>
                  <a:lnTo>
                    <a:pt x="1547970" y="513677"/>
                  </a:lnTo>
                  <a:lnTo>
                    <a:pt x="1567145" y="569558"/>
                  </a:lnTo>
                  <a:lnTo>
                    <a:pt x="1582169" y="626703"/>
                  </a:lnTo>
                  <a:lnTo>
                    <a:pt x="1592961" y="684812"/>
                  </a:lnTo>
                  <a:lnTo>
                    <a:pt x="1599459" y="743560"/>
                  </a:lnTo>
                  <a:lnTo>
                    <a:pt x="1601628" y="802616"/>
                  </a:lnTo>
                  <a:lnTo>
                    <a:pt x="1600074" y="838587"/>
                  </a:lnTo>
                  <a:lnTo>
                    <a:pt x="1595522" y="877718"/>
                  </a:lnTo>
                  <a:lnTo>
                    <a:pt x="1588139" y="919783"/>
                  </a:lnTo>
                  <a:lnTo>
                    <a:pt x="1578094" y="964553"/>
                  </a:lnTo>
                  <a:lnTo>
                    <a:pt x="1565554" y="1011802"/>
                  </a:lnTo>
                  <a:lnTo>
                    <a:pt x="1550686" y="1061303"/>
                  </a:lnTo>
                  <a:lnTo>
                    <a:pt x="1533658" y="1112828"/>
                  </a:lnTo>
                  <a:lnTo>
                    <a:pt x="1514637" y="1166150"/>
                  </a:lnTo>
                  <a:lnTo>
                    <a:pt x="1471286" y="1277275"/>
                  </a:lnTo>
                  <a:lnTo>
                    <a:pt x="1421972" y="1392861"/>
                  </a:lnTo>
                  <a:lnTo>
                    <a:pt x="1368035" y="1511091"/>
                  </a:lnTo>
                  <a:lnTo>
                    <a:pt x="1310814" y="1630145"/>
                  </a:lnTo>
                  <a:lnTo>
                    <a:pt x="1221757" y="1806297"/>
                  </a:lnTo>
                  <a:lnTo>
                    <a:pt x="1132847" y="1974080"/>
                  </a:lnTo>
                  <a:lnTo>
                    <a:pt x="997267" y="2218456"/>
                  </a:lnTo>
                  <a:lnTo>
                    <a:pt x="848719" y="2472716"/>
                  </a:lnTo>
                  <a:lnTo>
                    <a:pt x="812698" y="2498496"/>
                  </a:lnTo>
                  <a:close/>
                </a:path>
              </a:pathLst>
            </a:custGeom>
            <a:solidFill>
              <a:srgbClr val="000000"/>
            </a:solidFill>
          </p:spPr>
          <p:txBody>
            <a:bodyPr wrap="square" lIns="0" tIns="0" rIns="0" bIns="0" rtlCol="0"/>
            <a:lstStyle/>
            <a:p>
              <a:endParaRPr/>
            </a:p>
          </p:txBody>
        </p:sp>
        <p:sp>
          <p:nvSpPr>
            <p:cNvPr id="10" name="object 10"/>
            <p:cNvSpPr/>
            <p:nvPr/>
          </p:nvSpPr>
          <p:spPr>
            <a:xfrm>
              <a:off x="7030737" y="4232437"/>
              <a:ext cx="501650" cy="501650"/>
            </a:xfrm>
            <a:custGeom>
              <a:avLst/>
              <a:gdLst/>
              <a:ahLst/>
              <a:cxnLst/>
              <a:rect l="l" t="t" r="r" b="b"/>
              <a:pathLst>
                <a:path w="501650" h="501650">
                  <a:moveTo>
                    <a:pt x="250546" y="501081"/>
                  </a:moveTo>
                  <a:lnTo>
                    <a:pt x="205505" y="497045"/>
                  </a:lnTo>
                  <a:lnTo>
                    <a:pt x="163118" y="485407"/>
                  </a:lnTo>
                  <a:lnTo>
                    <a:pt x="124087" y="466875"/>
                  </a:lnTo>
                  <a:lnTo>
                    <a:pt x="89120" y="442157"/>
                  </a:lnTo>
                  <a:lnTo>
                    <a:pt x="58923" y="411961"/>
                  </a:lnTo>
                  <a:lnTo>
                    <a:pt x="34206" y="376993"/>
                  </a:lnTo>
                  <a:lnTo>
                    <a:pt x="15674" y="337962"/>
                  </a:lnTo>
                  <a:lnTo>
                    <a:pt x="4036" y="295576"/>
                  </a:lnTo>
                  <a:lnTo>
                    <a:pt x="0" y="250542"/>
                  </a:lnTo>
                  <a:lnTo>
                    <a:pt x="4036" y="205505"/>
                  </a:lnTo>
                  <a:lnTo>
                    <a:pt x="15674" y="163119"/>
                  </a:lnTo>
                  <a:lnTo>
                    <a:pt x="34206" y="124088"/>
                  </a:lnTo>
                  <a:lnTo>
                    <a:pt x="58923" y="89120"/>
                  </a:lnTo>
                  <a:lnTo>
                    <a:pt x="89120" y="58924"/>
                  </a:lnTo>
                  <a:lnTo>
                    <a:pt x="124087" y="34206"/>
                  </a:lnTo>
                  <a:lnTo>
                    <a:pt x="163118" y="15674"/>
                  </a:lnTo>
                  <a:lnTo>
                    <a:pt x="205505" y="4036"/>
                  </a:lnTo>
                  <a:lnTo>
                    <a:pt x="250540" y="0"/>
                  </a:lnTo>
                  <a:lnTo>
                    <a:pt x="295575" y="4036"/>
                  </a:lnTo>
                  <a:lnTo>
                    <a:pt x="337962" y="15674"/>
                  </a:lnTo>
                  <a:lnTo>
                    <a:pt x="376993" y="34206"/>
                  </a:lnTo>
                  <a:lnTo>
                    <a:pt x="411961" y="58924"/>
                  </a:lnTo>
                  <a:lnTo>
                    <a:pt x="442157" y="89120"/>
                  </a:lnTo>
                  <a:lnTo>
                    <a:pt x="466875" y="124088"/>
                  </a:lnTo>
                  <a:lnTo>
                    <a:pt x="485407" y="163119"/>
                  </a:lnTo>
                  <a:lnTo>
                    <a:pt x="497045" y="205505"/>
                  </a:lnTo>
                  <a:lnTo>
                    <a:pt x="501081" y="250539"/>
                  </a:lnTo>
                  <a:lnTo>
                    <a:pt x="497045" y="295576"/>
                  </a:lnTo>
                  <a:lnTo>
                    <a:pt x="485407" y="337962"/>
                  </a:lnTo>
                  <a:lnTo>
                    <a:pt x="466875" y="376993"/>
                  </a:lnTo>
                  <a:lnTo>
                    <a:pt x="442157" y="411961"/>
                  </a:lnTo>
                  <a:lnTo>
                    <a:pt x="411961" y="442157"/>
                  </a:lnTo>
                  <a:lnTo>
                    <a:pt x="376993" y="466875"/>
                  </a:lnTo>
                  <a:lnTo>
                    <a:pt x="337962" y="485407"/>
                  </a:lnTo>
                  <a:lnTo>
                    <a:pt x="295575" y="497045"/>
                  </a:lnTo>
                  <a:lnTo>
                    <a:pt x="250546" y="501081"/>
                  </a:lnTo>
                  <a:close/>
                </a:path>
              </a:pathLst>
            </a:custGeom>
            <a:solidFill>
              <a:srgbClr val="121211"/>
            </a:solidFill>
          </p:spPr>
          <p:txBody>
            <a:bodyPr wrap="square" lIns="0" tIns="0" rIns="0" bIns="0" rtlCol="0"/>
            <a:lstStyle/>
            <a:p>
              <a:endParaRPr/>
            </a:p>
          </p:txBody>
        </p:sp>
        <p:sp>
          <p:nvSpPr>
            <p:cNvPr id="11" name="object 11"/>
            <p:cNvSpPr/>
            <p:nvPr/>
          </p:nvSpPr>
          <p:spPr>
            <a:xfrm>
              <a:off x="9970322" y="1918684"/>
              <a:ext cx="1602105" cy="2498725"/>
            </a:xfrm>
            <a:custGeom>
              <a:avLst/>
              <a:gdLst/>
              <a:ahLst/>
              <a:cxnLst/>
              <a:rect l="l" t="t" r="r" b="b"/>
              <a:pathLst>
                <a:path w="1602104" h="2498725">
                  <a:moveTo>
                    <a:pt x="812698" y="2498496"/>
                  </a:moveTo>
                  <a:lnTo>
                    <a:pt x="760126" y="2482260"/>
                  </a:lnTo>
                  <a:lnTo>
                    <a:pt x="497615" y="2027088"/>
                  </a:lnTo>
                  <a:lnTo>
                    <a:pt x="379880" y="1806297"/>
                  </a:lnTo>
                  <a:lnTo>
                    <a:pt x="290821" y="1630145"/>
                  </a:lnTo>
                  <a:lnTo>
                    <a:pt x="233599" y="1511091"/>
                  </a:lnTo>
                  <a:lnTo>
                    <a:pt x="179661" y="1392861"/>
                  </a:lnTo>
                  <a:lnTo>
                    <a:pt x="130345" y="1277275"/>
                  </a:lnTo>
                  <a:lnTo>
                    <a:pt x="86992" y="1166150"/>
                  </a:lnTo>
                  <a:lnTo>
                    <a:pt x="67971" y="1112828"/>
                  </a:lnTo>
                  <a:lnTo>
                    <a:pt x="50942" y="1061303"/>
                  </a:lnTo>
                  <a:lnTo>
                    <a:pt x="36073" y="1011802"/>
                  </a:lnTo>
                  <a:lnTo>
                    <a:pt x="23533" y="964553"/>
                  </a:lnTo>
                  <a:lnTo>
                    <a:pt x="13488" y="919783"/>
                  </a:lnTo>
                  <a:lnTo>
                    <a:pt x="6105" y="877718"/>
                  </a:lnTo>
                  <a:lnTo>
                    <a:pt x="1553" y="838587"/>
                  </a:lnTo>
                  <a:lnTo>
                    <a:pt x="0" y="802616"/>
                  </a:lnTo>
                  <a:lnTo>
                    <a:pt x="964" y="763221"/>
                  </a:lnTo>
                  <a:lnTo>
                    <a:pt x="6022" y="704331"/>
                  </a:lnTo>
                  <a:lnTo>
                    <a:pt x="15387" y="645986"/>
                  </a:lnTo>
                  <a:lnTo>
                    <a:pt x="29006" y="588489"/>
                  </a:lnTo>
                  <a:lnTo>
                    <a:pt x="46811" y="532141"/>
                  </a:lnTo>
                  <a:lnTo>
                    <a:pt x="68704" y="477259"/>
                  </a:lnTo>
                  <a:lnTo>
                    <a:pt x="94558" y="424151"/>
                  </a:lnTo>
                  <a:lnTo>
                    <a:pt x="124239" y="373093"/>
                  </a:lnTo>
                  <a:lnTo>
                    <a:pt x="157593" y="324353"/>
                  </a:lnTo>
                  <a:lnTo>
                    <a:pt x="194434" y="278206"/>
                  </a:lnTo>
                  <a:lnTo>
                    <a:pt x="234552" y="234909"/>
                  </a:lnTo>
                  <a:lnTo>
                    <a:pt x="277739" y="194688"/>
                  </a:lnTo>
                  <a:lnTo>
                    <a:pt x="323769" y="157754"/>
                  </a:lnTo>
                  <a:lnTo>
                    <a:pt x="372385" y="124315"/>
                  </a:lnTo>
                  <a:lnTo>
                    <a:pt x="423312" y="94558"/>
                  </a:lnTo>
                  <a:lnTo>
                    <a:pt x="476285" y="68637"/>
                  </a:lnTo>
                  <a:lnTo>
                    <a:pt x="531027" y="46689"/>
                  </a:lnTo>
                  <a:lnTo>
                    <a:pt x="587232" y="28839"/>
                  </a:lnTo>
                  <a:lnTo>
                    <a:pt x="644583" y="15185"/>
                  </a:lnTo>
                  <a:lnTo>
                    <a:pt x="702780" y="5796"/>
                  </a:lnTo>
                  <a:lnTo>
                    <a:pt x="761520" y="724"/>
                  </a:lnTo>
                  <a:lnTo>
                    <a:pt x="820473" y="0"/>
                  </a:lnTo>
                  <a:lnTo>
                    <a:pt x="879307" y="3624"/>
                  </a:lnTo>
                  <a:lnTo>
                    <a:pt x="937717" y="11576"/>
                  </a:lnTo>
                  <a:lnTo>
                    <a:pt x="995396" y="23818"/>
                  </a:lnTo>
                  <a:lnTo>
                    <a:pt x="1052020" y="40281"/>
                  </a:lnTo>
                  <a:lnTo>
                    <a:pt x="1107272" y="60872"/>
                  </a:lnTo>
                  <a:lnTo>
                    <a:pt x="1160864" y="85481"/>
                  </a:lnTo>
                  <a:lnTo>
                    <a:pt x="1212515" y="113981"/>
                  </a:lnTo>
                  <a:lnTo>
                    <a:pt x="1261934" y="146214"/>
                  </a:lnTo>
                  <a:lnTo>
                    <a:pt x="1308845" y="181998"/>
                  </a:lnTo>
                  <a:lnTo>
                    <a:pt x="1353004" y="221144"/>
                  </a:lnTo>
                  <a:lnTo>
                    <a:pt x="1394178" y="263449"/>
                  </a:lnTo>
                  <a:lnTo>
                    <a:pt x="1432137" y="308677"/>
                  </a:lnTo>
                  <a:lnTo>
                    <a:pt x="1466666" y="356572"/>
                  </a:lnTo>
                  <a:lnTo>
                    <a:pt x="1497589" y="406883"/>
                  </a:lnTo>
                  <a:lnTo>
                    <a:pt x="1524742" y="459349"/>
                  </a:lnTo>
                  <a:lnTo>
                    <a:pt x="1547970" y="513677"/>
                  </a:lnTo>
                  <a:lnTo>
                    <a:pt x="1567145" y="569558"/>
                  </a:lnTo>
                  <a:lnTo>
                    <a:pt x="1582169" y="626703"/>
                  </a:lnTo>
                  <a:lnTo>
                    <a:pt x="1592961" y="684812"/>
                  </a:lnTo>
                  <a:lnTo>
                    <a:pt x="1599459" y="743560"/>
                  </a:lnTo>
                  <a:lnTo>
                    <a:pt x="1601628" y="802616"/>
                  </a:lnTo>
                  <a:lnTo>
                    <a:pt x="1600074" y="838587"/>
                  </a:lnTo>
                  <a:lnTo>
                    <a:pt x="1595522" y="877718"/>
                  </a:lnTo>
                  <a:lnTo>
                    <a:pt x="1588139" y="919783"/>
                  </a:lnTo>
                  <a:lnTo>
                    <a:pt x="1578094" y="964553"/>
                  </a:lnTo>
                  <a:lnTo>
                    <a:pt x="1565554" y="1011802"/>
                  </a:lnTo>
                  <a:lnTo>
                    <a:pt x="1550686" y="1061303"/>
                  </a:lnTo>
                  <a:lnTo>
                    <a:pt x="1533658" y="1112828"/>
                  </a:lnTo>
                  <a:lnTo>
                    <a:pt x="1514637" y="1166150"/>
                  </a:lnTo>
                  <a:lnTo>
                    <a:pt x="1471286" y="1277275"/>
                  </a:lnTo>
                  <a:lnTo>
                    <a:pt x="1421972" y="1392861"/>
                  </a:lnTo>
                  <a:lnTo>
                    <a:pt x="1368035" y="1511091"/>
                  </a:lnTo>
                  <a:lnTo>
                    <a:pt x="1310814" y="1630145"/>
                  </a:lnTo>
                  <a:lnTo>
                    <a:pt x="1221757" y="1806297"/>
                  </a:lnTo>
                  <a:lnTo>
                    <a:pt x="1132847" y="1974080"/>
                  </a:lnTo>
                  <a:lnTo>
                    <a:pt x="997267" y="2218456"/>
                  </a:lnTo>
                  <a:lnTo>
                    <a:pt x="848719" y="2472716"/>
                  </a:lnTo>
                  <a:lnTo>
                    <a:pt x="812698" y="2498496"/>
                  </a:lnTo>
                  <a:close/>
                </a:path>
              </a:pathLst>
            </a:custGeom>
            <a:solidFill>
              <a:srgbClr val="000000"/>
            </a:solidFill>
          </p:spPr>
          <p:txBody>
            <a:bodyPr wrap="square" lIns="0" tIns="0" rIns="0" bIns="0" rtlCol="0"/>
            <a:lstStyle/>
            <a:p>
              <a:endParaRPr/>
            </a:p>
          </p:txBody>
        </p:sp>
        <p:sp>
          <p:nvSpPr>
            <p:cNvPr id="12" name="object 12"/>
            <p:cNvSpPr/>
            <p:nvPr/>
          </p:nvSpPr>
          <p:spPr>
            <a:xfrm>
              <a:off x="10521294" y="4232437"/>
              <a:ext cx="501650" cy="501650"/>
            </a:xfrm>
            <a:custGeom>
              <a:avLst/>
              <a:gdLst/>
              <a:ahLst/>
              <a:cxnLst/>
              <a:rect l="l" t="t" r="r" b="b"/>
              <a:pathLst>
                <a:path w="501650" h="501650">
                  <a:moveTo>
                    <a:pt x="250546" y="501081"/>
                  </a:moveTo>
                  <a:lnTo>
                    <a:pt x="205505" y="497045"/>
                  </a:lnTo>
                  <a:lnTo>
                    <a:pt x="163118" y="485407"/>
                  </a:lnTo>
                  <a:lnTo>
                    <a:pt x="124087" y="466875"/>
                  </a:lnTo>
                  <a:lnTo>
                    <a:pt x="89120" y="442157"/>
                  </a:lnTo>
                  <a:lnTo>
                    <a:pt x="58923" y="411961"/>
                  </a:lnTo>
                  <a:lnTo>
                    <a:pt x="34205" y="376993"/>
                  </a:lnTo>
                  <a:lnTo>
                    <a:pt x="15673" y="337962"/>
                  </a:lnTo>
                  <a:lnTo>
                    <a:pt x="4035" y="295576"/>
                  </a:lnTo>
                  <a:lnTo>
                    <a:pt x="0" y="250534"/>
                  </a:lnTo>
                  <a:lnTo>
                    <a:pt x="4035" y="205505"/>
                  </a:lnTo>
                  <a:lnTo>
                    <a:pt x="15673" y="163119"/>
                  </a:lnTo>
                  <a:lnTo>
                    <a:pt x="34205" y="124088"/>
                  </a:lnTo>
                  <a:lnTo>
                    <a:pt x="58923" y="89120"/>
                  </a:lnTo>
                  <a:lnTo>
                    <a:pt x="89120" y="58924"/>
                  </a:lnTo>
                  <a:lnTo>
                    <a:pt x="124087" y="34206"/>
                  </a:lnTo>
                  <a:lnTo>
                    <a:pt x="163118" y="15674"/>
                  </a:lnTo>
                  <a:lnTo>
                    <a:pt x="205505" y="4036"/>
                  </a:lnTo>
                  <a:lnTo>
                    <a:pt x="250540" y="0"/>
                  </a:lnTo>
                  <a:lnTo>
                    <a:pt x="295575" y="4036"/>
                  </a:lnTo>
                  <a:lnTo>
                    <a:pt x="337962" y="15674"/>
                  </a:lnTo>
                  <a:lnTo>
                    <a:pt x="376993" y="34206"/>
                  </a:lnTo>
                  <a:lnTo>
                    <a:pt x="411960" y="58924"/>
                  </a:lnTo>
                  <a:lnTo>
                    <a:pt x="442157" y="89120"/>
                  </a:lnTo>
                  <a:lnTo>
                    <a:pt x="466875" y="124088"/>
                  </a:lnTo>
                  <a:lnTo>
                    <a:pt x="485406" y="163119"/>
                  </a:lnTo>
                  <a:lnTo>
                    <a:pt x="497044" y="205505"/>
                  </a:lnTo>
                  <a:lnTo>
                    <a:pt x="501080" y="250540"/>
                  </a:lnTo>
                  <a:lnTo>
                    <a:pt x="497044" y="295576"/>
                  </a:lnTo>
                  <a:lnTo>
                    <a:pt x="485406" y="337962"/>
                  </a:lnTo>
                  <a:lnTo>
                    <a:pt x="466875" y="376993"/>
                  </a:lnTo>
                  <a:lnTo>
                    <a:pt x="442157" y="411961"/>
                  </a:lnTo>
                  <a:lnTo>
                    <a:pt x="411960" y="442157"/>
                  </a:lnTo>
                  <a:lnTo>
                    <a:pt x="376993" y="466875"/>
                  </a:lnTo>
                  <a:lnTo>
                    <a:pt x="337962" y="485407"/>
                  </a:lnTo>
                  <a:lnTo>
                    <a:pt x="295575" y="497045"/>
                  </a:lnTo>
                  <a:lnTo>
                    <a:pt x="250546" y="501081"/>
                  </a:lnTo>
                  <a:close/>
                </a:path>
              </a:pathLst>
            </a:custGeom>
            <a:solidFill>
              <a:srgbClr val="121211"/>
            </a:solidFill>
          </p:spPr>
          <p:txBody>
            <a:bodyPr wrap="square" lIns="0" tIns="0" rIns="0" bIns="0" rtlCol="0"/>
            <a:lstStyle/>
            <a:p>
              <a:endParaRPr/>
            </a:p>
          </p:txBody>
        </p:sp>
        <p:sp>
          <p:nvSpPr>
            <p:cNvPr id="13" name="object 13"/>
            <p:cNvSpPr/>
            <p:nvPr/>
          </p:nvSpPr>
          <p:spPr>
            <a:xfrm>
              <a:off x="13460878" y="1918684"/>
              <a:ext cx="1602105" cy="2498725"/>
            </a:xfrm>
            <a:custGeom>
              <a:avLst/>
              <a:gdLst/>
              <a:ahLst/>
              <a:cxnLst/>
              <a:rect l="l" t="t" r="r" b="b"/>
              <a:pathLst>
                <a:path w="1602105" h="2498725">
                  <a:moveTo>
                    <a:pt x="812698" y="2498496"/>
                  </a:moveTo>
                  <a:lnTo>
                    <a:pt x="760126" y="2482260"/>
                  </a:lnTo>
                  <a:lnTo>
                    <a:pt x="497615" y="2027088"/>
                  </a:lnTo>
                  <a:lnTo>
                    <a:pt x="379880" y="1806297"/>
                  </a:lnTo>
                  <a:lnTo>
                    <a:pt x="290821" y="1630145"/>
                  </a:lnTo>
                  <a:lnTo>
                    <a:pt x="233599" y="1511091"/>
                  </a:lnTo>
                  <a:lnTo>
                    <a:pt x="179661" y="1392861"/>
                  </a:lnTo>
                  <a:lnTo>
                    <a:pt x="130345" y="1277275"/>
                  </a:lnTo>
                  <a:lnTo>
                    <a:pt x="86992" y="1166150"/>
                  </a:lnTo>
                  <a:lnTo>
                    <a:pt x="67971" y="1112828"/>
                  </a:lnTo>
                  <a:lnTo>
                    <a:pt x="50942" y="1061303"/>
                  </a:lnTo>
                  <a:lnTo>
                    <a:pt x="36073" y="1011802"/>
                  </a:lnTo>
                  <a:lnTo>
                    <a:pt x="23533" y="964553"/>
                  </a:lnTo>
                  <a:lnTo>
                    <a:pt x="13488" y="919783"/>
                  </a:lnTo>
                  <a:lnTo>
                    <a:pt x="6105" y="877718"/>
                  </a:lnTo>
                  <a:lnTo>
                    <a:pt x="1553" y="838587"/>
                  </a:lnTo>
                  <a:lnTo>
                    <a:pt x="0" y="802616"/>
                  </a:lnTo>
                  <a:lnTo>
                    <a:pt x="964" y="763221"/>
                  </a:lnTo>
                  <a:lnTo>
                    <a:pt x="6022" y="704331"/>
                  </a:lnTo>
                  <a:lnTo>
                    <a:pt x="15387" y="645986"/>
                  </a:lnTo>
                  <a:lnTo>
                    <a:pt x="29006" y="588489"/>
                  </a:lnTo>
                  <a:lnTo>
                    <a:pt x="46811" y="532141"/>
                  </a:lnTo>
                  <a:lnTo>
                    <a:pt x="68704" y="477259"/>
                  </a:lnTo>
                  <a:lnTo>
                    <a:pt x="94558" y="424151"/>
                  </a:lnTo>
                  <a:lnTo>
                    <a:pt x="124239" y="373093"/>
                  </a:lnTo>
                  <a:lnTo>
                    <a:pt x="157593" y="324353"/>
                  </a:lnTo>
                  <a:lnTo>
                    <a:pt x="194434" y="278206"/>
                  </a:lnTo>
                  <a:lnTo>
                    <a:pt x="234552" y="234909"/>
                  </a:lnTo>
                  <a:lnTo>
                    <a:pt x="277739" y="194688"/>
                  </a:lnTo>
                  <a:lnTo>
                    <a:pt x="323769" y="157754"/>
                  </a:lnTo>
                  <a:lnTo>
                    <a:pt x="372385" y="124315"/>
                  </a:lnTo>
                  <a:lnTo>
                    <a:pt x="423312" y="94558"/>
                  </a:lnTo>
                  <a:lnTo>
                    <a:pt x="476285" y="68637"/>
                  </a:lnTo>
                  <a:lnTo>
                    <a:pt x="531027" y="46689"/>
                  </a:lnTo>
                  <a:lnTo>
                    <a:pt x="587232" y="28839"/>
                  </a:lnTo>
                  <a:lnTo>
                    <a:pt x="644583" y="15185"/>
                  </a:lnTo>
                  <a:lnTo>
                    <a:pt x="702780" y="5796"/>
                  </a:lnTo>
                  <a:lnTo>
                    <a:pt x="761520" y="724"/>
                  </a:lnTo>
                  <a:lnTo>
                    <a:pt x="820473" y="0"/>
                  </a:lnTo>
                  <a:lnTo>
                    <a:pt x="879307" y="3624"/>
                  </a:lnTo>
                  <a:lnTo>
                    <a:pt x="937717" y="11576"/>
                  </a:lnTo>
                  <a:lnTo>
                    <a:pt x="995396" y="23818"/>
                  </a:lnTo>
                  <a:lnTo>
                    <a:pt x="1052020" y="40281"/>
                  </a:lnTo>
                  <a:lnTo>
                    <a:pt x="1107272" y="60872"/>
                  </a:lnTo>
                  <a:lnTo>
                    <a:pt x="1160864" y="85481"/>
                  </a:lnTo>
                  <a:lnTo>
                    <a:pt x="1212515" y="113981"/>
                  </a:lnTo>
                  <a:lnTo>
                    <a:pt x="1261934" y="146214"/>
                  </a:lnTo>
                  <a:lnTo>
                    <a:pt x="1308845" y="181998"/>
                  </a:lnTo>
                  <a:lnTo>
                    <a:pt x="1353004" y="221144"/>
                  </a:lnTo>
                  <a:lnTo>
                    <a:pt x="1394178" y="263449"/>
                  </a:lnTo>
                  <a:lnTo>
                    <a:pt x="1432137" y="308677"/>
                  </a:lnTo>
                  <a:lnTo>
                    <a:pt x="1466666" y="356572"/>
                  </a:lnTo>
                  <a:lnTo>
                    <a:pt x="1497589" y="406883"/>
                  </a:lnTo>
                  <a:lnTo>
                    <a:pt x="1524742" y="459349"/>
                  </a:lnTo>
                  <a:lnTo>
                    <a:pt x="1547970" y="513677"/>
                  </a:lnTo>
                  <a:lnTo>
                    <a:pt x="1567145" y="569558"/>
                  </a:lnTo>
                  <a:lnTo>
                    <a:pt x="1582169" y="626703"/>
                  </a:lnTo>
                  <a:lnTo>
                    <a:pt x="1592961" y="684812"/>
                  </a:lnTo>
                  <a:lnTo>
                    <a:pt x="1599459" y="743560"/>
                  </a:lnTo>
                  <a:lnTo>
                    <a:pt x="1601628" y="802616"/>
                  </a:lnTo>
                  <a:lnTo>
                    <a:pt x="1600074" y="838587"/>
                  </a:lnTo>
                  <a:lnTo>
                    <a:pt x="1595522" y="877718"/>
                  </a:lnTo>
                  <a:lnTo>
                    <a:pt x="1588139" y="919783"/>
                  </a:lnTo>
                  <a:lnTo>
                    <a:pt x="1578094" y="964553"/>
                  </a:lnTo>
                  <a:lnTo>
                    <a:pt x="1565554" y="1011802"/>
                  </a:lnTo>
                  <a:lnTo>
                    <a:pt x="1550686" y="1061303"/>
                  </a:lnTo>
                  <a:lnTo>
                    <a:pt x="1533658" y="1112828"/>
                  </a:lnTo>
                  <a:lnTo>
                    <a:pt x="1514637" y="1166150"/>
                  </a:lnTo>
                  <a:lnTo>
                    <a:pt x="1471286" y="1277275"/>
                  </a:lnTo>
                  <a:lnTo>
                    <a:pt x="1421972" y="1392861"/>
                  </a:lnTo>
                  <a:lnTo>
                    <a:pt x="1368035" y="1511091"/>
                  </a:lnTo>
                  <a:lnTo>
                    <a:pt x="1310814" y="1630145"/>
                  </a:lnTo>
                  <a:lnTo>
                    <a:pt x="1221757" y="1806297"/>
                  </a:lnTo>
                  <a:lnTo>
                    <a:pt x="1132847" y="1974080"/>
                  </a:lnTo>
                  <a:lnTo>
                    <a:pt x="997267" y="2218456"/>
                  </a:lnTo>
                  <a:lnTo>
                    <a:pt x="848719" y="2472716"/>
                  </a:lnTo>
                  <a:lnTo>
                    <a:pt x="812698" y="2498496"/>
                  </a:lnTo>
                  <a:close/>
                </a:path>
              </a:pathLst>
            </a:custGeom>
            <a:solidFill>
              <a:srgbClr val="000000"/>
            </a:solidFill>
          </p:spPr>
          <p:txBody>
            <a:bodyPr wrap="square" lIns="0" tIns="0" rIns="0" bIns="0" rtlCol="0"/>
            <a:lstStyle/>
            <a:p>
              <a:endParaRPr/>
            </a:p>
          </p:txBody>
        </p:sp>
        <p:sp>
          <p:nvSpPr>
            <p:cNvPr id="14" name="object 14"/>
            <p:cNvSpPr/>
            <p:nvPr/>
          </p:nvSpPr>
          <p:spPr>
            <a:xfrm>
              <a:off x="14011852" y="4180409"/>
              <a:ext cx="501650" cy="501650"/>
            </a:xfrm>
            <a:custGeom>
              <a:avLst/>
              <a:gdLst/>
              <a:ahLst/>
              <a:cxnLst/>
              <a:rect l="l" t="t" r="r" b="b"/>
              <a:pathLst>
                <a:path w="501650" h="501650">
                  <a:moveTo>
                    <a:pt x="250542" y="501081"/>
                  </a:moveTo>
                  <a:lnTo>
                    <a:pt x="205504" y="497045"/>
                  </a:lnTo>
                  <a:lnTo>
                    <a:pt x="163118" y="485407"/>
                  </a:lnTo>
                  <a:lnTo>
                    <a:pt x="124087" y="466875"/>
                  </a:lnTo>
                  <a:lnTo>
                    <a:pt x="89119" y="442157"/>
                  </a:lnTo>
                  <a:lnTo>
                    <a:pt x="58923" y="411961"/>
                  </a:lnTo>
                  <a:lnTo>
                    <a:pt x="34205" y="376993"/>
                  </a:lnTo>
                  <a:lnTo>
                    <a:pt x="15674" y="337962"/>
                  </a:lnTo>
                  <a:lnTo>
                    <a:pt x="4036" y="295576"/>
                  </a:lnTo>
                  <a:lnTo>
                    <a:pt x="0" y="250537"/>
                  </a:lnTo>
                  <a:lnTo>
                    <a:pt x="4036" y="205505"/>
                  </a:lnTo>
                  <a:lnTo>
                    <a:pt x="15674" y="163119"/>
                  </a:lnTo>
                  <a:lnTo>
                    <a:pt x="34205" y="124088"/>
                  </a:lnTo>
                  <a:lnTo>
                    <a:pt x="58923" y="89120"/>
                  </a:lnTo>
                  <a:lnTo>
                    <a:pt x="89119" y="58924"/>
                  </a:lnTo>
                  <a:lnTo>
                    <a:pt x="124087" y="34206"/>
                  </a:lnTo>
                  <a:lnTo>
                    <a:pt x="163118" y="15674"/>
                  </a:lnTo>
                  <a:lnTo>
                    <a:pt x="205504" y="4036"/>
                  </a:lnTo>
                  <a:lnTo>
                    <a:pt x="250539" y="0"/>
                  </a:lnTo>
                  <a:lnTo>
                    <a:pt x="295574" y="4036"/>
                  </a:lnTo>
                  <a:lnTo>
                    <a:pt x="337961" y="15674"/>
                  </a:lnTo>
                  <a:lnTo>
                    <a:pt x="376992" y="34206"/>
                  </a:lnTo>
                  <a:lnTo>
                    <a:pt x="411960" y="58924"/>
                  </a:lnTo>
                  <a:lnTo>
                    <a:pt x="442157" y="89120"/>
                  </a:lnTo>
                  <a:lnTo>
                    <a:pt x="466875" y="124088"/>
                  </a:lnTo>
                  <a:lnTo>
                    <a:pt x="485406" y="163119"/>
                  </a:lnTo>
                  <a:lnTo>
                    <a:pt x="497044" y="205505"/>
                  </a:lnTo>
                  <a:lnTo>
                    <a:pt x="501080" y="250541"/>
                  </a:lnTo>
                  <a:lnTo>
                    <a:pt x="497044" y="295576"/>
                  </a:lnTo>
                  <a:lnTo>
                    <a:pt x="485406" y="337962"/>
                  </a:lnTo>
                  <a:lnTo>
                    <a:pt x="466875" y="376993"/>
                  </a:lnTo>
                  <a:lnTo>
                    <a:pt x="442157" y="411961"/>
                  </a:lnTo>
                  <a:lnTo>
                    <a:pt x="411960" y="442157"/>
                  </a:lnTo>
                  <a:lnTo>
                    <a:pt x="376992" y="466875"/>
                  </a:lnTo>
                  <a:lnTo>
                    <a:pt x="337961" y="485407"/>
                  </a:lnTo>
                  <a:lnTo>
                    <a:pt x="295574" y="497045"/>
                  </a:lnTo>
                  <a:lnTo>
                    <a:pt x="250542" y="501081"/>
                  </a:lnTo>
                  <a:close/>
                </a:path>
              </a:pathLst>
            </a:custGeom>
            <a:solidFill>
              <a:srgbClr val="121211"/>
            </a:solidFill>
          </p:spPr>
          <p:txBody>
            <a:bodyPr wrap="square" lIns="0" tIns="0" rIns="0" bIns="0" rtlCol="0"/>
            <a:lstStyle/>
            <a:p>
              <a:endParaRPr/>
            </a:p>
          </p:txBody>
        </p:sp>
      </p:grpSp>
      <p:sp>
        <p:nvSpPr>
          <p:cNvPr id="15" name="object 15"/>
          <p:cNvSpPr txBox="1"/>
          <p:nvPr/>
        </p:nvSpPr>
        <p:spPr>
          <a:xfrm>
            <a:off x="1915903" y="5111072"/>
            <a:ext cx="3179445" cy="4005455"/>
          </a:xfrm>
          <a:prstGeom prst="rect">
            <a:avLst/>
          </a:prstGeom>
        </p:spPr>
        <p:txBody>
          <a:bodyPr vert="horz" wrap="square" lIns="0" tIns="12700" rIns="0" bIns="0" rtlCol="0">
            <a:spAutoFit/>
          </a:bodyPr>
          <a:lstStyle/>
          <a:p>
            <a:pPr marL="60960" marR="120014" algn="ctr">
              <a:lnSpc>
                <a:spcPct val="114399"/>
              </a:lnSpc>
              <a:spcBef>
                <a:spcPts val="100"/>
              </a:spcBef>
            </a:pPr>
            <a:r>
              <a:rPr lang="en-US" sz="3200" dirty="0"/>
              <a:t>Browser-based Phishing Detection Extensions</a:t>
            </a:r>
            <a:r>
              <a:rPr lang="en-US" sz="1850" spc="215" dirty="0">
                <a:solidFill>
                  <a:srgbClr val="231F20"/>
                </a:solidFill>
                <a:latin typeface="Tahoma"/>
                <a:cs typeface="Tahoma"/>
              </a:rPr>
              <a:t>:</a:t>
            </a:r>
          </a:p>
          <a:p>
            <a:pPr marL="60960" marR="120014" algn="ctr">
              <a:lnSpc>
                <a:spcPct val="114399"/>
              </a:lnSpc>
              <a:spcBef>
                <a:spcPts val="100"/>
              </a:spcBef>
            </a:pPr>
            <a:r>
              <a:rPr sz="1850" spc="254" dirty="0">
                <a:solidFill>
                  <a:srgbClr val="231F20"/>
                </a:solidFill>
                <a:latin typeface="Tahoma"/>
                <a:cs typeface="Tahoma"/>
              </a:rPr>
              <a:t> </a:t>
            </a:r>
            <a:r>
              <a:rPr lang="en-US" sz="2000" dirty="0"/>
              <a:t>Integrating phishing detection algorithms directly into web browsers to warn users before visiting malicious sites.</a:t>
            </a:r>
            <a:endParaRPr sz="1850" dirty="0">
              <a:latin typeface="Tahoma"/>
              <a:cs typeface="Tahoma"/>
            </a:endParaRPr>
          </a:p>
        </p:txBody>
      </p:sp>
      <p:sp>
        <p:nvSpPr>
          <p:cNvPr id="16" name="object 16"/>
          <p:cNvSpPr txBox="1"/>
          <p:nvPr/>
        </p:nvSpPr>
        <p:spPr>
          <a:xfrm>
            <a:off x="3295265" y="2379377"/>
            <a:ext cx="11589385" cy="1035050"/>
          </a:xfrm>
          <a:prstGeom prst="rect">
            <a:avLst/>
          </a:prstGeom>
        </p:spPr>
        <p:txBody>
          <a:bodyPr vert="horz" wrap="square" lIns="0" tIns="15875" rIns="0" bIns="0" rtlCol="0">
            <a:spAutoFit/>
          </a:bodyPr>
          <a:lstStyle/>
          <a:p>
            <a:pPr marL="12700">
              <a:lnSpc>
                <a:spcPct val="100000"/>
              </a:lnSpc>
              <a:spcBef>
                <a:spcPts val="125"/>
              </a:spcBef>
              <a:tabLst>
                <a:tab pos="3405504" algn="l"/>
                <a:tab pos="6885305" algn="l"/>
                <a:tab pos="10357485" algn="l"/>
              </a:tabLst>
            </a:pPr>
            <a:r>
              <a:rPr sz="6600" b="1" spc="1480" dirty="0">
                <a:solidFill>
                  <a:srgbClr val="FFFAFA"/>
                </a:solidFill>
                <a:latin typeface="Trebuchet MS"/>
                <a:cs typeface="Trebuchet MS"/>
              </a:rPr>
              <a:t>0</a:t>
            </a:r>
            <a:r>
              <a:rPr sz="6600" b="1" spc="-1585" dirty="0">
                <a:solidFill>
                  <a:srgbClr val="FFFAFA"/>
                </a:solidFill>
                <a:latin typeface="Trebuchet MS"/>
                <a:cs typeface="Trebuchet MS"/>
              </a:rPr>
              <a:t>1</a:t>
            </a:r>
            <a:r>
              <a:rPr sz="6600" b="1" dirty="0">
                <a:solidFill>
                  <a:srgbClr val="FFFAFA"/>
                </a:solidFill>
                <a:latin typeface="Trebuchet MS"/>
                <a:cs typeface="Trebuchet MS"/>
              </a:rPr>
              <a:t>	</a:t>
            </a:r>
            <a:r>
              <a:rPr sz="6600" b="1" spc="1480" dirty="0">
                <a:solidFill>
                  <a:srgbClr val="FFFAFA"/>
                </a:solidFill>
                <a:latin typeface="Trebuchet MS"/>
                <a:cs typeface="Trebuchet MS"/>
              </a:rPr>
              <a:t>0</a:t>
            </a:r>
            <a:r>
              <a:rPr sz="6600" b="1" spc="-85" dirty="0">
                <a:solidFill>
                  <a:srgbClr val="FFFAFA"/>
                </a:solidFill>
                <a:latin typeface="Trebuchet MS"/>
                <a:cs typeface="Trebuchet MS"/>
              </a:rPr>
              <a:t>2</a:t>
            </a:r>
            <a:r>
              <a:rPr sz="6600" b="1" dirty="0">
                <a:solidFill>
                  <a:srgbClr val="FFFAFA"/>
                </a:solidFill>
                <a:latin typeface="Trebuchet MS"/>
                <a:cs typeface="Trebuchet MS"/>
              </a:rPr>
              <a:t>	</a:t>
            </a:r>
            <a:r>
              <a:rPr sz="6600" b="1" spc="1480" dirty="0">
                <a:solidFill>
                  <a:srgbClr val="FFFAFA"/>
                </a:solidFill>
                <a:latin typeface="Trebuchet MS"/>
                <a:cs typeface="Trebuchet MS"/>
              </a:rPr>
              <a:t>0</a:t>
            </a:r>
            <a:r>
              <a:rPr sz="6600" b="1" spc="80" dirty="0">
                <a:solidFill>
                  <a:srgbClr val="FFFAFA"/>
                </a:solidFill>
                <a:latin typeface="Trebuchet MS"/>
                <a:cs typeface="Trebuchet MS"/>
              </a:rPr>
              <a:t>3</a:t>
            </a:r>
            <a:r>
              <a:rPr sz="6600" b="1" dirty="0">
                <a:solidFill>
                  <a:srgbClr val="FFFAFA"/>
                </a:solidFill>
                <a:latin typeface="Trebuchet MS"/>
                <a:cs typeface="Trebuchet MS"/>
              </a:rPr>
              <a:t>	</a:t>
            </a:r>
            <a:r>
              <a:rPr sz="6600" b="1" spc="1480" dirty="0">
                <a:solidFill>
                  <a:srgbClr val="FFFAFA"/>
                </a:solidFill>
                <a:latin typeface="Trebuchet MS"/>
                <a:cs typeface="Trebuchet MS"/>
              </a:rPr>
              <a:t>0</a:t>
            </a:r>
            <a:r>
              <a:rPr sz="6600" b="1" spc="375" dirty="0">
                <a:solidFill>
                  <a:srgbClr val="FFFAFA"/>
                </a:solidFill>
                <a:latin typeface="Trebuchet MS"/>
                <a:cs typeface="Trebuchet MS"/>
              </a:rPr>
              <a:t>4</a:t>
            </a:r>
            <a:endParaRPr sz="6600">
              <a:latin typeface="Trebuchet MS"/>
              <a:cs typeface="Trebuchet MS"/>
            </a:endParaRPr>
          </a:p>
        </p:txBody>
      </p:sp>
      <p:sp>
        <p:nvSpPr>
          <p:cNvPr id="17" name="object 17"/>
          <p:cNvSpPr txBox="1"/>
          <p:nvPr/>
        </p:nvSpPr>
        <p:spPr>
          <a:xfrm>
            <a:off x="5725456" y="5111072"/>
            <a:ext cx="3112135" cy="3791807"/>
          </a:xfrm>
          <a:prstGeom prst="rect">
            <a:avLst/>
          </a:prstGeom>
        </p:spPr>
        <p:txBody>
          <a:bodyPr vert="horz" wrap="square" lIns="0" tIns="12700" rIns="0" bIns="0" rtlCol="0">
            <a:spAutoFit/>
          </a:bodyPr>
          <a:lstStyle/>
          <a:p>
            <a:pPr marL="379730" marR="373380" indent="110489" algn="ctr">
              <a:lnSpc>
                <a:spcPct val="114399"/>
              </a:lnSpc>
              <a:spcBef>
                <a:spcPts val="100"/>
              </a:spcBef>
            </a:pPr>
            <a:r>
              <a:rPr lang="en-US" sz="3200" dirty="0"/>
              <a:t>AI-powered Anti-phishing Gateways:</a:t>
            </a:r>
          </a:p>
          <a:p>
            <a:pPr marL="379730" marR="373380" indent="110489" algn="ctr">
              <a:lnSpc>
                <a:spcPct val="114399"/>
              </a:lnSpc>
              <a:spcBef>
                <a:spcPts val="100"/>
              </a:spcBef>
            </a:pPr>
            <a:r>
              <a:rPr lang="en-US" sz="2000" dirty="0"/>
              <a:t>Developing AI-based security gateways that monitor network traffic and block access to phishing websites in real-time.</a:t>
            </a:r>
            <a:endParaRPr sz="1850" dirty="0">
              <a:latin typeface="Tahoma"/>
              <a:cs typeface="Tahoma"/>
            </a:endParaRPr>
          </a:p>
        </p:txBody>
      </p:sp>
      <p:sp>
        <p:nvSpPr>
          <p:cNvPr id="18" name="object 18"/>
          <p:cNvSpPr txBox="1"/>
          <p:nvPr/>
        </p:nvSpPr>
        <p:spPr>
          <a:xfrm>
            <a:off x="9208806" y="5030155"/>
            <a:ext cx="3126740" cy="4094711"/>
          </a:xfrm>
          <a:prstGeom prst="rect">
            <a:avLst/>
          </a:prstGeom>
        </p:spPr>
        <p:txBody>
          <a:bodyPr vert="horz" wrap="square" lIns="0" tIns="77470" rIns="0" bIns="0" rtlCol="0">
            <a:spAutoFit/>
          </a:bodyPr>
          <a:lstStyle/>
          <a:p>
            <a:pPr marR="246379" algn="ctr">
              <a:lnSpc>
                <a:spcPct val="100000"/>
              </a:lnSpc>
              <a:spcBef>
                <a:spcPts val="610"/>
              </a:spcBef>
            </a:pPr>
            <a:r>
              <a:rPr lang="en-US" sz="3200" dirty="0"/>
              <a:t>Banking and Financial Security Systems:</a:t>
            </a:r>
          </a:p>
          <a:p>
            <a:pPr marR="246379" algn="ctr">
              <a:lnSpc>
                <a:spcPct val="100000"/>
              </a:lnSpc>
              <a:spcBef>
                <a:spcPts val="610"/>
              </a:spcBef>
            </a:pPr>
            <a:r>
              <a:rPr lang="en-US" sz="2000" dirty="0"/>
              <a:t>Phishing detection modules integrated into online banking platforms to verify the authenticity of websites and prevent users from entering sensitive information on phishing websites.</a:t>
            </a:r>
            <a:endParaRPr sz="1850" dirty="0">
              <a:latin typeface="Tahoma"/>
              <a:cs typeface="Tahoma"/>
            </a:endParaRPr>
          </a:p>
        </p:txBody>
      </p:sp>
      <p:sp>
        <p:nvSpPr>
          <p:cNvPr id="19" name="object 19"/>
          <p:cNvSpPr txBox="1"/>
          <p:nvPr/>
        </p:nvSpPr>
        <p:spPr>
          <a:xfrm>
            <a:off x="12641939" y="5030155"/>
            <a:ext cx="3168015" cy="4603761"/>
          </a:xfrm>
          <a:prstGeom prst="rect">
            <a:avLst/>
          </a:prstGeom>
        </p:spPr>
        <p:txBody>
          <a:bodyPr vert="horz" wrap="square" lIns="0" tIns="12700" rIns="0" bIns="0" rtlCol="0">
            <a:spAutoFit/>
          </a:bodyPr>
          <a:lstStyle/>
          <a:p>
            <a:pPr marL="480059" marR="472440" algn="ctr">
              <a:lnSpc>
                <a:spcPct val="114399"/>
              </a:lnSpc>
              <a:spcBef>
                <a:spcPts val="100"/>
              </a:spcBef>
            </a:pPr>
            <a:r>
              <a:rPr lang="en-US" sz="3200" dirty="0"/>
              <a:t>Mobile Application</a:t>
            </a:r>
          </a:p>
          <a:p>
            <a:pPr marL="480059" marR="472440" algn="ctr">
              <a:lnSpc>
                <a:spcPct val="114399"/>
              </a:lnSpc>
              <a:spcBef>
                <a:spcPts val="100"/>
              </a:spcBef>
            </a:pPr>
            <a:r>
              <a:rPr lang="en-US" sz="3200" dirty="0"/>
              <a:t> Security:</a:t>
            </a:r>
          </a:p>
          <a:p>
            <a:pPr marL="480059" marR="472440" algn="ctr">
              <a:lnSpc>
                <a:spcPct val="114399"/>
              </a:lnSpc>
              <a:spcBef>
                <a:spcPts val="100"/>
              </a:spcBef>
            </a:pPr>
            <a:r>
              <a:rPr lang="en-US" sz="2000" dirty="0"/>
              <a:t>Implementing phishing detection within mobile apps to alert users of suspicious URLs accessed through SMS or social media platforms.</a:t>
            </a:r>
            <a:endParaRPr sz="1850" dirty="0">
              <a:latin typeface="Tahoma"/>
              <a:cs typeface="Tahoma"/>
            </a:endParaRPr>
          </a:p>
        </p:txBody>
      </p:sp>
      <p:pic>
        <p:nvPicPr>
          <p:cNvPr id="20" name="object 20"/>
          <p:cNvPicPr/>
          <p:nvPr/>
        </p:nvPicPr>
        <p:blipFill>
          <a:blip r:embed="rId4" cstate="print"/>
          <a:stretch>
            <a:fillRect/>
          </a:stretch>
        </p:blipFill>
        <p:spPr>
          <a:xfrm>
            <a:off x="0" y="6522"/>
            <a:ext cx="4200426" cy="3492500"/>
          </a:xfrm>
          <a:prstGeom prst="rect">
            <a:avLst/>
          </a:prstGeom>
        </p:spPr>
      </p:pic>
      <p:sp>
        <p:nvSpPr>
          <p:cNvPr id="21" name="object 21"/>
          <p:cNvSpPr txBox="1">
            <a:spLocks noGrp="1"/>
          </p:cNvSpPr>
          <p:nvPr>
            <p:ph type="title"/>
          </p:nvPr>
        </p:nvSpPr>
        <p:spPr>
          <a:xfrm>
            <a:off x="3459966" y="256378"/>
            <a:ext cx="12132945" cy="1427480"/>
          </a:xfrm>
          <a:prstGeom prst="rect">
            <a:avLst/>
          </a:prstGeom>
        </p:spPr>
        <p:txBody>
          <a:bodyPr vert="horz" wrap="square" lIns="0" tIns="12700" rIns="0" bIns="0" rtlCol="0">
            <a:spAutoFit/>
          </a:bodyPr>
          <a:lstStyle/>
          <a:p>
            <a:pPr marL="12700">
              <a:lnSpc>
                <a:spcPct val="100000"/>
              </a:lnSpc>
              <a:spcBef>
                <a:spcPts val="100"/>
              </a:spcBef>
            </a:pPr>
            <a:r>
              <a:rPr sz="9200" spc="-750" dirty="0">
                <a:solidFill>
                  <a:srgbClr val="000000"/>
                </a:solidFill>
                <a:latin typeface="Verdana"/>
                <a:cs typeface="Verdana"/>
              </a:rPr>
              <a:t>P</a:t>
            </a:r>
            <a:r>
              <a:rPr sz="9200" spc="-695" dirty="0">
                <a:solidFill>
                  <a:srgbClr val="000000"/>
                </a:solidFill>
                <a:latin typeface="Verdana"/>
                <a:cs typeface="Verdana"/>
              </a:rPr>
              <a:t>r</a:t>
            </a:r>
            <a:r>
              <a:rPr sz="9200" spc="-565" dirty="0">
                <a:solidFill>
                  <a:srgbClr val="000000"/>
                </a:solidFill>
                <a:latin typeface="Verdana"/>
                <a:cs typeface="Verdana"/>
              </a:rPr>
              <a:t>o</a:t>
            </a:r>
            <a:r>
              <a:rPr sz="9200" spc="-505" dirty="0">
                <a:solidFill>
                  <a:srgbClr val="000000"/>
                </a:solidFill>
                <a:latin typeface="Verdana"/>
                <a:cs typeface="Verdana"/>
              </a:rPr>
              <a:t>b</a:t>
            </a:r>
            <a:r>
              <a:rPr sz="9200" spc="-930" dirty="0">
                <a:solidFill>
                  <a:srgbClr val="000000"/>
                </a:solidFill>
                <a:latin typeface="Verdana"/>
                <a:cs typeface="Verdana"/>
              </a:rPr>
              <a:t>a</a:t>
            </a:r>
            <a:r>
              <a:rPr sz="9200" spc="-505" dirty="0">
                <a:solidFill>
                  <a:srgbClr val="000000"/>
                </a:solidFill>
                <a:latin typeface="Verdana"/>
                <a:cs typeface="Verdana"/>
              </a:rPr>
              <a:t>b</a:t>
            </a:r>
            <a:r>
              <a:rPr sz="9200" spc="-305" dirty="0">
                <a:solidFill>
                  <a:srgbClr val="000000"/>
                </a:solidFill>
                <a:latin typeface="Verdana"/>
                <a:cs typeface="Verdana"/>
              </a:rPr>
              <a:t>l</a:t>
            </a:r>
            <a:r>
              <a:rPr sz="9200" spc="-725" dirty="0">
                <a:solidFill>
                  <a:srgbClr val="000000"/>
                </a:solidFill>
                <a:latin typeface="Verdana"/>
                <a:cs typeface="Verdana"/>
              </a:rPr>
              <a:t>e</a:t>
            </a:r>
            <a:r>
              <a:rPr sz="9200" spc="-980" dirty="0">
                <a:solidFill>
                  <a:srgbClr val="000000"/>
                </a:solidFill>
                <a:latin typeface="Verdana"/>
                <a:cs typeface="Verdana"/>
              </a:rPr>
              <a:t> </a:t>
            </a:r>
            <a:r>
              <a:rPr sz="9200" spc="-750" dirty="0">
                <a:solidFill>
                  <a:srgbClr val="000000"/>
                </a:solidFill>
                <a:latin typeface="Verdana"/>
                <a:cs typeface="Verdana"/>
              </a:rPr>
              <a:t>A</a:t>
            </a:r>
            <a:r>
              <a:rPr sz="9200" spc="-505" dirty="0">
                <a:solidFill>
                  <a:srgbClr val="000000"/>
                </a:solidFill>
                <a:latin typeface="Verdana"/>
                <a:cs typeface="Verdana"/>
              </a:rPr>
              <a:t>pp</a:t>
            </a:r>
            <a:r>
              <a:rPr sz="9200" spc="-305" dirty="0">
                <a:solidFill>
                  <a:srgbClr val="000000"/>
                </a:solidFill>
                <a:latin typeface="Verdana"/>
                <a:cs typeface="Verdana"/>
              </a:rPr>
              <a:t>l</a:t>
            </a:r>
            <a:r>
              <a:rPr sz="9200" spc="-484" dirty="0">
                <a:solidFill>
                  <a:srgbClr val="000000"/>
                </a:solidFill>
                <a:latin typeface="Verdana"/>
                <a:cs typeface="Verdana"/>
              </a:rPr>
              <a:t>i</a:t>
            </a:r>
            <a:r>
              <a:rPr sz="9200" spc="-315" dirty="0">
                <a:solidFill>
                  <a:srgbClr val="000000"/>
                </a:solidFill>
                <a:latin typeface="Verdana"/>
                <a:cs typeface="Verdana"/>
              </a:rPr>
              <a:t>c</a:t>
            </a:r>
            <a:r>
              <a:rPr sz="9200" spc="-930" dirty="0">
                <a:solidFill>
                  <a:srgbClr val="000000"/>
                </a:solidFill>
                <a:latin typeface="Verdana"/>
                <a:cs typeface="Verdana"/>
              </a:rPr>
              <a:t>a</a:t>
            </a:r>
            <a:r>
              <a:rPr sz="9200" spc="-350" dirty="0">
                <a:solidFill>
                  <a:srgbClr val="000000"/>
                </a:solidFill>
                <a:latin typeface="Verdana"/>
                <a:cs typeface="Verdana"/>
              </a:rPr>
              <a:t>t</a:t>
            </a:r>
            <a:r>
              <a:rPr sz="9200" spc="-484" dirty="0">
                <a:solidFill>
                  <a:srgbClr val="000000"/>
                </a:solidFill>
                <a:latin typeface="Verdana"/>
                <a:cs typeface="Verdana"/>
              </a:rPr>
              <a:t>i</a:t>
            </a:r>
            <a:r>
              <a:rPr sz="9200" spc="-565" dirty="0">
                <a:solidFill>
                  <a:srgbClr val="000000"/>
                </a:solidFill>
                <a:latin typeface="Verdana"/>
                <a:cs typeface="Verdana"/>
              </a:rPr>
              <a:t>o</a:t>
            </a:r>
            <a:r>
              <a:rPr sz="9200" spc="-755" dirty="0">
                <a:solidFill>
                  <a:srgbClr val="000000"/>
                </a:solidFill>
                <a:latin typeface="Verdana"/>
                <a:cs typeface="Verdana"/>
              </a:rPr>
              <a:t>n</a:t>
            </a:r>
            <a:endParaRPr sz="9200">
              <a:latin typeface="Verdana"/>
              <a:cs typeface="Verdan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8294985" cy="10287000"/>
            <a:chOff x="0" y="0"/>
            <a:chExt cx="18294985" cy="10287000"/>
          </a:xfrm>
        </p:grpSpPr>
        <p:pic>
          <p:nvPicPr>
            <p:cNvPr id="3" name="object 3"/>
            <p:cNvPicPr/>
            <p:nvPr/>
          </p:nvPicPr>
          <p:blipFill>
            <a:blip r:embed="rId2" cstate="print"/>
            <a:stretch>
              <a:fillRect/>
            </a:stretch>
          </p:blipFill>
          <p:spPr>
            <a:xfrm>
              <a:off x="0" y="0"/>
              <a:ext cx="18287999" cy="10286999"/>
            </a:xfrm>
            <a:prstGeom prst="rect">
              <a:avLst/>
            </a:prstGeom>
          </p:spPr>
        </p:pic>
        <p:pic>
          <p:nvPicPr>
            <p:cNvPr id="4" name="object 4"/>
            <p:cNvPicPr/>
            <p:nvPr/>
          </p:nvPicPr>
          <p:blipFill>
            <a:blip r:embed="rId3" cstate="print"/>
            <a:stretch>
              <a:fillRect/>
            </a:stretch>
          </p:blipFill>
          <p:spPr>
            <a:xfrm>
              <a:off x="14531674" y="6978471"/>
              <a:ext cx="3763048" cy="3308123"/>
            </a:xfrm>
            <a:prstGeom prst="rect">
              <a:avLst/>
            </a:prstGeom>
          </p:spPr>
        </p:pic>
      </p:grpSp>
      <p:sp>
        <p:nvSpPr>
          <p:cNvPr id="5" name="object 5"/>
          <p:cNvSpPr txBox="1"/>
          <p:nvPr/>
        </p:nvSpPr>
        <p:spPr>
          <a:xfrm>
            <a:off x="104130" y="5885291"/>
            <a:ext cx="8051165" cy="2585772"/>
          </a:xfrm>
          <a:prstGeom prst="rect">
            <a:avLst/>
          </a:prstGeom>
        </p:spPr>
        <p:txBody>
          <a:bodyPr vert="horz" wrap="square" lIns="0" tIns="12700" rIns="0" bIns="0" rtlCol="0">
            <a:spAutoFit/>
          </a:bodyPr>
          <a:lstStyle/>
          <a:p>
            <a:pPr marR="2767965" algn="ctr">
              <a:lnSpc>
                <a:spcPts val="3390"/>
              </a:lnSpc>
              <a:tabLst>
                <a:tab pos="2440940" algn="l"/>
                <a:tab pos="4100195" algn="l"/>
              </a:tabLst>
            </a:pPr>
            <a:r>
              <a:rPr lang="en-US" sz="3200" dirty="0"/>
              <a:t>Phishing Detection Using Deep Learning and NLP:</a:t>
            </a:r>
          </a:p>
          <a:p>
            <a:pPr marR="2767965" algn="ctr">
              <a:lnSpc>
                <a:spcPts val="3390"/>
              </a:lnSpc>
              <a:tabLst>
                <a:tab pos="2440940" algn="l"/>
                <a:tab pos="4100195" algn="l"/>
              </a:tabLst>
            </a:pPr>
            <a:r>
              <a:rPr lang="en-US" sz="2000" dirty="0"/>
              <a:t>Developing a deep learning-based phishing detection system that uses Natural Language Processing (NLP) to analyze website content and identify phishing attempts.</a:t>
            </a:r>
            <a:endParaRPr sz="1850" dirty="0">
              <a:latin typeface="Trebuchet MS"/>
              <a:cs typeface="Trebuchet MS"/>
            </a:endParaRPr>
          </a:p>
        </p:txBody>
      </p:sp>
      <p:sp>
        <p:nvSpPr>
          <p:cNvPr id="6" name="object 6"/>
          <p:cNvSpPr txBox="1"/>
          <p:nvPr/>
        </p:nvSpPr>
        <p:spPr>
          <a:xfrm>
            <a:off x="4550698" y="1973492"/>
            <a:ext cx="4209415" cy="3442224"/>
          </a:xfrm>
          <a:prstGeom prst="rect">
            <a:avLst/>
          </a:prstGeom>
        </p:spPr>
        <p:txBody>
          <a:bodyPr vert="horz" wrap="square" lIns="0" tIns="12700" rIns="0" bIns="0" rtlCol="0">
            <a:spAutoFit/>
          </a:bodyPr>
          <a:lstStyle/>
          <a:p>
            <a:pPr marL="147955" marR="5080" indent="-135890" algn="ctr">
              <a:lnSpc>
                <a:spcPct val="114399"/>
              </a:lnSpc>
              <a:spcBef>
                <a:spcPts val="100"/>
              </a:spcBef>
              <a:tabLst>
                <a:tab pos="1682114" algn="l"/>
                <a:tab pos="1795145" algn="l"/>
              </a:tabLst>
            </a:pPr>
            <a:r>
              <a:rPr lang="en-US" sz="3200" dirty="0"/>
              <a:t>Automated Phishing Email Classification System:</a:t>
            </a:r>
          </a:p>
          <a:p>
            <a:pPr marL="147955" marR="5080" indent="-135890">
              <a:lnSpc>
                <a:spcPct val="114399"/>
              </a:lnSpc>
              <a:spcBef>
                <a:spcPts val="100"/>
              </a:spcBef>
              <a:tabLst>
                <a:tab pos="1682114" algn="l"/>
                <a:tab pos="1795145" algn="l"/>
              </a:tabLst>
            </a:pPr>
            <a:r>
              <a:rPr lang="en-US" sz="2000" dirty="0"/>
              <a:t>Build a machine learning-based email classification system that can detect phishing emails by analyzing their metadata, subject lines, and content using feature extraction techniques.</a:t>
            </a:r>
            <a:endParaRPr sz="1850" dirty="0">
              <a:latin typeface="Trebuchet MS"/>
              <a:cs typeface="Trebuchet MS"/>
            </a:endParaRPr>
          </a:p>
        </p:txBody>
      </p:sp>
      <p:sp>
        <p:nvSpPr>
          <p:cNvPr id="7" name="object 7"/>
          <p:cNvSpPr txBox="1"/>
          <p:nvPr/>
        </p:nvSpPr>
        <p:spPr>
          <a:xfrm>
            <a:off x="8489402" y="5362645"/>
            <a:ext cx="4481830" cy="3793090"/>
          </a:xfrm>
          <a:prstGeom prst="rect">
            <a:avLst/>
          </a:prstGeom>
        </p:spPr>
        <p:txBody>
          <a:bodyPr vert="horz" wrap="square" lIns="0" tIns="12700" rIns="0" bIns="0" rtlCol="0">
            <a:spAutoFit/>
          </a:bodyPr>
          <a:lstStyle/>
          <a:p>
            <a:pPr marL="918210" marR="5080" indent="-906144" algn="ctr">
              <a:lnSpc>
                <a:spcPct val="114399"/>
              </a:lnSpc>
              <a:spcBef>
                <a:spcPts val="100"/>
              </a:spcBef>
              <a:tabLst>
                <a:tab pos="3096895" algn="l"/>
              </a:tabLst>
            </a:pPr>
            <a:r>
              <a:rPr lang="en-US" sz="3200" dirty="0"/>
              <a:t>Dynamic Phishing Detection for Mobile Applications:</a:t>
            </a:r>
          </a:p>
          <a:p>
            <a:pPr marL="918210" marR="5080" indent="-906144" algn="ctr">
              <a:lnSpc>
                <a:spcPct val="114399"/>
              </a:lnSpc>
              <a:spcBef>
                <a:spcPts val="100"/>
              </a:spcBef>
              <a:tabLst>
                <a:tab pos="3096895" algn="l"/>
              </a:tabLst>
            </a:pPr>
            <a:r>
              <a:rPr lang="en-US" sz="2000" dirty="0"/>
              <a:t>Develop a dynamic phishing detection system for mobile devices that monitors SMS and web interactions, analyzing URLs and app behaviors to prevent phishing attacks.</a:t>
            </a:r>
            <a:endParaRPr sz="1850" dirty="0">
              <a:latin typeface="Trebuchet MS"/>
              <a:cs typeface="Trebuchet MS"/>
            </a:endParaRPr>
          </a:p>
        </p:txBody>
      </p:sp>
      <p:sp>
        <p:nvSpPr>
          <p:cNvPr id="8" name="object 8"/>
          <p:cNvSpPr txBox="1"/>
          <p:nvPr/>
        </p:nvSpPr>
        <p:spPr>
          <a:xfrm>
            <a:off x="13126245" y="3486560"/>
            <a:ext cx="2838450" cy="3121817"/>
          </a:xfrm>
          <a:prstGeom prst="rect">
            <a:avLst/>
          </a:prstGeom>
        </p:spPr>
        <p:txBody>
          <a:bodyPr vert="horz" wrap="square" lIns="0" tIns="12700" rIns="0" bIns="0" rtlCol="0">
            <a:spAutoFit/>
          </a:bodyPr>
          <a:lstStyle/>
          <a:p>
            <a:pPr marL="142240" marR="123189" indent="-11430" algn="ctr">
              <a:lnSpc>
                <a:spcPct val="113199"/>
              </a:lnSpc>
              <a:spcBef>
                <a:spcPts val="100"/>
              </a:spcBef>
            </a:pPr>
            <a:r>
              <a:rPr lang="en-US" sz="2000" dirty="0"/>
              <a:t>Integrate blockchain technology with machine learning to create a decentralized phishing detection network, allowing for faster and more transparent takedown </a:t>
            </a:r>
            <a:r>
              <a:rPr lang="en-US" sz="2000" dirty="0" err="1"/>
              <a:t>processe</a:t>
            </a:r>
            <a:endParaRPr sz="1850" dirty="0">
              <a:latin typeface="Trebuchet MS"/>
              <a:cs typeface="Trebuchet MS"/>
            </a:endParaRPr>
          </a:p>
        </p:txBody>
      </p:sp>
      <p:sp>
        <p:nvSpPr>
          <p:cNvPr id="9" name="object 9"/>
          <p:cNvSpPr txBox="1"/>
          <p:nvPr/>
        </p:nvSpPr>
        <p:spPr>
          <a:xfrm>
            <a:off x="12576233" y="1973492"/>
            <a:ext cx="3938270" cy="1555554"/>
          </a:xfrm>
          <a:prstGeom prst="rect">
            <a:avLst/>
          </a:prstGeom>
        </p:spPr>
        <p:txBody>
          <a:bodyPr vert="horz" wrap="square" lIns="0" tIns="77470" rIns="0" bIns="0" rtlCol="0">
            <a:spAutoFit/>
          </a:bodyPr>
          <a:lstStyle/>
          <a:p>
            <a:pPr algn="ctr">
              <a:lnSpc>
                <a:spcPct val="100000"/>
              </a:lnSpc>
              <a:spcBef>
                <a:spcPts val="610"/>
              </a:spcBef>
            </a:pPr>
            <a:r>
              <a:rPr lang="en-US" sz="3200" dirty="0"/>
              <a:t>Phishing Detection via Blockchain and Machine Learning:</a:t>
            </a:r>
            <a:endParaRPr sz="2950" dirty="0">
              <a:latin typeface="Arial"/>
              <a:cs typeface="Arial"/>
            </a:endParaRPr>
          </a:p>
        </p:txBody>
      </p:sp>
      <p:pic>
        <p:nvPicPr>
          <p:cNvPr id="10" name="object 10"/>
          <p:cNvPicPr/>
          <p:nvPr/>
        </p:nvPicPr>
        <p:blipFill>
          <a:blip r:embed="rId4" cstate="print"/>
          <a:stretch>
            <a:fillRect/>
          </a:stretch>
        </p:blipFill>
        <p:spPr>
          <a:xfrm>
            <a:off x="0" y="5355"/>
            <a:ext cx="4022785" cy="4064000"/>
          </a:xfrm>
          <a:prstGeom prst="rect">
            <a:avLst/>
          </a:prstGeom>
        </p:spPr>
      </p:pic>
      <p:sp>
        <p:nvSpPr>
          <p:cNvPr id="11" name="object 11"/>
          <p:cNvSpPr txBox="1">
            <a:spLocks noGrp="1"/>
          </p:cNvSpPr>
          <p:nvPr>
            <p:ph type="title"/>
          </p:nvPr>
        </p:nvSpPr>
        <p:spPr>
          <a:xfrm>
            <a:off x="104130" y="256378"/>
            <a:ext cx="18366740" cy="1427480"/>
          </a:xfrm>
          <a:prstGeom prst="rect">
            <a:avLst/>
          </a:prstGeom>
        </p:spPr>
        <p:txBody>
          <a:bodyPr vert="horz" wrap="square" lIns="0" tIns="12700" rIns="0" bIns="0" rtlCol="0">
            <a:spAutoFit/>
          </a:bodyPr>
          <a:lstStyle/>
          <a:p>
            <a:pPr marL="12700">
              <a:lnSpc>
                <a:spcPct val="100000"/>
              </a:lnSpc>
              <a:spcBef>
                <a:spcPts val="100"/>
              </a:spcBef>
            </a:pPr>
            <a:r>
              <a:rPr sz="9200" spc="-750" dirty="0">
                <a:solidFill>
                  <a:srgbClr val="000000"/>
                </a:solidFill>
                <a:latin typeface="Verdana"/>
                <a:cs typeface="Verdana"/>
              </a:rPr>
              <a:t>P</a:t>
            </a:r>
            <a:r>
              <a:rPr sz="9200" spc="-695" dirty="0">
                <a:solidFill>
                  <a:srgbClr val="000000"/>
                </a:solidFill>
                <a:latin typeface="Verdana"/>
                <a:cs typeface="Verdana"/>
              </a:rPr>
              <a:t>r</a:t>
            </a:r>
            <a:r>
              <a:rPr sz="9200" spc="-565" dirty="0">
                <a:solidFill>
                  <a:srgbClr val="000000"/>
                </a:solidFill>
                <a:latin typeface="Verdana"/>
                <a:cs typeface="Verdana"/>
              </a:rPr>
              <a:t>o</a:t>
            </a:r>
            <a:r>
              <a:rPr sz="9200" spc="-505" dirty="0">
                <a:solidFill>
                  <a:srgbClr val="000000"/>
                </a:solidFill>
                <a:latin typeface="Verdana"/>
                <a:cs typeface="Verdana"/>
              </a:rPr>
              <a:t>b</a:t>
            </a:r>
            <a:r>
              <a:rPr sz="9200" spc="-930" dirty="0">
                <a:solidFill>
                  <a:srgbClr val="000000"/>
                </a:solidFill>
                <a:latin typeface="Verdana"/>
                <a:cs typeface="Verdana"/>
              </a:rPr>
              <a:t>a</a:t>
            </a:r>
            <a:r>
              <a:rPr sz="9200" spc="-505" dirty="0">
                <a:solidFill>
                  <a:srgbClr val="000000"/>
                </a:solidFill>
                <a:latin typeface="Verdana"/>
                <a:cs typeface="Verdana"/>
              </a:rPr>
              <a:t>b</a:t>
            </a:r>
            <a:r>
              <a:rPr sz="9200" spc="-305" dirty="0">
                <a:solidFill>
                  <a:srgbClr val="000000"/>
                </a:solidFill>
                <a:latin typeface="Verdana"/>
                <a:cs typeface="Verdana"/>
              </a:rPr>
              <a:t>l</a:t>
            </a:r>
            <a:r>
              <a:rPr sz="9200" spc="-725" dirty="0">
                <a:solidFill>
                  <a:srgbClr val="000000"/>
                </a:solidFill>
                <a:latin typeface="Verdana"/>
                <a:cs typeface="Verdana"/>
              </a:rPr>
              <a:t>e</a:t>
            </a:r>
            <a:r>
              <a:rPr sz="9200" spc="-980" dirty="0">
                <a:solidFill>
                  <a:srgbClr val="000000"/>
                </a:solidFill>
                <a:latin typeface="Verdana"/>
                <a:cs typeface="Verdana"/>
              </a:rPr>
              <a:t> </a:t>
            </a:r>
            <a:r>
              <a:rPr sz="9200" spc="-590" dirty="0">
                <a:solidFill>
                  <a:srgbClr val="000000"/>
                </a:solidFill>
                <a:latin typeface="Verdana"/>
                <a:cs typeface="Verdana"/>
              </a:rPr>
              <a:t>B</a:t>
            </a:r>
            <a:r>
              <a:rPr sz="9200" spc="-640" dirty="0">
                <a:solidFill>
                  <a:srgbClr val="000000"/>
                </a:solidFill>
                <a:latin typeface="Verdana"/>
                <a:cs typeface="Verdana"/>
              </a:rPr>
              <a:t>E</a:t>
            </a:r>
            <a:r>
              <a:rPr sz="9200" spc="-980" dirty="0">
                <a:solidFill>
                  <a:srgbClr val="000000"/>
                </a:solidFill>
                <a:latin typeface="Verdana"/>
                <a:cs typeface="Verdana"/>
              </a:rPr>
              <a:t> </a:t>
            </a:r>
            <a:r>
              <a:rPr sz="9200" spc="-750" dirty="0">
                <a:solidFill>
                  <a:srgbClr val="000000"/>
                </a:solidFill>
                <a:latin typeface="Verdana"/>
                <a:cs typeface="Verdana"/>
              </a:rPr>
              <a:t>P</a:t>
            </a:r>
            <a:r>
              <a:rPr sz="9200" spc="-695" dirty="0">
                <a:solidFill>
                  <a:srgbClr val="000000"/>
                </a:solidFill>
                <a:latin typeface="Verdana"/>
                <a:cs typeface="Verdana"/>
              </a:rPr>
              <a:t>r</a:t>
            </a:r>
            <a:r>
              <a:rPr sz="9200" spc="-565" dirty="0">
                <a:solidFill>
                  <a:srgbClr val="000000"/>
                </a:solidFill>
                <a:latin typeface="Verdana"/>
                <a:cs typeface="Verdana"/>
              </a:rPr>
              <a:t>o</a:t>
            </a:r>
            <a:r>
              <a:rPr sz="9200" spc="-505" dirty="0">
                <a:solidFill>
                  <a:srgbClr val="000000"/>
                </a:solidFill>
                <a:latin typeface="Verdana"/>
                <a:cs typeface="Verdana"/>
              </a:rPr>
              <a:t>b</a:t>
            </a:r>
            <a:r>
              <a:rPr sz="9200" spc="-305" dirty="0">
                <a:solidFill>
                  <a:srgbClr val="000000"/>
                </a:solidFill>
                <a:latin typeface="Verdana"/>
                <a:cs typeface="Verdana"/>
              </a:rPr>
              <a:t>l</a:t>
            </a:r>
            <a:r>
              <a:rPr sz="9200" spc="-730" dirty="0">
                <a:solidFill>
                  <a:srgbClr val="000000"/>
                </a:solidFill>
                <a:latin typeface="Verdana"/>
                <a:cs typeface="Verdana"/>
              </a:rPr>
              <a:t>e</a:t>
            </a:r>
            <a:r>
              <a:rPr sz="9200" spc="-1165" dirty="0">
                <a:solidFill>
                  <a:srgbClr val="000000"/>
                </a:solidFill>
                <a:latin typeface="Verdana"/>
                <a:cs typeface="Verdana"/>
              </a:rPr>
              <a:t>m</a:t>
            </a:r>
            <a:r>
              <a:rPr sz="9200" spc="-980" dirty="0">
                <a:solidFill>
                  <a:srgbClr val="000000"/>
                </a:solidFill>
                <a:latin typeface="Verdana"/>
                <a:cs typeface="Verdana"/>
              </a:rPr>
              <a:t> </a:t>
            </a:r>
            <a:r>
              <a:rPr sz="9200" spc="-894" dirty="0">
                <a:solidFill>
                  <a:srgbClr val="000000"/>
                </a:solidFill>
                <a:latin typeface="Verdana"/>
                <a:cs typeface="Verdana"/>
              </a:rPr>
              <a:t>s</a:t>
            </a:r>
            <a:r>
              <a:rPr sz="9200" spc="-350" dirty="0">
                <a:solidFill>
                  <a:srgbClr val="000000"/>
                </a:solidFill>
                <a:latin typeface="Verdana"/>
                <a:cs typeface="Verdana"/>
              </a:rPr>
              <a:t>t</a:t>
            </a:r>
            <a:r>
              <a:rPr sz="9200" spc="-930" dirty="0">
                <a:solidFill>
                  <a:srgbClr val="000000"/>
                </a:solidFill>
                <a:latin typeface="Verdana"/>
                <a:cs typeface="Verdana"/>
              </a:rPr>
              <a:t>a</a:t>
            </a:r>
            <a:r>
              <a:rPr sz="9200" spc="-350" dirty="0">
                <a:solidFill>
                  <a:srgbClr val="000000"/>
                </a:solidFill>
                <a:latin typeface="Verdana"/>
                <a:cs typeface="Verdana"/>
              </a:rPr>
              <a:t>t</a:t>
            </a:r>
            <a:r>
              <a:rPr sz="9200" spc="-730" dirty="0">
                <a:solidFill>
                  <a:srgbClr val="000000"/>
                </a:solidFill>
                <a:latin typeface="Verdana"/>
                <a:cs typeface="Verdana"/>
              </a:rPr>
              <a:t>e</a:t>
            </a:r>
            <a:r>
              <a:rPr sz="9200" spc="-1170" dirty="0">
                <a:solidFill>
                  <a:srgbClr val="000000"/>
                </a:solidFill>
                <a:latin typeface="Verdana"/>
                <a:cs typeface="Verdana"/>
              </a:rPr>
              <a:t>m</a:t>
            </a:r>
            <a:r>
              <a:rPr sz="9200" spc="-730" dirty="0">
                <a:solidFill>
                  <a:srgbClr val="000000"/>
                </a:solidFill>
                <a:latin typeface="Verdana"/>
                <a:cs typeface="Verdana"/>
              </a:rPr>
              <a:t>e</a:t>
            </a:r>
            <a:r>
              <a:rPr sz="9200" spc="-760" dirty="0">
                <a:solidFill>
                  <a:srgbClr val="000000"/>
                </a:solidFill>
                <a:latin typeface="Verdana"/>
                <a:cs typeface="Verdana"/>
              </a:rPr>
              <a:t>n</a:t>
            </a:r>
            <a:r>
              <a:rPr sz="9200" spc="-345" dirty="0">
                <a:solidFill>
                  <a:srgbClr val="000000"/>
                </a:solidFill>
                <a:latin typeface="Verdana"/>
                <a:cs typeface="Verdana"/>
              </a:rPr>
              <a:t>t</a:t>
            </a:r>
            <a:endParaRPr sz="9200">
              <a:latin typeface="Verdana"/>
              <a:cs typeface="Verdan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8288000" cy="10287000"/>
          </a:xfrm>
          <a:custGeom>
            <a:avLst/>
            <a:gdLst/>
            <a:ahLst/>
            <a:cxnLst/>
            <a:rect l="l" t="t" r="r" b="b"/>
            <a:pathLst>
              <a:path w="18288000" h="10287000">
                <a:moveTo>
                  <a:pt x="18287998" y="10286999"/>
                </a:moveTo>
                <a:lnTo>
                  <a:pt x="0" y="10286999"/>
                </a:lnTo>
                <a:lnTo>
                  <a:pt x="0" y="0"/>
                </a:lnTo>
                <a:lnTo>
                  <a:pt x="18287998" y="0"/>
                </a:lnTo>
                <a:lnTo>
                  <a:pt x="18287998" y="10286999"/>
                </a:lnTo>
                <a:close/>
              </a:path>
            </a:pathLst>
          </a:custGeom>
          <a:solidFill>
            <a:srgbClr val="1A1A1A"/>
          </a:solidFill>
        </p:spPr>
        <p:txBody>
          <a:bodyPr wrap="square" lIns="0" tIns="0" rIns="0" bIns="0" rtlCol="0"/>
          <a:lstStyle/>
          <a:p>
            <a:endParaRPr/>
          </a:p>
        </p:txBody>
      </p:sp>
      <p:pic>
        <p:nvPicPr>
          <p:cNvPr id="3" name="object 3"/>
          <p:cNvPicPr/>
          <p:nvPr/>
        </p:nvPicPr>
        <p:blipFill>
          <a:blip r:embed="rId2" cstate="print"/>
          <a:stretch>
            <a:fillRect/>
          </a:stretch>
        </p:blipFill>
        <p:spPr>
          <a:xfrm>
            <a:off x="13265447" y="4406287"/>
            <a:ext cx="5022017" cy="5880530"/>
          </a:xfrm>
          <a:prstGeom prst="rect">
            <a:avLst/>
          </a:prstGeom>
        </p:spPr>
      </p:pic>
      <p:sp>
        <p:nvSpPr>
          <p:cNvPr id="4" name="object 4"/>
          <p:cNvSpPr txBox="1">
            <a:spLocks noGrp="1"/>
          </p:cNvSpPr>
          <p:nvPr>
            <p:ph type="title"/>
          </p:nvPr>
        </p:nvSpPr>
        <p:spPr>
          <a:xfrm>
            <a:off x="4929171" y="951669"/>
            <a:ext cx="6447155" cy="1278890"/>
          </a:xfrm>
          <a:prstGeom prst="rect">
            <a:avLst/>
          </a:prstGeom>
        </p:spPr>
        <p:txBody>
          <a:bodyPr vert="horz" wrap="square" lIns="0" tIns="15875" rIns="0" bIns="0" rtlCol="0">
            <a:spAutoFit/>
          </a:bodyPr>
          <a:lstStyle/>
          <a:p>
            <a:pPr marL="12700">
              <a:lnSpc>
                <a:spcPct val="100000"/>
              </a:lnSpc>
              <a:spcBef>
                <a:spcPts val="125"/>
              </a:spcBef>
            </a:pPr>
            <a:r>
              <a:rPr sz="8200" spc="145" dirty="0">
                <a:solidFill>
                  <a:srgbClr val="FFFFFF"/>
                </a:solidFill>
              </a:rPr>
              <a:t>CONCLUSION</a:t>
            </a:r>
            <a:endParaRPr sz="8200"/>
          </a:p>
        </p:txBody>
      </p:sp>
      <p:sp>
        <p:nvSpPr>
          <p:cNvPr id="9" name="object 9"/>
          <p:cNvSpPr txBox="1">
            <a:spLocks noGrp="1"/>
          </p:cNvSpPr>
          <p:nvPr>
            <p:ph type="body" idx="1"/>
          </p:nvPr>
        </p:nvSpPr>
        <p:spPr>
          <a:xfrm>
            <a:off x="1244343" y="2822070"/>
            <a:ext cx="15301594" cy="4508285"/>
          </a:xfrm>
          <a:prstGeom prst="rect">
            <a:avLst/>
          </a:prstGeom>
        </p:spPr>
        <p:txBody>
          <a:bodyPr vert="horz" wrap="square" lIns="0" tIns="75565" rIns="0" bIns="0" rtlCol="0">
            <a:spAutoFit/>
          </a:bodyPr>
          <a:lstStyle/>
          <a:p>
            <a:pPr marL="12700" algn="just">
              <a:lnSpc>
                <a:spcPct val="100000"/>
              </a:lnSpc>
              <a:spcBef>
                <a:spcPts val="595"/>
              </a:spcBef>
            </a:pPr>
            <a:r>
              <a:rPr lang="en-US" sz="3200" dirty="0"/>
              <a:t>In conclusion, this study presented a machine learning-based framework for phishing website detection, emphasizing the importance of feature extraction techniques and algorithmic comparisons. By analyzing features such as URL patterns, domain age, and HTTPS usage, the proposed solution significantly improves detection accuracy. Our results show that machine learning models, particularly </a:t>
            </a:r>
            <a:r>
              <a:rPr lang="en-US" sz="3200" dirty="0" err="1"/>
              <a:t>XGBoost</a:t>
            </a:r>
            <a:r>
              <a:rPr lang="en-US" sz="3200" dirty="0"/>
              <a:t> and Random Forest, outperform traditional methods in identifying phishing attempts. This approach enhances cybersecurity measures and contributes to building user trust in online transactions, highlighting the potential for further advancements in phishing detection systems.</a:t>
            </a:r>
          </a:p>
        </p:txBody>
      </p:sp>
      <p:pic>
        <p:nvPicPr>
          <p:cNvPr id="10" name="object 10"/>
          <p:cNvPicPr/>
          <p:nvPr/>
        </p:nvPicPr>
        <p:blipFill>
          <a:blip r:embed="rId3" cstate="print"/>
          <a:stretch>
            <a:fillRect/>
          </a:stretch>
        </p:blipFill>
        <p:spPr>
          <a:xfrm>
            <a:off x="-11298" y="0"/>
            <a:ext cx="3583581" cy="383500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8288000" cy="10287000"/>
            <a:chOff x="0" y="0"/>
            <a:chExt cx="18288000" cy="10287000"/>
          </a:xfrm>
        </p:grpSpPr>
        <p:pic>
          <p:nvPicPr>
            <p:cNvPr id="3" name="object 3"/>
            <p:cNvPicPr/>
            <p:nvPr/>
          </p:nvPicPr>
          <p:blipFill>
            <a:blip r:embed="rId2" cstate="print"/>
            <a:stretch>
              <a:fillRect/>
            </a:stretch>
          </p:blipFill>
          <p:spPr>
            <a:xfrm>
              <a:off x="0" y="0"/>
              <a:ext cx="18287999" cy="10286999"/>
            </a:xfrm>
            <a:prstGeom prst="rect">
              <a:avLst/>
            </a:prstGeom>
          </p:spPr>
        </p:pic>
        <p:sp>
          <p:nvSpPr>
            <p:cNvPr id="4" name="object 4"/>
            <p:cNvSpPr/>
            <p:nvPr/>
          </p:nvSpPr>
          <p:spPr>
            <a:xfrm>
              <a:off x="0" y="0"/>
              <a:ext cx="18288000" cy="3086100"/>
            </a:xfrm>
            <a:custGeom>
              <a:avLst/>
              <a:gdLst/>
              <a:ahLst/>
              <a:cxnLst/>
              <a:rect l="l" t="t" r="r" b="b"/>
              <a:pathLst>
                <a:path w="18288000" h="3086100">
                  <a:moveTo>
                    <a:pt x="18287552" y="3086099"/>
                  </a:moveTo>
                  <a:lnTo>
                    <a:pt x="0" y="3086099"/>
                  </a:lnTo>
                  <a:lnTo>
                    <a:pt x="0" y="0"/>
                  </a:lnTo>
                  <a:lnTo>
                    <a:pt x="18287552" y="0"/>
                  </a:lnTo>
                  <a:lnTo>
                    <a:pt x="18287552" y="3086099"/>
                  </a:lnTo>
                  <a:close/>
                </a:path>
              </a:pathLst>
            </a:custGeom>
            <a:solidFill>
              <a:srgbClr val="1A1A1A"/>
            </a:solidFill>
          </p:spPr>
          <p:txBody>
            <a:bodyPr wrap="square" lIns="0" tIns="0" rIns="0" bIns="0" rtlCol="0"/>
            <a:lstStyle/>
            <a:p>
              <a:endParaRPr/>
            </a:p>
          </p:txBody>
        </p:sp>
      </p:grpSp>
      <p:pic>
        <p:nvPicPr>
          <p:cNvPr id="5" name="object 5"/>
          <p:cNvPicPr/>
          <p:nvPr/>
        </p:nvPicPr>
        <p:blipFill>
          <a:blip r:embed="rId3" cstate="print"/>
          <a:stretch>
            <a:fillRect/>
          </a:stretch>
        </p:blipFill>
        <p:spPr>
          <a:xfrm>
            <a:off x="13466148" y="0"/>
            <a:ext cx="4821850" cy="3073400"/>
          </a:xfrm>
          <a:prstGeom prst="rect">
            <a:avLst/>
          </a:prstGeom>
        </p:spPr>
      </p:pic>
      <p:pic>
        <p:nvPicPr>
          <p:cNvPr id="6" name="object 6"/>
          <p:cNvPicPr/>
          <p:nvPr/>
        </p:nvPicPr>
        <p:blipFill>
          <a:blip r:embed="rId4" cstate="print"/>
          <a:stretch>
            <a:fillRect/>
          </a:stretch>
        </p:blipFill>
        <p:spPr>
          <a:xfrm>
            <a:off x="0" y="0"/>
            <a:ext cx="3576296" cy="3441700"/>
          </a:xfrm>
          <a:prstGeom prst="rect">
            <a:avLst/>
          </a:prstGeom>
        </p:spPr>
      </p:pic>
      <p:sp>
        <p:nvSpPr>
          <p:cNvPr id="7" name="object 7"/>
          <p:cNvSpPr txBox="1">
            <a:spLocks noGrp="1"/>
          </p:cNvSpPr>
          <p:nvPr>
            <p:ph type="title"/>
          </p:nvPr>
        </p:nvSpPr>
        <p:spPr>
          <a:xfrm>
            <a:off x="6379328" y="1403354"/>
            <a:ext cx="5529580" cy="1249680"/>
          </a:xfrm>
          <a:prstGeom prst="rect">
            <a:avLst/>
          </a:prstGeom>
        </p:spPr>
        <p:txBody>
          <a:bodyPr vert="horz" wrap="square" lIns="0" tIns="16510" rIns="0" bIns="0" rtlCol="0">
            <a:spAutoFit/>
          </a:bodyPr>
          <a:lstStyle/>
          <a:p>
            <a:pPr marL="12700">
              <a:lnSpc>
                <a:spcPct val="100000"/>
              </a:lnSpc>
              <a:spcBef>
                <a:spcPts val="130"/>
              </a:spcBef>
            </a:pPr>
            <a:r>
              <a:rPr sz="8000" spc="-480" dirty="0">
                <a:solidFill>
                  <a:srgbClr val="FFFFFF"/>
                </a:solidFill>
                <a:latin typeface="Tahoma"/>
                <a:cs typeface="Tahoma"/>
              </a:rPr>
              <a:t>REFRENCES</a:t>
            </a:r>
            <a:endParaRPr sz="8000">
              <a:latin typeface="Tahoma"/>
              <a:cs typeface="Tahoma"/>
            </a:endParaRPr>
          </a:p>
        </p:txBody>
      </p:sp>
      <p:sp>
        <p:nvSpPr>
          <p:cNvPr id="8" name="object 8"/>
          <p:cNvSpPr txBox="1"/>
          <p:nvPr/>
        </p:nvSpPr>
        <p:spPr>
          <a:xfrm>
            <a:off x="152400" y="3374990"/>
            <a:ext cx="17708880" cy="6633354"/>
          </a:xfrm>
          <a:prstGeom prst="rect">
            <a:avLst/>
          </a:prstGeom>
        </p:spPr>
        <p:txBody>
          <a:bodyPr vert="horz" wrap="square" lIns="0" tIns="12700" rIns="0" bIns="0" rtlCol="0">
            <a:spAutoFit/>
          </a:bodyPr>
          <a:lstStyle/>
          <a:p>
            <a:pPr marL="12700" marR="334010">
              <a:lnSpc>
                <a:spcPct val="116599"/>
              </a:lnSpc>
              <a:spcBef>
                <a:spcPts val="100"/>
              </a:spcBef>
              <a:buAutoNum type="romanLcPeriod"/>
              <a:tabLst>
                <a:tab pos="288290" algn="l"/>
              </a:tabLst>
            </a:pPr>
            <a:r>
              <a:rPr lang="en-US" sz="2800" dirty="0"/>
              <a:t>Dinesh Kalla1 and </a:t>
            </a:r>
            <a:r>
              <a:rPr lang="en-US" sz="2800" dirty="0" err="1"/>
              <a:t>Sivaraju</a:t>
            </a:r>
            <a:r>
              <a:rPr lang="en-US" sz="2800" dirty="0"/>
              <a:t> </a:t>
            </a:r>
            <a:r>
              <a:rPr lang="en-US" sz="2800" dirty="0" err="1"/>
              <a:t>Kuraku</a:t>
            </a:r>
            <a:r>
              <a:rPr lang="en-US" sz="2800" dirty="0"/>
              <a:t> (2023) Phishing Website URL’s Detection Using NLP and Machine Learning </a:t>
            </a:r>
            <a:r>
              <a:rPr lang="en-US" sz="2800" dirty="0" err="1"/>
              <a:t>TechniquesResearchGat</a:t>
            </a:r>
            <a:endParaRPr lang="en-US" sz="2800" dirty="0"/>
          </a:p>
          <a:p>
            <a:pPr marL="12700" marR="334010">
              <a:lnSpc>
                <a:spcPct val="116599"/>
              </a:lnSpc>
              <a:spcBef>
                <a:spcPts val="100"/>
              </a:spcBef>
              <a:buAutoNum type="romanLcPeriod"/>
              <a:tabLst>
                <a:tab pos="288290" algn="l"/>
              </a:tabLst>
            </a:pPr>
            <a:endParaRPr lang="en-US" sz="2800" dirty="0"/>
          </a:p>
          <a:p>
            <a:pPr marL="12700" marR="334010">
              <a:lnSpc>
                <a:spcPct val="116599"/>
              </a:lnSpc>
              <a:spcBef>
                <a:spcPts val="100"/>
              </a:spcBef>
              <a:buAutoNum type="romanLcPeriod"/>
              <a:tabLst>
                <a:tab pos="288290" algn="l"/>
              </a:tabLst>
            </a:pPr>
            <a:r>
              <a:rPr lang="en-US" sz="2800" dirty="0"/>
              <a:t>Sri Charan </a:t>
            </a:r>
            <a:r>
              <a:rPr lang="en-US" sz="2800" dirty="0" err="1"/>
              <a:t>Gundla,M.Praveen</a:t>
            </a:r>
            <a:r>
              <a:rPr lang="en-US" sz="2800" dirty="0"/>
              <a:t> Karthik (2024) A Feature Extraction Approach for the De </a:t>
            </a:r>
            <a:r>
              <a:rPr lang="en-US" sz="2800" dirty="0" err="1"/>
              <a:t>tection</a:t>
            </a:r>
            <a:r>
              <a:rPr lang="en-US" sz="2800" dirty="0"/>
              <a:t> of Phishing Websites Using Machine Learning. ResearchGate</a:t>
            </a:r>
          </a:p>
          <a:p>
            <a:pPr marL="12700" marR="334010">
              <a:lnSpc>
                <a:spcPct val="116599"/>
              </a:lnSpc>
              <a:spcBef>
                <a:spcPts val="100"/>
              </a:spcBef>
              <a:buAutoNum type="romanLcPeriod"/>
              <a:tabLst>
                <a:tab pos="288290" algn="l"/>
              </a:tabLst>
            </a:pPr>
            <a:endParaRPr lang="en-US" sz="2800" dirty="0"/>
          </a:p>
          <a:p>
            <a:pPr marL="12700" marR="334010">
              <a:lnSpc>
                <a:spcPct val="116599"/>
              </a:lnSpc>
              <a:spcBef>
                <a:spcPts val="100"/>
              </a:spcBef>
              <a:buAutoNum type="romanLcPeriod"/>
              <a:tabLst>
                <a:tab pos="288290" algn="l"/>
              </a:tabLst>
            </a:pPr>
            <a:r>
              <a:rPr lang="en-US" sz="2800" dirty="0"/>
              <a:t>R. Alazaidah1, A. Al-Shaikh, M. R. AL-Mousa, H. </a:t>
            </a:r>
            <a:r>
              <a:rPr lang="en-US" sz="2800" dirty="0" err="1"/>
              <a:t>Khafajah</a:t>
            </a:r>
            <a:r>
              <a:rPr lang="en-US" sz="2800" dirty="0"/>
              <a:t> (2024) Website Phishing De </a:t>
            </a:r>
            <a:r>
              <a:rPr lang="en-US" sz="2800" dirty="0" err="1"/>
              <a:t>tection</a:t>
            </a:r>
            <a:r>
              <a:rPr lang="en-US" sz="2800" dirty="0"/>
              <a:t> Using Machine Learning Techniques. Journal of Statistics Applications Probability</a:t>
            </a:r>
          </a:p>
          <a:p>
            <a:pPr marL="12700" marR="334010">
              <a:lnSpc>
                <a:spcPct val="116599"/>
              </a:lnSpc>
              <a:spcBef>
                <a:spcPts val="100"/>
              </a:spcBef>
              <a:buAutoNum type="romanLcPeriod"/>
              <a:tabLst>
                <a:tab pos="288290" algn="l"/>
              </a:tabLst>
            </a:pPr>
            <a:endParaRPr lang="en-US" sz="2800" dirty="0"/>
          </a:p>
          <a:p>
            <a:pPr marL="12700" marR="334010">
              <a:lnSpc>
                <a:spcPct val="116599"/>
              </a:lnSpc>
              <a:spcBef>
                <a:spcPts val="100"/>
              </a:spcBef>
              <a:buAutoNum type="romanLcPeriod"/>
              <a:tabLst>
                <a:tab pos="288290" algn="l"/>
              </a:tabLst>
            </a:pPr>
            <a:r>
              <a:rPr lang="en-US" sz="2800" dirty="0"/>
              <a:t>Jayesh Soni, Nagarajan Prabakar, Himanshu Upadhyay (2024) </a:t>
            </a:r>
            <a:r>
              <a:rPr lang="en-US" sz="2800" dirty="0" err="1"/>
              <a:t>PhisNet</a:t>
            </a:r>
            <a:r>
              <a:rPr lang="en-US" sz="2800" dirty="0"/>
              <a:t>: Deep learning based Hybrid and Ensemble Multi-level Approach for the detection of phishing websites. </a:t>
            </a:r>
            <a:r>
              <a:rPr lang="en-US" sz="2800" dirty="0" err="1"/>
              <a:t>ResearchSquare</a:t>
            </a:r>
            <a:endParaRPr lang="en-US" sz="2800" dirty="0"/>
          </a:p>
          <a:p>
            <a:pPr marL="12700" marR="334010">
              <a:lnSpc>
                <a:spcPct val="116599"/>
              </a:lnSpc>
              <a:spcBef>
                <a:spcPts val="100"/>
              </a:spcBef>
              <a:buAutoNum type="romanLcPeriod"/>
              <a:tabLst>
                <a:tab pos="288290" algn="l"/>
              </a:tabLst>
            </a:pPr>
            <a:endParaRPr lang="en-US" sz="2800" dirty="0"/>
          </a:p>
          <a:p>
            <a:pPr marL="12700" marR="334010">
              <a:lnSpc>
                <a:spcPct val="116599"/>
              </a:lnSpc>
              <a:spcBef>
                <a:spcPts val="100"/>
              </a:spcBef>
              <a:buAutoNum type="romanLcPeriod"/>
              <a:tabLst>
                <a:tab pos="288290" algn="l"/>
              </a:tabLst>
            </a:pPr>
            <a:r>
              <a:rPr lang="en-US" sz="2800" dirty="0" err="1"/>
              <a:t>Shouq</a:t>
            </a:r>
            <a:r>
              <a:rPr lang="en-US" sz="2800" dirty="0"/>
              <a:t> </a:t>
            </a:r>
            <a:r>
              <a:rPr lang="en-US" sz="2800" dirty="0" err="1"/>
              <a:t>Alnemari</a:t>
            </a:r>
            <a:r>
              <a:rPr lang="en-US" sz="2800" dirty="0"/>
              <a:t> and Majid </a:t>
            </a:r>
            <a:r>
              <a:rPr lang="en-US" sz="2800" dirty="0" err="1"/>
              <a:t>Alshammari</a:t>
            </a:r>
            <a:r>
              <a:rPr lang="en-US" sz="2800" dirty="0"/>
              <a:t> (2023) Detecting Phishing Domains Using Machine Learning. Applied Sciences</a:t>
            </a:r>
            <a:endParaRPr sz="2800" dirty="0">
              <a:latin typeface="Verdana"/>
              <a:cs typeface="Verdan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8288000" cy="10287000"/>
            <a:chOff x="0" y="0"/>
            <a:chExt cx="18288000" cy="10287000"/>
          </a:xfrm>
        </p:grpSpPr>
        <p:pic>
          <p:nvPicPr>
            <p:cNvPr id="3" name="object 3"/>
            <p:cNvPicPr/>
            <p:nvPr/>
          </p:nvPicPr>
          <p:blipFill>
            <a:blip r:embed="rId2" cstate="print"/>
            <a:stretch>
              <a:fillRect/>
            </a:stretch>
          </p:blipFill>
          <p:spPr>
            <a:xfrm>
              <a:off x="0" y="0"/>
              <a:ext cx="18287999" cy="10286999"/>
            </a:xfrm>
            <a:prstGeom prst="rect">
              <a:avLst/>
            </a:prstGeom>
          </p:spPr>
        </p:pic>
        <p:pic>
          <p:nvPicPr>
            <p:cNvPr id="4" name="object 4"/>
            <p:cNvPicPr/>
            <p:nvPr/>
          </p:nvPicPr>
          <p:blipFill>
            <a:blip r:embed="rId3" cstate="print"/>
            <a:stretch>
              <a:fillRect/>
            </a:stretch>
          </p:blipFill>
          <p:spPr>
            <a:xfrm>
              <a:off x="9387916" y="142"/>
              <a:ext cx="8900053" cy="9913863"/>
            </a:xfrm>
            <a:prstGeom prst="rect">
              <a:avLst/>
            </a:prstGeom>
          </p:spPr>
        </p:pic>
      </p:grpSp>
      <p:sp>
        <p:nvSpPr>
          <p:cNvPr id="5" name="object 5"/>
          <p:cNvSpPr txBox="1">
            <a:spLocks noGrp="1"/>
          </p:cNvSpPr>
          <p:nvPr>
            <p:ph type="title"/>
          </p:nvPr>
        </p:nvSpPr>
        <p:spPr>
          <a:xfrm>
            <a:off x="2743201" y="2055519"/>
            <a:ext cx="5681798" cy="3859133"/>
          </a:xfrm>
          <a:prstGeom prst="rect">
            <a:avLst/>
          </a:prstGeom>
        </p:spPr>
        <p:txBody>
          <a:bodyPr vert="horz" wrap="square" lIns="0" tIns="11430" rIns="0" bIns="0" rtlCol="0">
            <a:spAutoFit/>
          </a:bodyPr>
          <a:lstStyle/>
          <a:p>
            <a:pPr marL="1189355" marR="5080" indent="-1177290">
              <a:lnSpc>
                <a:spcPct val="114799"/>
              </a:lnSpc>
              <a:spcBef>
                <a:spcPts val="90"/>
              </a:spcBef>
            </a:pPr>
            <a:r>
              <a:rPr sz="11450" spc="-790" dirty="0">
                <a:latin typeface="Tahoma"/>
                <a:cs typeface="Tahoma"/>
              </a:rPr>
              <a:t>T</a:t>
            </a:r>
            <a:r>
              <a:rPr sz="11450" spc="-640" dirty="0">
                <a:latin typeface="Tahoma"/>
                <a:cs typeface="Tahoma"/>
              </a:rPr>
              <a:t>H</a:t>
            </a:r>
            <a:r>
              <a:rPr sz="11450" spc="-405" dirty="0">
                <a:latin typeface="Tahoma"/>
                <a:cs typeface="Tahoma"/>
              </a:rPr>
              <a:t>A</a:t>
            </a:r>
            <a:r>
              <a:rPr lang="en-US" sz="11450" spc="-1275" dirty="0">
                <a:latin typeface="Tahoma"/>
                <a:cs typeface="Tahoma"/>
              </a:rPr>
              <a:t>N</a:t>
            </a:r>
            <a:r>
              <a:rPr sz="11450" spc="-905" dirty="0">
                <a:latin typeface="Tahoma"/>
                <a:cs typeface="Tahoma"/>
              </a:rPr>
              <a:t>K  </a:t>
            </a:r>
            <a:r>
              <a:rPr sz="11450" spc="-1205" dirty="0">
                <a:latin typeface="Tahoma"/>
                <a:cs typeface="Tahoma"/>
              </a:rPr>
              <a:t>YOU</a:t>
            </a:r>
            <a:endParaRPr sz="11450" dirty="0">
              <a:latin typeface="Tahoma"/>
              <a:cs typeface="Tahoma"/>
            </a:endParaRPr>
          </a:p>
        </p:txBody>
      </p:sp>
      <p:sp>
        <p:nvSpPr>
          <p:cNvPr id="6" name="object 6"/>
          <p:cNvSpPr/>
          <p:nvPr/>
        </p:nvSpPr>
        <p:spPr>
          <a:xfrm>
            <a:off x="0" y="7476070"/>
            <a:ext cx="7623809" cy="2810510"/>
          </a:xfrm>
          <a:custGeom>
            <a:avLst/>
            <a:gdLst/>
            <a:ahLst/>
            <a:cxnLst/>
            <a:rect l="l" t="t" r="r" b="b"/>
            <a:pathLst>
              <a:path w="7623809" h="2810509">
                <a:moveTo>
                  <a:pt x="7623518" y="1781810"/>
                </a:moveTo>
                <a:lnTo>
                  <a:pt x="1092542" y="1781810"/>
                </a:lnTo>
                <a:lnTo>
                  <a:pt x="1092542" y="0"/>
                </a:lnTo>
                <a:lnTo>
                  <a:pt x="0" y="0"/>
                </a:lnTo>
                <a:lnTo>
                  <a:pt x="0" y="1781810"/>
                </a:lnTo>
                <a:lnTo>
                  <a:pt x="0" y="2810510"/>
                </a:lnTo>
                <a:lnTo>
                  <a:pt x="7623518" y="2810510"/>
                </a:lnTo>
                <a:lnTo>
                  <a:pt x="7623518" y="1781810"/>
                </a:lnTo>
                <a:close/>
              </a:path>
            </a:pathLst>
          </a:custGeom>
          <a:solidFill>
            <a:srgbClr val="CCCCCC"/>
          </a:solidFill>
        </p:spPr>
        <p:txBody>
          <a:bodyPr wrap="square" lIns="0" tIns="0" rIns="0" bIns="0" rtlCol="0"/>
          <a:lstStyle/>
          <a:p>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161</TotalTime>
  <Words>1369</Words>
  <Application>Microsoft Office PowerPoint</Application>
  <PresentationFormat>Custom</PresentationFormat>
  <Paragraphs>107</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-apple-system</vt:lpstr>
      <vt:lpstr>Arial</vt:lpstr>
      <vt:lpstr>Calibri</vt:lpstr>
      <vt:lpstr>Tahoma</vt:lpstr>
      <vt:lpstr>Trebuchet MS</vt:lpstr>
      <vt:lpstr>Verdana</vt:lpstr>
      <vt:lpstr>Office Theme</vt:lpstr>
      <vt:lpstr>Phishing Website Detection</vt:lpstr>
      <vt:lpstr>INTRODUCTION</vt:lpstr>
      <vt:lpstr>LITERATURE SURVEY</vt:lpstr>
      <vt:lpstr>LITERATURE SURVEY</vt:lpstr>
      <vt:lpstr>PROPOSED ARCHITECTURE</vt:lpstr>
      <vt:lpstr>PowerPoint Presentation</vt:lpstr>
      <vt:lpstr>METHODLOGY</vt:lpstr>
      <vt:lpstr>PowerPoint Presentation</vt:lpstr>
      <vt:lpstr>IMPLEMENTATION</vt:lpstr>
      <vt:lpstr>IMPLEMENTATION</vt:lpstr>
      <vt:lpstr>IMPLEMENTATION</vt:lpstr>
      <vt:lpstr>RESULTS</vt:lpstr>
      <vt:lpstr>PowerPoint Presentation</vt:lpstr>
      <vt:lpstr>COMPARATIVE ANALYSIS</vt:lpstr>
      <vt:lpstr>PowerPoint Presentation</vt:lpstr>
      <vt:lpstr>Probable Application</vt:lpstr>
      <vt:lpstr>Probable BE Problem statement</vt:lpstr>
      <vt:lpstr>CONCLUSION</vt:lpstr>
      <vt:lpstr>REFRENCES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final_seminar</dc:title>
  <dc:creator>Parth Bramhecha</dc:creator>
  <cp:keywords>DAGS6izBqsY,BAFgRUQE8vw</cp:keywords>
  <cp:lastModifiedBy>Rajvardhan Deshmukh</cp:lastModifiedBy>
  <cp:revision>5</cp:revision>
  <dcterms:created xsi:type="dcterms:W3CDTF">2024-10-17T01:57:34Z</dcterms:created>
  <dcterms:modified xsi:type="dcterms:W3CDTF">2024-10-17T04:46:20Z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2024-10-09T00:00:00Z</vt:filetime>
  </property>
  <property fmtid="{D5CDD505-2E9C-101B-9397-08002B2CF9AE}" pid="3" name="Creator">
    <vt:lpwstr>Canva</vt:lpwstr>
  </property>
  <property fmtid="{D5CDD505-2E9C-101B-9397-08002B2CF9AE}" pid="4" name="LastSaved">
    <vt:filetime>2024-10-17T00:00:00Z</vt:filetime>
  </property>
</Properties>
</file>